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8" r:id="rId3"/>
    <p:sldId id="678" r:id="rId4"/>
    <p:sldId id="487" r:id="rId5"/>
    <p:sldId id="533" r:id="rId6"/>
    <p:sldId id="532" r:id="rId7"/>
    <p:sldId id="530" r:id="rId8"/>
    <p:sldId id="529" r:id="rId9"/>
    <p:sldId id="656" r:id="rId10"/>
    <p:sldId id="524" r:id="rId11"/>
    <p:sldId id="718" r:id="rId12"/>
    <p:sldId id="679" r:id="rId13"/>
    <p:sldId id="658" r:id="rId14"/>
    <p:sldId id="667" r:id="rId15"/>
    <p:sldId id="657" r:id="rId17"/>
    <p:sldId id="680" r:id="rId18"/>
    <p:sldId id="523" r:id="rId19"/>
    <p:sldId id="704" r:id="rId20"/>
    <p:sldId id="705" r:id="rId21"/>
    <p:sldId id="719" r:id="rId22"/>
    <p:sldId id="707" r:id="rId23"/>
    <p:sldId id="669" r:id="rId24"/>
    <p:sldId id="671" r:id="rId25"/>
    <p:sldId id="539" r:id="rId26"/>
    <p:sldId id="681" r:id="rId27"/>
    <p:sldId id="683" r:id="rId28"/>
    <p:sldId id="684" r:id="rId29"/>
    <p:sldId id="685" r:id="rId30"/>
    <p:sldId id="538" r:id="rId31"/>
    <p:sldId id="682" r:id="rId32"/>
    <p:sldId id="297" r:id="rId33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BF3FA"/>
    <a:srgbClr val="FFC000"/>
    <a:srgbClr val="1F4E79"/>
    <a:srgbClr val="7F6E96"/>
    <a:srgbClr val="E66666"/>
    <a:srgbClr val="FF6565"/>
    <a:srgbClr val="FFE493"/>
    <a:srgbClr val="404040"/>
    <a:srgbClr val="FA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8" autoAdjust="0"/>
    <p:restoredTop sz="94660"/>
  </p:normalViewPr>
  <p:slideViewPr>
    <p:cSldViewPr snapToGrid="0">
      <p:cViewPr varScale="1">
        <p:scale>
          <a:sx n="92" d="100"/>
          <a:sy n="92" d="100"/>
        </p:scale>
        <p:origin x="5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0B13E-C7DA-455D-A2A9-7301508769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0C28C-60FE-4F5C-BAAC-E19CEADCEC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845" y="245866"/>
            <a:ext cx="2010847" cy="3929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6" y="6586062"/>
            <a:ext cx="2870611" cy="191374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59492" y="716573"/>
            <a:ext cx="11615351" cy="0"/>
          </a:xfrm>
          <a:prstGeom prst="line">
            <a:avLst/>
          </a:prstGeom>
          <a:ln>
            <a:solidFill>
              <a:srgbClr val="E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380308" y="638831"/>
            <a:ext cx="2133218" cy="87681"/>
          </a:xfrm>
          <a:prstGeom prst="rect">
            <a:avLst/>
          </a:prstGeom>
          <a:solidFill>
            <a:srgbClr val="E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26"/>
          <p:cNvSpPr txBox="1"/>
          <p:nvPr userDrawn="1"/>
        </p:nvSpPr>
        <p:spPr>
          <a:xfrm>
            <a:off x="-671068" y="0"/>
            <a:ext cx="606425" cy="527050"/>
          </a:xfrm>
          <a:prstGeom prst="rect">
            <a:avLst/>
          </a:prstGeom>
          <a:solidFill>
            <a:srgbClr val="E66666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公司色调</a:t>
            </a:r>
            <a:endParaRPr lang="zh-CN" altLang="en-US" dirty="0"/>
          </a:p>
        </p:txBody>
      </p:sp>
      <p:sp>
        <p:nvSpPr>
          <p:cNvPr id="11" name="文本占位符 26"/>
          <p:cNvSpPr txBox="1"/>
          <p:nvPr userDrawn="1"/>
        </p:nvSpPr>
        <p:spPr>
          <a:xfrm>
            <a:off x="-671068" y="542819"/>
            <a:ext cx="606425" cy="5270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标题字体色调</a:t>
            </a:r>
            <a:endParaRPr lang="zh-CN" altLang="en-US" dirty="0"/>
          </a:p>
        </p:txBody>
      </p:sp>
      <p:sp>
        <p:nvSpPr>
          <p:cNvPr id="12" name="文本占位符 26"/>
          <p:cNvSpPr txBox="1"/>
          <p:nvPr userDrawn="1"/>
        </p:nvSpPr>
        <p:spPr>
          <a:xfrm>
            <a:off x="-671068" y="1085638"/>
            <a:ext cx="606425" cy="5270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正文字体色调</a:t>
            </a:r>
            <a:endParaRPr lang="zh-CN" altLang="en-US" dirty="0"/>
          </a:p>
        </p:txBody>
      </p:sp>
      <p:sp>
        <p:nvSpPr>
          <p:cNvPr id="13" name="文本占位符 26"/>
          <p:cNvSpPr txBox="1"/>
          <p:nvPr userDrawn="1"/>
        </p:nvSpPr>
        <p:spPr>
          <a:xfrm>
            <a:off x="-667894" y="2533385"/>
            <a:ext cx="606425" cy="527050"/>
          </a:xfrm>
          <a:prstGeom prst="rect">
            <a:avLst/>
          </a:prstGeom>
          <a:solidFill>
            <a:srgbClr val="FF6565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15" name="文本占位符 26"/>
          <p:cNvSpPr txBox="1"/>
          <p:nvPr userDrawn="1"/>
        </p:nvSpPr>
        <p:spPr>
          <a:xfrm>
            <a:off x="-667895" y="3068800"/>
            <a:ext cx="606425" cy="527050"/>
          </a:xfrm>
          <a:prstGeom prst="rect">
            <a:avLst/>
          </a:prstGeom>
          <a:solidFill>
            <a:srgbClr val="FFC000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2</a:t>
            </a:r>
            <a:endParaRPr lang="zh-CN" altLang="en-US" dirty="0"/>
          </a:p>
        </p:txBody>
      </p:sp>
      <p:sp>
        <p:nvSpPr>
          <p:cNvPr id="16" name="文本占位符 26"/>
          <p:cNvSpPr txBox="1"/>
          <p:nvPr userDrawn="1"/>
        </p:nvSpPr>
        <p:spPr>
          <a:xfrm>
            <a:off x="-667894" y="4715565"/>
            <a:ext cx="606425" cy="527050"/>
          </a:xfrm>
          <a:prstGeom prst="rect">
            <a:avLst/>
          </a:prstGeom>
          <a:solidFill>
            <a:srgbClr val="7F6E96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3</a:t>
            </a:r>
            <a:endParaRPr lang="zh-CN" altLang="en-US" dirty="0"/>
          </a:p>
        </p:txBody>
      </p:sp>
      <p:sp>
        <p:nvSpPr>
          <p:cNvPr id="17" name="文本占位符 26"/>
          <p:cNvSpPr txBox="1"/>
          <p:nvPr userDrawn="1"/>
        </p:nvSpPr>
        <p:spPr>
          <a:xfrm>
            <a:off x="-667894" y="4159043"/>
            <a:ext cx="606425" cy="527050"/>
          </a:xfrm>
          <a:prstGeom prst="rect">
            <a:avLst/>
          </a:prstGeom>
          <a:solidFill>
            <a:srgbClr val="00B0F0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4</a:t>
            </a:r>
            <a:endParaRPr lang="zh-CN" altLang="en-US" dirty="0"/>
          </a:p>
        </p:txBody>
      </p:sp>
      <p:sp>
        <p:nvSpPr>
          <p:cNvPr id="18" name="文本占位符 26"/>
          <p:cNvSpPr txBox="1"/>
          <p:nvPr userDrawn="1"/>
        </p:nvSpPr>
        <p:spPr>
          <a:xfrm>
            <a:off x="-667894" y="5272087"/>
            <a:ext cx="606425" cy="5270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5</a:t>
            </a:r>
            <a:endParaRPr lang="zh-CN" altLang="en-US" dirty="0"/>
          </a:p>
        </p:txBody>
      </p:sp>
      <p:sp>
        <p:nvSpPr>
          <p:cNvPr id="19" name="文本占位符 26"/>
          <p:cNvSpPr txBox="1"/>
          <p:nvPr userDrawn="1"/>
        </p:nvSpPr>
        <p:spPr>
          <a:xfrm>
            <a:off x="-667894" y="3612795"/>
            <a:ext cx="606425" cy="527050"/>
          </a:xfrm>
          <a:prstGeom prst="rect">
            <a:avLst/>
          </a:prstGeom>
          <a:solidFill>
            <a:srgbClr val="00BA89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6</a:t>
            </a:r>
            <a:endParaRPr lang="zh-CN" altLang="en-US" dirty="0"/>
          </a:p>
        </p:txBody>
      </p:sp>
      <p:sp>
        <p:nvSpPr>
          <p:cNvPr id="20" name="文本占位符 26"/>
          <p:cNvSpPr txBox="1"/>
          <p:nvPr userDrawn="1"/>
        </p:nvSpPr>
        <p:spPr>
          <a:xfrm>
            <a:off x="-671068" y="1628457"/>
            <a:ext cx="606425" cy="527050"/>
          </a:xfrm>
          <a:prstGeom prst="rect">
            <a:avLst/>
          </a:prstGeom>
          <a:solidFill>
            <a:srgbClr val="EBF3FA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正文背景辅助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2.png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29.jpeg"/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6.jpeg"/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image" Target="../media/image3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2219538" y="2047608"/>
            <a:ext cx="7793037" cy="1459866"/>
          </a:xfrm>
        </p:spPr>
        <p:txBody>
          <a:bodyPr rtlCol="0">
            <a:noAutofit/>
          </a:bodyPr>
          <a:lstStyle/>
          <a:p>
            <a:pPr defTabSz="815975">
              <a:spcBef>
                <a:spcPts val="600"/>
              </a:spcBef>
              <a:defRPr/>
            </a:pPr>
            <a:r>
              <a:rPr lang="zh-CN" altLang="en-US" sz="3200" kern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新员工入职培训</a:t>
            </a:r>
            <a:br>
              <a:rPr lang="en-US" altLang="zh-CN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zh-CN" altLang="en-US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br>
              <a:rPr lang="en-US" altLang="zh-CN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3200" kern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Caché</a:t>
            </a:r>
            <a:r>
              <a:rPr lang="zh-CN" altLang="en-US" sz="3200" kern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数据库开发技术培训</a:t>
            </a:r>
            <a:endParaRPr lang="zh-CN" altLang="en-US" sz="3200" kern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142" y="6538620"/>
            <a:ext cx="10791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2018/07/11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Text Box 5"/>
          <p:cNvSpPr>
            <a:spLocks noChangeArrowheads="1"/>
          </p:cNvSpPr>
          <p:nvPr/>
        </p:nvSpPr>
        <p:spPr bwMode="auto">
          <a:xfrm>
            <a:off x="10187257" y="6489192"/>
            <a:ext cx="1980029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633220"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15975" indent="-358775" defTabSz="163322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633855" indent="-719455" defTabSz="1633220"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2451100" indent="-1079500" defTabSz="163322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3267075" indent="-1438275" defTabSz="163322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7242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41814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46386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50958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东华医为科技有限公司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" name="矩形: 圆角 4"/>
          <p:cNvSpPr/>
          <p:nvPr/>
        </p:nvSpPr>
        <p:spPr bwMode="auto">
          <a:xfrm>
            <a:off x="2996903" y="1401037"/>
            <a:ext cx="1800225" cy="22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: 圆角 7"/>
          <p:cNvSpPr/>
          <p:nvPr/>
        </p:nvSpPr>
        <p:spPr bwMode="auto">
          <a:xfrm>
            <a:off x="2996903" y="1401037"/>
            <a:ext cx="17462" cy="5762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矩形: 圆角 21"/>
          <p:cNvSpPr/>
          <p:nvPr/>
        </p:nvSpPr>
        <p:spPr bwMode="auto">
          <a:xfrm rot="10800000">
            <a:off x="7102053" y="3916622"/>
            <a:ext cx="1800225" cy="22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矩形: 圆角 22"/>
          <p:cNvSpPr/>
          <p:nvPr/>
        </p:nvSpPr>
        <p:spPr bwMode="auto">
          <a:xfrm rot="10800000">
            <a:off x="8879417" y="3341947"/>
            <a:ext cx="17462" cy="5762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373235" y="4031243"/>
            <a:ext cx="33324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东华医为科技有限公司     孙凤超</a:t>
            </a:r>
            <a:r>
              <a: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r">
              <a:defRPr/>
            </a:pP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</a:t>
            </a:r>
            <a:endParaRPr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268151" y="173615"/>
            <a:ext cx="9332912" cy="527050"/>
          </a:xfrm>
        </p:spPr>
        <p:txBody>
          <a:bodyPr/>
          <a:lstStyle/>
          <a:p>
            <a:r>
              <a:rPr lang="zh-CN" altLang="en-US" dirty="0" smtClean="0"/>
              <a:t>第二天课表安排</a:t>
            </a:r>
            <a:endParaRPr lang="zh-CN" altLang="en-US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68151" y="1028699"/>
          <a:ext cx="11650222" cy="514879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7434"/>
                <a:gridCol w="569760"/>
                <a:gridCol w="825846"/>
                <a:gridCol w="1146415"/>
                <a:gridCol w="852054"/>
                <a:gridCol w="1350645"/>
                <a:gridCol w="1747859"/>
                <a:gridCol w="133069"/>
                <a:gridCol w="4657140"/>
              </a:tblGrid>
              <a:tr h="301338">
                <a:tc gridSpan="3"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宋体" panose="02010600030101010101" pitchFamily="2" charset="-122"/>
                          <a:ea typeface="+mn-ea"/>
                        </a:rPr>
                        <a:t>课程安排</a:t>
                      </a:r>
                      <a:endParaRPr lang="zh-CN" altLang="en-US" sz="1200" b="1" i="0" u="none" strike="noStrike" dirty="0" smtClean="0">
                        <a:solidFill>
                          <a:srgbClr val="FFFFFF"/>
                        </a:solidFill>
                        <a:effectLst/>
                        <a:latin typeface="宋体" panose="02010600030101010101" pitchFamily="2" charset="-122"/>
                        <a:ea typeface="+mn-ea"/>
                      </a:endParaRPr>
                    </a:p>
                  </a:txBody>
                  <a:tcPr anchor="ctr"/>
                </a:tc>
                <a:tc hMerge="1">
                  <a:tcPr/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kern="1200" dirty="0" smtClean="0">
                          <a:effectLst/>
                        </a:rPr>
                        <a:t>上课时间</a:t>
                      </a:r>
                      <a:endParaRPr lang="zh-CN" altLang="en-US" sz="12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kern="1200" dirty="0" smtClean="0">
                          <a:effectLst/>
                        </a:rPr>
                        <a:t>授课时长</a:t>
                      </a:r>
                      <a:endParaRPr lang="zh-CN" altLang="en-US" sz="12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kern="1200" dirty="0" smtClean="0">
                          <a:effectLst/>
                        </a:rPr>
                        <a:t>章节</a:t>
                      </a:r>
                      <a:endParaRPr lang="zh-CN" altLang="en-US" sz="1200" b="1" u="none" strike="noStrike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dirty="0" smtClean="0">
                          <a:effectLst/>
                        </a:rPr>
                        <a:t>课程内容</a:t>
                      </a:r>
                      <a:endParaRPr lang="zh-CN" altLang="en-US" sz="1200" b="1" i="0" u="none" strike="noStrike" dirty="0" smtClean="0">
                        <a:solidFill>
                          <a:srgbClr val="FFFFFF"/>
                        </a:solidFill>
                        <a:effectLst/>
                        <a:latin typeface="宋体" panose="02010600030101010101" pitchFamily="2" charset="-122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dirty="0" smtClean="0">
                          <a:effectLst/>
                        </a:rPr>
                        <a:t>详细大纲</a:t>
                      </a:r>
                      <a:endParaRPr lang="zh-CN" altLang="en-US" sz="1200" b="1" i="0" u="none" strike="noStrike" dirty="0" smtClean="0">
                        <a:solidFill>
                          <a:srgbClr val="FFFFFF"/>
                        </a:solidFill>
                        <a:effectLst/>
                        <a:latin typeface="宋体" panose="02010600030101010101" pitchFamily="2" charset="-122"/>
                        <a:ea typeface="+mn-ea"/>
                      </a:endParaRPr>
                    </a:p>
                  </a:txBody>
                  <a:tcPr anchor="ctr"/>
                </a:tc>
                <a:tc hMerge="1">
                  <a:tcPr anchor="ctr"/>
                </a:tc>
              </a:tr>
              <a:tr h="1287652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kern="1200" dirty="0" smtClean="0"/>
                        <a:t>第二天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kern="1200" dirty="0" smtClean="0"/>
                        <a:t>上午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kern="1200" dirty="0" smtClean="0"/>
                        <a:t>第一堂课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08:30-10:00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1h(</a:t>
                      </a:r>
                      <a:r>
                        <a:rPr lang="zh-CN" altLang="en-US" sz="1400" kern="1200" dirty="0" smtClean="0"/>
                        <a:t>讲课</a:t>
                      </a:r>
                      <a:r>
                        <a:rPr lang="en-US" altLang="zh-CN" sz="1400" kern="1200" dirty="0" smtClean="0"/>
                        <a:t>)</a:t>
                      </a:r>
                      <a:endParaRPr lang="en-US" altLang="zh-CN" sz="1400" kern="1200" dirty="0" smtClean="0"/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0.5h(</a:t>
                      </a:r>
                      <a:r>
                        <a:rPr lang="zh-CN" altLang="en-US" sz="1400" kern="1200" dirty="0" smtClean="0"/>
                        <a:t>练习</a:t>
                      </a:r>
                      <a:r>
                        <a:rPr lang="en-US" altLang="zh-CN" sz="1400" kern="1200" dirty="0" smtClean="0"/>
                        <a:t>)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第二章第一节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400" u="none" strike="noStrike" dirty="0" smtClean="0">
                          <a:effectLst/>
                        </a:rPr>
                        <a:t>创建持久类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gridSpan="2">
                  <a:txBody>
                    <a:bodyPr/>
                    <a:lstStyle/>
                    <a:p>
                      <a:pPr marL="0" indent="-228600" algn="l" defTabSz="914400" rtl="0" eaLnBrk="1" fontAlgn="ctr" latinLnBrk="0" hangingPunct="1">
                        <a:lnSpc>
                          <a:spcPts val="14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面向对象的持久类概念</a:t>
                      </a:r>
                      <a:endParaRPr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4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持久类建表步骤</a:t>
                      </a:r>
                      <a:endParaRPr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4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持久类建表相关基础知识</a:t>
                      </a:r>
                      <a:endParaRPr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4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主索引、自增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Rowid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的定义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hMerge="1">
                  <a:tcPr marL="7492" marR="7492" marT="7492" marB="0" anchor="ctr"/>
                </a:tc>
              </a:tr>
              <a:tr h="554355">
                <a:tc vMerge="1">
                  <a:tcPr marL="7492" marR="7492" marT="7492" marB="0" anchor="ctr"/>
                </a:tc>
                <a:tc vMerge="1"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 smtClean="0"/>
                        <a:t>休息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20min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hMerge="1">
                  <a:tcPr marL="7492" marR="7492" marT="7492" marB="0" anchor="ctr"/>
                </a:tc>
                <a:tc hMerge="1">
                  <a:tcPr/>
                </a:tc>
                <a:tc hMerge="1">
                  <a:tcPr/>
                </a:tc>
              </a:tr>
              <a:tr h="1015494">
                <a:tc vMerge="1">
                  <a:tcPr marL="7492" marR="7492" marT="7492" marB="0" anchor="ctr"/>
                </a:tc>
                <a:tc vMerge="1"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第二堂课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smtClean="0"/>
                        <a:t>10:30-12:00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1h(</a:t>
                      </a:r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讲</a:t>
                      </a:r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练</a:t>
                      </a:r>
                      <a:r>
                        <a:rPr lang="en-US" altLang="zh-CN" sz="1400" kern="1200" dirty="0" smtClean="0"/>
                        <a:t>)</a:t>
                      </a:r>
                      <a:endParaRPr lang="en-US" altLang="zh-CN" sz="1400" kern="1200" dirty="0" smtClean="0"/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0.5h(</a:t>
                      </a:r>
                      <a:r>
                        <a:rPr lang="zh-CN" altLang="en-US" sz="1400" kern="1200" dirty="0" smtClean="0"/>
                        <a:t>复习</a:t>
                      </a:r>
                      <a:r>
                        <a:rPr lang="en-US" altLang="zh-CN" sz="1400" kern="1200" dirty="0" smtClean="0"/>
                        <a:t>)</a:t>
                      </a:r>
                      <a:endParaRPr lang="en-US" altLang="zh-CN" sz="1400" kern="1200" dirty="0" smtClean="0"/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第二章第二节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u="none" strike="noStrike" dirty="0" smtClean="0">
                          <a:effectLst/>
                        </a:rPr>
                        <a:t>两种存储的</a:t>
                      </a:r>
                      <a:r>
                        <a:rPr lang="zh-CN" altLang="en-US" sz="1400" dirty="0" smtClean="0">
                          <a:sym typeface="+mn-ea"/>
                        </a:rPr>
                        <a:t>创建及使用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 smtClean="0"/>
                        <a:t>1. Cache SQL Storage</a:t>
                      </a:r>
                      <a:r>
                        <a:rPr lang="zh-CN" altLang="en-US" sz="1400" kern="1200" dirty="0" smtClean="0"/>
                        <a:t>的创建步骤</a:t>
                      </a:r>
                      <a:endParaRPr lang="en-US" altLang="zh-CN" sz="1400" kern="1200" dirty="0" smtClean="0"/>
                    </a:p>
                    <a:p>
                      <a:pPr marL="0" indent="0" algn="l" fontAlgn="b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 smtClean="0"/>
                        <a:t>2.Cache  Storage</a:t>
                      </a:r>
                      <a:r>
                        <a:rPr lang="zh-CN" altLang="en-US" sz="1400" kern="1200" dirty="0" smtClean="0"/>
                        <a:t>和</a:t>
                      </a:r>
                      <a:r>
                        <a:rPr lang="en-US" altLang="zh-CN" sz="1400" kern="1200" dirty="0" smtClean="0"/>
                        <a:t>Cache SQL Storage</a:t>
                      </a:r>
                      <a:r>
                        <a:rPr lang="zh-CN" altLang="en-US" sz="1400" kern="1200" dirty="0" smtClean="0"/>
                        <a:t>的不同及使用方法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</a:tr>
              <a:tr h="841664">
                <a:tc vMerge="1">
                  <a:tcPr marL="7492" marR="7492" marT="7492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下午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第三堂课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13:30-15:00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1h(</a:t>
                      </a:r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讲课</a:t>
                      </a:r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0.5h(</a:t>
                      </a:r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练习</a:t>
                      </a:r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第二章第三节</a:t>
                      </a:r>
                      <a:endParaRPr lang="zh-CN" altLang="en-US" sz="1400" kern="1200" dirty="0" smtClean="0"/>
                    </a:p>
                  </a:txBody>
                  <a:tcPr marL="7492" marR="7492" marT="7492" marB="0" anchor="ctr"/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400" kern="1200" dirty="0" smtClean="0"/>
                        <a:t>索引与数据查询</a:t>
                      </a:r>
                      <a:endParaRPr lang="en-US" altLang="zh-CN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indent="-228600" algn="l" defTabSz="914400" rtl="0" eaLnBrk="1" fontAlgn="ctr" latinLnBrk="0" hangingPunct="1">
                        <a:lnSpc>
                          <a:spcPts val="14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/>
                        <a:t>索引的概念</a:t>
                      </a:r>
                      <a:endParaRPr lang="en-US" altLang="zh-CN" sz="1400" kern="1200" dirty="0" smtClean="0"/>
                    </a:p>
                    <a:p>
                      <a:pPr marL="0" marR="0" lvl="0" indent="-228600" algn="l" defTabSz="914400" rtl="0" eaLnBrk="1" fontAlgn="ctr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defRPr/>
                      </a:pPr>
                      <a:r>
                        <a:rPr lang="zh-CN" altLang="en-US" sz="1400" kern="1200" dirty="0" smtClean="0"/>
                        <a:t>索引遍历与无索引遍历的对比</a:t>
                      </a:r>
                      <a:r>
                        <a:rPr lang="en-US" altLang="zh-CN" sz="1400" kern="1200" dirty="0" smtClean="0"/>
                        <a:t>(</a:t>
                      </a:r>
                      <a:r>
                        <a:rPr lang="zh-CN" altLang="en-US" sz="1400" kern="1200" dirty="0" smtClean="0"/>
                        <a:t>示例</a:t>
                      </a:r>
                      <a:r>
                        <a:rPr lang="en-US" altLang="zh-CN" sz="1400" kern="1200" dirty="0" smtClean="0"/>
                        <a:t>)</a:t>
                      </a:r>
                      <a:endParaRPr lang="en-US" altLang="zh-CN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4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/>
                        <a:t>索引的创建和生成</a:t>
                      </a:r>
                      <a:endParaRPr lang="en-US" altLang="zh-CN" sz="1400" kern="1200" dirty="0" smtClean="0"/>
                    </a:p>
                  </a:txBody>
                  <a:tcPr marL="7492" marR="7492" marT="7492" marB="0" anchor="ctr"/>
                </a:tc>
              </a:tr>
              <a:tr h="500722">
                <a:tc vMerge="1">
                  <a:tcPr marL="7492" marR="7492" marT="7492" marB="0" anchor="ctr"/>
                </a:tc>
                <a:tc vMerge="1"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休息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20min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gridSpan="4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492" marR="7492" marT="7492" marB="0" anchor="ctr"/>
                </a:tc>
                <a:tc hMerge="1">
                  <a:tcPr marL="7492" marR="7492" marT="7492" marB="0" anchor="ctr"/>
                </a:tc>
                <a:tc hMerge="1">
                  <a:tcPr/>
                </a:tc>
                <a:tc hMerge="1">
                  <a:tcPr marL="7492" marR="7492" marT="7492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|  </a:t>
            </a:r>
            <a:r>
              <a:rPr lang="zh-CN" altLang="en-US" dirty="0" smtClean="0">
                <a:sym typeface="+mn-ea"/>
              </a:rPr>
              <a:t>第一节  创建</a:t>
            </a:r>
            <a:r>
              <a:rPr lang="zh-CN" altLang="en-US" dirty="0">
                <a:sym typeface="+mn-ea"/>
              </a:rPr>
              <a:t>持久类</a:t>
            </a:r>
            <a:r>
              <a:rPr lang="en-US" altLang="zh-CN" dirty="0">
                <a:sym typeface="+mn-ea"/>
              </a:rPr>
              <a:t>Persistent (</a:t>
            </a:r>
            <a:r>
              <a:rPr lang="zh-CN" altLang="en-US" dirty="0">
                <a:sym typeface="+mn-ea"/>
              </a:rPr>
              <a:t>实体类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23332" y="900502"/>
            <a:ext cx="6611574" cy="1835463"/>
            <a:chOff x="1502432" y="1650162"/>
            <a:chExt cx="6611574" cy="1835463"/>
          </a:xfrm>
        </p:grpSpPr>
        <p:sp>
          <p:nvSpPr>
            <p:cNvPr id="4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、面向对象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的持久类概念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、持久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类建表步骤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、持久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类建表相关基础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知识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、主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索引、自增</a:t>
              </a:r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Id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dirty="0" err="1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Rowid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的定义</a:t>
              </a:r>
              <a:endParaRPr lang="en-US" altLang="zh-C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608119" y="1650162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创建持久类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6" name="组合 73"/>
            <p:cNvGrpSpPr/>
            <p:nvPr/>
          </p:nvGrpSpPr>
          <p:grpSpPr bwMode="auto">
            <a:xfrm>
              <a:off x="1502432" y="1722899"/>
              <a:ext cx="1105687" cy="1052310"/>
              <a:chOff x="498342" y="103823"/>
              <a:chExt cx="1104763" cy="105143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8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7072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学习思路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2671816" y="2225790"/>
              <a:ext cx="5004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1011604" y="3281945"/>
            <a:ext cx="10747817" cy="2631290"/>
            <a:chOff x="380308" y="2999917"/>
            <a:chExt cx="2137893" cy="2631290"/>
          </a:xfrm>
        </p:grpSpPr>
        <p:sp>
          <p:nvSpPr>
            <p:cNvPr id="14" name="文本框 34"/>
            <p:cNvSpPr txBox="1">
              <a:spLocks noChangeArrowheads="1"/>
            </p:cNvSpPr>
            <p:nvPr/>
          </p:nvSpPr>
          <p:spPr bwMode="auto">
            <a:xfrm>
              <a:off x="380308" y="2999917"/>
              <a:ext cx="141245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pPr eaLnBrk="1" hangingPunct="1"/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面向对象的持久类概念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/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133041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持久类建表：Studio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中创建持久类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Persistent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%Persistent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类：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任何具有持久性的类都直接或间接地继承了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%Persistent(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全名为：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%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Library.Persistent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)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类，它提供了一些关于持久化的方法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如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%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OpenId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，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%Save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等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)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。其类名和方法名中开头的字符“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%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”说明了它是系统级的类和方法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。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Change Namespace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-&gt;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Create New Class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-&gt;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ClassType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-&gt;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Property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-&gt;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Index 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—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执行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—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Compile 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—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生成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— 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Storage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6" name="椭圆 15"/>
          <p:cNvSpPr/>
          <p:nvPr/>
        </p:nvSpPr>
        <p:spPr>
          <a:xfrm>
            <a:off x="897338" y="3844331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785" y="1629668"/>
            <a:ext cx="1077730" cy="242732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930" y="1612015"/>
            <a:ext cx="3052824" cy="22322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第一节  </a:t>
            </a:r>
            <a:r>
              <a:rPr lang="zh-CN" altLang="en-US" dirty="0">
                <a:sym typeface="+mn-ea"/>
              </a:rPr>
              <a:t>创建持久类</a:t>
            </a:r>
            <a:r>
              <a:rPr lang="en-US" altLang="zh-CN" dirty="0">
                <a:sym typeface="+mn-ea"/>
              </a:rPr>
              <a:t>Persistent (</a:t>
            </a:r>
            <a:r>
              <a:rPr lang="zh-CN" altLang="en-US" dirty="0">
                <a:sym typeface="+mn-ea"/>
              </a:rPr>
              <a:t>实体类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>
              <a:sym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84346" y="998763"/>
            <a:ext cx="5051231" cy="1941866"/>
            <a:chOff x="370745" y="2950677"/>
            <a:chExt cx="2147456" cy="1941866"/>
          </a:xfrm>
        </p:grpSpPr>
        <p:sp>
          <p:nvSpPr>
            <p:cNvPr id="20" name="文本框 34"/>
            <p:cNvSpPr txBox="1">
              <a:spLocks noChangeArrowheads="1"/>
            </p:cNvSpPr>
            <p:nvPr/>
          </p:nvSpPr>
          <p:spPr bwMode="auto">
            <a:xfrm>
              <a:off x="370745" y="2950677"/>
              <a:ext cx="14124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pPr eaLnBrk="1" hangingPunct="1"/>
              <a:r>
                <a:rPr lang="zh-CN" altLang="en-US" sz="2000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持久类建表的步骤</a:t>
              </a:r>
              <a:endPara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133041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创建类文件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创建属性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Property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创建索引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Index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编译 生成默认的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storage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2" name="椭圆 21"/>
          <p:cNvSpPr/>
          <p:nvPr/>
        </p:nvSpPr>
        <p:spPr>
          <a:xfrm>
            <a:off x="471307" y="969910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矩形 57"/>
          <p:cNvSpPr>
            <a:spLocks noChangeArrowheads="1"/>
          </p:cNvSpPr>
          <p:nvPr/>
        </p:nvSpPr>
        <p:spPr bwMode="auto">
          <a:xfrm>
            <a:off x="1001264" y="3801055"/>
            <a:ext cx="5678583" cy="2312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rgbClr val="FF0000"/>
                </a:solidFill>
                <a:latin typeface="Arial" panose="020B0604020202020204" pitchFamily="34" charset="0"/>
              </a:rPr>
              <a:t>Persistent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：持久类，其实例可写到磁盘上保存；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Serial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：可序列化的类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嵌入类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，可以被嵌入到其他类中；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</a:rPr>
              <a:t>Registered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：内容不会写到磁盘上，实例只存在于内存中；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Abstract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：抽象类，不创建实例的类；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Data Type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：数据类型类；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CSP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cache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服务器脚本语言类；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</a:rPr>
              <a:t>Extends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：从某一类继承下来的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类。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14754" y="3431723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第一步：创建类文件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5166" y="2035041"/>
            <a:ext cx="2973000" cy="2235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943" y="2035042"/>
            <a:ext cx="3080972" cy="22356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557" y="4606666"/>
            <a:ext cx="2973648" cy="21578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内容占位符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334" y="4585883"/>
            <a:ext cx="3080972" cy="21970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第一节  </a:t>
            </a:r>
            <a:r>
              <a:rPr lang="zh-CN" altLang="en-US" dirty="0">
                <a:sym typeface="+mn-ea"/>
              </a:rPr>
              <a:t>创建持久类</a:t>
            </a:r>
            <a:r>
              <a:rPr lang="en-US" altLang="zh-CN" dirty="0">
                <a:sym typeface="+mn-ea"/>
              </a:rPr>
              <a:t>Persistent (</a:t>
            </a:r>
            <a:r>
              <a:rPr lang="zh-CN" altLang="en-US" dirty="0">
                <a:sym typeface="+mn-ea"/>
              </a:rPr>
              <a:t>实体类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>
              <a:sym typeface="+mn-ea"/>
            </a:endParaRPr>
          </a:p>
        </p:txBody>
      </p:sp>
      <p:pic>
        <p:nvPicPr>
          <p:cNvPr id="7" name="内容占位符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617" y="3055154"/>
            <a:ext cx="3312234" cy="20883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内容占位符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467" y="3044763"/>
            <a:ext cx="3203711" cy="20883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矩形 57"/>
          <p:cNvSpPr>
            <a:spLocks noChangeArrowheads="1"/>
          </p:cNvSpPr>
          <p:nvPr/>
        </p:nvSpPr>
        <p:spPr bwMode="auto">
          <a:xfrm>
            <a:off x="1001264" y="1255284"/>
            <a:ext cx="9929972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Property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Type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属性类型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单值类型：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A single value of type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，可以选择不同的类型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数据类型或类定义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集合类型：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A collection of type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，一组相同类型的集合，可以选择不同的基础类型和集合的方法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(array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或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list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两种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流类型：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Containing elements of type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，可选择二进制流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图像或声音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和字符流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超长字符串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关系类型：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Relationship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，可以同其他类建立相互引用的关系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一对多和父子两种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4754" y="885952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第二步：创建属性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Property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068" y="2994617"/>
            <a:ext cx="3240719" cy="2128101"/>
          </a:xfrm>
          <a:prstGeom prst="rect">
            <a:avLst/>
          </a:prstGeom>
          <a:ln>
            <a:solidFill>
              <a:srgbClr val="1F4E79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617" y="4732811"/>
            <a:ext cx="7549901" cy="18515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第一节  </a:t>
            </a:r>
            <a:r>
              <a:rPr lang="zh-CN" altLang="en-US" dirty="0">
                <a:sym typeface="+mn-ea"/>
              </a:rPr>
              <a:t>创建持久类</a:t>
            </a:r>
            <a:r>
              <a:rPr lang="en-US" altLang="zh-CN" dirty="0">
                <a:sym typeface="+mn-ea"/>
              </a:rPr>
              <a:t>Persistent (</a:t>
            </a:r>
            <a:r>
              <a:rPr lang="zh-CN" altLang="en-US" dirty="0">
                <a:sym typeface="+mn-ea"/>
              </a:rPr>
              <a:t>实体类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>
              <a:sym typeface="+mn-ea"/>
            </a:endParaRPr>
          </a:p>
        </p:txBody>
      </p:sp>
      <p:pic>
        <p:nvPicPr>
          <p:cNvPr id="7" name="内容占位符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559" y="3404169"/>
            <a:ext cx="3980504" cy="28758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内容占位符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40" y="3404170"/>
            <a:ext cx="4829905" cy="2281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340" y="5093103"/>
            <a:ext cx="4809123" cy="11869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矩形 57"/>
          <p:cNvSpPr>
            <a:spLocks noChangeArrowheads="1"/>
          </p:cNvSpPr>
          <p:nvPr/>
        </p:nvSpPr>
        <p:spPr bwMode="auto">
          <a:xfrm>
            <a:off x="1001264" y="1452713"/>
            <a:ext cx="9929972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属性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参数：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Required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：表示该属性不能为空值，是必须有值输入的。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Indexed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：表示要在该属性上创建索引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(index)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，以提高查询的速度。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Unique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：表示该属性的内容是唯一的，即不能有重复。并为此创建唯一索引。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Calculated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：表示该属性的值是由其他属性的值计算出来的。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4754" y="1031426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第三步：创建索引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Index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第一节  </a:t>
            </a:r>
            <a:r>
              <a:rPr lang="zh-CN" altLang="en-US" dirty="0">
                <a:sym typeface="+mn-ea"/>
              </a:rPr>
              <a:t>创建持久类</a:t>
            </a:r>
            <a:r>
              <a:rPr lang="en-US" altLang="zh-CN" dirty="0">
                <a:sym typeface="+mn-ea"/>
              </a:rPr>
              <a:t>Persistent (</a:t>
            </a:r>
            <a:r>
              <a:rPr lang="zh-CN" altLang="en-US" dirty="0">
                <a:sym typeface="+mn-ea"/>
              </a:rPr>
              <a:t>实体类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>
              <a:sym typeface="+mn-ea"/>
            </a:endParaRPr>
          </a:p>
        </p:txBody>
      </p:sp>
      <p:sp>
        <p:nvSpPr>
          <p:cNvPr id="9" name="矩形 57"/>
          <p:cNvSpPr>
            <a:spLocks noChangeArrowheads="1"/>
          </p:cNvSpPr>
          <p:nvPr/>
        </p:nvSpPr>
        <p:spPr bwMode="auto">
          <a:xfrm>
            <a:off x="1448077" y="1712488"/>
            <a:ext cx="230304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生成默认的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storage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 Storage 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Dafault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1567" y="1291201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第四步：编译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253" y="842214"/>
            <a:ext cx="7573674" cy="590196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|  </a:t>
            </a:r>
            <a:r>
              <a:rPr lang="zh-CN" altLang="en-US" dirty="0" smtClean="0">
                <a:sym typeface="+mn-ea"/>
              </a:rPr>
              <a:t>第一</a:t>
            </a:r>
            <a:r>
              <a:rPr lang="zh-CN" altLang="en-US" dirty="0">
                <a:sym typeface="+mn-ea"/>
              </a:rPr>
              <a:t>节  创建持久类</a:t>
            </a:r>
            <a:r>
              <a:rPr lang="en-US" altLang="zh-CN" dirty="0">
                <a:sym typeface="+mn-ea"/>
              </a:rPr>
              <a:t>Persistent (</a:t>
            </a:r>
            <a:r>
              <a:rPr lang="zh-CN" altLang="en-US" dirty="0">
                <a:sym typeface="+mn-ea"/>
              </a:rPr>
              <a:t>实体类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>
              <a:sym typeface="+mn-ea"/>
            </a:endParaRPr>
          </a:p>
          <a:p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45" y="4878055"/>
            <a:ext cx="6010343" cy="15850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657" y="4878055"/>
            <a:ext cx="6010343" cy="158509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组合 15"/>
          <p:cNvGrpSpPr/>
          <p:nvPr/>
        </p:nvGrpSpPr>
        <p:grpSpPr>
          <a:xfrm>
            <a:off x="984346" y="998763"/>
            <a:ext cx="5051231" cy="788217"/>
            <a:chOff x="370745" y="2950677"/>
            <a:chExt cx="2147456" cy="788217"/>
          </a:xfrm>
        </p:grpSpPr>
        <p:sp>
          <p:nvSpPr>
            <p:cNvPr id="17" name="文本框 34"/>
            <p:cNvSpPr txBox="1">
              <a:spLocks noChangeArrowheads="1"/>
            </p:cNvSpPr>
            <p:nvPr/>
          </p:nvSpPr>
          <p:spPr bwMode="auto">
            <a:xfrm>
              <a:off x="370745" y="2950677"/>
              <a:ext cx="14124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2000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持久</a:t>
              </a:r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类建表相关基础知识</a:t>
              </a:r>
              <a:endPara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133041" cy="4160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9" name="椭圆 18"/>
          <p:cNvSpPr/>
          <p:nvPr/>
        </p:nvSpPr>
        <p:spPr>
          <a:xfrm>
            <a:off x="471307" y="969910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矩形 57"/>
          <p:cNvSpPr>
            <a:spLocks noChangeArrowheads="1"/>
          </p:cNvSpPr>
          <p:nvPr/>
        </p:nvSpPr>
        <p:spPr bwMode="auto">
          <a:xfrm>
            <a:off x="1385570" y="1929130"/>
            <a:ext cx="3398520" cy="299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%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Date：日期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%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Time：时间 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%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Designative Reference：指向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%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Multiple Choice：多选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%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Number：数字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%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Text：文本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% String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：字符串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Yes/No：(DISPLAYLIST = ",Yes,No",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VALUELIST = ",Y,N") </a:t>
            </a:r>
            <a:endParaRPr lang="zh-CN" altLang="en-US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99221" y="1582149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：常用字段类型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矩形 57"/>
          <p:cNvSpPr>
            <a:spLocks noChangeArrowheads="1"/>
          </p:cNvSpPr>
          <p:nvPr/>
        </p:nvSpPr>
        <p:spPr bwMode="auto">
          <a:xfrm>
            <a:off x="6130917" y="2010362"/>
            <a:ext cx="4956189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类名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-Class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User.DHCStudent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2)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ClassType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 persistent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3)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数据库表名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-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TableName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DHC_Student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4)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存储结构：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%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Persistent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5)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属性名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-Property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DHCName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6)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字段名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-sql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FieldName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DHC_Name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7)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列顺序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-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SqlColumnNumber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：指明字段顺序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8)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RowId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名称：主键，是数据的唯一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标识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96360" y="1589075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：相关属性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第一节  </a:t>
            </a:r>
            <a:r>
              <a:rPr lang="zh-CN" altLang="en-US" dirty="0">
                <a:sym typeface="+mn-ea"/>
              </a:rPr>
              <a:t>创建持久类</a:t>
            </a:r>
            <a:r>
              <a:rPr lang="en-US" altLang="zh-CN" dirty="0">
                <a:sym typeface="+mn-ea"/>
              </a:rPr>
              <a:t>Persistent (</a:t>
            </a:r>
            <a:r>
              <a:rPr lang="zh-CN" altLang="en-US" dirty="0">
                <a:sym typeface="+mn-ea"/>
              </a:rPr>
              <a:t>实体类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778" y="2939517"/>
            <a:ext cx="2778522" cy="34646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595" y="2939517"/>
            <a:ext cx="2769942" cy="34646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832" y="3057804"/>
            <a:ext cx="5085759" cy="3187131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组合 7"/>
          <p:cNvGrpSpPr/>
          <p:nvPr/>
        </p:nvGrpSpPr>
        <p:grpSpPr>
          <a:xfrm>
            <a:off x="984346" y="1113064"/>
            <a:ext cx="6154210" cy="1572535"/>
            <a:chOff x="370745" y="2950677"/>
            <a:chExt cx="2616371" cy="1572535"/>
          </a:xfrm>
        </p:grpSpPr>
        <p:sp>
          <p:nvSpPr>
            <p:cNvPr id="9" name="文本框 34"/>
            <p:cNvSpPr txBox="1">
              <a:spLocks noChangeArrowheads="1"/>
            </p:cNvSpPr>
            <p:nvPr/>
          </p:nvSpPr>
          <p:spPr bwMode="auto">
            <a:xfrm>
              <a:off x="370745" y="2950677"/>
              <a:ext cx="194932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2000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主索引、</a:t>
              </a:r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自增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、</a:t>
              </a:r>
              <a:r>
                <a:rPr lang="en-US" altLang="zh-CN" sz="2000" b="1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Rowid</a:t>
              </a:r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的</a:t>
              </a:r>
              <a:r>
                <a:rPr lang="zh-CN" altLang="en-US" sz="2000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定义</a:t>
              </a:r>
              <a:endParaRPr lang="en-US" altLang="zh-CN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60195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DataMaster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：主索引，用于存放数据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自增Id的定义：通过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$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i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生成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rowid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Rowid：指定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SQL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表里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rowid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的名称，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rowid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是对数据的唯一标识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1" name="椭圆 10"/>
          <p:cNvSpPr/>
          <p:nvPr/>
        </p:nvSpPr>
        <p:spPr>
          <a:xfrm>
            <a:off x="471307" y="1084211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作业</a:t>
            </a:r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878716" y="1615135"/>
            <a:ext cx="5833306" cy="917218"/>
            <a:chOff x="376972" y="4936104"/>
            <a:chExt cx="6085889" cy="917218"/>
          </a:xfrm>
        </p:grpSpPr>
        <p:sp>
          <p:nvSpPr>
            <p:cNvPr id="15" name="矩形 57"/>
            <p:cNvSpPr>
              <a:spLocks noChangeArrowheads="1"/>
            </p:cNvSpPr>
            <p:nvPr/>
          </p:nvSpPr>
          <p:spPr bwMode="auto">
            <a:xfrm>
              <a:off x="750141" y="5514768"/>
              <a:ext cx="571272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请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以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</a:rPr>
                <a:t>QQ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截图形式提交给老师，截图上需注释上自己的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姓名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750141" y="5345491"/>
              <a:ext cx="356114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16"/>
            <p:cNvGrpSpPr/>
            <p:nvPr/>
          </p:nvGrpSpPr>
          <p:grpSpPr>
            <a:xfrm>
              <a:off x="376972" y="4936104"/>
              <a:ext cx="4204392" cy="461665"/>
              <a:chOff x="376972" y="4936104"/>
              <a:chExt cx="4204392" cy="461665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411705" y="4936104"/>
                <a:ext cx="41696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作业 </a:t>
                </a:r>
                <a:r>
                  <a: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2</a:t>
                </a:r>
                <a:r>
                  <a:rPr lang="en-US" altLang="zh-CN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972" y="5007841"/>
                <a:ext cx="373169" cy="371255"/>
              </a:xfrm>
              <a:prstGeom prst="rect">
                <a:avLst/>
              </a:prstGeom>
            </p:spPr>
          </p:pic>
        </p:grpSp>
      </p:grpSp>
      <p:sp>
        <p:nvSpPr>
          <p:cNvPr id="20" name="矩形 19"/>
          <p:cNvSpPr/>
          <p:nvPr/>
        </p:nvSpPr>
        <p:spPr>
          <a:xfrm>
            <a:off x="6061058" y="2666741"/>
            <a:ext cx="5725504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建立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学生表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表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名DHC_Student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,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类名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User.DHCStudent </a:t>
            </a:r>
            <a:r>
              <a:rPr lang="zh-CN" altLang="en-US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主键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St_RowID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字段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St_Code,St_Name,St_Sex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_DR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(Ct_Sex),St_Dob(Date)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Global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(Master Map)：^DHCSTUDENT({St_RowID})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Index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：^DHCSTUDENT(0,"SEX",{St_Sex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_DR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},{St_RowID})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Index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：^DHCSTUDENT(0,"DOB",{St_Dob},{St_RowID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39156" y="2667036"/>
            <a:ext cx="5228237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建立科目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表：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表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名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DHC_Course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,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类名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User.DHCCourse </a:t>
            </a:r>
            <a:r>
              <a:rPr lang="zh-CN" altLang="en-US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主键  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Crs_RowID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字段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Crs_Code,Crs_Desc,Crs_ActiveFlag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(Y/N)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Global(Master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Map): ^DHCCOURSE({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Crs_RowID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Index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:^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DHCCOURSE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(0,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"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Code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,{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Crs_Code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},{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Crs_RowID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Index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:^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DHCCOURSE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(0,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"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Desc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,{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Crs_Desc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},{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Crs_RowID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39156" y="4803181"/>
            <a:ext cx="886097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存储结构：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Global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名称要求大写，并和表的名字相同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去掉下划线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，每个属性的存储位置自己定义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课间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休息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上午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第一节课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|  </a:t>
            </a:r>
            <a:r>
              <a:rPr lang="zh-CN" altLang="en-US" dirty="0" smtClean="0">
                <a:sym typeface="+mn-ea"/>
              </a:rPr>
              <a:t>第二节  </a:t>
            </a:r>
            <a:r>
              <a:rPr lang="zh-CN" altLang="en-US" dirty="0">
                <a:sym typeface="+mn-ea"/>
              </a:rPr>
              <a:t>两种存储</a:t>
            </a:r>
            <a:r>
              <a:rPr lang="en-US" altLang="zh-CN" dirty="0">
                <a:sym typeface="+mn-ea"/>
              </a:rPr>
              <a:t>Storage</a:t>
            </a:r>
            <a:r>
              <a:rPr lang="zh-CN" altLang="en-US" dirty="0">
                <a:sym typeface="+mn-ea"/>
              </a:rPr>
              <a:t>的查询方法</a:t>
            </a:r>
            <a:endParaRPr lang="zh-CN" altLang="en-US" dirty="0"/>
          </a:p>
        </p:txBody>
      </p:sp>
      <p:sp>
        <p:nvSpPr>
          <p:cNvPr id="14" name="矩形 57"/>
          <p:cNvSpPr>
            <a:spLocks noChangeArrowheads="1"/>
          </p:cNvSpPr>
          <p:nvPr/>
        </p:nvSpPr>
        <p:spPr bwMode="auto">
          <a:xfrm>
            <a:off x="665300" y="1345341"/>
            <a:ext cx="11086818" cy="7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存储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是指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cache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中实体类的存储结构，用来定义实体类的实例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关系型表的数据）在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cache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数据库中如何存放的，具体表现为数据或索引存储在哪个多维数组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Global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里 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0743" y="924054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：存储的描述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矩形 57"/>
          <p:cNvSpPr>
            <a:spLocks noChangeArrowheads="1"/>
          </p:cNvSpPr>
          <p:nvPr/>
        </p:nvSpPr>
        <p:spPr bwMode="auto">
          <a:xfrm>
            <a:off x="821163" y="3160283"/>
            <a:ext cx="4956189" cy="3001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持久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对象的默认存储模式，可以自动创建。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关键点：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Data Nodes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DataLocation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IdLocation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IndexNodes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IndexLocation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StreamLocation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7278" y="2790951"/>
            <a:ext cx="459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%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CacheStorage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——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默认的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Storage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092" y="2975617"/>
            <a:ext cx="3571573" cy="3134238"/>
          </a:xfrm>
          <a:prstGeom prst="rect">
            <a:avLst/>
          </a:prstGeom>
          <a:ln>
            <a:solidFill>
              <a:srgbClr val="1F4E79"/>
            </a:solidFill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296" y="2884544"/>
            <a:ext cx="2748822" cy="3329219"/>
          </a:xfrm>
          <a:prstGeom prst="rect">
            <a:avLst/>
          </a:prstGeom>
          <a:ln>
            <a:solidFill>
              <a:srgbClr val="1F4E79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|  </a:t>
            </a:r>
            <a:r>
              <a:rPr lang="zh-CN" altLang="en-US" dirty="0" smtClean="0">
                <a:sym typeface="+mn-ea"/>
              </a:rPr>
              <a:t>第二节  </a:t>
            </a:r>
            <a:r>
              <a:rPr lang="zh-CN" altLang="en-US" dirty="0">
                <a:sym typeface="+mn-ea"/>
              </a:rPr>
              <a:t>两种存储</a:t>
            </a:r>
            <a:r>
              <a:rPr lang="en-US" altLang="zh-CN" dirty="0">
                <a:sym typeface="+mn-ea"/>
              </a:rPr>
              <a:t>Storage</a:t>
            </a:r>
            <a:r>
              <a:rPr lang="zh-CN" altLang="en-US" dirty="0">
                <a:sym typeface="+mn-ea"/>
              </a:rPr>
              <a:t>的查询方法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0335" y="1277525"/>
            <a:ext cx="2144509" cy="26823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820" y="1604528"/>
            <a:ext cx="3321924" cy="2156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矩形 57"/>
          <p:cNvSpPr>
            <a:spLocks noChangeArrowheads="1"/>
          </p:cNvSpPr>
          <p:nvPr/>
        </p:nvSpPr>
        <p:spPr bwMode="auto">
          <a:xfrm>
            <a:off x="925072" y="1364407"/>
            <a:ext cx="5569246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一种特殊的存储类，通常用于映射老结构的global，通过SQL Gateway存储外部关系数据库的结构(不常用)。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关键点：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 storage map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SqlChildSub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SqlRowIdName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默认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Storage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和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SQLStorage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的区分：根据</a:t>
            </a:r>
            <a:r>
              <a:rPr lang="zh-CN" altLang="en-US" sz="1400" b="1" dirty="0" smtClean="0">
                <a:solidFill>
                  <a:srgbClr val="E66666"/>
                </a:solidFill>
                <a:latin typeface="Arial" panose="020B0604020202020204" pitchFamily="34" charset="0"/>
              </a:rPr>
              <a:t>属性区分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两种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Storage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。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7051" y="984157"/>
            <a:ext cx="4826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%</a:t>
            </a:r>
            <a:r>
              <a:rPr lang="en-US" altLang="zh-CN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CacheSQLStorage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——</a:t>
            </a:r>
            <a:r>
              <a:rPr lang="en-US" altLang="zh-CN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SQLStorage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95749" y="4994639"/>
            <a:ext cx="2626040" cy="10618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第一步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：新建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SQLStorage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第二步：维护主索引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第三步：添加其他索引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4368" y="4625307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SQLStorage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的创建步骤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|  </a:t>
            </a:r>
            <a:r>
              <a:rPr lang="zh-CN" altLang="en-US" dirty="0" smtClean="0">
                <a:sym typeface="+mn-ea"/>
              </a:rPr>
              <a:t>第二节  </a:t>
            </a:r>
            <a:r>
              <a:rPr lang="zh-CN" altLang="en-US" dirty="0">
                <a:sym typeface="+mn-ea"/>
              </a:rPr>
              <a:t>两种存储</a:t>
            </a:r>
            <a:r>
              <a:rPr lang="en-US" altLang="zh-CN" dirty="0">
                <a:sym typeface="+mn-ea"/>
              </a:rPr>
              <a:t>Storage</a:t>
            </a:r>
            <a:r>
              <a:rPr lang="zh-CN" altLang="en-US" dirty="0">
                <a:sym typeface="+mn-ea"/>
              </a:rPr>
              <a:t>的查询方法</a:t>
            </a:r>
            <a:endParaRPr lang="zh-CN" altLang="en-US" dirty="0"/>
          </a:p>
        </p:txBody>
      </p:sp>
      <p:sp>
        <p:nvSpPr>
          <p:cNvPr id="14" name="矩形 57"/>
          <p:cNvSpPr>
            <a:spLocks noChangeArrowheads="1"/>
          </p:cNvSpPr>
          <p:nvPr/>
        </p:nvSpPr>
        <p:spPr bwMode="auto">
          <a:xfrm>
            <a:off x="925072" y="1364407"/>
            <a:ext cx="5569246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、删除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默认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storage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、新建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cacheSQLStorage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、双击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 Storage Map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7051" y="984157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第一步：新建</a:t>
            </a:r>
            <a:r>
              <a:rPr lang="en-US" altLang="zh-CN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SQLStorage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760" y="748142"/>
            <a:ext cx="2793883" cy="20503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2" name="文本框 21"/>
          <p:cNvSpPr txBox="1"/>
          <p:nvPr/>
        </p:nvSpPr>
        <p:spPr>
          <a:xfrm>
            <a:off x="587051" y="305880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第二步：维护主索引</a:t>
            </a: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矩形 57"/>
          <p:cNvSpPr>
            <a:spLocks noChangeArrowheads="1"/>
          </p:cNvSpPr>
          <p:nvPr/>
        </p:nvSpPr>
        <p:spPr bwMode="auto">
          <a:xfrm>
            <a:off x="925072" y="3529791"/>
            <a:ext cx="4689506" cy="2354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、维护主索引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Global Name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和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Map Type 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、维护主索引字段和位置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、指定主索引节点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、为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RowId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设置起始值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5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、指定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RowId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的层级关系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6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、定义主索引的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SqlRowIdName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和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SqlIdExpression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858" y="2920111"/>
            <a:ext cx="5639406" cy="340968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158" y="3243471"/>
            <a:ext cx="5693353" cy="34012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318" y="3425317"/>
            <a:ext cx="5562673" cy="34012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158" y="3457271"/>
            <a:ext cx="5623800" cy="33596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926" y="3425317"/>
            <a:ext cx="5674602" cy="345232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995" y="2798448"/>
            <a:ext cx="1861661" cy="34056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2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上午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放学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上午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第二节课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第三</a:t>
            </a:r>
            <a:r>
              <a:rPr lang="zh-CN" altLang="en-US" dirty="0">
                <a:sym typeface="+mn-ea"/>
              </a:rPr>
              <a:t>节  索引   </a:t>
            </a:r>
            <a:r>
              <a:rPr lang="en-US" altLang="zh-CN" dirty="0">
                <a:sym typeface="+mn-ea"/>
              </a:rPr>
              <a:t>Index</a:t>
            </a:r>
            <a:endParaRPr lang="zh-CN" altLang="en-US" dirty="0"/>
          </a:p>
        </p:txBody>
      </p:sp>
      <p:grpSp>
        <p:nvGrpSpPr>
          <p:cNvPr id="52" name="组合 51"/>
          <p:cNvGrpSpPr/>
          <p:nvPr/>
        </p:nvGrpSpPr>
        <p:grpSpPr>
          <a:xfrm>
            <a:off x="623332" y="1191450"/>
            <a:ext cx="6611574" cy="1558464"/>
            <a:chOff x="1502432" y="1650162"/>
            <a:chExt cx="6611574" cy="1558464"/>
          </a:xfrm>
        </p:grpSpPr>
        <p:sp>
          <p:nvSpPr>
            <p:cNvPr id="53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、索引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的概念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、索引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遍历与无索引遍历的对比</a:t>
              </a:r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示例</a:t>
              </a:r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)</a:t>
              </a:r>
              <a:endParaRPr lang="en-US" altLang="zh-C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、索引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的创建和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生成</a:t>
              </a:r>
              <a:endPara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608119" y="1650162"/>
              <a:ext cx="17828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索引</a:t>
              </a:r>
              <a:r>
                <a:rPr lang="en-US" altLang="zh-CN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Index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5" name="组合 73"/>
            <p:cNvGrpSpPr/>
            <p:nvPr/>
          </p:nvGrpSpPr>
          <p:grpSpPr bwMode="auto">
            <a:xfrm>
              <a:off x="1502432" y="1722899"/>
              <a:ext cx="1105687" cy="1052310"/>
              <a:chOff x="498342" y="103823"/>
              <a:chExt cx="1104763" cy="105143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57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7072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学习思路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56" name="直接连接符 55"/>
            <p:cNvCxnSpPr/>
            <p:nvPr/>
          </p:nvCxnSpPr>
          <p:spPr>
            <a:xfrm>
              <a:off x="2671816" y="2225790"/>
              <a:ext cx="5004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>
            <a:off x="1790695" y="3444564"/>
            <a:ext cx="2733600" cy="661520"/>
            <a:chOff x="380308" y="2999917"/>
            <a:chExt cx="2137893" cy="661520"/>
          </a:xfrm>
        </p:grpSpPr>
        <p:sp>
          <p:nvSpPr>
            <p:cNvPr id="60" name="文本框 34"/>
            <p:cNvSpPr txBox="1">
              <a:spLocks noChangeArrowheads="1"/>
            </p:cNvSpPr>
            <p:nvPr/>
          </p:nvSpPr>
          <p:spPr bwMode="auto">
            <a:xfrm>
              <a:off x="380308" y="2999917"/>
              <a:ext cx="14124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pPr eaLnBrk="1" hangingPunct="1"/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索引的概念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13304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0" lvl="1"/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2" name="椭圆 61"/>
          <p:cNvSpPr/>
          <p:nvPr/>
        </p:nvSpPr>
        <p:spPr>
          <a:xfrm>
            <a:off x="1323368" y="3418305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3" name="矩形 57"/>
          <p:cNvSpPr>
            <a:spLocks noChangeArrowheads="1"/>
          </p:cNvSpPr>
          <p:nvPr/>
        </p:nvSpPr>
        <p:spPr bwMode="auto">
          <a:xfrm>
            <a:off x="1884498" y="4507643"/>
            <a:ext cx="5046237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索引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为持久化类提供一个优化的实例检索机制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定义一个特定的排序与一类相关的常用请求的数据子集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索引可以定义为一个或多个属性的排序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497989" y="4086356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：索引的特点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7" name="矩形 57"/>
          <p:cNvSpPr>
            <a:spLocks noChangeArrowheads="1"/>
          </p:cNvSpPr>
          <p:nvPr/>
        </p:nvSpPr>
        <p:spPr bwMode="auto">
          <a:xfrm>
            <a:off x="7014139" y="4431439"/>
            <a:ext cx="231689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EXACT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SQLSTRING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SQLUPPER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ALPHAUP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7448510" y="3936807"/>
            <a:ext cx="256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：排序规则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597650" y="4383787"/>
            <a:ext cx="233449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MINUS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PLUS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SPACE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STRING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UPPER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utoUpdateAnimBg="0"/>
      <p:bldP spid="6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第三</a:t>
            </a:r>
            <a:r>
              <a:rPr lang="zh-CN" altLang="en-US" dirty="0">
                <a:sym typeface="+mn-ea"/>
              </a:rPr>
              <a:t>节  索引   </a:t>
            </a:r>
            <a:r>
              <a:rPr lang="en-US" altLang="zh-CN" dirty="0">
                <a:sym typeface="+mn-ea"/>
              </a:rPr>
              <a:t>Index</a:t>
            </a:r>
            <a:endParaRPr lang="zh-CN" altLang="en-US" dirty="0"/>
          </a:p>
        </p:txBody>
      </p:sp>
      <p:grpSp>
        <p:nvGrpSpPr>
          <p:cNvPr id="52" name="组合 51"/>
          <p:cNvGrpSpPr/>
          <p:nvPr/>
        </p:nvGrpSpPr>
        <p:grpSpPr>
          <a:xfrm>
            <a:off x="623570" y="1191260"/>
            <a:ext cx="7244715" cy="884448"/>
            <a:chOff x="1502432" y="1650162"/>
            <a:chExt cx="6611574" cy="1242079"/>
          </a:xfrm>
        </p:grpSpPr>
        <p:sp>
          <p:nvSpPr>
            <p:cNvPr id="53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517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/>
              <a:endPara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608119" y="1650162"/>
              <a:ext cx="1782860" cy="733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索引</a:t>
              </a:r>
              <a:r>
                <a:rPr lang="en-US" altLang="zh-CN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Index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5" name="组合 73"/>
            <p:cNvGrpSpPr/>
            <p:nvPr/>
          </p:nvGrpSpPr>
          <p:grpSpPr bwMode="auto">
            <a:xfrm>
              <a:off x="1502432" y="1722899"/>
              <a:ext cx="1105687" cy="1169342"/>
              <a:chOff x="498342" y="103823"/>
              <a:chExt cx="1104763" cy="1168364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57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99170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学习思路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56" name="直接连接符 55"/>
            <p:cNvCxnSpPr/>
            <p:nvPr/>
          </p:nvCxnSpPr>
          <p:spPr>
            <a:xfrm>
              <a:off x="2671816" y="2225790"/>
              <a:ext cx="5004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矩形 68"/>
          <p:cNvSpPr/>
          <p:nvPr/>
        </p:nvSpPr>
        <p:spPr>
          <a:xfrm>
            <a:off x="8597650" y="4383787"/>
            <a:ext cx="2334490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78585" y="2075815"/>
            <a:ext cx="943419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、索引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的概念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pPr algn="just"/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pPr algn="just"/>
            <a:r>
              <a:rPr lang="zh-CN" altLang="en-US"/>
              <a:t> 数据库索引是为了增加查询速度而对表字段附加的一种标识，是对数据库表中一列或多列的值进行排序的一种结构。</a:t>
            </a:r>
            <a:endParaRPr lang="zh-CN" altLang="en-US"/>
          </a:p>
          <a:p>
            <a:pPr algn="just"/>
            <a:endParaRPr lang="zh-CN" altLang="en-US"/>
          </a:p>
          <a:p>
            <a:pPr algn="just"/>
            <a:r>
              <a:rPr lang="zh-CN" altLang="en-US"/>
              <a:t>索引是对数据库表中一列或多列的值进行排序的一种结构，使用索引可快速访问数据库表中的特定信息。如果想按特定职员的姓来查找他或她，则与在表中搜索所有的行相比，索引有助于更快地获取信息。</a:t>
            </a:r>
            <a:endParaRPr lang="zh-CN" altLang="en-US"/>
          </a:p>
          <a:p>
            <a:pPr algn="just"/>
            <a:r>
              <a:rPr lang="zh-CN" altLang="en-US"/>
              <a:t>索引的一个主要目的就是加快检索表中数据的方法，亦即能协助信息搜索者尽快的找到符合限制条件的记录ID的辅助数据结构。 </a:t>
            </a:r>
            <a:endParaRPr lang="zh-CN" altLang="en-US"/>
          </a:p>
          <a:p>
            <a:pPr algn="just"/>
            <a:endParaRPr lang="zh-CN" altLang="en-US"/>
          </a:p>
          <a:p>
            <a:pPr algn="just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第三</a:t>
            </a:r>
            <a:r>
              <a:rPr lang="zh-CN" altLang="en-US" dirty="0">
                <a:sym typeface="+mn-ea"/>
              </a:rPr>
              <a:t>节  索引   </a:t>
            </a:r>
            <a:r>
              <a:rPr lang="en-US" altLang="zh-CN" dirty="0">
                <a:sym typeface="+mn-ea"/>
              </a:rPr>
              <a:t>Index</a:t>
            </a:r>
            <a:endParaRPr lang="zh-CN" altLang="en-US" dirty="0"/>
          </a:p>
        </p:txBody>
      </p:sp>
      <p:grpSp>
        <p:nvGrpSpPr>
          <p:cNvPr id="52" name="组合 51"/>
          <p:cNvGrpSpPr/>
          <p:nvPr/>
        </p:nvGrpSpPr>
        <p:grpSpPr>
          <a:xfrm>
            <a:off x="623570" y="1191260"/>
            <a:ext cx="7244715" cy="884448"/>
            <a:chOff x="1502432" y="1650162"/>
            <a:chExt cx="6611574" cy="1242079"/>
          </a:xfrm>
        </p:grpSpPr>
        <p:sp>
          <p:nvSpPr>
            <p:cNvPr id="53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517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/>
              <a:endPara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608119" y="1650162"/>
              <a:ext cx="1782860" cy="733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索引</a:t>
              </a:r>
              <a:r>
                <a:rPr lang="en-US" altLang="zh-CN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Index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5" name="组合 73"/>
            <p:cNvGrpSpPr/>
            <p:nvPr/>
          </p:nvGrpSpPr>
          <p:grpSpPr bwMode="auto">
            <a:xfrm>
              <a:off x="1502432" y="1722899"/>
              <a:ext cx="1105687" cy="1169342"/>
              <a:chOff x="498342" y="103823"/>
              <a:chExt cx="1104763" cy="1168364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57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99170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学习思路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56" name="直接连接符 55"/>
            <p:cNvCxnSpPr/>
            <p:nvPr/>
          </p:nvCxnSpPr>
          <p:spPr>
            <a:xfrm>
              <a:off x="2671816" y="2225790"/>
              <a:ext cx="5004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矩形 68"/>
          <p:cNvSpPr/>
          <p:nvPr/>
        </p:nvSpPr>
        <p:spPr>
          <a:xfrm>
            <a:off x="8597650" y="4383787"/>
            <a:ext cx="2334490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57985" y="1880235"/>
            <a:ext cx="943419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、索引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的优点与缺点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pPr algn="just"/>
            <a:r>
              <a:rPr lang="zh-CN" altLang="en-US"/>
              <a:t>优点：</a:t>
            </a:r>
            <a:endParaRPr lang="zh-CN" altLang="en-US"/>
          </a:p>
          <a:p>
            <a:pPr algn="just"/>
            <a:r>
              <a:rPr lang="en-US" altLang="zh-CN"/>
              <a:t>1 </a:t>
            </a:r>
            <a:r>
              <a:rPr lang="zh-CN" altLang="en-US"/>
              <a:t>通过创建</a:t>
            </a:r>
            <a:r>
              <a:rPr lang="zh-CN" altLang="en-US">
                <a:solidFill>
                  <a:srgbClr val="FF0000"/>
                </a:solidFill>
              </a:rPr>
              <a:t>唯一性</a:t>
            </a:r>
            <a:r>
              <a:rPr lang="zh-CN" altLang="en-US"/>
              <a:t>索引，可以保证数据库表中每一行数据的</a:t>
            </a:r>
            <a:r>
              <a:rPr lang="zh-CN" altLang="en-US">
                <a:solidFill>
                  <a:srgbClr val="FF0000"/>
                </a:solidFill>
              </a:rPr>
              <a:t>唯一性</a:t>
            </a:r>
            <a:r>
              <a:rPr lang="zh-CN" altLang="en-US"/>
              <a:t>。 </a:t>
            </a:r>
            <a:r>
              <a:rPr lang="en-US" altLang="zh-CN"/>
              <a:t>unique</a:t>
            </a:r>
            <a:endParaRPr lang="zh-CN" altLang="en-US"/>
          </a:p>
          <a:p>
            <a:pPr algn="just"/>
            <a:r>
              <a:rPr lang="en-US" altLang="zh-CN"/>
              <a:t>2 </a:t>
            </a:r>
            <a:r>
              <a:rPr lang="zh-CN" altLang="en-US"/>
              <a:t>可以大大</a:t>
            </a:r>
            <a:r>
              <a:rPr lang="zh-CN" altLang="en-US">
                <a:solidFill>
                  <a:srgbClr val="FF0000"/>
                </a:solidFill>
              </a:rPr>
              <a:t>加快数据的检索速度</a:t>
            </a:r>
            <a:r>
              <a:rPr lang="zh-CN" altLang="en-US"/>
              <a:t>，这也是创建索引的</a:t>
            </a:r>
            <a:r>
              <a:rPr lang="zh-CN" altLang="en-US">
                <a:solidFill>
                  <a:srgbClr val="FF0000"/>
                </a:solidFill>
              </a:rPr>
              <a:t>最主要的原因</a:t>
            </a:r>
            <a:r>
              <a:rPr lang="zh-CN" altLang="en-US"/>
              <a:t>。</a:t>
            </a:r>
            <a:endParaRPr lang="zh-CN" altLang="en-US"/>
          </a:p>
          <a:p>
            <a:pPr algn="just"/>
            <a:r>
              <a:rPr lang="zh-CN" altLang="en-US"/>
              <a:t> 缺点：</a:t>
            </a:r>
            <a:endParaRPr lang="zh-CN" altLang="en-US"/>
          </a:p>
          <a:p>
            <a:pPr algn="just"/>
            <a:r>
              <a:rPr lang="en-US" altLang="zh-CN"/>
              <a:t>1</a:t>
            </a:r>
            <a:r>
              <a:rPr lang="zh-CN" altLang="en-US"/>
              <a:t>创建索引和维护索引要耗费时间，这种时间随着数据量的增加而增加。</a:t>
            </a:r>
            <a:endParaRPr lang="zh-CN" altLang="en-US"/>
          </a:p>
          <a:p>
            <a:pPr algn="just"/>
            <a:r>
              <a:rPr lang="en-US" altLang="zh-CN"/>
              <a:t>2</a:t>
            </a:r>
            <a:r>
              <a:rPr lang="zh-CN" altLang="en-US"/>
              <a:t>索引需要占物理空间，除了数据表占数据空间之外，每一个索引还要占一定的物理空间。</a:t>
            </a:r>
            <a:endParaRPr lang="zh-CN" altLang="en-US"/>
          </a:p>
          <a:p>
            <a:pPr algn="just"/>
            <a:r>
              <a:rPr lang="en-US" altLang="zh-CN"/>
              <a:t>3</a:t>
            </a:r>
            <a:r>
              <a:rPr lang="zh-CN" altLang="en-US"/>
              <a:t>当对表中的数据进行增加、删除和修改的时候，索引也要动态的维护，这样就降低了数据的维护速度。</a:t>
            </a:r>
            <a:endParaRPr lang="zh-CN" altLang="en-US"/>
          </a:p>
          <a:p>
            <a:pPr algn="just"/>
            <a:endParaRPr lang="zh-CN" altLang="en-US"/>
          </a:p>
          <a:p>
            <a:pPr algn="just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、添加索引原则</a:t>
            </a:r>
            <a:endParaRPr lang="zh-CN" altLang="en-US"/>
          </a:p>
          <a:p>
            <a:pPr algn="just"/>
            <a:r>
              <a:rPr lang="zh-CN" altLang="en-US">
                <a:sym typeface="+mn-ea"/>
              </a:rPr>
              <a:t>   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 在查询中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很少使用</a:t>
            </a:r>
            <a:r>
              <a:rPr lang="zh-CN" altLang="en-US">
                <a:sym typeface="+mn-ea"/>
              </a:rPr>
              <a:t>或者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参考的列</a:t>
            </a:r>
            <a:r>
              <a:rPr lang="zh-CN" altLang="en-US">
                <a:sym typeface="+mn-ea"/>
              </a:rPr>
              <a:t>不应该创建索引。这些列很少使用到，有索引或者无索引，并不能提高查询速度。相反，由于增加了索引，反而降低了系统的维护速度和增大了空间需求。</a:t>
            </a:r>
            <a:endParaRPr lang="zh-CN" altLang="en-US"/>
          </a:p>
          <a:p>
            <a:pPr algn="just"/>
            <a:r>
              <a:rPr lang="zh-CN" altLang="en-US">
                <a:sym typeface="+mn-ea"/>
              </a:rPr>
              <a:t>    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只有很少数据值的列也不应该增加索引。</a:t>
            </a:r>
            <a:endParaRPr lang="zh-CN" altLang="en-US"/>
          </a:p>
          <a:p>
            <a:pPr algn="just"/>
            <a:endParaRPr lang="zh-CN" altLang="en-US"/>
          </a:p>
          <a:p>
            <a:pPr algn="just"/>
            <a:endParaRPr lang="zh-CN" altLang="en-US"/>
          </a:p>
          <a:p>
            <a:pPr algn="just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|  </a:t>
            </a:r>
            <a:r>
              <a:rPr lang="zh-CN" altLang="en-US" dirty="0" smtClean="0">
                <a:sym typeface="+mn-ea"/>
              </a:rPr>
              <a:t>第二节  </a:t>
            </a:r>
            <a:r>
              <a:rPr lang="zh-CN" altLang="en-US" dirty="0">
                <a:sym typeface="+mn-ea"/>
              </a:rPr>
              <a:t>两种存储</a:t>
            </a:r>
            <a:r>
              <a:rPr lang="en-US" altLang="zh-CN" dirty="0">
                <a:sym typeface="+mn-ea"/>
              </a:rPr>
              <a:t>Storage</a:t>
            </a:r>
            <a:r>
              <a:rPr lang="zh-CN" altLang="en-US" dirty="0">
                <a:sym typeface="+mn-ea"/>
              </a:rPr>
              <a:t>的查询方法</a:t>
            </a:r>
            <a:endParaRPr lang="zh-CN" altLang="en-US" dirty="0"/>
          </a:p>
        </p:txBody>
      </p:sp>
      <p:sp>
        <p:nvSpPr>
          <p:cNvPr id="14" name="矩形 57"/>
          <p:cNvSpPr>
            <a:spLocks noChangeArrowheads="1"/>
          </p:cNvSpPr>
          <p:nvPr/>
        </p:nvSpPr>
        <p:spPr bwMode="auto">
          <a:xfrm>
            <a:off x="925072" y="2029428"/>
            <a:ext cx="4973517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、增加索引，定义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MapName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和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GlobalName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及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Type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、在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Subscripts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中维护节点和节点层级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可自定义层数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为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RowId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设置起始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值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、指定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RowId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的层级关系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11742" y="135973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第三步：添加其他索引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964" y="901166"/>
            <a:ext cx="6176312" cy="36279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964" y="1672852"/>
            <a:ext cx="6176312" cy="37512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765" y="2213856"/>
            <a:ext cx="6152512" cy="36985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963" y="2765927"/>
            <a:ext cx="6176313" cy="37618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第三</a:t>
            </a:r>
            <a:r>
              <a:rPr lang="zh-CN" altLang="en-US" dirty="0">
                <a:sym typeface="+mn-ea"/>
              </a:rPr>
              <a:t>节  索引   </a:t>
            </a:r>
            <a:r>
              <a:rPr lang="en-US" altLang="zh-CN" dirty="0">
                <a:sym typeface="+mn-ea"/>
              </a:rPr>
              <a:t>Index</a:t>
            </a:r>
            <a:endParaRPr lang="zh-CN" altLang="en-US" dirty="0"/>
          </a:p>
        </p:txBody>
      </p:sp>
      <p:grpSp>
        <p:nvGrpSpPr>
          <p:cNvPr id="94" name="组合 93"/>
          <p:cNvGrpSpPr/>
          <p:nvPr/>
        </p:nvGrpSpPr>
        <p:grpSpPr>
          <a:xfrm>
            <a:off x="923184" y="1008717"/>
            <a:ext cx="3422199" cy="661520"/>
            <a:chOff x="380308" y="2999917"/>
            <a:chExt cx="2676432" cy="661520"/>
          </a:xfrm>
        </p:grpSpPr>
        <p:sp>
          <p:nvSpPr>
            <p:cNvPr id="95" name="文本框 34"/>
            <p:cNvSpPr txBox="1">
              <a:spLocks noChangeArrowheads="1"/>
            </p:cNvSpPr>
            <p:nvPr/>
          </p:nvSpPr>
          <p:spPr bwMode="auto">
            <a:xfrm>
              <a:off x="380308" y="2999917"/>
              <a:ext cx="26764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索引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遍历与无索引遍历的</a:t>
              </a:r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对比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13304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0" lvl="1"/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7" name="椭圆 96"/>
          <p:cNvSpPr/>
          <p:nvPr/>
        </p:nvSpPr>
        <p:spPr>
          <a:xfrm>
            <a:off x="455857" y="982458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175" y="1529080"/>
            <a:ext cx="6930390" cy="493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第三</a:t>
            </a:r>
            <a:r>
              <a:rPr lang="zh-CN" altLang="en-US" dirty="0">
                <a:sym typeface="+mn-ea"/>
              </a:rPr>
              <a:t>节  索引   </a:t>
            </a:r>
            <a:r>
              <a:rPr lang="en-US" altLang="zh-CN" dirty="0">
                <a:sym typeface="+mn-ea"/>
              </a:rPr>
              <a:t>Index</a:t>
            </a:r>
            <a:endParaRPr lang="zh-CN" altLang="en-US" dirty="0"/>
          </a:p>
        </p:txBody>
      </p:sp>
      <p:grpSp>
        <p:nvGrpSpPr>
          <p:cNvPr id="94" name="组合 93"/>
          <p:cNvGrpSpPr/>
          <p:nvPr/>
        </p:nvGrpSpPr>
        <p:grpSpPr>
          <a:xfrm>
            <a:off x="923184" y="1008717"/>
            <a:ext cx="3422199" cy="661520"/>
            <a:chOff x="380308" y="2999917"/>
            <a:chExt cx="2676432" cy="661520"/>
          </a:xfrm>
        </p:grpSpPr>
        <p:sp>
          <p:nvSpPr>
            <p:cNvPr id="95" name="文本框 34"/>
            <p:cNvSpPr txBox="1">
              <a:spLocks noChangeArrowheads="1"/>
            </p:cNvSpPr>
            <p:nvPr/>
          </p:nvSpPr>
          <p:spPr bwMode="auto">
            <a:xfrm>
              <a:off x="380308" y="2999917"/>
              <a:ext cx="26764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索引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遍历与无索引遍历的</a:t>
              </a:r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对比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13304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0" lvl="1"/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7" name="椭圆 96"/>
          <p:cNvSpPr/>
          <p:nvPr/>
        </p:nvSpPr>
        <p:spPr>
          <a:xfrm>
            <a:off x="455857" y="982458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23184" y="1534906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：无索引遍历的示例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448" y="1534906"/>
            <a:ext cx="5657850" cy="5067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第三</a:t>
            </a:r>
            <a:r>
              <a:rPr lang="zh-CN" altLang="en-US" dirty="0">
                <a:sym typeface="+mn-ea"/>
              </a:rPr>
              <a:t>节  索引   </a:t>
            </a:r>
            <a:r>
              <a:rPr lang="en-US" altLang="zh-CN" dirty="0">
                <a:sym typeface="+mn-ea"/>
              </a:rPr>
              <a:t>Index</a:t>
            </a:r>
            <a:endParaRPr lang="zh-CN" altLang="en-US" dirty="0"/>
          </a:p>
        </p:txBody>
      </p:sp>
      <p:sp>
        <p:nvSpPr>
          <p:cNvPr id="98" name="文本框 97"/>
          <p:cNvSpPr txBox="1"/>
          <p:nvPr/>
        </p:nvSpPr>
        <p:spPr>
          <a:xfrm>
            <a:off x="1165313" y="1131459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：有索引遍历的示例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74" y="1811634"/>
            <a:ext cx="5716923" cy="28954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7633858" y="1131459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：扩展内容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了解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662" y="1811634"/>
            <a:ext cx="6095876" cy="453721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第三</a:t>
            </a:r>
            <a:r>
              <a:rPr lang="zh-CN" altLang="en-US" dirty="0">
                <a:sym typeface="+mn-ea"/>
              </a:rPr>
              <a:t>节  索引   </a:t>
            </a:r>
            <a:r>
              <a:rPr lang="en-US" altLang="zh-CN" dirty="0">
                <a:sym typeface="+mn-ea"/>
              </a:rPr>
              <a:t>Index</a:t>
            </a:r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923184" y="1133407"/>
            <a:ext cx="3422199" cy="661520"/>
            <a:chOff x="380308" y="2999917"/>
            <a:chExt cx="2676432" cy="661520"/>
          </a:xfrm>
        </p:grpSpPr>
        <p:sp>
          <p:nvSpPr>
            <p:cNvPr id="8" name="文本框 34"/>
            <p:cNvSpPr txBox="1">
              <a:spLocks noChangeArrowheads="1"/>
            </p:cNvSpPr>
            <p:nvPr/>
          </p:nvSpPr>
          <p:spPr bwMode="auto">
            <a:xfrm>
              <a:off x="380308" y="2999917"/>
              <a:ext cx="26764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索引的创建和生成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13304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0" lvl="1"/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" name="椭圆 9"/>
          <p:cNvSpPr/>
          <p:nvPr/>
        </p:nvSpPr>
        <p:spPr>
          <a:xfrm>
            <a:off x="455857" y="1107148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矩形 57"/>
          <p:cNvSpPr>
            <a:spLocks noChangeArrowheads="1"/>
          </p:cNvSpPr>
          <p:nvPr/>
        </p:nvSpPr>
        <p:spPr bwMode="auto">
          <a:xfrm>
            <a:off x="1160596" y="2058364"/>
            <a:ext cx="515707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、增加索引，定义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MapName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和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GlobalName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及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Type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Subscripts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中维护节点和节点层级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可自定义层数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、为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RowId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设置起始值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、指定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RowId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的层级关系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6249" y="1652392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dirty="0" smtClean="0"/>
              <a:t>索引</a:t>
            </a:r>
            <a:r>
              <a:rPr lang="zh-CN" altLang="en-US" dirty="0"/>
              <a:t>的</a:t>
            </a:r>
            <a:r>
              <a:rPr lang="zh-CN" altLang="en-US" dirty="0" smtClean="0"/>
              <a:t>创建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66249" y="3880696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dirty="0" smtClean="0"/>
              <a:t>索引的生成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矩形 57"/>
          <p:cNvSpPr>
            <a:spLocks noChangeArrowheads="1"/>
          </p:cNvSpPr>
          <p:nvPr/>
        </p:nvSpPr>
        <p:spPr bwMode="auto">
          <a:xfrm>
            <a:off x="1498645" y="4250028"/>
            <a:ext cx="4214708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通过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主数据生成索引命令 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 ##class(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User.ClassName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).%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BuildIndices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()</a:t>
            </a:r>
            <a:b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zh-CN" altLang="en-US" sz="1400" b="1" dirty="0">
                <a:solidFill>
                  <a:srgbClr val="E66666"/>
                </a:solidFill>
                <a:latin typeface="Arial" panose="020B0604020202020204" pitchFamily="34" charset="0"/>
              </a:rPr>
              <a:t>业务场景慎用，正式库慎用</a:t>
            </a:r>
            <a:endParaRPr lang="zh-CN" altLang="en-US" sz="1400" b="1" dirty="0">
              <a:solidFill>
                <a:srgbClr val="E66666"/>
              </a:solidFill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011825" y="4997319"/>
            <a:ext cx="5585918" cy="1604073"/>
            <a:chOff x="376972" y="4936104"/>
            <a:chExt cx="5827789" cy="1604073"/>
          </a:xfrm>
        </p:grpSpPr>
        <p:sp>
          <p:nvSpPr>
            <p:cNvPr id="14" name="矩形 57"/>
            <p:cNvSpPr>
              <a:spLocks noChangeArrowheads="1"/>
            </p:cNvSpPr>
            <p:nvPr/>
          </p:nvSpPr>
          <p:spPr bwMode="auto">
            <a:xfrm>
              <a:off x="750141" y="5514768"/>
              <a:ext cx="5454620" cy="1025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dirty="0" smtClean="0">
                  <a:solidFill>
                    <a:schemeClr val="accent1">
                      <a:lumMod val="50000"/>
                    </a:schemeClr>
                  </a:solidFill>
                </a:rPr>
                <a:t>查看</a:t>
              </a:r>
              <a:r>
                <a:rPr lang="en-US" altLang="zh-CN" sz="1400" dirty="0">
                  <a:solidFill>
                    <a:schemeClr val="accent1">
                      <a:lumMod val="50000"/>
                    </a:schemeClr>
                  </a:solidFill>
                </a:rPr>
                <a:t>DHC-Data</a:t>
              </a:r>
              <a:r>
                <a:rPr lang="zh-CN" altLang="en-US" sz="1400" dirty="0">
                  <a:solidFill>
                    <a:schemeClr val="accent1">
                      <a:lumMod val="50000"/>
                    </a:schemeClr>
                  </a:solidFill>
                </a:rPr>
                <a:t>下的表</a:t>
              </a:r>
              <a:r>
                <a:rPr lang="en-US" altLang="zh-CN" sz="1400" dirty="0" err="1">
                  <a:solidFill>
                    <a:schemeClr val="accent1">
                      <a:lumMod val="50000"/>
                    </a:schemeClr>
                  </a:solidFill>
                </a:rPr>
                <a:t>CT_Zip</a:t>
              </a:r>
              <a:r>
                <a:rPr lang="zh-CN" altLang="en-US" sz="1400" dirty="0">
                  <a:solidFill>
                    <a:schemeClr val="accent1">
                      <a:lumMod val="50000"/>
                    </a:schemeClr>
                  </a:solidFill>
                </a:rPr>
                <a:t>的结构</a:t>
              </a:r>
              <a:endParaRPr lang="zh-CN" altLang="en-US" sz="14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r>
                <a:rPr lang="zh-CN" altLang="en-US" sz="1400" dirty="0">
                  <a:solidFill>
                    <a:schemeClr val="accent1">
                      <a:lumMod val="50000"/>
                    </a:schemeClr>
                  </a:solidFill>
                </a:rPr>
                <a:t>列出：字段（关联表）、存储结构、索引</a:t>
              </a:r>
              <a:endParaRPr lang="zh-CN" altLang="en-US" sz="14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r>
                <a:rPr lang="zh-CN" altLang="en-US" sz="1400" dirty="0">
                  <a:solidFill>
                    <a:schemeClr val="accent1">
                      <a:lumMod val="50000"/>
                    </a:schemeClr>
                  </a:solidFill>
                </a:rPr>
                <a:t>查看数据：记录条数、并</a:t>
              </a:r>
              <a:r>
                <a:rPr lang="en-US" altLang="zh-CN" sz="1400" dirty="0">
                  <a:solidFill>
                    <a:schemeClr val="accent1">
                      <a:lumMod val="50000"/>
                    </a:schemeClr>
                  </a:solidFill>
                </a:rPr>
                <a:t>copy</a:t>
              </a:r>
              <a:r>
                <a:rPr lang="zh-CN" altLang="en-US" sz="1400" dirty="0">
                  <a:solidFill>
                    <a:schemeClr val="accent1">
                      <a:lumMod val="50000"/>
                    </a:schemeClr>
                  </a:solidFill>
                </a:rPr>
                <a:t>出第一条数据的</a:t>
              </a:r>
              <a:r>
                <a:rPr lang="en-US" altLang="zh-CN" sz="1400" dirty="0">
                  <a:solidFill>
                    <a:schemeClr val="accent1">
                      <a:lumMod val="50000"/>
                    </a:schemeClr>
                  </a:solidFill>
                </a:rPr>
                <a:t>global</a:t>
              </a:r>
              <a:r>
                <a:rPr lang="zh-CN" altLang="en-US" sz="1400" dirty="0">
                  <a:solidFill>
                    <a:schemeClr val="accent1">
                      <a:lumMod val="50000"/>
                    </a:schemeClr>
                  </a:solidFill>
                </a:rPr>
                <a:t>节点</a:t>
              </a:r>
              <a:endParaRPr lang="zh-CN" altLang="en-US" sz="14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endParaRPr lang="zh-CN" alt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750141" y="5345491"/>
              <a:ext cx="356114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376972" y="4936104"/>
              <a:ext cx="4204392" cy="461665"/>
              <a:chOff x="376972" y="4936104"/>
              <a:chExt cx="4204392" cy="461665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411705" y="4936104"/>
                <a:ext cx="41696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练习 </a:t>
                </a:r>
                <a:r>
                  <a: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7</a:t>
                </a:r>
                <a:r>
                  <a:rPr lang="en-US" altLang="zh-CN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972" y="5007841"/>
                <a:ext cx="373169" cy="37125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课间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休息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下午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第一节课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8904" y="3865205"/>
            <a:ext cx="3603096" cy="283443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" name="组合 5"/>
          <p:cNvGrpSpPr/>
          <p:nvPr/>
        </p:nvGrpSpPr>
        <p:grpSpPr>
          <a:xfrm>
            <a:off x="981991" y="784524"/>
            <a:ext cx="6611574" cy="2870721"/>
            <a:chOff x="1502432" y="1722899"/>
            <a:chExt cx="6611574" cy="2870721"/>
          </a:xfrm>
        </p:grpSpPr>
        <p:sp>
          <p:nvSpPr>
            <p:cNvPr id="7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Routine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的概念、命名和执行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、常见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的特殊变量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、基本运算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符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、常见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的命令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5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、程序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流控制命令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6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、常见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的函数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08119" y="1756935"/>
              <a:ext cx="16802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的基础知识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9" name="组合 73"/>
            <p:cNvGrpSpPr/>
            <p:nvPr/>
          </p:nvGrpSpPr>
          <p:grpSpPr bwMode="auto">
            <a:xfrm>
              <a:off x="1502432" y="1722899"/>
              <a:ext cx="1105687" cy="1052310"/>
              <a:chOff x="498342" y="103823"/>
              <a:chExt cx="1104763" cy="105143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1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7072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学习要点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10" name="直接连接符 9"/>
            <p:cNvCxnSpPr/>
            <p:nvPr/>
          </p:nvCxnSpPr>
          <p:spPr>
            <a:xfrm>
              <a:off x="2671816" y="2225790"/>
              <a:ext cx="5004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34"/>
          <p:cNvSpPr txBox="1">
            <a:spLocks noChangeArrowheads="1"/>
          </p:cNvSpPr>
          <p:nvPr/>
        </p:nvSpPr>
        <p:spPr bwMode="auto">
          <a:xfrm>
            <a:off x="1541966" y="3645586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Routine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的概念、命名和执行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91279" y="3608662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内容占位符 3"/>
          <p:cNvSpPr txBox="1"/>
          <p:nvPr/>
        </p:nvSpPr>
        <p:spPr>
          <a:xfrm>
            <a:off x="1687387" y="4372181"/>
            <a:ext cx="7768287" cy="230832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 altLang="zh-CN" dirty="0" err="1"/>
              <a:t>我们可以把</a:t>
            </a:r>
            <a:r>
              <a:rPr lang="en-US" altLang="zh-CN" dirty="0"/>
              <a:t> </a:t>
            </a:r>
            <a:r>
              <a:rPr lang="en-US" altLang="zh-CN" dirty="0" err="1"/>
              <a:t>Routine理解为“</a:t>
            </a:r>
            <a:r>
              <a:rPr lang="en-US" altLang="zh-CN" dirty="0" err="1">
                <a:solidFill>
                  <a:srgbClr val="FF0000"/>
                </a:solidFill>
              </a:rPr>
              <a:t>小程序</a:t>
            </a:r>
            <a:r>
              <a:rPr lang="en-US" altLang="zh-CN" dirty="0" err="1"/>
              <a:t>”或</a:t>
            </a:r>
            <a:r>
              <a:rPr lang="en-US" altLang="zh-CN" dirty="0" err="1">
                <a:solidFill>
                  <a:srgbClr val="FF0000"/>
                </a:solidFill>
              </a:rPr>
              <a:t>程序模块</a:t>
            </a:r>
            <a:r>
              <a:rPr lang="en-US" altLang="zh-CN" dirty="0"/>
              <a:t>。</a:t>
            </a:r>
            <a:endParaRPr lang="en-US" altLang="zh-CN" dirty="0"/>
          </a:p>
          <a:p>
            <a:r>
              <a:rPr lang="en-US" altLang="zh-CN" dirty="0" err="1"/>
              <a:t>Caché</a:t>
            </a:r>
            <a:r>
              <a:rPr lang="en-US" altLang="zh-CN" dirty="0"/>
              <a:t> </a:t>
            </a:r>
            <a:r>
              <a:rPr lang="en-US" altLang="zh-CN" dirty="0" err="1"/>
              <a:t>ObjectScript</a:t>
            </a:r>
            <a:r>
              <a:rPr lang="zh-CN" altLang="en-US" dirty="0"/>
              <a:t>对</a:t>
            </a:r>
            <a:r>
              <a:rPr lang="en-US" altLang="zh-CN" dirty="0"/>
              <a:t>Routine </a:t>
            </a:r>
            <a:r>
              <a:rPr lang="zh-CN" altLang="en-US" dirty="0"/>
              <a:t>的使用类似于传统关系型数据库的存储过程。</a:t>
            </a:r>
            <a:endParaRPr lang="en-US" altLang="zh-CN" dirty="0"/>
          </a:p>
          <a:p>
            <a:r>
              <a:rPr lang="en-US" altLang="zh-CN" dirty="0"/>
              <a:t>Macro code</a:t>
            </a:r>
            <a:r>
              <a:rPr lang="zh-CN" altLang="en-US" dirty="0"/>
              <a:t>（宏代码），后缀名为</a:t>
            </a:r>
            <a:r>
              <a:rPr lang="en-US" altLang="zh-CN" dirty="0"/>
              <a:t>.MAC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Intermediate code</a:t>
            </a:r>
            <a:r>
              <a:rPr lang="zh-CN" altLang="en-US" dirty="0"/>
              <a:t>（中间代码），后缀名为</a:t>
            </a:r>
            <a:r>
              <a:rPr lang="en-US" altLang="zh-CN" dirty="0"/>
              <a:t>.INT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Object code</a:t>
            </a:r>
            <a:r>
              <a:rPr lang="zh-CN" altLang="en-US" dirty="0">
                <a:solidFill>
                  <a:srgbClr val="FF0000"/>
                </a:solidFill>
              </a:rPr>
              <a:t>（对象代码），后缀名为</a:t>
            </a:r>
            <a:r>
              <a:rPr lang="en-US" altLang="zh-CN" dirty="0">
                <a:solidFill>
                  <a:srgbClr val="FF0000"/>
                </a:solidFill>
              </a:rPr>
              <a:t>.OBJ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err="1"/>
              <a:t>Caché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en-US" altLang="zh-CN" dirty="0"/>
              <a:t> Routine</a:t>
            </a:r>
            <a:r>
              <a:rPr lang="zh-CN" altLang="en-US" dirty="0"/>
              <a:t>是由一些代码片段组成的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sp>
        <p:nvSpPr>
          <p:cNvPr id="18" name="文本框 17"/>
          <p:cNvSpPr txBox="1"/>
          <p:nvPr/>
        </p:nvSpPr>
        <p:spPr>
          <a:xfrm>
            <a:off x="1344537" y="4066043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Routine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的概念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sp>
        <p:nvSpPr>
          <p:cNvPr id="7" name="内容占位符 3"/>
          <p:cNvSpPr txBox="1"/>
          <p:nvPr/>
        </p:nvSpPr>
        <p:spPr>
          <a:xfrm>
            <a:off x="960018" y="1671386"/>
            <a:ext cx="6552610" cy="235449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 altLang="zh-CN" sz="1400" dirty="0" smtClean="0"/>
              <a:t>Routine </a:t>
            </a:r>
            <a:r>
              <a:rPr lang="zh-CN" altLang="en-US" sz="1400" dirty="0"/>
              <a:t>的名字可以是任何的字母、数字式字符。但是有要求：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 smtClean="0"/>
              <a:t>一般</a:t>
            </a:r>
            <a:r>
              <a:rPr lang="zh-CN" altLang="en-US" sz="1400" dirty="0"/>
              <a:t>不能以数字或百分号％开头命名、句号不能在开始或者结束的位置。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以％百分号开头命名的</a:t>
            </a:r>
            <a:r>
              <a:rPr lang="en-US" altLang="zh-CN" sz="1400" dirty="0"/>
              <a:t> Routine </a:t>
            </a:r>
            <a:r>
              <a:rPr lang="zh-CN" altLang="en-US" sz="1400" dirty="0"/>
              <a:t>是不局限在某一个名字空间（</a:t>
            </a:r>
            <a:r>
              <a:rPr lang="en-US" altLang="zh-CN" sz="1400" dirty="0"/>
              <a:t>Namespace</a:t>
            </a:r>
            <a:r>
              <a:rPr lang="zh-CN" altLang="en-US" sz="1400" dirty="0"/>
              <a:t>）应用的，％号是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Caché</a:t>
            </a:r>
            <a:r>
              <a:rPr lang="en-US" altLang="zh-CN" sz="1400" dirty="0"/>
              <a:t> </a:t>
            </a:r>
            <a:r>
              <a:rPr lang="zh-CN" altLang="en-US" sz="1400" dirty="0"/>
              <a:t>系统内部保留的，目的只是用来为我们提供程序命名。</a:t>
            </a:r>
            <a:endParaRPr lang="zh-CN" altLang="en-US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400" dirty="0"/>
              <a:t>Routine </a:t>
            </a:r>
            <a:r>
              <a:rPr lang="zh-CN" altLang="en-US" sz="1400" dirty="0"/>
              <a:t>名字的长度没有限制，但通过前</a:t>
            </a:r>
            <a:r>
              <a:rPr lang="en-US" altLang="zh-CN" sz="1400" dirty="0"/>
              <a:t>31</a:t>
            </a:r>
            <a:r>
              <a:rPr lang="zh-CN" altLang="en-US" sz="1400" dirty="0"/>
              <a:t>个字符来区分不同</a:t>
            </a:r>
            <a:r>
              <a:rPr lang="en-US" altLang="zh-CN" sz="1400" dirty="0"/>
              <a:t> Routine</a:t>
            </a:r>
            <a:r>
              <a:rPr lang="zh-CN" altLang="en-US" sz="1400" dirty="0"/>
              <a:t>。 </a:t>
            </a:r>
            <a:r>
              <a:rPr lang="en-US" altLang="zh-CN" sz="1400" dirty="0"/>
              <a:t> 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标签行：</a:t>
            </a:r>
            <a:r>
              <a:rPr lang="zh-CN" altLang="en-US" sz="1400" dirty="0">
                <a:solidFill>
                  <a:srgbClr val="FF0000"/>
                </a:solidFill>
              </a:rPr>
              <a:t>一个标签要确定一行，它从当前行的第一个位置开始</a:t>
            </a:r>
            <a:r>
              <a:rPr lang="zh-CN" altLang="en-US" sz="1400" dirty="0"/>
              <a:t>。</a:t>
            </a:r>
            <a:endParaRPr lang="zh-CN" altLang="en-US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代码行：</a:t>
            </a:r>
            <a:r>
              <a:rPr lang="zh-CN" altLang="en-US" sz="1400" dirty="0">
                <a:solidFill>
                  <a:srgbClr val="FF0000"/>
                </a:solidFill>
              </a:rPr>
              <a:t>代码行的最前端至少要有一个空格，作为一行的开始部分</a:t>
            </a:r>
            <a:r>
              <a:rPr lang="zh-CN" altLang="en-US" sz="1400" dirty="0"/>
              <a:t>。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534040" y="1302054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Routine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的命名</a:t>
            </a:r>
            <a:endParaRPr lang="en-US" altLang="zh-CN" dirty="0"/>
          </a:p>
        </p:txBody>
      </p:sp>
      <p:sp>
        <p:nvSpPr>
          <p:cNvPr id="9" name="文本占位符 2"/>
          <p:cNvSpPr txBox="1"/>
          <p:nvPr/>
        </p:nvSpPr>
        <p:spPr>
          <a:xfrm>
            <a:off x="960018" y="4871907"/>
            <a:ext cx="5256584" cy="11068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>
                <a:sym typeface="+mn-ea"/>
              </a:rPr>
              <a:t>Mac</a:t>
            </a:r>
            <a:r>
              <a:rPr lang="zh-CN" altLang="en-US" dirty="0">
                <a:sym typeface="+mn-ea"/>
              </a:rPr>
              <a:t>文件调试</a:t>
            </a:r>
            <a:r>
              <a:rPr lang="zh-CN" altLang="en-US" dirty="0" smtClean="0">
                <a:sym typeface="+mn-ea"/>
              </a:rPr>
              <a:t>：</a:t>
            </a:r>
            <a:endParaRPr lang="en-US" altLang="zh-CN" dirty="0">
              <a:sym typeface="+mn-ea"/>
            </a:endParaRPr>
          </a:p>
          <a:p>
            <a:r>
              <a:rPr lang="en-US" sz="1400" dirty="0" smtClean="0">
                <a:sym typeface="+mn-ea"/>
              </a:rPr>
              <a:t>    d  </a:t>
            </a:r>
            <a:r>
              <a:rPr lang="en-US" sz="1400" dirty="0" err="1">
                <a:sym typeface="+mn-ea"/>
              </a:rPr>
              <a:t>procname^macname</a:t>
            </a:r>
            <a:r>
              <a:rPr lang="en-US" sz="1400" dirty="0">
                <a:sym typeface="+mn-ea"/>
              </a:rPr>
              <a:t>(</a:t>
            </a:r>
            <a:r>
              <a:rPr lang="zh-CN" altLang="en-US" sz="1400" dirty="0">
                <a:sym typeface="+mn-ea"/>
              </a:rPr>
              <a:t>参数</a:t>
            </a:r>
            <a:r>
              <a:rPr lang="en-US" altLang="zh-CN" sz="1400" dirty="0">
                <a:sym typeface="+mn-ea"/>
              </a:rPr>
              <a:t>1</a:t>
            </a:r>
            <a:r>
              <a:rPr lang="zh-CN" altLang="en-US" sz="1400" dirty="0">
                <a:sym typeface="+mn-ea"/>
              </a:rPr>
              <a:t>，参数</a:t>
            </a:r>
            <a:r>
              <a:rPr lang="en-US" altLang="zh-CN" sz="1400" dirty="0">
                <a:sym typeface="+mn-ea"/>
              </a:rPr>
              <a:t>2.</a:t>
            </a:r>
            <a:r>
              <a:rPr lang="zh-CN" altLang="en-US" sz="1400" dirty="0">
                <a:sym typeface="+mn-ea"/>
              </a:rPr>
              <a:t>。。。</a:t>
            </a:r>
            <a:r>
              <a:rPr lang="en-US" altLang="zh-CN" sz="1400" dirty="0">
                <a:sym typeface="+mn-ea"/>
              </a:rPr>
              <a:t>) </a:t>
            </a:r>
            <a:r>
              <a:rPr lang="zh-CN" altLang="en-US" sz="1400" dirty="0">
                <a:sym typeface="+mn-ea"/>
              </a:rPr>
              <a:t>没有返回值</a:t>
            </a:r>
            <a:endParaRPr lang="zh-CN" altLang="en-US" sz="1400" dirty="0"/>
          </a:p>
          <a:p>
            <a:r>
              <a:rPr lang="en-US" sz="1400" dirty="0">
                <a:sym typeface="+mn-ea"/>
              </a:rPr>
              <a:t>    </a:t>
            </a:r>
            <a:r>
              <a:rPr lang="en-US" sz="1400" dirty="0" smtClean="0">
                <a:sym typeface="+mn-ea"/>
              </a:rPr>
              <a:t>W </a:t>
            </a:r>
            <a:r>
              <a:rPr lang="en-US" sz="1400" dirty="0">
                <a:sym typeface="+mn-ea"/>
              </a:rPr>
              <a:t>$$</a:t>
            </a:r>
            <a:r>
              <a:rPr lang="en-US" sz="1400" dirty="0" err="1">
                <a:sym typeface="+mn-ea"/>
              </a:rPr>
              <a:t>function^macname</a:t>
            </a:r>
            <a:r>
              <a:rPr lang="en-US" sz="1400" dirty="0">
                <a:sym typeface="+mn-ea"/>
              </a:rPr>
              <a:t>(</a:t>
            </a:r>
            <a:r>
              <a:rPr lang="zh-CN" altLang="en-US" sz="1400" dirty="0">
                <a:sym typeface="+mn-ea"/>
              </a:rPr>
              <a:t>参数</a:t>
            </a:r>
            <a:r>
              <a:rPr lang="en-US" altLang="zh-CN" sz="1400" dirty="0">
                <a:sym typeface="+mn-ea"/>
              </a:rPr>
              <a:t>1</a:t>
            </a:r>
            <a:r>
              <a:rPr lang="zh-CN" altLang="en-US" sz="1400" dirty="0">
                <a:sym typeface="+mn-ea"/>
              </a:rPr>
              <a:t>，参数</a:t>
            </a:r>
            <a:r>
              <a:rPr lang="en-US" altLang="zh-CN" sz="1400" dirty="0">
                <a:sym typeface="+mn-ea"/>
              </a:rPr>
              <a:t>2.</a:t>
            </a:r>
            <a:r>
              <a:rPr lang="zh-CN" altLang="en-US" sz="1400" dirty="0">
                <a:sym typeface="+mn-ea"/>
              </a:rPr>
              <a:t>。。。</a:t>
            </a:r>
            <a:r>
              <a:rPr lang="en-US" altLang="zh-CN" sz="1400" dirty="0">
                <a:sym typeface="+mn-ea"/>
              </a:rPr>
              <a:t>) </a:t>
            </a:r>
            <a:r>
              <a:rPr lang="en-US" sz="1400" dirty="0">
                <a:sym typeface="+mn-ea"/>
              </a:rPr>
              <a:t>q  </a:t>
            </a:r>
            <a:r>
              <a:rPr lang="zh-CN" altLang="en-US" sz="1400" dirty="0">
                <a:sym typeface="+mn-ea"/>
              </a:rPr>
              <a:t>有返回值</a:t>
            </a:r>
            <a:endParaRPr lang="zh-CN" alt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sp>
        <p:nvSpPr>
          <p:cNvPr id="12" name="文本占位符 2"/>
          <p:cNvSpPr txBox="1"/>
          <p:nvPr/>
        </p:nvSpPr>
        <p:spPr>
          <a:xfrm>
            <a:off x="826729" y="773247"/>
            <a:ext cx="4098562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sz="1400" dirty="0" smtClean="0">
                <a:sym typeface="+mn-ea"/>
              </a:rPr>
              <a:t>（</a:t>
            </a:r>
            <a:r>
              <a:rPr lang="en-US" altLang="zh-CN" sz="1400" dirty="0" smtClean="0">
                <a:sym typeface="+mn-ea"/>
              </a:rPr>
              <a:t>1</a:t>
            </a:r>
            <a:r>
              <a:rPr lang="zh-CN" altLang="en-US" sz="1400" dirty="0" smtClean="0">
                <a:sym typeface="+mn-ea"/>
              </a:rPr>
              <a:t>）示例：无返回值：</a:t>
            </a:r>
            <a:endParaRPr lang="en-US" altLang="zh-CN" sz="1400" dirty="0">
              <a:sym typeface="+mn-ea"/>
            </a:endParaRPr>
          </a:p>
          <a:p>
            <a:r>
              <a:rPr lang="zh-CN" altLang="en-US" sz="1400" dirty="0" smtClean="0"/>
              <a:t>                    d </a:t>
            </a:r>
            <a:r>
              <a:rPr lang="zh-CN" altLang="en-US" sz="1400" dirty="0"/>
              <a:t>FindStudentByID^DHCATest("2")</a:t>
            </a:r>
            <a:endParaRPr lang="zh-CN" altLang="en-US" sz="1400" dirty="0"/>
          </a:p>
        </p:txBody>
      </p:sp>
      <p:sp>
        <p:nvSpPr>
          <p:cNvPr id="13" name="文本占位符 2"/>
          <p:cNvSpPr txBox="1"/>
          <p:nvPr/>
        </p:nvSpPr>
        <p:spPr>
          <a:xfrm>
            <a:off x="6725301" y="783416"/>
            <a:ext cx="4098562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sz="1400" dirty="0" smtClean="0">
                <a:sym typeface="+mn-ea"/>
              </a:rPr>
              <a:t>（</a:t>
            </a:r>
            <a:r>
              <a:rPr lang="en-US" altLang="zh-CN" sz="1400" dirty="0" smtClean="0">
                <a:sym typeface="+mn-ea"/>
              </a:rPr>
              <a:t>2</a:t>
            </a:r>
            <a:r>
              <a:rPr lang="zh-CN" altLang="en-US" sz="1400" dirty="0" smtClean="0">
                <a:sym typeface="+mn-ea"/>
              </a:rPr>
              <a:t>）示例：有返回值：</a:t>
            </a:r>
            <a:endParaRPr lang="en-US" altLang="zh-CN" sz="1400" dirty="0">
              <a:sym typeface="+mn-ea"/>
            </a:endParaRPr>
          </a:p>
          <a:p>
            <a:r>
              <a:rPr lang="zh-CN" altLang="en-US" sz="1400" dirty="0" smtClean="0"/>
              <a:t>                     w </a:t>
            </a:r>
            <a:r>
              <a:rPr lang="zh-CN" altLang="en-US" sz="1400" dirty="0"/>
              <a:t>$$FindAll^DHCATest</a:t>
            </a:r>
            <a:r>
              <a:rPr lang="zh-CN" altLang="en-US" sz="1400" dirty="0" smtClean="0"/>
              <a:t>()</a:t>
            </a:r>
            <a:endParaRPr lang="zh-CN" altLang="en-US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766550" y="3586959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Routine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的执行</a:t>
            </a: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18235" y="3945519"/>
            <a:ext cx="7028238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(1)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执行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Routine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  do LABEL1^ROU1   do LABEL1^ROU1(arg1,…)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无返回值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  write $$LABEL1^ROU1(arg1,....)	              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有返回值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(2)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执行类方法及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Query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      do ##class(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).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ClassMethod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(arg1,...)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无返回值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      write ##class(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).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ClassMethod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(arg1,...) 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有返回值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      s result=##class(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).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ClassMethod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(arg1,...)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有返回值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      do ##class(%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ResultSet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).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RunQuery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(ClassName,QueryName,arg1,arg2,….)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977" y="1505779"/>
            <a:ext cx="4864951" cy="14154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76" y="2991551"/>
            <a:ext cx="3472063" cy="4997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22" y="1573658"/>
            <a:ext cx="5847228" cy="17098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322" y="3396458"/>
            <a:ext cx="2970242" cy="44665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第二章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dirty="0" smtClean="0">
                <a:sym typeface="+mn-ea"/>
              </a:rPr>
              <a:t>|  </a:t>
            </a:r>
            <a:r>
              <a:rPr lang="zh-CN" altLang="en-US" dirty="0" smtClean="0">
                <a:sym typeface="+mn-ea"/>
              </a:rPr>
              <a:t>作业</a:t>
            </a:r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878716" y="1615135"/>
            <a:ext cx="5833306" cy="917218"/>
            <a:chOff x="376972" y="4936104"/>
            <a:chExt cx="6085889" cy="917218"/>
          </a:xfrm>
        </p:grpSpPr>
        <p:sp>
          <p:nvSpPr>
            <p:cNvPr id="15" name="矩形 57"/>
            <p:cNvSpPr>
              <a:spLocks noChangeArrowheads="1"/>
            </p:cNvSpPr>
            <p:nvPr/>
          </p:nvSpPr>
          <p:spPr bwMode="auto">
            <a:xfrm>
              <a:off x="750141" y="5514768"/>
              <a:ext cx="571272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请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以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</a:rPr>
                <a:t>QQ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截图形式提交给老师，截图上需注释上自己的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姓名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750141" y="5345491"/>
              <a:ext cx="356114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16"/>
            <p:cNvGrpSpPr/>
            <p:nvPr/>
          </p:nvGrpSpPr>
          <p:grpSpPr>
            <a:xfrm>
              <a:off x="376972" y="4936104"/>
              <a:ext cx="4204392" cy="461665"/>
              <a:chOff x="376972" y="4936104"/>
              <a:chExt cx="4204392" cy="461665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411705" y="4936104"/>
                <a:ext cx="41696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作业 </a:t>
                </a:r>
                <a:r>
                  <a: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2</a:t>
                </a:r>
                <a:r>
                  <a:rPr lang="en-US" altLang="zh-CN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972" y="5007841"/>
                <a:ext cx="373169" cy="371255"/>
              </a:xfrm>
              <a:prstGeom prst="rect">
                <a:avLst/>
              </a:prstGeom>
            </p:spPr>
          </p:pic>
        </p:grpSp>
      </p:grpSp>
      <p:sp>
        <p:nvSpPr>
          <p:cNvPr id="20" name="矩形 19"/>
          <p:cNvSpPr/>
          <p:nvPr/>
        </p:nvSpPr>
        <p:spPr>
          <a:xfrm>
            <a:off x="6061058" y="2666741"/>
            <a:ext cx="5725504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建立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学生表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表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名DHC_Student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,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类名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User.DHCStudent </a:t>
            </a:r>
            <a:r>
              <a:rPr lang="zh-CN" altLang="en-US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主键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St_RowID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字段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St_Code,St_Name,St_Sex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_DR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(Ct_Sex),St_Dob(Date)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Global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(Master Map)：^DHCSTUDENT({St_RowID})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Index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：^DHCSTUDENT(0,"SEX",{St_Sex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_DR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},{St_RowID})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Index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：^DHCSTUDENT(0,"DOB",{St_Dob},{St_RowID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39156" y="2667036"/>
            <a:ext cx="5228237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建立科目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表：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表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名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DHC_Course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,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类名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User.DHCCourse </a:t>
            </a:r>
            <a:r>
              <a:rPr lang="zh-CN" altLang="en-US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主键  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Crs_RowID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字段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Crs_Code,Crs_Desc,Crs_ActiveFlag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(Y/N)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Global(Master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Map): ^DHCCOURSE({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Crs_RowID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Index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:^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DHCCOURSE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(0,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"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Code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,{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Crs_Code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},{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Crs_RowID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Index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:^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DHCCOURSE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(0,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"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Desc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,{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Crs_Desc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},{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Crs_RowID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39156" y="4803181"/>
            <a:ext cx="886097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存储结构：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Global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名称要求大写，并和表的名字相同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去掉下划线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，每个属性的存储位置自己定义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950923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2662891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下午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放学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7321109" y="2114359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969181" y="1970343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3079248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下午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第二节课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5404811" y="2359474"/>
            <a:ext cx="1584176" cy="1143988"/>
          </a:xfrm>
          <a:prstGeom prst="ellipse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晚上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做作业</a:t>
            </a:r>
            <a:endParaRPr lang="en-US" altLang="zh-CN" sz="20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5214670" y="1132948"/>
            <a:ext cx="1800200" cy="1800200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2218252" y="2970214"/>
            <a:ext cx="7793037" cy="1459866"/>
          </a:xfrm>
        </p:spPr>
        <p:txBody>
          <a:bodyPr rtlCol="0">
            <a:noAutofit/>
          </a:bodyPr>
          <a:lstStyle/>
          <a:p>
            <a:pPr defTabSz="815975"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6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Thanks For Watching!</a:t>
            </a:r>
            <a:endParaRPr lang="zh-CN" altLang="en-US" sz="3200" kern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27843" y="5365773"/>
            <a:ext cx="1975221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Contect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with me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E-mail</a:t>
            </a: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Date  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2018-07-15</a:t>
            </a:r>
            <a:endParaRPr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NmQ1ZjIxMDI3ZTJlNWI5NDAwMGRiNTllM2YwODlkMm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6773</Words>
  <Application>WPS 演示</Application>
  <PresentationFormat>宽屏</PresentationFormat>
  <Paragraphs>546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微软雅黑 Light</vt:lpstr>
      <vt:lpstr>Calibri</vt:lpstr>
      <vt:lpstr>Arial Unicode MS</vt:lpstr>
      <vt:lpstr>华文细黑</vt:lpstr>
      <vt:lpstr>Arial Black</vt:lpstr>
      <vt:lpstr>黑体</vt:lpstr>
      <vt:lpstr>Office 主题</vt:lpstr>
      <vt:lpstr>新员工入职培训   Caché数据库开发技术培训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For Watching!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曹倩</dc:creator>
  <cp:lastModifiedBy>tiger</cp:lastModifiedBy>
  <cp:revision>684</cp:revision>
  <dcterms:created xsi:type="dcterms:W3CDTF">2017-01-15T02:29:00Z</dcterms:created>
  <dcterms:modified xsi:type="dcterms:W3CDTF">2023-09-11T10:22:28Z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D6B725CD3CFD414994B2EE1750FE3699_12</vt:lpwstr>
  </property>
</Properties>
</file>