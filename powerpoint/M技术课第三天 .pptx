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8" r:id="rId3"/>
    <p:sldId id="342" r:id="rId4"/>
    <p:sldId id="343" r:id="rId5"/>
    <p:sldId id="344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45" r:id="rId20"/>
    <p:sldId id="346" r:id="rId21"/>
    <p:sldId id="347" r:id="rId22"/>
    <p:sldId id="348" r:id="rId23"/>
    <p:sldId id="312" r:id="rId24"/>
    <p:sldId id="349" r:id="rId25"/>
    <p:sldId id="313" r:id="rId26"/>
    <p:sldId id="314" r:id="rId27"/>
    <p:sldId id="315" r:id="rId28"/>
    <p:sldId id="316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297" r:id="rId49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BF3FA"/>
    <a:srgbClr val="FFC000"/>
    <a:srgbClr val="1F4E79"/>
    <a:srgbClr val="7F6E96"/>
    <a:srgbClr val="E66666"/>
    <a:srgbClr val="FF6565"/>
    <a:srgbClr val="FFE493"/>
    <a:srgbClr val="404040"/>
    <a:srgbClr val="FA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8" autoAdjust="0"/>
    <p:restoredTop sz="94660"/>
  </p:normalViewPr>
  <p:slideViewPr>
    <p:cSldViewPr snapToGrid="0">
      <p:cViewPr varScale="1">
        <p:scale>
          <a:sx n="92" d="100"/>
          <a:sy n="92" d="100"/>
        </p:scale>
        <p:origin x="5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gs" Target="tags/tag1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0B13E-C7DA-455D-A2A9-7301508769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0C28C-60FE-4F5C-BAAC-E19CEADCEC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845" y="245866"/>
            <a:ext cx="2010847" cy="3929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6" y="6586062"/>
            <a:ext cx="2870611" cy="191374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59492" y="716573"/>
            <a:ext cx="11615351" cy="0"/>
          </a:xfrm>
          <a:prstGeom prst="line">
            <a:avLst/>
          </a:prstGeom>
          <a:ln>
            <a:solidFill>
              <a:srgbClr val="E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380308" y="638831"/>
            <a:ext cx="2133218" cy="87681"/>
          </a:xfrm>
          <a:prstGeom prst="rect">
            <a:avLst/>
          </a:prstGeom>
          <a:solidFill>
            <a:srgbClr val="E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26"/>
          <p:cNvSpPr txBox="1"/>
          <p:nvPr userDrawn="1"/>
        </p:nvSpPr>
        <p:spPr>
          <a:xfrm>
            <a:off x="-671068" y="0"/>
            <a:ext cx="606425" cy="527050"/>
          </a:xfrm>
          <a:prstGeom prst="rect">
            <a:avLst/>
          </a:prstGeom>
          <a:solidFill>
            <a:srgbClr val="E6666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公司色调</a:t>
            </a:r>
            <a:endParaRPr lang="zh-CN" altLang="en-US" dirty="0"/>
          </a:p>
        </p:txBody>
      </p:sp>
      <p:sp>
        <p:nvSpPr>
          <p:cNvPr id="11" name="文本占位符 26"/>
          <p:cNvSpPr txBox="1"/>
          <p:nvPr userDrawn="1"/>
        </p:nvSpPr>
        <p:spPr>
          <a:xfrm>
            <a:off x="-671068" y="542819"/>
            <a:ext cx="606425" cy="527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标题字体色调</a:t>
            </a:r>
            <a:endParaRPr lang="zh-CN" altLang="en-US" dirty="0"/>
          </a:p>
        </p:txBody>
      </p:sp>
      <p:sp>
        <p:nvSpPr>
          <p:cNvPr id="12" name="文本占位符 26"/>
          <p:cNvSpPr txBox="1"/>
          <p:nvPr userDrawn="1"/>
        </p:nvSpPr>
        <p:spPr>
          <a:xfrm>
            <a:off x="-671068" y="1085638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正文字体色调</a:t>
            </a:r>
            <a:endParaRPr lang="zh-CN" altLang="en-US" dirty="0"/>
          </a:p>
        </p:txBody>
      </p:sp>
      <p:sp>
        <p:nvSpPr>
          <p:cNvPr id="13" name="文本占位符 26"/>
          <p:cNvSpPr txBox="1"/>
          <p:nvPr userDrawn="1"/>
        </p:nvSpPr>
        <p:spPr>
          <a:xfrm>
            <a:off x="-667894" y="2533385"/>
            <a:ext cx="606425" cy="527050"/>
          </a:xfrm>
          <a:prstGeom prst="rect">
            <a:avLst/>
          </a:prstGeom>
          <a:solidFill>
            <a:srgbClr val="FF6565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15" name="文本占位符 26"/>
          <p:cNvSpPr txBox="1"/>
          <p:nvPr userDrawn="1"/>
        </p:nvSpPr>
        <p:spPr>
          <a:xfrm>
            <a:off x="-667895" y="3068800"/>
            <a:ext cx="606425" cy="527050"/>
          </a:xfrm>
          <a:prstGeom prst="rect">
            <a:avLst/>
          </a:prstGeom>
          <a:solidFill>
            <a:srgbClr val="FFC00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2</a:t>
            </a:r>
            <a:endParaRPr lang="zh-CN" altLang="en-US" dirty="0"/>
          </a:p>
        </p:txBody>
      </p:sp>
      <p:sp>
        <p:nvSpPr>
          <p:cNvPr id="16" name="文本占位符 26"/>
          <p:cNvSpPr txBox="1"/>
          <p:nvPr userDrawn="1"/>
        </p:nvSpPr>
        <p:spPr>
          <a:xfrm>
            <a:off x="-667894" y="4715565"/>
            <a:ext cx="606425" cy="527050"/>
          </a:xfrm>
          <a:prstGeom prst="rect">
            <a:avLst/>
          </a:prstGeom>
          <a:solidFill>
            <a:srgbClr val="7F6E9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3</a:t>
            </a:r>
            <a:endParaRPr lang="zh-CN" altLang="en-US" dirty="0"/>
          </a:p>
        </p:txBody>
      </p:sp>
      <p:sp>
        <p:nvSpPr>
          <p:cNvPr id="17" name="文本占位符 26"/>
          <p:cNvSpPr txBox="1"/>
          <p:nvPr userDrawn="1"/>
        </p:nvSpPr>
        <p:spPr>
          <a:xfrm>
            <a:off x="-667894" y="4159043"/>
            <a:ext cx="606425" cy="527050"/>
          </a:xfrm>
          <a:prstGeom prst="rect">
            <a:avLst/>
          </a:prstGeom>
          <a:solidFill>
            <a:srgbClr val="00B0F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4</a:t>
            </a:r>
            <a:endParaRPr lang="zh-CN" altLang="en-US" dirty="0"/>
          </a:p>
        </p:txBody>
      </p:sp>
      <p:sp>
        <p:nvSpPr>
          <p:cNvPr id="18" name="文本占位符 26"/>
          <p:cNvSpPr txBox="1"/>
          <p:nvPr userDrawn="1"/>
        </p:nvSpPr>
        <p:spPr>
          <a:xfrm>
            <a:off x="-667894" y="5272087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5</a:t>
            </a:r>
            <a:endParaRPr lang="zh-CN" altLang="en-US" dirty="0"/>
          </a:p>
        </p:txBody>
      </p:sp>
      <p:sp>
        <p:nvSpPr>
          <p:cNvPr id="19" name="文本占位符 26"/>
          <p:cNvSpPr txBox="1"/>
          <p:nvPr userDrawn="1"/>
        </p:nvSpPr>
        <p:spPr>
          <a:xfrm>
            <a:off x="-667894" y="3612795"/>
            <a:ext cx="606425" cy="527050"/>
          </a:xfrm>
          <a:prstGeom prst="rect">
            <a:avLst/>
          </a:prstGeom>
          <a:solidFill>
            <a:srgbClr val="00BA89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6</a:t>
            </a:r>
            <a:endParaRPr lang="zh-CN" altLang="en-US" dirty="0"/>
          </a:p>
        </p:txBody>
      </p:sp>
      <p:sp>
        <p:nvSpPr>
          <p:cNvPr id="20" name="文本占位符 26"/>
          <p:cNvSpPr txBox="1"/>
          <p:nvPr userDrawn="1"/>
        </p:nvSpPr>
        <p:spPr>
          <a:xfrm>
            <a:off x="-671068" y="1628457"/>
            <a:ext cx="606425" cy="527050"/>
          </a:xfrm>
          <a:prstGeom prst="rect">
            <a:avLst/>
          </a:prstGeom>
          <a:solidFill>
            <a:srgbClr val="EBF3FA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正文背景辅助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image" Target="../media/image63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2219538" y="2047608"/>
            <a:ext cx="7793037" cy="1459866"/>
          </a:xfrm>
        </p:spPr>
        <p:txBody>
          <a:bodyPr rtlCol="0">
            <a:noAutofit/>
          </a:bodyPr>
          <a:lstStyle/>
          <a:p>
            <a:pPr defTabSz="815975">
              <a:spcBef>
                <a:spcPts val="600"/>
              </a:spcBef>
              <a:defRPr/>
            </a:pP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新员工入职培训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3200" kern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Caché</a:t>
            </a: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数据库开发技术培训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142" y="6538620"/>
            <a:ext cx="10791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2018/07/11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 Box 5"/>
          <p:cNvSpPr>
            <a:spLocks noChangeArrowheads="1"/>
          </p:cNvSpPr>
          <p:nvPr/>
        </p:nvSpPr>
        <p:spPr bwMode="auto">
          <a:xfrm>
            <a:off x="10187257" y="6489192"/>
            <a:ext cx="1980029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15975" indent="-358775" defTabSz="163322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633855" indent="-719455"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451100" indent="-1079500" defTabSz="163322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3267075" indent="-1438275" defTabSz="163322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7242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41814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46386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50958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东华医为科技有限公司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矩形: 圆角 4"/>
          <p:cNvSpPr/>
          <p:nvPr/>
        </p:nvSpPr>
        <p:spPr bwMode="auto">
          <a:xfrm>
            <a:off x="2996903" y="1401037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: 圆角 7"/>
          <p:cNvSpPr/>
          <p:nvPr/>
        </p:nvSpPr>
        <p:spPr bwMode="auto">
          <a:xfrm>
            <a:off x="2996903" y="1401037"/>
            <a:ext cx="17462" cy="5762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矩形: 圆角 21"/>
          <p:cNvSpPr/>
          <p:nvPr/>
        </p:nvSpPr>
        <p:spPr bwMode="auto">
          <a:xfrm rot="10800000">
            <a:off x="7102053" y="3916622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矩形: 圆角 22"/>
          <p:cNvSpPr/>
          <p:nvPr/>
        </p:nvSpPr>
        <p:spPr bwMode="auto">
          <a:xfrm rot="10800000">
            <a:off x="8879417" y="3341947"/>
            <a:ext cx="17462" cy="5762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45625" y="4031243"/>
            <a:ext cx="32308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东华医为科技有限公司    孙凤超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8904" y="3865205"/>
            <a:ext cx="3603096" cy="283443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组合 5"/>
          <p:cNvGrpSpPr/>
          <p:nvPr/>
        </p:nvGrpSpPr>
        <p:grpSpPr>
          <a:xfrm>
            <a:off x="981991" y="784524"/>
            <a:ext cx="6611574" cy="2870721"/>
            <a:chOff x="1502432" y="1722899"/>
            <a:chExt cx="6611574" cy="2870721"/>
          </a:xfrm>
        </p:grpSpPr>
        <p:sp>
          <p:nvSpPr>
            <p:cNvPr id="7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Routine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的概念、命名和执行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、常见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的特殊变量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、基本运算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符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、常见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的命令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5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、程序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流控制命令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6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、常见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的函数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08119" y="1756935"/>
              <a:ext cx="16802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的基础知识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9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1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学习要点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2671816" y="2225790"/>
              <a:ext cx="5004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34"/>
          <p:cNvSpPr txBox="1">
            <a:spLocks noChangeArrowheads="1"/>
          </p:cNvSpPr>
          <p:nvPr/>
        </p:nvSpPr>
        <p:spPr bwMode="auto">
          <a:xfrm>
            <a:off x="1541966" y="3645586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Routine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的概念、命名和执行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91279" y="3608662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内容占位符 3"/>
          <p:cNvSpPr txBox="1"/>
          <p:nvPr/>
        </p:nvSpPr>
        <p:spPr>
          <a:xfrm>
            <a:off x="1687387" y="4372181"/>
            <a:ext cx="7768287" cy="230832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zh-CN" dirty="0" err="1"/>
              <a:t>我们可以把</a:t>
            </a:r>
            <a:r>
              <a:rPr lang="en-US" altLang="zh-CN" dirty="0"/>
              <a:t> </a:t>
            </a:r>
            <a:r>
              <a:rPr lang="en-US" altLang="zh-CN" dirty="0" err="1"/>
              <a:t>Routine理解为“</a:t>
            </a:r>
            <a:r>
              <a:rPr lang="en-US" altLang="zh-CN" dirty="0" err="1">
                <a:solidFill>
                  <a:srgbClr val="FF0000"/>
                </a:solidFill>
              </a:rPr>
              <a:t>小程序</a:t>
            </a:r>
            <a:r>
              <a:rPr lang="en-US" altLang="zh-CN" dirty="0" err="1"/>
              <a:t>”或</a:t>
            </a:r>
            <a:r>
              <a:rPr lang="en-US" altLang="zh-CN" dirty="0" err="1">
                <a:solidFill>
                  <a:srgbClr val="FF0000"/>
                </a:solidFill>
              </a:rPr>
              <a:t>程序模块</a:t>
            </a:r>
            <a:r>
              <a:rPr lang="en-US" altLang="zh-CN" dirty="0"/>
              <a:t>。</a:t>
            </a:r>
            <a:endParaRPr lang="en-US" altLang="zh-CN" dirty="0"/>
          </a:p>
          <a:p>
            <a:r>
              <a:rPr lang="en-US" altLang="zh-CN" dirty="0" err="1"/>
              <a:t>Caché</a:t>
            </a:r>
            <a:r>
              <a:rPr lang="en-US" altLang="zh-CN" dirty="0"/>
              <a:t> </a:t>
            </a:r>
            <a:r>
              <a:rPr lang="en-US" altLang="zh-CN" dirty="0" err="1"/>
              <a:t>ObjectScript</a:t>
            </a:r>
            <a:r>
              <a:rPr lang="zh-CN" altLang="en-US" dirty="0"/>
              <a:t>对</a:t>
            </a:r>
            <a:r>
              <a:rPr lang="en-US" altLang="zh-CN" dirty="0"/>
              <a:t>Routine </a:t>
            </a:r>
            <a:r>
              <a:rPr lang="zh-CN" altLang="en-US" dirty="0"/>
              <a:t>的使用类似于传统关系型数据库的存储过程。</a:t>
            </a:r>
            <a:endParaRPr lang="en-US" altLang="zh-CN" dirty="0"/>
          </a:p>
          <a:p>
            <a:r>
              <a:rPr lang="en-US" altLang="zh-CN" dirty="0"/>
              <a:t>Macro code</a:t>
            </a:r>
            <a:r>
              <a:rPr lang="zh-CN" altLang="en-US" dirty="0"/>
              <a:t>（宏代码），后缀名为</a:t>
            </a:r>
            <a:r>
              <a:rPr lang="en-US" altLang="zh-CN" dirty="0"/>
              <a:t>.MAC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Intermediate code</a:t>
            </a:r>
            <a:r>
              <a:rPr lang="zh-CN" altLang="en-US" dirty="0"/>
              <a:t>（中间代码），后缀名为</a:t>
            </a:r>
            <a:r>
              <a:rPr lang="en-US" altLang="zh-CN" dirty="0"/>
              <a:t>.INT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Object code</a:t>
            </a:r>
            <a:r>
              <a:rPr lang="zh-CN" altLang="en-US" dirty="0">
                <a:solidFill>
                  <a:srgbClr val="FF0000"/>
                </a:solidFill>
              </a:rPr>
              <a:t>（对象代码），后缀名为</a:t>
            </a:r>
            <a:r>
              <a:rPr lang="en-US" altLang="zh-CN" dirty="0">
                <a:solidFill>
                  <a:srgbClr val="FF0000"/>
                </a:solidFill>
              </a:rPr>
              <a:t>.OBJ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/>
              <a:t>Caché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 Routine</a:t>
            </a:r>
            <a:r>
              <a:rPr lang="zh-CN" altLang="en-US" dirty="0"/>
              <a:t>是由一些代码片段组成的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18" name="文本框 17"/>
          <p:cNvSpPr txBox="1"/>
          <p:nvPr/>
        </p:nvSpPr>
        <p:spPr>
          <a:xfrm>
            <a:off x="1344537" y="4066043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Routine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的概念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</a:t>
            </a:r>
            <a:r>
              <a:rPr lang="zh-CN" altLang="en-US" dirty="0">
                <a:sym typeface="+mn-ea"/>
              </a:rPr>
              <a:t>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7" name="内容占位符 3"/>
          <p:cNvSpPr txBox="1"/>
          <p:nvPr/>
        </p:nvSpPr>
        <p:spPr>
          <a:xfrm>
            <a:off x="960018" y="1671386"/>
            <a:ext cx="6552610" cy="235449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zh-CN" sz="1400" dirty="0" smtClean="0"/>
              <a:t>Routine </a:t>
            </a:r>
            <a:r>
              <a:rPr lang="zh-CN" altLang="en-US" sz="1400" dirty="0"/>
              <a:t>的名字可以是任何的字母、数字式字符。但是有要求：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 smtClean="0"/>
              <a:t>一般</a:t>
            </a:r>
            <a:r>
              <a:rPr lang="zh-CN" altLang="en-US" sz="1400" dirty="0"/>
              <a:t>不能以数字或百分号％开头命名、句号不能在开始或者结束的位置。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以％百分号开头命名的</a:t>
            </a:r>
            <a:r>
              <a:rPr lang="en-US" altLang="zh-CN" sz="1400" dirty="0"/>
              <a:t> Routine </a:t>
            </a:r>
            <a:r>
              <a:rPr lang="zh-CN" altLang="en-US" sz="1400" dirty="0"/>
              <a:t>是不局限在某一个名字空间（</a:t>
            </a:r>
            <a:r>
              <a:rPr lang="en-US" altLang="zh-CN" sz="1400" dirty="0"/>
              <a:t>Namespace</a:t>
            </a:r>
            <a:r>
              <a:rPr lang="zh-CN" altLang="en-US" sz="1400" dirty="0"/>
              <a:t>）应用的，％号是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Caché</a:t>
            </a:r>
            <a:r>
              <a:rPr lang="en-US" altLang="zh-CN" sz="1400" dirty="0"/>
              <a:t> </a:t>
            </a:r>
            <a:r>
              <a:rPr lang="zh-CN" altLang="en-US" sz="1400" dirty="0"/>
              <a:t>系统内部保留的，目的只是用来为我们提供程序命名。</a:t>
            </a:r>
            <a:endParaRPr lang="zh-CN" altLang="en-US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dirty="0"/>
              <a:t>Routine </a:t>
            </a:r>
            <a:r>
              <a:rPr lang="zh-CN" altLang="en-US" sz="1400" dirty="0"/>
              <a:t>名字的长度没有限制，但通过前</a:t>
            </a:r>
            <a:r>
              <a:rPr lang="en-US" altLang="zh-CN" sz="1400" dirty="0"/>
              <a:t>31</a:t>
            </a:r>
            <a:r>
              <a:rPr lang="zh-CN" altLang="en-US" sz="1400" dirty="0"/>
              <a:t>个字符来区分不同</a:t>
            </a:r>
            <a:r>
              <a:rPr lang="en-US" altLang="zh-CN" sz="1400" dirty="0"/>
              <a:t> Routine</a:t>
            </a:r>
            <a:r>
              <a:rPr lang="zh-CN" altLang="en-US" sz="1400" dirty="0"/>
              <a:t>。 </a:t>
            </a:r>
            <a:r>
              <a:rPr lang="en-US" altLang="zh-CN" sz="1400" dirty="0"/>
              <a:t> 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标签行：</a:t>
            </a:r>
            <a:r>
              <a:rPr lang="zh-CN" altLang="en-US" sz="1400" dirty="0">
                <a:solidFill>
                  <a:srgbClr val="FF0000"/>
                </a:solidFill>
              </a:rPr>
              <a:t>一个标签要确定一行，它从当前行的第一个位置开始</a:t>
            </a:r>
            <a:r>
              <a:rPr lang="zh-CN" altLang="en-US" sz="1400" dirty="0"/>
              <a:t>。</a:t>
            </a:r>
            <a:endParaRPr lang="zh-CN" altLang="en-US" sz="1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代码行：</a:t>
            </a:r>
            <a:r>
              <a:rPr lang="zh-CN" altLang="en-US" sz="1400" dirty="0">
                <a:solidFill>
                  <a:srgbClr val="FF0000"/>
                </a:solidFill>
              </a:rPr>
              <a:t>代码行的最前端至少要有一个空格，作为一行的开始部分</a:t>
            </a:r>
            <a:r>
              <a:rPr lang="zh-CN" altLang="en-US" sz="1400" dirty="0"/>
              <a:t>。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534040" y="1302054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Routine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的命名</a:t>
            </a:r>
            <a:endParaRPr lang="en-US" altLang="zh-CN" dirty="0"/>
          </a:p>
        </p:txBody>
      </p:sp>
      <p:sp>
        <p:nvSpPr>
          <p:cNvPr id="9" name="文本占位符 2"/>
          <p:cNvSpPr txBox="1"/>
          <p:nvPr/>
        </p:nvSpPr>
        <p:spPr>
          <a:xfrm>
            <a:off x="960018" y="4871907"/>
            <a:ext cx="5256584" cy="11068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ym typeface="+mn-ea"/>
              </a:rPr>
              <a:t>Mac</a:t>
            </a:r>
            <a:r>
              <a:rPr lang="zh-CN" altLang="en-US" dirty="0">
                <a:sym typeface="+mn-ea"/>
              </a:rPr>
              <a:t>文件调试</a:t>
            </a:r>
            <a:r>
              <a:rPr lang="zh-CN" altLang="en-US" dirty="0" smtClean="0">
                <a:sym typeface="+mn-ea"/>
              </a:rPr>
              <a:t>：</a:t>
            </a:r>
            <a:endParaRPr lang="en-US" altLang="zh-CN" dirty="0">
              <a:sym typeface="+mn-ea"/>
            </a:endParaRPr>
          </a:p>
          <a:p>
            <a:r>
              <a:rPr lang="en-US" sz="1400" dirty="0" smtClean="0">
                <a:sym typeface="+mn-ea"/>
              </a:rPr>
              <a:t>    d  </a:t>
            </a:r>
            <a:r>
              <a:rPr lang="en-US" sz="1400" dirty="0" err="1">
                <a:sym typeface="+mn-ea"/>
              </a:rPr>
              <a:t>procname^macname</a:t>
            </a:r>
            <a:r>
              <a:rPr lang="en-US" sz="1400" dirty="0">
                <a:sym typeface="+mn-ea"/>
              </a:rPr>
              <a:t>(</a:t>
            </a:r>
            <a:r>
              <a:rPr lang="zh-CN" altLang="en-US" sz="1400" dirty="0">
                <a:sym typeface="+mn-ea"/>
              </a:rPr>
              <a:t>参数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，参数</a:t>
            </a:r>
            <a:r>
              <a:rPr lang="en-US" altLang="zh-CN" sz="1400" dirty="0">
                <a:sym typeface="+mn-ea"/>
              </a:rPr>
              <a:t>2.</a:t>
            </a:r>
            <a:r>
              <a:rPr lang="zh-CN" altLang="en-US" sz="1400" dirty="0">
                <a:sym typeface="+mn-ea"/>
              </a:rPr>
              <a:t>。。。</a:t>
            </a:r>
            <a:r>
              <a:rPr lang="en-US" altLang="zh-CN" sz="1400" dirty="0">
                <a:sym typeface="+mn-ea"/>
              </a:rPr>
              <a:t>) </a:t>
            </a:r>
            <a:r>
              <a:rPr lang="zh-CN" altLang="en-US" sz="1400" dirty="0">
                <a:sym typeface="+mn-ea"/>
              </a:rPr>
              <a:t>没有返回值</a:t>
            </a:r>
            <a:endParaRPr lang="zh-CN" altLang="en-US" sz="1400" dirty="0"/>
          </a:p>
          <a:p>
            <a:r>
              <a:rPr lang="en-US" sz="1400" dirty="0">
                <a:sym typeface="+mn-ea"/>
              </a:rPr>
              <a:t>    </a:t>
            </a:r>
            <a:r>
              <a:rPr lang="en-US" sz="1400" dirty="0" smtClean="0">
                <a:sym typeface="+mn-ea"/>
              </a:rPr>
              <a:t>W </a:t>
            </a:r>
            <a:r>
              <a:rPr lang="en-US" sz="1400" dirty="0">
                <a:sym typeface="+mn-ea"/>
              </a:rPr>
              <a:t>$$</a:t>
            </a:r>
            <a:r>
              <a:rPr lang="en-US" sz="1400" dirty="0" err="1">
                <a:sym typeface="+mn-ea"/>
              </a:rPr>
              <a:t>function^macname</a:t>
            </a:r>
            <a:r>
              <a:rPr lang="en-US" sz="1400" dirty="0">
                <a:sym typeface="+mn-ea"/>
              </a:rPr>
              <a:t>(</a:t>
            </a:r>
            <a:r>
              <a:rPr lang="zh-CN" altLang="en-US" sz="1400" dirty="0">
                <a:sym typeface="+mn-ea"/>
              </a:rPr>
              <a:t>参数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，参数</a:t>
            </a:r>
            <a:r>
              <a:rPr lang="en-US" altLang="zh-CN" sz="1400" dirty="0">
                <a:sym typeface="+mn-ea"/>
              </a:rPr>
              <a:t>2.</a:t>
            </a:r>
            <a:r>
              <a:rPr lang="zh-CN" altLang="en-US" sz="1400" dirty="0">
                <a:sym typeface="+mn-ea"/>
              </a:rPr>
              <a:t>。。。</a:t>
            </a:r>
            <a:r>
              <a:rPr lang="en-US" altLang="zh-CN" sz="1400" dirty="0">
                <a:sym typeface="+mn-ea"/>
              </a:rPr>
              <a:t>) </a:t>
            </a:r>
            <a:r>
              <a:rPr lang="en-US" sz="1400" dirty="0">
                <a:sym typeface="+mn-ea"/>
              </a:rPr>
              <a:t>q  </a:t>
            </a:r>
            <a:r>
              <a:rPr lang="zh-CN" altLang="en-US" sz="1400" dirty="0">
                <a:sym typeface="+mn-ea"/>
              </a:rPr>
              <a:t>有返回值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</a:t>
            </a:r>
            <a:r>
              <a:rPr lang="zh-CN" altLang="en-US" dirty="0">
                <a:sym typeface="+mn-ea"/>
              </a:rPr>
              <a:t>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12" name="文本占位符 2"/>
          <p:cNvSpPr txBox="1"/>
          <p:nvPr/>
        </p:nvSpPr>
        <p:spPr>
          <a:xfrm>
            <a:off x="826729" y="773247"/>
            <a:ext cx="4098562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sz="1400" dirty="0" smtClean="0">
                <a:sym typeface="+mn-ea"/>
              </a:rPr>
              <a:t>（</a:t>
            </a:r>
            <a:r>
              <a:rPr lang="en-US" altLang="zh-CN" sz="1400" dirty="0" smtClean="0">
                <a:sym typeface="+mn-ea"/>
              </a:rPr>
              <a:t>1</a:t>
            </a:r>
            <a:r>
              <a:rPr lang="zh-CN" altLang="en-US" sz="1400" dirty="0" smtClean="0">
                <a:sym typeface="+mn-ea"/>
              </a:rPr>
              <a:t>）示例：无返回值：</a:t>
            </a:r>
            <a:endParaRPr lang="en-US" altLang="zh-CN" sz="1400" dirty="0">
              <a:sym typeface="+mn-ea"/>
            </a:endParaRPr>
          </a:p>
          <a:p>
            <a:r>
              <a:rPr lang="zh-CN" altLang="en-US" sz="1400" dirty="0" smtClean="0"/>
              <a:t>                    d </a:t>
            </a:r>
            <a:r>
              <a:rPr lang="zh-CN" altLang="en-US" sz="1400" dirty="0"/>
              <a:t>FindStudentByID^DHCATest("2")</a:t>
            </a:r>
            <a:endParaRPr lang="zh-CN" altLang="en-US" sz="1400" dirty="0"/>
          </a:p>
        </p:txBody>
      </p:sp>
      <p:sp>
        <p:nvSpPr>
          <p:cNvPr id="13" name="文本占位符 2"/>
          <p:cNvSpPr txBox="1"/>
          <p:nvPr/>
        </p:nvSpPr>
        <p:spPr>
          <a:xfrm>
            <a:off x="6725301" y="783416"/>
            <a:ext cx="4098562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sz="1400" dirty="0" smtClean="0">
                <a:sym typeface="+mn-ea"/>
              </a:rPr>
              <a:t>（</a:t>
            </a:r>
            <a:r>
              <a:rPr lang="en-US" altLang="zh-CN" sz="1400" dirty="0" smtClean="0">
                <a:sym typeface="+mn-ea"/>
              </a:rPr>
              <a:t>2</a:t>
            </a:r>
            <a:r>
              <a:rPr lang="zh-CN" altLang="en-US" sz="1400" dirty="0" smtClean="0">
                <a:sym typeface="+mn-ea"/>
              </a:rPr>
              <a:t>）示例：有返回值：</a:t>
            </a:r>
            <a:endParaRPr lang="en-US" altLang="zh-CN" sz="1400" dirty="0">
              <a:sym typeface="+mn-ea"/>
            </a:endParaRPr>
          </a:p>
          <a:p>
            <a:r>
              <a:rPr lang="zh-CN" altLang="en-US" sz="1400" dirty="0" smtClean="0"/>
              <a:t>                     w </a:t>
            </a:r>
            <a:r>
              <a:rPr lang="zh-CN" altLang="en-US" sz="1400" dirty="0"/>
              <a:t>$$FindAll^DHCATest</a:t>
            </a:r>
            <a:r>
              <a:rPr lang="zh-CN" altLang="en-US" sz="1400" dirty="0" smtClean="0"/>
              <a:t>()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66550" y="3586959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Routine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的执行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18235" y="3945519"/>
            <a:ext cx="7028238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(1)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执行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Routine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do LABEL1^ROU1   do LABEL1^ROU1(arg1,…)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无返回值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write $$LABEL1^ROU1(arg1,....)	            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有返回值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(2)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执行类方法及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Query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do ##class(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ClassMethod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(arg1,...)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无返回值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write ##class(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ClassMethod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(arg1,...)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有返回值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s result=##class(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ClassMethod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(arg1,...)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有返回值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  do ##class(%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ResultSet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).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RunQuery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(ClassName,QueryName,arg1,arg2,….)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77" y="1505779"/>
            <a:ext cx="4864951" cy="1415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76" y="2991551"/>
            <a:ext cx="3472063" cy="4997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22" y="1573658"/>
            <a:ext cx="5847228" cy="17098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322" y="3396458"/>
            <a:ext cx="2970242" cy="4466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078" y="1269800"/>
            <a:ext cx="2227149" cy="12952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本框 34"/>
          <p:cNvSpPr txBox="1">
            <a:spLocks noChangeArrowheads="1"/>
          </p:cNvSpPr>
          <p:nvPr/>
        </p:nvSpPr>
        <p:spPr bwMode="auto">
          <a:xfrm>
            <a:off x="1147111" y="1115101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常见的特殊变量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96424" y="1078177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9682" y="1535558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：变量的特性</a:t>
            </a:r>
            <a:endParaRPr lang="en-US" altLang="zh-CN" dirty="0"/>
          </a:p>
        </p:txBody>
      </p:sp>
      <p:sp>
        <p:nvSpPr>
          <p:cNvPr id="10" name="矩形 9"/>
          <p:cNvSpPr/>
          <p:nvPr/>
        </p:nvSpPr>
        <p:spPr>
          <a:xfrm>
            <a:off x="1378525" y="1948121"/>
            <a:ext cx="771698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动态类型：不用声明变量， 变量的类型根据值变化而变化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弱类型： 变量不定义类型也可以使用，且用法决定值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对同一个变量赋不同类型的值，不需要声明变量的类型，变量的类型是根据值的类型来确定的 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56607" y="3459862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：常见的特殊变量</a:t>
            </a:r>
            <a:endParaRPr lang="en-US" altLang="zh-CN" dirty="0"/>
          </a:p>
        </p:txBody>
      </p:sp>
      <p:sp>
        <p:nvSpPr>
          <p:cNvPr id="12" name="矩形 11"/>
          <p:cNvSpPr/>
          <p:nvPr/>
        </p:nvSpPr>
        <p:spPr>
          <a:xfrm>
            <a:off x="1479619" y="3987736"/>
            <a:ext cx="8932071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特殊的变量有指定的含义，它们一般以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开头。有个别特殊变量也同时支持缩写。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例如：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(1) </a:t>
            </a:r>
            <a:r>
              <a:rPr lang="en-US" altLang="zh-CN" sz="1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$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</a:rPr>
              <a:t>HOROLOG ($H)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$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Horolog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包含了时间和日期，它们由逗号分开。第一部分是日期的数字，它是从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1840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年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12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31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日开始计算日期的数字。第二部分是秒的数字，它是从午夜开始计算的。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Global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中的日期时间都是以数字的形式存储的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。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(2) </a:t>
            </a:r>
            <a:r>
              <a:rPr lang="en-US" altLang="zh-CN" sz="1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$JOB ($J)</a:t>
            </a:r>
            <a:endParaRPr lang="en-US" altLang="zh-CN" sz="1400" b="1" dirty="0" smtClean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 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返回当前的进程号，每个活跃的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cache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进程都有一个唯一的进程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号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565" y="5932652"/>
            <a:ext cx="1533525" cy="4095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416064" y="5109418"/>
            <a:ext cx="9692808" cy="10618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400" dirty="0"/>
              <a:t>字符串比较运算符  =、[</a:t>
            </a:r>
            <a:endParaRPr lang="zh-CN" altLang="en-US" sz="1400" dirty="0"/>
          </a:p>
          <a:p>
            <a:r>
              <a:rPr lang="zh-CN" altLang="en-US" sz="1400" dirty="0" smtClean="0"/>
              <a:t>     ①  </a:t>
            </a:r>
            <a:r>
              <a:rPr lang="zh-CN" altLang="en-US" sz="1400" dirty="0"/>
              <a:t>“= ”： 比较运算符，是比较两个字符串的相同与否。如果需要比较两个数字是否一样， 需在前面再加一个+ 号。</a:t>
            </a:r>
            <a:endParaRPr lang="en-US" altLang="zh-CN" sz="1400" dirty="0"/>
          </a:p>
          <a:p>
            <a:r>
              <a:rPr lang="zh-CN" altLang="en-US" sz="1400" dirty="0" smtClean="0"/>
              <a:t>     例如</a:t>
            </a:r>
            <a:r>
              <a:rPr lang="zh-CN" altLang="en-US" sz="1400" dirty="0"/>
              <a:t>： +number1=+number2</a:t>
            </a:r>
            <a:r>
              <a:rPr lang="zh-CN" altLang="en-US" sz="1400" dirty="0" smtClean="0"/>
              <a:t>。</a:t>
            </a:r>
            <a:endParaRPr lang="en-US" altLang="zh-CN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111" y="3096129"/>
            <a:ext cx="2373249" cy="1589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34"/>
          <p:cNvSpPr txBox="1">
            <a:spLocks noChangeArrowheads="1"/>
          </p:cNvSpPr>
          <p:nvPr/>
        </p:nvSpPr>
        <p:spPr bwMode="auto">
          <a:xfrm>
            <a:off x="2040733" y="1005398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基本的运算符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590046" y="968474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43304" y="1425855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：算术运算符</a:t>
            </a:r>
            <a:endParaRPr lang="en-US" altLang="zh-CN" dirty="0"/>
          </a:p>
        </p:txBody>
      </p:sp>
      <p:sp>
        <p:nvSpPr>
          <p:cNvPr id="9" name="矩形 8"/>
          <p:cNvSpPr/>
          <p:nvPr/>
        </p:nvSpPr>
        <p:spPr>
          <a:xfrm>
            <a:off x="2272147" y="1838418"/>
            <a:ext cx="64042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算术运算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符 +、-、*、/、\、#，**：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其中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，“+、－、*、/” 是基本的4 个算术运算符。“\” 整数的除法。例：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+5*7 = 49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从左到右依次运算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；   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+(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5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*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7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 = 37；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50230" y="3248781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：算术比较 运算符</a:t>
            </a:r>
            <a:endParaRPr lang="en-US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2272147" y="3782206"/>
            <a:ext cx="640426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算术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比较运算符  &lt;、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&gt;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如右图：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50230" y="4710014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：字符串比较 运算符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509" y="1532968"/>
            <a:ext cx="5441470" cy="1798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183" y="4223846"/>
            <a:ext cx="3457146" cy="1914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09" y="1532968"/>
            <a:ext cx="2188054" cy="1811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1190900" y="991112"/>
            <a:ext cx="9930756" cy="3736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sz="1400" dirty="0"/>
              <a:t>②  </a:t>
            </a:r>
            <a:r>
              <a:rPr lang="zh-CN" altLang="en-US" sz="1400" dirty="0" smtClean="0"/>
              <a:t>“[”</a:t>
            </a:r>
            <a:r>
              <a:rPr lang="zh-CN" altLang="en-US" sz="1400" dirty="0"/>
              <a:t>： 检查右边的串是不是包含了左边的串。</a:t>
            </a:r>
            <a:endParaRPr lang="en-US" altLang="zh-CN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541407" y="4064355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：连接符</a:t>
            </a:r>
            <a:endParaRPr lang="en-US" altLang="zh-CN" dirty="0"/>
          </a:p>
        </p:txBody>
      </p:sp>
      <p:sp>
        <p:nvSpPr>
          <p:cNvPr id="15" name="矩形 14"/>
          <p:cNvSpPr/>
          <p:nvPr/>
        </p:nvSpPr>
        <p:spPr>
          <a:xfrm>
            <a:off x="1814463" y="4448925"/>
            <a:ext cx="456508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连接符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_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&amp;    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||    ‘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_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：是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用来连接两个字符串的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flag1_”^”_flag2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&amp; ：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与   （如右图）  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fla1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&amp;&amp;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flag2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||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或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‘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：非 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'= 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'$d(^TMP(1))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026684" y="1248078"/>
            <a:ext cx="1476161" cy="431262"/>
          </a:xfrm>
          <a:prstGeom prst="rect">
            <a:avLst/>
          </a:prstGeom>
        </p:spPr>
        <p:txBody>
          <a:bodyPr vert="horz" lIns="81626" tIns="40813" rIns="81626" bIns="40813" rtlCol="0">
            <a:noAutofit/>
          </a:bodyPr>
          <a:lstStyle>
            <a:lvl1pPr marL="306070" indent="-3060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2940" indent="-2552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42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472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03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33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00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68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b="1" dirty="0" smtClean="0">
                <a:latin typeface="宋体" panose="02010600030101010101" pitchFamily="2" charset="-122"/>
              </a:rPr>
              <a:t>||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 或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53" y="1844997"/>
            <a:ext cx="5070764" cy="222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02" y="4133353"/>
            <a:ext cx="5075015" cy="13233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984" y="1844997"/>
            <a:ext cx="4638590" cy="23241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984" y="4259188"/>
            <a:ext cx="4638590" cy="11685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8297028" y="1330783"/>
            <a:ext cx="896399" cy="3485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685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‘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非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434" y="1405508"/>
            <a:ext cx="2986736" cy="24720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783" y="1405508"/>
            <a:ext cx="1479610" cy="24741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210" y="4250689"/>
            <a:ext cx="1769830" cy="24820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150" y="4250689"/>
            <a:ext cx="1590659" cy="24482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本框 34"/>
          <p:cNvSpPr txBox="1">
            <a:spLocks noChangeArrowheads="1"/>
          </p:cNvSpPr>
          <p:nvPr/>
        </p:nvSpPr>
        <p:spPr bwMode="auto">
          <a:xfrm>
            <a:off x="1147111" y="1005398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常见的命令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96424" y="968474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95131" y="1640650"/>
            <a:ext cx="5619969" cy="4939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1)SET (S)</a:t>
            </a:r>
            <a:endParaRPr lang="zh-CN" altLang="en-US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给一个或者多个变量赋值 ,缩写S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Set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x=5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s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n(1)=4,dd=5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Set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^FILE=3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s: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条件  赋值语句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2) MERGE (M)</a:t>
            </a:r>
            <a:endParaRPr lang="zh-CN" altLang="en-US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拷贝变量树。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Merge a=b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Merge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^a(1)=^G(1,2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3) KILL</a:t>
            </a:r>
            <a:endParaRPr lang="zh-CN" altLang="en-US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删除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所有变量或一些指定的变量或所有变量除了指定的变量。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kill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(variable)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kill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variable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4) NEW命令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(Not ProcedureBlock)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procedureBlock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选择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false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后可以使用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new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命令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初始化变量。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New a,b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New (x1,x2)  初始化除了x1,x2之外的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变量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589909" y="3783995"/>
            <a:ext cx="292112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b="1" dirty="0">
                <a:solidFill>
                  <a:srgbClr val="E66666"/>
                </a:solidFill>
                <a:latin typeface="Arial" panose="020B0604020202020204" pitchFamily="34" charset="0"/>
              </a:rPr>
              <a:t>// if   </a:t>
            </a:r>
            <a:r>
              <a:rPr lang="en-US" altLang="zh-CN" sz="1400" b="1" dirty="0" err="1">
                <a:solidFill>
                  <a:srgbClr val="E66666"/>
                </a:solidFill>
                <a:latin typeface="Arial" panose="020B0604020202020204" pitchFamily="34" charset="0"/>
              </a:rPr>
              <a:t>elseif</a:t>
            </a:r>
            <a:r>
              <a:rPr lang="en-US" altLang="zh-CN" sz="1400" b="1" dirty="0">
                <a:solidFill>
                  <a:srgbClr val="E66666"/>
                </a:solidFill>
                <a:latin typeface="Arial" panose="020B0604020202020204" pitchFamily="34" charset="0"/>
              </a:rPr>
              <a:t>   else</a:t>
            </a: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语法规范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If (condition1)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statement1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ElseIf (condition2)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statement2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Else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statement3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92063" y="4195871"/>
            <a:ext cx="261256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b="1" dirty="0">
                <a:solidFill>
                  <a:srgbClr val="E66666"/>
                </a:solidFill>
                <a:latin typeface="Arial" panose="020B0604020202020204" pitchFamily="34" charset="0"/>
              </a:rPr>
              <a:t>// if else </a:t>
            </a: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语法规范</a:t>
            </a:r>
            <a:endParaRPr lang="en-US" altLang="zh-CN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If (condition)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statement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Else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statement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687547" y="3968661"/>
            <a:ext cx="331009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b="1" dirty="0">
                <a:solidFill>
                  <a:srgbClr val="E66666"/>
                </a:solidFill>
                <a:latin typeface="Arial" panose="020B0604020202020204" pitchFamily="34" charset="0"/>
              </a:rPr>
              <a:t>// for</a:t>
            </a: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语法规范</a:t>
            </a:r>
            <a:endParaRPr lang="en-US" altLang="zh-CN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For variable = start:increment:end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statement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01649" y="1268321"/>
            <a:ext cx="56861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687547" y="5338266"/>
            <a:ext cx="2762236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b="1" dirty="0">
                <a:solidFill>
                  <a:srgbClr val="E66666"/>
                </a:solidFill>
                <a:latin typeface="Arial" panose="020B0604020202020204" pitchFamily="34" charset="0"/>
              </a:rPr>
              <a:t>// do </a:t>
            </a: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条件判断 语法规范</a:t>
            </a:r>
            <a:endParaRPr lang="en-US" altLang="zh-CN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Do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statement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While condition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56175" y="4185480"/>
            <a:ext cx="1789846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b="1" dirty="0">
                <a:solidFill>
                  <a:srgbClr val="E66666"/>
                </a:solidFill>
                <a:latin typeface="Arial" panose="020B0604020202020204" pitchFamily="34" charset="0"/>
              </a:rPr>
              <a:t>// if </a:t>
            </a:r>
            <a:r>
              <a:rPr lang="zh-CN" altLang="en-US" sz="1400" b="1" dirty="0">
                <a:solidFill>
                  <a:srgbClr val="E66666"/>
                </a:solidFill>
                <a:latin typeface="Arial" panose="020B0604020202020204" pitchFamily="34" charset="0"/>
              </a:rPr>
              <a:t>语法规范</a:t>
            </a:r>
            <a:endParaRPr lang="en-US" altLang="zh-CN" sz="1400" b="1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If (condition)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{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statement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if (condition) d 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. statement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34"/>
          <p:cNvSpPr txBox="1">
            <a:spLocks noChangeArrowheads="1"/>
          </p:cNvSpPr>
          <p:nvPr/>
        </p:nvSpPr>
        <p:spPr bwMode="auto">
          <a:xfrm>
            <a:off x="1531578" y="1005398"/>
            <a:ext cx="7622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程序流控制命令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2000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If, Else, For, Quit, Do, Goto, </a:t>
            </a:r>
            <a:r>
              <a:rPr lang="zh-CN" altLang="en-US" sz="2000" b="1" dirty="0" smtClean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endParaRPr lang="zh-CN" altLang="en-US" sz="2000" b="1" dirty="0">
              <a:solidFill>
                <a:srgbClr val="1F4E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080891" y="968474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31578" y="1461525"/>
            <a:ext cx="561996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circleNumDbPlain"/>
            </a:pPr>
            <a:r>
              <a:rPr lang="zh-CN" altLang="en-US" sz="1600" b="1" dirty="0" smtClean="0">
                <a:solidFill>
                  <a:srgbClr val="E66666"/>
                </a:solidFill>
                <a:latin typeface="Arial" panose="020B0604020202020204" pitchFamily="34" charset="0"/>
              </a:rPr>
              <a:t>If   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条件判断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语句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circleNumDbPlain"/>
            </a:pPr>
            <a:r>
              <a:rPr lang="zh-CN" altLang="en-US" sz="1600" b="1" dirty="0" smtClean="0">
                <a:solidFill>
                  <a:srgbClr val="E66666"/>
                </a:solidFill>
                <a:latin typeface="Arial" panose="020B0604020202020204" pitchFamily="34" charset="0"/>
              </a:rPr>
              <a:t>ELSE </a:t>
            </a:r>
            <a:r>
              <a:rPr lang="zh-CN" altLang="en-US" sz="1600" b="1" dirty="0">
                <a:solidFill>
                  <a:srgbClr val="E66666"/>
                </a:solidFill>
                <a:latin typeface="Arial" panose="020B0604020202020204" pitchFamily="34" charset="0"/>
              </a:rPr>
              <a:t>(e)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当判断条件不通过的时候，执行后面的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命令行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circleNumDbPlain"/>
            </a:pPr>
            <a:r>
              <a:rPr lang="zh-CN" altLang="en-US" sz="1600" b="1" dirty="0" smtClean="0">
                <a:solidFill>
                  <a:srgbClr val="E66666"/>
                </a:solidFill>
                <a:latin typeface="Arial" panose="020B0604020202020204" pitchFamily="34" charset="0"/>
              </a:rPr>
              <a:t>FOR (f)    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循环命令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circleNumDbPlain"/>
            </a:pPr>
            <a:r>
              <a:rPr lang="zh-CN" altLang="en-US" sz="1600" b="1" dirty="0" smtClean="0">
                <a:solidFill>
                  <a:srgbClr val="E66666"/>
                </a:solidFill>
                <a:latin typeface="Arial" panose="020B0604020202020204" pitchFamily="34" charset="0"/>
              </a:rPr>
              <a:t>QUIT </a:t>
            </a:r>
            <a:r>
              <a:rPr lang="zh-CN" altLang="en-US" sz="1600" b="1" dirty="0">
                <a:solidFill>
                  <a:srgbClr val="E66666"/>
                </a:solidFill>
                <a:latin typeface="Arial" panose="020B0604020202020204" pitchFamily="34" charset="0"/>
              </a:rPr>
              <a:t>(q) 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结束执行一个函数并返回一个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值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circleNumDbPlain"/>
            </a:pPr>
            <a:r>
              <a:rPr lang="zh-CN" altLang="en-US" sz="1600" b="1" dirty="0" smtClean="0">
                <a:solidFill>
                  <a:srgbClr val="E66666"/>
                </a:solidFill>
                <a:latin typeface="Arial" panose="020B0604020202020204" pitchFamily="34" charset="0"/>
              </a:rPr>
              <a:t>DO </a:t>
            </a:r>
            <a:r>
              <a:rPr lang="zh-CN" altLang="en-US" sz="1600" b="1" dirty="0">
                <a:solidFill>
                  <a:srgbClr val="E66666"/>
                </a:solidFill>
                <a:latin typeface="Arial" panose="020B0604020202020204" pitchFamily="34" charset="0"/>
              </a:rPr>
              <a:t>(d)  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执行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命令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58871" y="374480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语法规范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5" y="898108"/>
            <a:ext cx="5171841" cy="18850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862" y="994309"/>
            <a:ext cx="5088302" cy="16926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5" y="2783171"/>
            <a:ext cx="4512465" cy="2008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862" y="2887489"/>
            <a:ext cx="5105458" cy="20378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55" y="4795816"/>
            <a:ext cx="4011736" cy="17728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64" y="1979182"/>
            <a:ext cx="5862720" cy="22173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64" y="4326068"/>
            <a:ext cx="5862720" cy="10019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06" y="1979182"/>
            <a:ext cx="4714776" cy="21829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405" y="4326068"/>
            <a:ext cx="4748319" cy="9525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1006917" y="1203333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Continue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和Quit的区别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622243" y="4564866"/>
            <a:ext cx="28354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// Try Catch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语法规范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Try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statement1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Catch exceptionvar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{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statement2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29099" y="4564866"/>
            <a:ext cx="2348417" cy="134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事务的提交与回滚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TStart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statement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TCommit[TRollBack]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750" y="1791656"/>
            <a:ext cx="4415731" cy="27176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791" y="4033853"/>
            <a:ext cx="3064690" cy="26965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矩形 8"/>
          <p:cNvSpPr/>
          <p:nvPr/>
        </p:nvSpPr>
        <p:spPr>
          <a:xfrm>
            <a:off x="473488" y="722289"/>
            <a:ext cx="81164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20302" y="726152"/>
            <a:ext cx="5199948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⑥ </a:t>
            </a:r>
            <a:r>
              <a:rPr lang="zh-CN" altLang="en-US" sz="1600" b="1" dirty="0">
                <a:solidFill>
                  <a:srgbClr val="E66666"/>
                </a:solidFill>
                <a:latin typeface="Arial" panose="020B0604020202020204" pitchFamily="34" charset="0"/>
              </a:rPr>
              <a:t>GOTO(g)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跳转命令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⑦ </a:t>
            </a:r>
            <a:r>
              <a:rPr lang="zh-CN" altLang="en-US" sz="1600" b="1" dirty="0">
                <a:solidFill>
                  <a:srgbClr val="E66666"/>
                </a:solidFill>
                <a:latin typeface="Arial" panose="020B0604020202020204" pitchFamily="34" charset="0"/>
              </a:rPr>
              <a:t>BREAK(b)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在调试的时候中断一个routine 的执行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⑧ </a:t>
            </a:r>
            <a:r>
              <a:rPr lang="zh-CN" altLang="en-US" sz="1600" b="1" dirty="0">
                <a:solidFill>
                  <a:srgbClr val="E66666"/>
                </a:solidFill>
                <a:latin typeface="Arial" panose="020B0604020202020204" pitchFamily="34" charset="0"/>
              </a:rPr>
              <a:t>WRITE(w)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输出信息到当前设备上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⑨ </a:t>
            </a:r>
            <a:r>
              <a:rPr lang="en-US" altLang="zh-CN" sz="1600" b="1" dirty="0">
                <a:solidFill>
                  <a:srgbClr val="E66666"/>
                </a:solidFill>
                <a:latin typeface="Arial" panose="020B0604020202020204" pitchFamily="34" charset="0"/>
              </a:rPr>
              <a:t>Try catch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捕获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异常    </a:t>
            </a: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$ZT=”ERRPR”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⑩  </a:t>
            </a:r>
            <a:r>
              <a:rPr lang="zh-CN" altLang="en-US" sz="1600" b="1" dirty="0">
                <a:solidFill>
                  <a:srgbClr val="E66666"/>
                </a:solidFill>
                <a:latin typeface="Arial" panose="020B0604020202020204" pitchFamily="34" charset="0"/>
              </a:rPr>
              <a:t>READ (r)  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从当前的设备读信息 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read "Input value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",vlaue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w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value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⑪ </a:t>
            </a:r>
            <a:r>
              <a:rPr lang="en-US" altLang="zh-CN" sz="1600" b="1" dirty="0" err="1">
                <a:solidFill>
                  <a:srgbClr val="E66666"/>
                </a:solidFill>
                <a:latin typeface="Arial" panose="020B0604020202020204" pitchFamily="34" charset="0"/>
              </a:rPr>
              <a:t>Tstart</a:t>
            </a:r>
            <a:r>
              <a:rPr lang="en-US" altLang="zh-CN" sz="1600" b="1" dirty="0">
                <a:solidFill>
                  <a:srgbClr val="E66666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600" b="1" dirty="0" err="1">
                <a:solidFill>
                  <a:srgbClr val="E66666"/>
                </a:solidFill>
                <a:latin typeface="Arial" panose="020B0604020202020204" pitchFamily="34" charset="0"/>
              </a:rPr>
              <a:t>TRollBack</a:t>
            </a:r>
            <a:r>
              <a:rPr lang="en-US" altLang="zh-CN" sz="1600" b="1" dirty="0">
                <a:solidFill>
                  <a:srgbClr val="E66666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600" b="1" dirty="0" err="1">
                <a:solidFill>
                  <a:srgbClr val="E66666"/>
                </a:solidFill>
                <a:latin typeface="Arial" panose="020B0604020202020204" pitchFamily="34" charset="0"/>
              </a:rPr>
              <a:t>TCommit</a:t>
            </a:r>
            <a:r>
              <a:rPr lang="en-US" altLang="zh-CN" sz="1600" b="1" dirty="0">
                <a:solidFill>
                  <a:srgbClr val="E66666"/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事务的提交与回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滚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0043" y="398433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语法规范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401649" y="1268321"/>
            <a:ext cx="56861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34"/>
          <p:cNvSpPr txBox="1">
            <a:spLocks noChangeArrowheads="1"/>
          </p:cNvSpPr>
          <p:nvPr/>
        </p:nvSpPr>
        <p:spPr bwMode="auto">
          <a:xfrm>
            <a:off x="1531578" y="938529"/>
            <a:ext cx="7622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常用的函数</a:t>
            </a:r>
            <a:endParaRPr lang="zh-CN" altLang="en-US" sz="2000" b="1" dirty="0">
              <a:solidFill>
                <a:srgbClr val="1F4E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080891" y="843113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5638" y="1362314"/>
            <a:ext cx="5712133" cy="522130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rgbClr val="E66666"/>
                </a:solidFill>
                <a:latin typeface="Arial" panose="020B0604020202020204" pitchFamily="34" charset="0"/>
              </a:rPr>
              <a:t>①</a:t>
            </a:r>
            <a:r>
              <a:rPr lang="zh-CN" altLang="en-US" sz="1600" dirty="0">
                <a:solidFill>
                  <a:srgbClr val="E66666"/>
                </a:solidFill>
                <a:latin typeface="Arial" panose="020B0604020202020204" pitchFamily="34" charset="0"/>
              </a:rPr>
              <a:t>$Piece($P)</a:t>
            </a:r>
            <a:endParaRPr lang="zh-CN" altLang="en-US" sz="1600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格式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：：$Piece(expression,delimiter [,from[,to]])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返回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一个或者多个被分隔符分开的子串。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rgbClr val="E66666"/>
                </a:solidFill>
                <a:latin typeface="Arial" panose="020B0604020202020204" pitchFamily="34" charset="0"/>
              </a:rPr>
              <a:t>② $Order($O)</a:t>
            </a:r>
            <a:endParaRPr lang="zh-CN" altLang="en-US" sz="1600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格式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：$Order(variable[,direction])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按照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指定的方向返回一个变量的上一个或下一个索引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E66666"/>
                </a:solidFill>
                <a:latin typeface="Arial" panose="020B0604020202020204" pitchFamily="34" charset="0"/>
              </a:rPr>
              <a:t>③ $get($g)</a:t>
            </a:r>
            <a:endParaRPr lang="zh-CN" altLang="en-US" sz="1600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返回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一个变量的值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如果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变量存在则返回变量本身，不存在则返回空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E66666"/>
                </a:solidFill>
                <a:latin typeface="Arial" panose="020B0604020202020204" pitchFamily="34" charset="0"/>
              </a:rPr>
              <a:t>④ $data($d)   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1    0  11 10 </a:t>
            </a:r>
            <a:endParaRPr lang="zh-CN" altLang="en-US" sz="1600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判断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变量是否存在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(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10,11含义) 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E66666"/>
                </a:solidFill>
                <a:latin typeface="Arial" panose="020B0604020202020204" pitchFamily="34" charset="0"/>
              </a:rPr>
              <a:t>⑤ $Justify($J)</a:t>
            </a:r>
            <a:endParaRPr lang="zh-CN" altLang="en-US" sz="1600" dirty="0">
              <a:solidFill>
                <a:srgbClr val="E66666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格式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：$Justify(expression,width[,desimal])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说明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：返回一个右对齐的值，并可以改变它的格式。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671" y="4759094"/>
            <a:ext cx="2324100" cy="1000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21021" y="3021374"/>
            <a:ext cx="3756620" cy="3461338"/>
          </a:xfrm>
          <a:prstGeom prst="rect">
            <a:avLst/>
          </a:prstGeom>
          <a:ln>
            <a:solidFill>
              <a:srgbClr val="1F4E79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6207125" y="1268095"/>
            <a:ext cx="54070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39750">
              <a:lnSpc>
                <a:spcPct val="150000"/>
              </a:lnSpc>
            </a:pP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SET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^Y(3,6,7)="third"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539750">
              <a:lnSpc>
                <a:spcPct val="150000"/>
              </a:lnSpc>
            </a:pP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SET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^Y(3,6,8)="fourth"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539750">
              <a:lnSpc>
                <a:spcPct val="150000"/>
              </a:lnSpc>
            </a:pP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SET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^Y(3,6,7,8,4)="fifth"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539750">
              <a:lnSpc>
                <a:spcPct val="150000"/>
              </a:lnSpc>
            </a:pP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SET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^Y(3,6,7,8,9)="sixth"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47101" y="1197439"/>
            <a:ext cx="5078290" cy="5217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E66666"/>
                </a:solidFill>
              </a:rPr>
              <a:t>⑥ $Extract($e)</a:t>
            </a:r>
            <a:endParaRPr lang="zh-CN" altLang="en-US" dirty="0">
              <a:solidFill>
                <a:srgbClr val="E66666"/>
              </a:solidFill>
            </a:endParaRPr>
          </a:p>
          <a:p>
            <a:r>
              <a:rPr lang="zh-CN" altLang="en-US" dirty="0" smtClean="0"/>
              <a:t>    格式</a:t>
            </a:r>
            <a:r>
              <a:rPr lang="zh-CN" altLang="en-US" dirty="0"/>
              <a:t>：$Extract(expression,[,from[,to]])</a:t>
            </a:r>
            <a:endParaRPr lang="zh-CN" altLang="en-US" dirty="0"/>
          </a:p>
          <a:p>
            <a:r>
              <a:rPr lang="zh-CN" altLang="en-US" dirty="0" smtClean="0"/>
              <a:t>    说明</a:t>
            </a:r>
            <a:r>
              <a:rPr lang="zh-CN" altLang="en-US" dirty="0"/>
              <a:t>：返回字符串的指定部分。</a:t>
            </a:r>
            <a:endParaRPr lang="zh-CN" altLang="en-US" dirty="0"/>
          </a:p>
          <a:p>
            <a:r>
              <a:rPr lang="zh-CN" altLang="en-US" dirty="0" smtClean="0"/>
              <a:t>     &gt;</a:t>
            </a:r>
            <a:r>
              <a:rPr lang="zh-CN" altLang="en-US" dirty="0"/>
              <a:t>Write $Extract("AABB",2,3)</a:t>
            </a:r>
            <a:endParaRPr lang="zh-CN" altLang="en-US" dirty="0"/>
          </a:p>
          <a:p>
            <a:r>
              <a:rPr lang="zh-CN" altLang="en-US" dirty="0" smtClean="0"/>
              <a:t>        AB</a:t>
            </a:r>
            <a:endParaRPr lang="zh-CN" altLang="en-US" dirty="0"/>
          </a:p>
          <a:p>
            <a:r>
              <a:rPr lang="zh-CN" altLang="en-US" dirty="0">
                <a:solidFill>
                  <a:srgbClr val="E66666"/>
                </a:solidFill>
              </a:rPr>
              <a:t>⑦ $</a:t>
            </a:r>
            <a:r>
              <a:rPr lang="en-US" altLang="zh-CN" dirty="0">
                <a:solidFill>
                  <a:srgbClr val="E66666"/>
                </a:solidFill>
              </a:rPr>
              <a:t>Replace </a:t>
            </a:r>
            <a:endParaRPr lang="en-US" altLang="zh-CN" dirty="0">
              <a:solidFill>
                <a:srgbClr val="E66666"/>
              </a:solidFill>
            </a:endParaRPr>
          </a:p>
          <a:p>
            <a:r>
              <a:rPr lang="zh-CN" altLang="en-US" dirty="0" smtClean="0"/>
              <a:t>    格式</a:t>
            </a:r>
            <a:r>
              <a:rPr lang="zh-CN" altLang="en-US" dirty="0"/>
              <a:t>：$</a:t>
            </a:r>
            <a:r>
              <a:rPr lang="en-US" altLang="zh-CN" dirty="0"/>
              <a:t>replace</a:t>
            </a:r>
            <a:r>
              <a:rPr lang="zh-CN" altLang="en-US" dirty="0"/>
              <a:t>(variable</a:t>
            </a:r>
            <a:r>
              <a:rPr lang="en-US" altLang="zh-CN" dirty="0"/>
              <a:t>,str1,str2</a:t>
            </a:r>
            <a:r>
              <a:rPr lang="zh-CN" altLang="en-US" dirty="0"/>
              <a:t>)</a:t>
            </a:r>
            <a:endParaRPr lang="zh-CN" altLang="en-US" dirty="0"/>
          </a:p>
          <a:p>
            <a:r>
              <a:rPr lang="zh-CN" altLang="en-US" dirty="0" smtClean="0"/>
              <a:t>    说明：替换</a:t>
            </a:r>
            <a:r>
              <a:rPr lang="zh-CN" altLang="en-US" dirty="0"/>
              <a:t>字符</a:t>
            </a:r>
            <a:endParaRPr lang="zh-CN" altLang="en-US" dirty="0"/>
          </a:p>
          <a:p>
            <a:r>
              <a:rPr lang="en-US" altLang="zh-CN" dirty="0" smtClean="0"/>
              <a:t>    s </a:t>
            </a:r>
            <a:r>
              <a:rPr lang="en-US" altLang="zh-CN" dirty="0" err="1"/>
              <a:t>str</a:t>
            </a:r>
            <a:r>
              <a:rPr lang="en-US" altLang="zh-CN" dirty="0"/>
              <a:t>=”</a:t>
            </a:r>
            <a:r>
              <a:rPr lang="en-US" altLang="zh-CN" dirty="0" err="1"/>
              <a:t>abc</a:t>
            </a:r>
            <a:r>
              <a:rPr lang="en-US" altLang="zh-CN" dirty="0"/>
              <a:t>”</a:t>
            </a:r>
            <a:endParaRPr lang="en-US" altLang="zh-CN" dirty="0"/>
          </a:p>
          <a:p>
            <a:r>
              <a:rPr lang="en-US" altLang="zh-CN" dirty="0" smtClean="0"/>
              <a:t>    w </a:t>
            </a:r>
            <a:r>
              <a:rPr lang="en-US" altLang="zh-CN" dirty="0"/>
              <a:t>$replace(</a:t>
            </a:r>
            <a:r>
              <a:rPr lang="en-US" altLang="zh-CN" dirty="0" err="1"/>
              <a:t>str</a:t>
            </a:r>
            <a:r>
              <a:rPr lang="en-US" altLang="zh-CN" dirty="0"/>
              <a:t>,”</a:t>
            </a:r>
            <a:r>
              <a:rPr lang="en-US" altLang="zh-CN" dirty="0" err="1"/>
              <a:t>a”,”d</a:t>
            </a:r>
            <a:r>
              <a:rPr lang="en-US" altLang="zh-CN" dirty="0"/>
              <a:t>”)</a:t>
            </a:r>
            <a:r>
              <a:rPr lang="zh-CN" altLang="en-US" dirty="0"/>
              <a:t> </a:t>
            </a:r>
            <a:endParaRPr lang="zh-CN" altLang="en-US" dirty="0"/>
          </a:p>
          <a:p>
            <a:r>
              <a:rPr lang="zh-CN" altLang="en-US" dirty="0">
                <a:solidFill>
                  <a:srgbClr val="E66666"/>
                </a:solidFill>
              </a:rPr>
              <a:t>⑧$</a:t>
            </a:r>
            <a:r>
              <a:rPr lang="en-US" altLang="zh-CN" dirty="0">
                <a:solidFill>
                  <a:srgbClr val="E66666"/>
                </a:solidFill>
              </a:rPr>
              <a:t>translate </a:t>
            </a:r>
            <a:r>
              <a:rPr lang="zh-CN" altLang="en-US" dirty="0">
                <a:solidFill>
                  <a:srgbClr val="E66666"/>
                </a:solidFill>
              </a:rPr>
              <a:t>($</a:t>
            </a:r>
            <a:r>
              <a:rPr lang="en-US" altLang="zh-CN" dirty="0" err="1">
                <a:solidFill>
                  <a:srgbClr val="E66666"/>
                </a:solidFill>
              </a:rPr>
              <a:t>tr</a:t>
            </a:r>
            <a:r>
              <a:rPr lang="zh-CN" altLang="en-US" dirty="0">
                <a:solidFill>
                  <a:srgbClr val="E66666"/>
                </a:solidFill>
              </a:rPr>
              <a:t>)</a:t>
            </a:r>
            <a:endParaRPr lang="zh-CN" altLang="en-US" dirty="0">
              <a:solidFill>
                <a:srgbClr val="E66666"/>
              </a:solidFill>
            </a:endParaRPr>
          </a:p>
          <a:p>
            <a:r>
              <a:rPr lang="zh-CN" altLang="en-US" dirty="0" smtClean="0"/>
              <a:t>    格式</a:t>
            </a:r>
            <a:r>
              <a:rPr lang="zh-CN" altLang="en-US" dirty="0"/>
              <a:t>：$TRANSLATE(string,identifier[,associator])</a:t>
            </a:r>
            <a:endParaRPr lang="zh-CN" altLang="en-US" dirty="0"/>
          </a:p>
          <a:p>
            <a:r>
              <a:rPr lang="zh-CN" altLang="en-US" dirty="0"/>
              <a:t>      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dirty="0" smtClean="0">
                <a:sym typeface="+mn-ea"/>
              </a:rPr>
              <a:t>        </a:t>
            </a:r>
            <a:r>
              <a:rPr lang="en-US" altLang="zh-CN" dirty="0" smtClean="0">
                <a:sym typeface="+mn-ea"/>
              </a:rPr>
              <a:t>s </a:t>
            </a:r>
            <a:r>
              <a:rPr lang="en-US" altLang="zh-CN" dirty="0" err="1">
                <a:sym typeface="+mn-ea"/>
              </a:rPr>
              <a:t>str</a:t>
            </a:r>
            <a:r>
              <a:rPr lang="en-US" altLang="zh-CN" dirty="0">
                <a:sym typeface="+mn-ea"/>
              </a:rPr>
              <a:t>=”</a:t>
            </a:r>
            <a:r>
              <a:rPr lang="en-US" altLang="zh-CN" dirty="0" err="1" smtClean="0">
                <a:sym typeface="+mn-ea"/>
              </a:rPr>
              <a:t>abc</a:t>
            </a:r>
            <a:r>
              <a:rPr lang="en-US" altLang="zh-CN" dirty="0" smtClean="0">
                <a:sym typeface="+mn-ea"/>
              </a:rPr>
              <a:t>”</a:t>
            </a:r>
            <a:endParaRPr lang="en-US" altLang="zh-CN" dirty="0">
              <a:sym typeface="+mn-ea"/>
            </a:endParaRPr>
          </a:p>
          <a:p>
            <a:r>
              <a:rPr lang="en-US" altLang="zh-CN" dirty="0" smtClean="0">
                <a:sym typeface="+mn-ea"/>
              </a:rPr>
              <a:t>               w </a:t>
            </a:r>
            <a:r>
              <a:rPr lang="en-US" altLang="zh-CN" dirty="0">
                <a:sym typeface="+mn-ea"/>
              </a:rPr>
              <a:t>$</a:t>
            </a:r>
            <a:r>
              <a:rPr lang="en-US" altLang="zh-CN" dirty="0" err="1">
                <a:sym typeface="+mn-ea"/>
              </a:rPr>
              <a:t>tr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str</a:t>
            </a:r>
            <a:r>
              <a:rPr lang="en-US" altLang="zh-CN" dirty="0">
                <a:sym typeface="+mn-ea"/>
              </a:rPr>
              <a:t>,”</a:t>
            </a:r>
            <a:r>
              <a:rPr lang="en-US" altLang="zh-CN" dirty="0" err="1">
                <a:sym typeface="+mn-ea"/>
              </a:rPr>
              <a:t>a”,”d</a:t>
            </a:r>
            <a:r>
              <a:rPr lang="en-US" altLang="zh-CN" dirty="0">
                <a:sym typeface="+mn-ea"/>
              </a:rPr>
              <a:t>”)</a:t>
            </a:r>
            <a:r>
              <a:rPr lang="zh-CN" altLang="en-US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892280" y="1090053"/>
            <a:ext cx="6047509" cy="373999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E66666"/>
                </a:solidFill>
              </a:rPr>
              <a:t>⑨$Length($L)</a:t>
            </a:r>
            <a:endParaRPr lang="zh-CN" altLang="en-US" dirty="0">
              <a:solidFill>
                <a:srgbClr val="E66666"/>
              </a:solidFill>
            </a:endParaRPr>
          </a:p>
          <a:p>
            <a:r>
              <a:rPr lang="zh-CN" altLang="en-US" dirty="0" smtClean="0"/>
              <a:t>      格式</a:t>
            </a:r>
            <a:r>
              <a:rPr lang="zh-CN" altLang="en-US" dirty="0"/>
              <a:t>：$Length(expression[,delimiter])</a:t>
            </a:r>
            <a:endParaRPr lang="zh-CN" altLang="en-US" dirty="0"/>
          </a:p>
          <a:p>
            <a:r>
              <a:rPr lang="zh-CN" altLang="en-US" dirty="0" smtClean="0"/>
              <a:t>      说明</a:t>
            </a:r>
            <a:r>
              <a:rPr lang="zh-CN" altLang="en-US" dirty="0"/>
              <a:t>：返回一个字符串的长度，或者是被分隔符的子串的个数</a:t>
            </a:r>
            <a:endParaRPr lang="zh-CN" altLang="en-US" dirty="0"/>
          </a:p>
          <a:p>
            <a:r>
              <a:rPr lang="zh-CN" altLang="en-US" dirty="0" smtClean="0"/>
              <a:t>       &gt;</a:t>
            </a:r>
            <a:r>
              <a:rPr lang="zh-CN" altLang="en-US" dirty="0"/>
              <a:t>Write $Length("ABCD</a:t>
            </a:r>
            <a:r>
              <a:rPr lang="zh-CN" altLang="en-US" dirty="0" smtClean="0"/>
              <a:t>")</a:t>
            </a:r>
            <a:endParaRPr lang="en-US" altLang="zh-CN" dirty="0" smtClean="0"/>
          </a:p>
          <a:p>
            <a:r>
              <a:rPr lang="zh-CN" altLang="en-US" dirty="0" smtClean="0"/>
              <a:t>          4</a:t>
            </a:r>
            <a:endParaRPr lang="zh-CN" altLang="en-US" dirty="0"/>
          </a:p>
          <a:p>
            <a:r>
              <a:rPr lang="zh-CN" altLang="en-US" dirty="0"/>
              <a:t>  </a:t>
            </a:r>
            <a:r>
              <a:rPr lang="zh-CN" altLang="en-US" dirty="0" smtClean="0"/>
              <a:t>     &gt;</a:t>
            </a:r>
            <a:r>
              <a:rPr lang="zh-CN" altLang="en-US" dirty="0"/>
              <a:t>Write $Length("AB/CD/EF","/")</a:t>
            </a:r>
            <a:endParaRPr lang="zh-CN" altLang="en-US" dirty="0"/>
          </a:p>
          <a:p>
            <a:r>
              <a:rPr lang="zh-CN" altLang="en-US" dirty="0"/>
              <a:t>         </a:t>
            </a:r>
            <a:r>
              <a:rPr lang="zh-CN" altLang="en-US" dirty="0" smtClean="0"/>
              <a:t> </a:t>
            </a:r>
            <a:r>
              <a:rPr lang="zh-CN" altLang="en-US" dirty="0"/>
              <a:t>3</a:t>
            </a:r>
            <a:endParaRPr lang="en-US" altLang="zh-CN" dirty="0"/>
          </a:p>
          <a:p>
            <a:r>
              <a:rPr lang="zh-CN" altLang="en-US" dirty="0">
                <a:solidFill>
                  <a:srgbClr val="E66666"/>
                </a:solidFill>
              </a:rPr>
              <a:t>⑩ </a:t>
            </a:r>
            <a:r>
              <a:rPr lang="en-US" altLang="zh-CN" dirty="0">
                <a:solidFill>
                  <a:srgbClr val="E66666"/>
                </a:solidFill>
              </a:rPr>
              <a:t>$</a:t>
            </a:r>
            <a:r>
              <a:rPr lang="en-US" altLang="zh-CN" dirty="0" err="1">
                <a:solidFill>
                  <a:srgbClr val="E66666"/>
                </a:solidFill>
              </a:rPr>
              <a:t>zconert</a:t>
            </a:r>
            <a:r>
              <a:rPr lang="en-US" altLang="zh-CN" dirty="0">
                <a:solidFill>
                  <a:srgbClr val="E66666"/>
                </a:solidFill>
              </a:rPr>
              <a:t>($</a:t>
            </a:r>
            <a:r>
              <a:rPr lang="en-US" altLang="zh-CN" dirty="0" err="1">
                <a:solidFill>
                  <a:srgbClr val="E66666"/>
                </a:solidFill>
              </a:rPr>
              <a:t>zcvt</a:t>
            </a:r>
            <a:r>
              <a:rPr lang="en-US" altLang="zh-CN" dirty="0">
                <a:solidFill>
                  <a:srgbClr val="E66666"/>
                </a:solidFill>
              </a:rPr>
              <a:t>)</a:t>
            </a:r>
            <a:endParaRPr lang="en-US" altLang="zh-CN" dirty="0">
              <a:solidFill>
                <a:srgbClr val="E66666"/>
              </a:solidFill>
            </a:endParaRPr>
          </a:p>
          <a:p>
            <a:r>
              <a:rPr lang="en-US" altLang="zh-CN" dirty="0"/>
              <a:t>     </a:t>
            </a:r>
            <a:r>
              <a:rPr lang="en-US" altLang="zh-CN" dirty="0" smtClean="0"/>
              <a:t>  </a:t>
            </a:r>
            <a:r>
              <a:rPr lang="en-US" altLang="zh-CN" dirty="0"/>
              <a:t>&gt;Write $</a:t>
            </a:r>
            <a:r>
              <a:rPr lang="en-US" altLang="zh-CN" dirty="0" err="1"/>
              <a:t>zcvt</a:t>
            </a:r>
            <a:r>
              <a:rPr lang="en-US" altLang="zh-CN" dirty="0"/>
              <a:t>(</a:t>
            </a:r>
            <a:r>
              <a:rPr lang="en-US" altLang="zh-CN" dirty="0" err="1"/>
              <a:t>str</a:t>
            </a:r>
            <a:r>
              <a:rPr lang="en-US" altLang="zh-CN" dirty="0"/>
              <a:t>,”U”)</a:t>
            </a:r>
            <a:endParaRPr lang="en-US" altLang="zh-CN" dirty="0"/>
          </a:p>
          <a:p>
            <a:r>
              <a:rPr lang="sv-SE" altLang="zh-CN" dirty="0"/>
              <a:t>       &gt;WRITE $ZCVT("&lt;TAG&gt;","O","HTML")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M</a:t>
            </a:r>
            <a:r>
              <a:rPr lang="zh-CN" altLang="en-US" dirty="0">
                <a:sym typeface="+mn-ea"/>
              </a:rPr>
              <a:t>的基础知识</a:t>
            </a:r>
            <a:r>
              <a:rPr lang="en-US" altLang="zh-CN" dirty="0" err="1">
                <a:sym typeface="+mn-ea"/>
              </a:rPr>
              <a:t>Caché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ObjectScript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384703"/>
            <a:ext cx="63101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1) 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ZDate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Horolog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格式的日期值按照指定格式显示。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ZDateH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ZDate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的反函数。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(2) 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ZDateTime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Horolog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格式的日期时间值按照指定格式显示。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ZDateTimeH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ZDateTime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的反函数。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(3) 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ZTime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Horolog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格式的时间值按照指定格式显示。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ZTimeH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ZTime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的反函数。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 $zt(69952,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1)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：转换 时间  19:25：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52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zth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(“19:25:52”,1)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：转换为 逻辑数字 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69952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6497" y="1012830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时间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日期的函数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31954" y="1160228"/>
            <a:ext cx="333821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 $zdate(+$h,1)</a:t>
            </a:r>
            <a:b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07/03/2018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b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 $zdate(+$h,3)</a:t>
            </a:r>
            <a:b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2018-07-03 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 $zdate(+$h,4)</a:t>
            </a:r>
            <a:endParaRPr lang="pl-PL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03/07/2018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 $zdh("07/03/2018",1)</a:t>
            </a:r>
            <a:b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</a:br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64832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 $zdh("2018-07-03",3)</a:t>
            </a:r>
            <a:endParaRPr lang="pl-PL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r>
              <a:rPr lang="pl-PL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64832</a:t>
            </a:r>
            <a:endParaRPr lang="pl-PL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34161" y="4702625"/>
            <a:ext cx="6990194" cy="1935959"/>
            <a:chOff x="376972" y="4936104"/>
            <a:chExt cx="7292870" cy="1935959"/>
          </a:xfrm>
        </p:grpSpPr>
        <p:sp>
          <p:nvSpPr>
            <p:cNvPr id="13" name="矩形 57"/>
            <p:cNvSpPr>
              <a:spLocks noChangeArrowheads="1"/>
            </p:cNvSpPr>
            <p:nvPr/>
          </p:nvSpPr>
          <p:spPr bwMode="auto">
            <a:xfrm>
              <a:off x="750142" y="5514768"/>
              <a:ext cx="6919700" cy="1357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编写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简单的m程序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1、编写类方法，将数据插入到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表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</a:rPr>
                <a:t>DHC_Course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、编写类方法，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将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</a:rPr>
                <a:t>DHC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_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C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</a:rPr>
                <a:t>ourse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中的所有记录输出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、编写类方法，按代码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</a:rPr>
                <a:t>(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</a:rPr>
                <a:t>Crs_Code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)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查询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</a:rPr>
                <a:t>DHC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_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C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</a:rPr>
                <a:t>ourse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的记录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376972" y="4936104"/>
              <a:ext cx="4204392" cy="461665"/>
              <a:chOff x="376972" y="4936104"/>
              <a:chExt cx="4204392" cy="461665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411705" y="4936104"/>
                <a:ext cx="41696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练习 </a:t>
                </a:r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9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Query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981991" y="784524"/>
            <a:ext cx="6611574" cy="2501389"/>
            <a:chOff x="1502432" y="1722899"/>
            <a:chExt cx="6611574" cy="2501389"/>
          </a:xfrm>
        </p:grpSpPr>
        <p:sp>
          <p:nvSpPr>
            <p:cNvPr id="6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的概念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的编写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的执行与调用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%Query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的使用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5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、特殊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的使用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608119" y="1756935"/>
              <a:ext cx="16514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Query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的知识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8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0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学习要点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2671816" y="2225790"/>
              <a:ext cx="2088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34"/>
          <p:cNvSpPr txBox="1">
            <a:spLocks noChangeArrowheads="1"/>
          </p:cNvSpPr>
          <p:nvPr/>
        </p:nvSpPr>
        <p:spPr bwMode="auto">
          <a:xfrm>
            <a:off x="1541966" y="3354638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的概念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91279" y="3317714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16622" y="3791672"/>
            <a:ext cx="49924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Cache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特用的结构，一般用于通过条件查询出结果集，相当于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SQL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语句。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SQL Query &amp; User-Written Query 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 parts of User-Written Query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关键字：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SQLProc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SqlName 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035" y="2044653"/>
            <a:ext cx="5703798" cy="46595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Query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50920" y="4306464"/>
            <a:ext cx="575245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do ##class(%ResultSet).RunQuery("className","queryName",arg,...)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42" y="1257587"/>
            <a:ext cx="3152799" cy="2237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822" y="1245904"/>
            <a:ext cx="3108339" cy="2224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本框 34"/>
          <p:cNvSpPr txBox="1">
            <a:spLocks noChangeArrowheads="1"/>
          </p:cNvSpPr>
          <p:nvPr/>
        </p:nvSpPr>
        <p:spPr bwMode="auto">
          <a:xfrm>
            <a:off x="1541966" y="808870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的编写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91279" y="77194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34"/>
          <p:cNvSpPr txBox="1">
            <a:spLocks noChangeArrowheads="1"/>
          </p:cNvSpPr>
          <p:nvPr/>
        </p:nvSpPr>
        <p:spPr bwMode="auto">
          <a:xfrm>
            <a:off x="1541966" y="3694684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的执行与调用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091279" y="365022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372" y="3517909"/>
            <a:ext cx="5918143" cy="32535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195" y="5614959"/>
            <a:ext cx="4066540" cy="9525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Query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697830" y="1942716"/>
            <a:ext cx="51845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query ：用来定义query的名称、入参、出参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Execute：执行query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Fetch ：处理执行结果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Close ：释放临时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golbal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资源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34"/>
          <p:cNvSpPr txBox="1">
            <a:spLocks noChangeArrowheads="1"/>
          </p:cNvSpPr>
          <p:nvPr/>
        </p:nvSpPr>
        <p:spPr bwMode="auto">
          <a:xfrm>
            <a:off x="1697830" y="1040960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%Query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的使用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47143" y="100403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97830" y="1507227"/>
            <a:ext cx="3194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4 parts of User-Written Query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2" name="内容占位符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486" y="3621867"/>
            <a:ext cx="9556957" cy="2841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Query</a:t>
            </a:r>
            <a:endParaRPr lang="zh-CN" altLang="en-US" dirty="0"/>
          </a:p>
        </p:txBody>
      </p:sp>
      <p:sp>
        <p:nvSpPr>
          <p:cNvPr id="6" name="文本框 34"/>
          <p:cNvSpPr txBox="1">
            <a:spLocks noChangeArrowheads="1"/>
          </p:cNvSpPr>
          <p:nvPr/>
        </p:nvSpPr>
        <p:spPr bwMode="auto">
          <a:xfrm>
            <a:off x="844702" y="1136799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特殊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的使用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22344" y="1118337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3031" y="1672406"/>
            <a:ext cx="19351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%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SQL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Query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websys.Query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36575" y="832790"/>
            <a:ext cx="2820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：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%SQL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Query的使用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36575" y="2789973"/>
            <a:ext cx="3050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：</a:t>
            </a:r>
            <a:r>
              <a:rPr lang="en-US" altLang="zh-CN" dirty="0" smtClean="0"/>
              <a:t> 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websys.Query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的使用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1448" y="1284279"/>
            <a:ext cx="7801413" cy="14069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3286125"/>
            <a:ext cx="5111750" cy="30219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550" y="3286125"/>
            <a:ext cx="5791200" cy="2908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>
                <a:sym typeface="+mn-ea"/>
              </a:rPr>
              <a:t>SQL</a:t>
            </a:r>
            <a:r>
              <a:rPr lang="zh-CN" altLang="en-US" dirty="0">
                <a:sym typeface="+mn-ea"/>
              </a:rPr>
              <a:t>实现增删改查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763666" y="1248142"/>
            <a:ext cx="10009233" cy="4896521"/>
            <a:chOff x="370745" y="2950677"/>
            <a:chExt cx="4255277" cy="4896521"/>
          </a:xfrm>
        </p:grpSpPr>
        <p:sp>
          <p:nvSpPr>
            <p:cNvPr id="13" name="文本框 34"/>
            <p:cNvSpPr txBox="1">
              <a:spLocks noChangeArrowheads="1"/>
            </p:cNvSpPr>
            <p:nvPr/>
          </p:nvSpPr>
          <p:spPr bwMode="auto">
            <a:xfrm>
              <a:off x="370745" y="2950677"/>
              <a:ext cx="14124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eaLnBrk="1" hangingPunct="1"/>
              <a:r>
                <a:rPr lang="zh-CN" altLang="en-US" sz="2000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终端调试命令一览表</a:t>
              </a:r>
              <a:endPara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4240862" cy="4524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、当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.mac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文件中带有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sql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语句时，需要在终端编译程序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　　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zn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　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“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-data“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（或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”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meddata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”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）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　　编译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m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程序 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 ^%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urcomp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，然后输入要编译的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m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名称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２、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Mac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文件调试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96240"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 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procname^macname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，参数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2.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。。。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 q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后面没有返回值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96240"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$$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function^macname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，参数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2.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。。。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 q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后面有返回值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３、类方法的调试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96240"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##class(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web.classname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).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classmethod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，参数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2….)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96240"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##class(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web.classname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).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classmethod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，参数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2….)       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４、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的执行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96240"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##class(%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ResultSet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).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RunQuery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(“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类名称”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,”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Qurey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名称”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,”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1”,”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2”,…,”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参数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16”)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" name="椭圆 14"/>
          <p:cNvSpPr/>
          <p:nvPr/>
        </p:nvSpPr>
        <p:spPr>
          <a:xfrm>
            <a:off x="1174530" y="1248142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上午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放学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第二节课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>
                <a:sym typeface="+mn-ea"/>
              </a:rPr>
              <a:t>SQL</a:t>
            </a:r>
            <a:r>
              <a:rPr lang="zh-CN" altLang="en-US" dirty="0">
                <a:sym typeface="+mn-ea"/>
              </a:rPr>
              <a:t>实现增删改查</a:t>
            </a:r>
            <a:endParaRPr lang="zh-CN" altLang="en-US" dirty="0"/>
          </a:p>
        </p:txBody>
      </p:sp>
      <p:sp>
        <p:nvSpPr>
          <p:cNvPr id="3" name="内容占位符 3"/>
          <p:cNvSpPr txBox="1"/>
          <p:nvPr/>
        </p:nvSpPr>
        <p:spPr>
          <a:xfrm>
            <a:off x="2178106" y="3468974"/>
            <a:ext cx="9237219" cy="317317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400" b="1" dirty="0"/>
              <a:t>使用</a:t>
            </a:r>
            <a:r>
              <a:rPr lang="en-US" altLang="zh-CN" sz="1400" b="1" dirty="0"/>
              <a:t>SQL</a:t>
            </a:r>
            <a:r>
              <a:rPr lang="zh-CN" altLang="en-US" sz="1400" b="1" dirty="0"/>
              <a:t>插入数据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>
              <a:lnSpc>
                <a:spcPct val="130000"/>
              </a:lnSpc>
            </a:pPr>
            <a:r>
              <a:rPr lang="en-US" altLang="zh-CN" sz="1400" dirty="0"/>
              <a:t>         &amp;</a:t>
            </a:r>
            <a:r>
              <a:rPr lang="en-US" altLang="zh-CN" sz="1400" dirty="0" err="1"/>
              <a:t>sql</a:t>
            </a:r>
            <a:r>
              <a:rPr lang="en-US" altLang="zh-CN" sz="1400" dirty="0"/>
              <a:t>(   </a:t>
            </a:r>
            <a:r>
              <a:rPr lang="en-US" altLang="zh-CN" sz="1400" dirty="0">
                <a:solidFill>
                  <a:srgbClr val="00B0F0"/>
                </a:solidFill>
              </a:rPr>
              <a:t>INSERT INTO</a:t>
            </a:r>
            <a:r>
              <a:rPr lang="en-US" altLang="zh-CN" sz="1400" dirty="0"/>
              <a:t> </a:t>
            </a:r>
            <a:r>
              <a:rPr lang="en-US" altLang="zh-CN" sz="1400" dirty="0" err="1" smtClean="0"/>
              <a:t>DHC_Student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DHC_Code,DHC_Name,DHC_DobDate,DHC_Sex_DR</a:t>
            </a:r>
            <a:r>
              <a:rPr lang="en-US" altLang="zh-CN" sz="1400" dirty="0" smtClean="0"/>
              <a:t>)</a:t>
            </a:r>
            <a:endParaRPr lang="en-US" altLang="zh-CN" sz="1400" dirty="0"/>
          </a:p>
          <a:p>
            <a:pPr>
              <a:lnSpc>
                <a:spcPct val="13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rgbClr val="00B0F0"/>
                </a:solidFill>
              </a:rPr>
              <a:t>VALUES</a:t>
            </a:r>
            <a:r>
              <a:rPr lang="en-US" altLang="zh-CN" sz="1400" dirty="0"/>
              <a:t> </a:t>
            </a:r>
            <a:r>
              <a:rPr lang="en-US" altLang="zh-CN" sz="1400" dirty="0" smtClean="0"/>
              <a:t>(:Code,:</a:t>
            </a:r>
            <a:r>
              <a:rPr lang="en-US" altLang="zh-CN" sz="1400" dirty="0"/>
              <a:t>Name,:</a:t>
            </a:r>
            <a:r>
              <a:rPr lang="en-US" altLang="zh-CN" sz="1400" dirty="0" err="1"/>
              <a:t>DobDate</a:t>
            </a:r>
            <a:r>
              <a:rPr lang="en-US" altLang="zh-CN" sz="1400" dirty="0"/>
              <a:t>,:</a:t>
            </a:r>
            <a:r>
              <a:rPr lang="en-US" altLang="zh-CN" sz="1400" dirty="0" err="1" smtClean="0"/>
              <a:t>SexDR</a:t>
            </a:r>
            <a:r>
              <a:rPr lang="en-US" altLang="zh-CN" sz="1400" dirty="0" smtClean="0"/>
              <a:t>)</a:t>
            </a:r>
            <a:endParaRPr lang="en-US" altLang="zh-CN" sz="1400" dirty="0"/>
          </a:p>
          <a:p>
            <a:pPr>
              <a:lnSpc>
                <a:spcPct val="130000"/>
              </a:lnSpc>
            </a:pPr>
            <a:r>
              <a:rPr lang="en-US" altLang="zh-CN" sz="1400" dirty="0"/>
              <a:t>                  )</a:t>
            </a:r>
            <a:endParaRPr lang="en-US" altLang="zh-CN" sz="14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1400" b="1" dirty="0"/>
              <a:t>使用</a:t>
            </a:r>
            <a:r>
              <a:rPr lang="en-US" altLang="zh-CN" sz="1400" b="1" dirty="0"/>
              <a:t>PLIST</a:t>
            </a:r>
            <a:r>
              <a:rPr lang="zh-CN" altLang="en-US" sz="1400" b="1" dirty="0"/>
              <a:t>插入数据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>
              <a:lnSpc>
                <a:spcPct val="130000"/>
              </a:lnSpc>
            </a:pPr>
            <a:r>
              <a:rPr lang="zh-CN" altLang="en-US" sz="1400" dirty="0"/>
              <a:t> 	Set PLIST(2) = </a:t>
            </a:r>
            <a:r>
              <a:rPr lang="en-US" altLang="zh-CN" sz="1400" dirty="0" smtClean="0"/>
              <a:t>Code</a:t>
            </a:r>
            <a:endParaRPr lang="zh-CN" altLang="en-US" sz="1400" dirty="0"/>
          </a:p>
          <a:p>
            <a:pPr>
              <a:lnSpc>
                <a:spcPct val="130000"/>
              </a:lnSpc>
            </a:pPr>
            <a:r>
              <a:rPr lang="zh-CN" altLang="en-US" sz="1400" dirty="0"/>
              <a:t>	Set PLIST(3) = Name</a:t>
            </a:r>
            <a:endParaRPr lang="zh-CN" altLang="en-US" sz="1400" dirty="0"/>
          </a:p>
          <a:p>
            <a:pPr>
              <a:lnSpc>
                <a:spcPct val="130000"/>
              </a:lnSpc>
            </a:pPr>
            <a:r>
              <a:rPr lang="zh-CN" altLang="en-US" sz="1400" dirty="0"/>
              <a:t>	Set PLIST(4) = </a:t>
            </a:r>
            <a:r>
              <a:rPr lang="en-US" altLang="zh-CN" sz="1400" dirty="0" err="1" smtClean="0"/>
              <a:t>DobDate</a:t>
            </a:r>
            <a:endParaRPr lang="en-US" altLang="zh-CN" sz="1400" dirty="0" smtClean="0"/>
          </a:p>
          <a:p>
            <a:pPr>
              <a:lnSpc>
                <a:spcPct val="130000"/>
              </a:lnSpc>
            </a:pPr>
            <a:r>
              <a:rPr lang="zh-CN" altLang="en-US" sz="1400" dirty="0"/>
              <a:t>	Set PLIST(5) = </a:t>
            </a:r>
            <a:r>
              <a:rPr lang="zh-CN" altLang="en-US" sz="1400" dirty="0" smtClean="0"/>
              <a:t>SexD</a:t>
            </a:r>
            <a:r>
              <a:rPr lang="en-US" altLang="zh-CN" sz="1400" dirty="0" smtClean="0"/>
              <a:t>R</a:t>
            </a:r>
            <a:endParaRPr lang="en-US" altLang="zh-CN" sz="1400" dirty="0"/>
          </a:p>
          <a:p>
            <a:pPr>
              <a:lnSpc>
                <a:spcPct val="130000"/>
              </a:lnSpc>
            </a:pPr>
            <a:r>
              <a:rPr lang="zh-CN" altLang="en-US" sz="1400" dirty="0"/>
              <a:t>	&amp;sql( </a:t>
            </a:r>
            <a:r>
              <a:rPr lang="en-US" altLang="zh-CN" sz="1400" dirty="0">
                <a:solidFill>
                  <a:srgbClr val="00B0F0"/>
                </a:solidFill>
              </a:rPr>
              <a:t>INSERT INTO </a:t>
            </a:r>
            <a:r>
              <a:rPr lang="en-US" altLang="zh-CN" sz="1400" dirty="0" err="1"/>
              <a:t>DHC_Student</a:t>
            </a:r>
            <a:r>
              <a:rPr lang="zh-CN" altLang="en-US" sz="1400" dirty="0"/>
              <a:t> </a:t>
            </a:r>
            <a:r>
              <a:rPr lang="en-US" altLang="zh-CN" sz="1400" dirty="0"/>
              <a:t> </a:t>
            </a:r>
            <a:r>
              <a:rPr lang="en-US" altLang="zh-CN" sz="1400" dirty="0">
                <a:solidFill>
                  <a:srgbClr val="00B0F0"/>
                </a:solidFill>
              </a:rPr>
              <a:t>VALUES</a:t>
            </a:r>
            <a:r>
              <a:rPr lang="en-US" altLang="zh-CN" sz="1400" dirty="0"/>
              <a:t> </a:t>
            </a:r>
            <a:r>
              <a:rPr lang="zh-CN" altLang="en-US" sz="1400" dirty="0"/>
              <a:t>:PLIST()</a:t>
            </a:r>
            <a:endParaRPr lang="zh-CN" altLang="en-US" sz="1400" dirty="0"/>
          </a:p>
          <a:p>
            <a:pPr>
              <a:lnSpc>
                <a:spcPct val="130000"/>
              </a:lnSpc>
            </a:pPr>
            <a:r>
              <a:rPr lang="zh-CN" altLang="en-US" sz="1400" dirty="0"/>
              <a:t>	)</a:t>
            </a:r>
            <a:endParaRPr lang="zh-CN" altLang="en-US" sz="14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623332" y="869329"/>
            <a:ext cx="6611574" cy="2132057"/>
            <a:chOff x="1502432" y="1722899"/>
            <a:chExt cx="6611574" cy="2132057"/>
          </a:xfrm>
        </p:grpSpPr>
        <p:sp>
          <p:nvSpPr>
            <p:cNvPr id="11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、在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类方法里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INSERT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数据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、在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类方法里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UPDATE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数据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、在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类方法里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SELECT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数据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、在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类方法里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DELETE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数据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608119" y="1756935"/>
              <a:ext cx="3738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SQL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对学生表实现如下数据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操作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3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5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学习要点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14" name="直接连接符 13"/>
            <p:cNvCxnSpPr/>
            <p:nvPr/>
          </p:nvCxnSpPr>
          <p:spPr>
            <a:xfrm>
              <a:off x="2671816" y="2225790"/>
              <a:ext cx="5004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1474080" y="3090046"/>
            <a:ext cx="2655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dirty="0" smtClean="0"/>
              <a:t>插入数据</a:t>
            </a:r>
            <a:r>
              <a:rPr lang="en-US" altLang="zh-CN" dirty="0" smtClean="0"/>
              <a:t>INSERT</a:t>
            </a:r>
            <a:endParaRPr lang="en-US" altLang="zh-CN" dirty="0"/>
          </a:p>
        </p:txBody>
      </p:sp>
      <p:sp>
        <p:nvSpPr>
          <p:cNvPr id="18" name="矩形 57"/>
          <p:cNvSpPr>
            <a:spLocks noChangeArrowheads="1"/>
          </p:cNvSpPr>
          <p:nvPr/>
        </p:nvSpPr>
        <p:spPr bwMode="auto">
          <a:xfrm>
            <a:off x="7079475" y="1684907"/>
            <a:ext cx="337378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注意：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SQL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语句关键字一般要求</a:t>
            </a:r>
            <a:r>
              <a:rPr lang="zh-CN" alt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大写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>
                <a:sym typeface="+mn-ea"/>
              </a:rPr>
              <a:t>SQL</a:t>
            </a:r>
            <a:r>
              <a:rPr lang="zh-CN" altLang="en-US" dirty="0">
                <a:sym typeface="+mn-ea"/>
              </a:rPr>
              <a:t>实现增删改查</a:t>
            </a:r>
            <a:endParaRPr lang="zh-CN" altLang="en-US" dirty="0"/>
          </a:p>
        </p:txBody>
      </p:sp>
      <p:sp>
        <p:nvSpPr>
          <p:cNvPr id="7" name="内容占位符 3"/>
          <p:cNvSpPr txBox="1"/>
          <p:nvPr/>
        </p:nvSpPr>
        <p:spPr>
          <a:xfrm>
            <a:off x="1218624" y="1769858"/>
            <a:ext cx="4064786" cy="29731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使用</a:t>
            </a:r>
            <a:r>
              <a:rPr lang="en-US" altLang="zh-CN" b="1" dirty="0"/>
              <a:t>SQL</a:t>
            </a:r>
            <a:r>
              <a:rPr lang="zh-CN" altLang="en-US" b="1" dirty="0"/>
              <a:t>更新数据：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dirty="0"/>
              <a:t>       &amp;</a:t>
            </a:r>
            <a:r>
              <a:rPr lang="en-US" altLang="zh-CN" dirty="0" err="1"/>
              <a:t>sql</a:t>
            </a:r>
            <a:r>
              <a:rPr lang="en-US" altLang="zh-CN" dirty="0"/>
              <a:t>(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B0F0"/>
                </a:solidFill>
              </a:rPr>
              <a:t>UPDATE</a:t>
            </a:r>
            <a:r>
              <a:rPr lang="en-US" altLang="zh-CN" dirty="0"/>
              <a:t> </a:t>
            </a:r>
            <a:r>
              <a:rPr lang="en-US" altLang="zh-CN" dirty="0" err="1"/>
              <a:t>DHC_Student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0B0F0"/>
                </a:solidFill>
              </a:rPr>
              <a:t>SET</a:t>
            </a:r>
            <a:r>
              <a:rPr lang="en-US" altLang="zh-CN" dirty="0"/>
              <a:t> </a:t>
            </a:r>
            <a:r>
              <a:rPr lang="en-US" altLang="zh-CN" dirty="0" err="1" smtClean="0"/>
              <a:t>DHC_Code</a:t>
            </a:r>
            <a:r>
              <a:rPr lang="en-US" altLang="zh-CN" dirty="0"/>
              <a:t> = </a:t>
            </a:r>
            <a:r>
              <a:rPr lang="en-US" altLang="zh-CN" dirty="0" smtClean="0"/>
              <a:t>:Code,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	</a:t>
            </a:r>
            <a:r>
              <a:rPr lang="en-US" altLang="zh-CN" dirty="0" err="1" smtClean="0"/>
              <a:t>DHC_Name</a:t>
            </a:r>
            <a:r>
              <a:rPr lang="en-US" altLang="zh-CN" dirty="0"/>
              <a:t> = :Name,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DHC_DobDate</a:t>
            </a:r>
            <a:r>
              <a:rPr lang="en-US" altLang="zh-CN" dirty="0"/>
              <a:t> = :</a:t>
            </a:r>
            <a:r>
              <a:rPr lang="en-US" altLang="zh-CN" dirty="0" err="1" smtClean="0"/>
              <a:t>DobDate</a:t>
            </a:r>
            <a:r>
              <a:rPr lang="en-US" altLang="zh-CN" dirty="0" smtClean="0"/>
              <a:t>,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	</a:t>
            </a:r>
            <a:r>
              <a:rPr lang="en-US" altLang="zh-CN" dirty="0" err="1" smtClean="0"/>
              <a:t>DHCA_Sex_DR</a:t>
            </a:r>
            <a:r>
              <a:rPr lang="en-US" altLang="zh-CN" dirty="0"/>
              <a:t> = :</a:t>
            </a:r>
            <a:r>
              <a:rPr lang="en-US" altLang="zh-CN" dirty="0" err="1" smtClean="0"/>
              <a:t>SexDR</a:t>
            </a:r>
            <a:r>
              <a:rPr lang="en-US" altLang="zh-CN" dirty="0" smtClean="0"/>
              <a:t>  </a:t>
            </a:r>
            <a:r>
              <a:rPr lang="en-US" altLang="zh-CN" dirty="0"/>
              <a:t>		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en-US" altLang="zh-CN" dirty="0"/>
              <a:t> </a:t>
            </a:r>
            <a:r>
              <a:rPr lang="en-US" altLang="zh-CN" dirty="0" err="1" smtClean="0"/>
              <a:t>DHC_RowId</a:t>
            </a:r>
            <a:r>
              <a:rPr lang="en-US" altLang="zh-CN" dirty="0"/>
              <a:t> = :</a:t>
            </a:r>
            <a:r>
              <a:rPr lang="en-US" altLang="zh-CN" dirty="0" err="1"/>
              <a:t>RowId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	)</a:t>
            </a:r>
            <a:endParaRPr lang="en-US" altLang="zh-CN" dirty="0"/>
          </a:p>
        </p:txBody>
      </p:sp>
      <p:sp>
        <p:nvSpPr>
          <p:cNvPr id="8" name="内容占位符 3"/>
          <p:cNvSpPr txBox="1"/>
          <p:nvPr/>
        </p:nvSpPr>
        <p:spPr>
          <a:xfrm>
            <a:off x="5872911" y="1769858"/>
            <a:ext cx="5835321" cy="37856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1" dirty="0"/>
              <a:t>使用</a:t>
            </a:r>
            <a:r>
              <a:rPr lang="en-US" altLang="zh-CN" b="1" dirty="0"/>
              <a:t>PLIST</a:t>
            </a:r>
            <a:r>
              <a:rPr lang="zh-CN" altLang="en-US" b="1" dirty="0"/>
              <a:t>更新数据</a:t>
            </a:r>
            <a:r>
              <a:rPr lang="zh-CN" altLang="en-US" dirty="0" smtClean="0"/>
              <a:t>：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zh-CN" altLang="en-US" dirty="0" smtClean="0"/>
              <a:t>    </a:t>
            </a:r>
            <a:r>
              <a:rPr lang="en-US" altLang="zh-CN" dirty="0" smtClean="0"/>
              <a:t>Set</a:t>
            </a:r>
            <a:r>
              <a:rPr lang="en-US" altLang="zh-CN" dirty="0"/>
              <a:t>  </a:t>
            </a:r>
            <a:r>
              <a:rPr lang="en-US" altLang="zh-CN" dirty="0" err="1"/>
              <a:t>DobDate</a:t>
            </a:r>
            <a:r>
              <a:rPr lang="en-US" altLang="zh-CN" dirty="0"/>
              <a:t>  = $</a:t>
            </a:r>
            <a:r>
              <a:rPr lang="en-US" altLang="zh-CN" dirty="0" err="1"/>
              <a:t>zdh</a:t>
            </a:r>
            <a:r>
              <a:rPr lang="en-US" altLang="zh-CN" dirty="0"/>
              <a:t>(DobDate,3)</a:t>
            </a:r>
            <a:endParaRPr lang="en-US" altLang="zh-CN" dirty="0"/>
          </a:p>
          <a:p>
            <a:r>
              <a:rPr lang="en-US" altLang="zh-CN" dirty="0" smtClean="0"/>
              <a:t>     Set</a:t>
            </a:r>
            <a:r>
              <a:rPr lang="en-US" altLang="zh-CN" dirty="0"/>
              <a:t> PLIST(2) = </a:t>
            </a:r>
            <a:r>
              <a:rPr lang="en-US" altLang="zh-CN" dirty="0" smtClean="0"/>
              <a:t>Code</a:t>
            </a:r>
            <a:endParaRPr lang="en-US" altLang="zh-CN" dirty="0" smtClean="0"/>
          </a:p>
          <a:p>
            <a:r>
              <a:rPr lang="en-US" altLang="zh-CN" dirty="0" smtClean="0"/>
              <a:t>     Set</a:t>
            </a:r>
            <a:r>
              <a:rPr lang="en-US" altLang="zh-CN" dirty="0"/>
              <a:t> PLIST(3) = Name</a:t>
            </a:r>
            <a:endParaRPr lang="en-US" altLang="zh-CN" dirty="0"/>
          </a:p>
          <a:p>
            <a:r>
              <a:rPr lang="en-US" altLang="zh-CN" dirty="0" smtClean="0"/>
              <a:t>     Set</a:t>
            </a:r>
            <a:r>
              <a:rPr lang="en-US" altLang="zh-CN" dirty="0"/>
              <a:t> PLIST(4) = </a:t>
            </a:r>
            <a:r>
              <a:rPr lang="en-US" altLang="zh-CN" dirty="0" err="1" smtClean="0"/>
              <a:t>DobDate</a:t>
            </a:r>
            <a:r>
              <a:rPr lang="en-US" altLang="zh-CN" dirty="0" smtClean="0"/>
              <a:t>    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Set</a:t>
            </a:r>
            <a:r>
              <a:rPr lang="en-US" altLang="zh-CN" dirty="0"/>
              <a:t> PLIST(5) = </a:t>
            </a:r>
            <a:r>
              <a:rPr lang="en-US" altLang="zh-CN" dirty="0" err="1" smtClean="0"/>
              <a:t>SexDR</a:t>
            </a:r>
            <a:endParaRPr lang="en-US" altLang="zh-CN" dirty="0"/>
          </a:p>
          <a:p>
            <a:r>
              <a:rPr lang="en-US" altLang="zh-CN" dirty="0" smtClean="0"/>
              <a:t>     &amp;</a:t>
            </a:r>
            <a:r>
              <a:rPr lang="en-US" altLang="zh-CN" dirty="0" err="1"/>
              <a:t>sql</a:t>
            </a:r>
            <a:r>
              <a:rPr lang="en-US" altLang="zh-CN" dirty="0"/>
              <a:t>(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smtClean="0">
                <a:solidFill>
                  <a:srgbClr val="00B0F0"/>
                </a:solidFill>
              </a:rPr>
              <a:t>UPDATE </a:t>
            </a:r>
            <a:r>
              <a:rPr lang="en-US" altLang="zh-CN" dirty="0" err="1"/>
              <a:t>DHC_Student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 VALUES </a:t>
            </a:r>
            <a:r>
              <a:rPr lang="en-US" altLang="zh-CN" dirty="0"/>
              <a:t>:PLIST()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smtClean="0">
                <a:solidFill>
                  <a:srgbClr val="00B0F0"/>
                </a:solidFill>
              </a:rPr>
              <a:t>WHERE</a:t>
            </a:r>
            <a:r>
              <a:rPr lang="en-US" altLang="zh-CN" dirty="0"/>
              <a:t> </a:t>
            </a:r>
            <a:r>
              <a:rPr lang="en-US" altLang="zh-CN" dirty="0" err="1" smtClean="0"/>
              <a:t>DHC_RowId</a:t>
            </a:r>
            <a:r>
              <a:rPr lang="en-US" altLang="zh-CN" dirty="0"/>
              <a:t> = :</a:t>
            </a:r>
            <a:r>
              <a:rPr lang="en-US" altLang="zh-CN" dirty="0" err="1"/>
              <a:t>RowId</a:t>
            </a:r>
            <a:endParaRPr lang="en-US" altLang="zh-CN" dirty="0"/>
          </a:p>
          <a:p>
            <a:r>
              <a:rPr lang="en-US" altLang="zh-CN" dirty="0" smtClean="0"/>
              <a:t>             )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1114715" y="1174997"/>
            <a:ext cx="2732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：更新</a:t>
            </a:r>
            <a:r>
              <a:rPr lang="zh-CN" altLang="en-US" dirty="0" smtClean="0"/>
              <a:t>数据</a:t>
            </a:r>
            <a:r>
              <a:rPr lang="en-US" altLang="zh-CN" dirty="0" smtClean="0"/>
              <a:t>UPDATE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>
                <a:sym typeface="+mn-ea"/>
              </a:rPr>
              <a:t>SQL</a:t>
            </a:r>
            <a:r>
              <a:rPr lang="zh-CN" altLang="en-US" dirty="0">
                <a:sym typeface="+mn-ea"/>
              </a:rPr>
              <a:t>实现增删改查</a:t>
            </a:r>
            <a:endParaRPr lang="zh-CN" altLang="en-US" dirty="0"/>
          </a:p>
        </p:txBody>
      </p:sp>
      <p:sp>
        <p:nvSpPr>
          <p:cNvPr id="7" name="内容占位符 3"/>
          <p:cNvSpPr txBox="1"/>
          <p:nvPr/>
        </p:nvSpPr>
        <p:spPr>
          <a:xfrm>
            <a:off x="1229607" y="1574469"/>
            <a:ext cx="9337948" cy="48907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使用</a:t>
            </a:r>
            <a:r>
              <a:rPr lang="en-US" altLang="zh-CN" b="1" dirty="0"/>
              <a:t>SQL</a:t>
            </a:r>
            <a:r>
              <a:rPr lang="zh-CN" altLang="en-US" b="1" dirty="0"/>
              <a:t>查询数据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&amp;</a:t>
            </a:r>
            <a:r>
              <a:rPr lang="en-US" altLang="zh-CN" dirty="0" err="1"/>
              <a:t>sql</a:t>
            </a:r>
            <a:r>
              <a:rPr lang="en-US" altLang="zh-CN" dirty="0"/>
              <a:t>(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       </a:t>
            </a:r>
            <a:r>
              <a:rPr lang="en-US" altLang="zh-CN" dirty="0" smtClean="0">
                <a:solidFill>
                  <a:srgbClr val="00B0F0"/>
                </a:solidFill>
              </a:rPr>
              <a:t>SELECT</a:t>
            </a:r>
            <a:r>
              <a:rPr lang="en-US" altLang="zh-CN" dirty="0"/>
              <a:t> </a:t>
            </a:r>
            <a:r>
              <a:rPr lang="en-US" altLang="zh-CN" dirty="0" err="1" smtClean="0"/>
              <a:t>DHC_Name</a:t>
            </a:r>
            <a:r>
              <a:rPr lang="en-US" altLang="zh-CN" dirty="0"/>
              <a:t>,</a:t>
            </a:r>
            <a:r>
              <a:rPr lang="en-US" altLang="zh-CN" dirty="0" err="1">
                <a:sym typeface="+mn-ea"/>
              </a:rPr>
              <a:t>DHC_DobDate 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00B0F0"/>
                </a:solidFill>
              </a:rPr>
              <a:t>INTO </a:t>
            </a:r>
            <a:r>
              <a:rPr lang="en-US" altLang="zh-CN" dirty="0" smtClean="0"/>
              <a:t>:Name,:</a:t>
            </a:r>
            <a:r>
              <a:rPr lang="en-US" altLang="zh-CN" dirty="0" err="1" smtClean="0"/>
              <a:t>DobDate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B0F0"/>
                </a:solidFill>
              </a:rPr>
              <a:t>              FROM</a:t>
            </a:r>
            <a:r>
              <a:rPr lang="en-US" altLang="zh-CN" dirty="0"/>
              <a:t>  </a:t>
            </a:r>
            <a:r>
              <a:rPr lang="en-US" altLang="zh-CN" dirty="0" err="1"/>
              <a:t>DHC_Student</a:t>
            </a:r>
            <a:r>
              <a:rPr lang="en-US" altLang="zh-CN" dirty="0"/>
              <a:t>    </a:t>
            </a:r>
            <a:r>
              <a:rPr lang="en-US" altLang="zh-CN" dirty="0" smtClean="0">
                <a:solidFill>
                  <a:srgbClr val="00B0F0"/>
                </a:solidFill>
              </a:rPr>
              <a:t>WHERE</a:t>
            </a:r>
            <a:r>
              <a:rPr lang="en-US" altLang="zh-CN" dirty="0"/>
              <a:t> </a:t>
            </a:r>
            <a:r>
              <a:rPr lang="en-US" altLang="zh-CN" dirty="0" err="1" smtClean="0"/>
              <a:t>DHC_RowId</a:t>
            </a:r>
            <a:r>
              <a:rPr lang="en-US" altLang="zh-CN" dirty="0"/>
              <a:t> = :</a:t>
            </a:r>
            <a:r>
              <a:rPr lang="en-US" altLang="zh-CN" dirty="0" err="1"/>
              <a:t>RowId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      ) 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W</a:t>
            </a:r>
            <a:r>
              <a:rPr lang="en-US" altLang="zh-CN" dirty="0"/>
              <a:t> </a:t>
            </a:r>
            <a:r>
              <a:rPr lang="en-US" altLang="zh-CN" dirty="0" smtClean="0"/>
              <a:t>Name_"^"_</a:t>
            </a:r>
            <a:r>
              <a:rPr lang="en-US" altLang="zh-CN" dirty="0" err="1" smtClean="0"/>
              <a:t>DobDate</a:t>
            </a:r>
            <a:endParaRPr lang="en-US" altLang="zh-CN" dirty="0"/>
          </a:p>
          <a:p>
            <a:pPr>
              <a:lnSpc>
                <a:spcPct val="130000"/>
              </a:lnSpc>
            </a:pPr>
            <a:endParaRPr lang="en-US" altLang="zh-CN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b="1" dirty="0"/>
              <a:t>使用</a:t>
            </a:r>
            <a:r>
              <a:rPr lang="en-US" altLang="zh-CN" b="1" dirty="0"/>
              <a:t>PLIST</a:t>
            </a:r>
            <a:r>
              <a:rPr lang="zh-CN" altLang="en-US" b="1" dirty="0"/>
              <a:t>查询数据</a:t>
            </a:r>
            <a:endParaRPr lang="en-US" altLang="zh-CN" b="1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&amp;</a:t>
            </a:r>
            <a:r>
              <a:rPr lang="en-US" altLang="zh-CN" dirty="0" err="1"/>
              <a:t>sql</a:t>
            </a:r>
            <a:r>
              <a:rPr lang="en-US" altLang="zh-CN" dirty="0"/>
              <a:t>(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        </a:t>
            </a:r>
            <a:r>
              <a:rPr lang="en-US" altLang="zh-CN" dirty="0" smtClean="0">
                <a:solidFill>
                  <a:srgbClr val="00B0F0"/>
                </a:solidFill>
              </a:rPr>
              <a:t>SELECT</a:t>
            </a:r>
            <a:r>
              <a:rPr lang="en-US" altLang="zh-CN" dirty="0" smtClean="0"/>
              <a:t> </a:t>
            </a:r>
            <a:r>
              <a:rPr lang="en-US" altLang="zh-CN" dirty="0"/>
              <a:t> * </a:t>
            </a:r>
            <a:r>
              <a:rPr lang="en-US" altLang="zh-CN" dirty="0">
                <a:solidFill>
                  <a:srgbClr val="00B0F0"/>
                </a:solidFill>
              </a:rPr>
              <a:t> INTO </a:t>
            </a:r>
            <a:r>
              <a:rPr lang="en-US" altLang="zh-CN" dirty="0"/>
              <a:t> :PLIST() </a:t>
            </a:r>
            <a:r>
              <a:rPr lang="en-US" altLang="zh-CN" dirty="0">
                <a:solidFill>
                  <a:srgbClr val="00B0F0"/>
                </a:solidFill>
              </a:rPr>
              <a:t>FROM</a:t>
            </a:r>
            <a:r>
              <a:rPr lang="en-US" altLang="zh-CN" dirty="0"/>
              <a:t>   </a:t>
            </a:r>
            <a:r>
              <a:rPr lang="en-US" altLang="zh-CN" dirty="0" err="1"/>
              <a:t>DHC_Student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F0"/>
                </a:solidFill>
              </a:rPr>
              <a:t>WHERE</a:t>
            </a:r>
            <a:r>
              <a:rPr lang="en-US" altLang="zh-CN" dirty="0"/>
              <a:t>  </a:t>
            </a:r>
            <a:r>
              <a:rPr lang="en-US" altLang="zh-CN" dirty="0" err="1" smtClean="0"/>
              <a:t>DHC_RowId</a:t>
            </a:r>
            <a:r>
              <a:rPr lang="en-US" altLang="zh-CN" dirty="0"/>
              <a:t> = :</a:t>
            </a:r>
            <a:r>
              <a:rPr lang="en-US" altLang="zh-CN" dirty="0" err="1"/>
              <a:t>RowId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       )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// </a:t>
            </a:r>
            <a:r>
              <a:rPr lang="en-US" altLang="zh-CN" dirty="0"/>
              <a:t>ZW PLIST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s </a:t>
            </a:r>
            <a:r>
              <a:rPr lang="en-US" altLang="zh-CN" dirty="0" err="1" smtClean="0"/>
              <a:t>Cnt</a:t>
            </a:r>
            <a:r>
              <a:rPr lang="en-US" altLang="zh-CN" dirty="0"/>
              <a:t>=$o(PLIST(""),-1)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for 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=1:1:Cnt </a:t>
            </a:r>
            <a:r>
              <a:rPr lang="en-US" altLang="zh-CN" dirty="0"/>
              <a:t>d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.w $</a:t>
            </a:r>
            <a:r>
              <a:rPr lang="en-US" altLang="zh-CN" dirty="0"/>
              <a:t>g(PLIST(</a:t>
            </a:r>
            <a:r>
              <a:rPr lang="en-US" altLang="zh-CN" dirty="0" err="1"/>
              <a:t>i</a:t>
            </a:r>
            <a:r>
              <a:rPr lang="en-US" altLang="zh-CN" dirty="0"/>
              <a:t>)) ,! 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709470" y="1026876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：查询</a:t>
            </a:r>
            <a:r>
              <a:rPr lang="zh-CN" altLang="en-US" dirty="0" smtClean="0"/>
              <a:t>数据</a:t>
            </a:r>
            <a:r>
              <a:rPr lang="en-US" altLang="zh-CN" dirty="0" smtClean="0"/>
              <a:t>SELECT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>
                <a:sym typeface="+mn-ea"/>
              </a:rPr>
              <a:t>SQL</a:t>
            </a:r>
            <a:r>
              <a:rPr lang="zh-CN" altLang="en-US" dirty="0">
                <a:sym typeface="+mn-ea"/>
              </a:rPr>
              <a:t>实现增删改查</a:t>
            </a:r>
            <a:endParaRPr lang="zh-CN" altLang="en-US" dirty="0"/>
          </a:p>
        </p:txBody>
      </p:sp>
      <p:sp>
        <p:nvSpPr>
          <p:cNvPr id="7" name="内容占位符 3"/>
          <p:cNvSpPr txBox="1"/>
          <p:nvPr/>
        </p:nvSpPr>
        <p:spPr>
          <a:xfrm>
            <a:off x="7001685" y="2131969"/>
            <a:ext cx="5223888" cy="20110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US" altLang="zh-CN" dirty="0"/>
              <a:t>SQL</a:t>
            </a:r>
            <a:r>
              <a:rPr lang="zh-CN" altLang="en-US" dirty="0"/>
              <a:t>删除数据：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 smtClean="0"/>
              <a:t>     删除</a:t>
            </a:r>
            <a:r>
              <a:rPr lang="en-US" altLang="zh-CN" dirty="0" err="1"/>
              <a:t>rowid</a:t>
            </a:r>
            <a:r>
              <a:rPr lang="zh-CN" altLang="en-US" dirty="0"/>
              <a:t>对应的数据  指定的一条数据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&amp;</a:t>
            </a:r>
            <a:r>
              <a:rPr lang="en-US" altLang="zh-CN" dirty="0" err="1"/>
              <a:t>sql</a:t>
            </a:r>
            <a:r>
              <a:rPr lang="en-US" altLang="zh-CN" dirty="0"/>
              <a:t>(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       </a:t>
            </a:r>
            <a:r>
              <a:rPr lang="en-US" altLang="zh-CN" dirty="0" smtClean="0">
                <a:solidFill>
                  <a:srgbClr val="00B0F0"/>
                </a:solidFill>
              </a:rPr>
              <a:t>DELETE</a:t>
            </a:r>
            <a:r>
              <a:rPr lang="en-US" altLang="zh-CN" dirty="0">
                <a:solidFill>
                  <a:srgbClr val="00B0F0"/>
                </a:solidFill>
              </a:rPr>
              <a:t> </a:t>
            </a:r>
            <a:r>
              <a:rPr lang="en-US" altLang="zh-CN" dirty="0" smtClean="0">
                <a:solidFill>
                  <a:srgbClr val="00B0F0"/>
                </a:solidFill>
              </a:rPr>
              <a:t>FROM </a:t>
            </a:r>
            <a:r>
              <a:rPr lang="en-US" altLang="zh-CN" dirty="0" err="1"/>
              <a:t>DHC_Student</a:t>
            </a:r>
            <a:r>
              <a:rPr lang="en-US" altLang="zh-CN" dirty="0"/>
              <a:t>  </a:t>
            </a:r>
            <a:endParaRPr lang="en-US" altLang="zh-CN" dirty="0" smtClean="0"/>
          </a:p>
          <a:p>
            <a:pPr>
              <a:lnSpc>
                <a:spcPct val="13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       </a:t>
            </a:r>
            <a:r>
              <a:rPr lang="en-US" altLang="zh-CN" dirty="0" smtClean="0">
                <a:solidFill>
                  <a:srgbClr val="FF0000"/>
                </a:solidFill>
              </a:rPr>
              <a:t>WHERE</a:t>
            </a:r>
            <a:r>
              <a:rPr lang="en-US" altLang="zh-CN" dirty="0">
                <a:solidFill>
                  <a:srgbClr val="00B0F0"/>
                </a:solidFill>
              </a:rPr>
              <a:t> </a:t>
            </a:r>
            <a:r>
              <a:rPr lang="en-US" altLang="zh-CN" dirty="0" err="1" smtClean="0"/>
              <a:t>DHC_RowId</a:t>
            </a:r>
            <a:r>
              <a:rPr lang="en-US" altLang="zh-CN" dirty="0"/>
              <a:t> = :</a:t>
            </a:r>
            <a:r>
              <a:rPr lang="en-US" altLang="zh-CN" dirty="0" err="1"/>
              <a:t>RowId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 smtClean="0"/>
              <a:t>            )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7184390" y="144018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：删除</a:t>
            </a:r>
            <a:r>
              <a:rPr lang="zh-CN" altLang="en-US" dirty="0" smtClean="0"/>
              <a:t>数据</a:t>
            </a:r>
            <a:r>
              <a:rPr lang="en-US" altLang="zh-CN" dirty="0" smtClean="0"/>
              <a:t>DELETE</a:t>
            </a:r>
            <a:endParaRPr lang="en-US" altLang="zh-CN" dirty="0"/>
          </a:p>
        </p:txBody>
      </p:sp>
      <p:grpSp>
        <p:nvGrpSpPr>
          <p:cNvPr id="11" name="组合 10"/>
          <p:cNvGrpSpPr/>
          <p:nvPr/>
        </p:nvGrpSpPr>
        <p:grpSpPr>
          <a:xfrm>
            <a:off x="709470" y="5343107"/>
            <a:ext cx="10575056" cy="1039039"/>
            <a:chOff x="376972" y="4936104"/>
            <a:chExt cx="11032957" cy="1039039"/>
          </a:xfrm>
        </p:grpSpPr>
        <p:sp>
          <p:nvSpPr>
            <p:cNvPr id="12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1065978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根据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讲师演示，请学员对“课程表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</a:rPr>
                <a:t>DHC_Course</a:t>
              </a:r>
              <a:r>
                <a:rPr lang="zh-CN" altLang="en-US" sz="1600" dirty="0" err="1">
                  <a:solidFill>
                    <a:schemeClr val="accent1">
                      <a:lumMod val="50000"/>
                    </a:schemeClr>
                  </a:solidFill>
                </a:rPr>
                <a:t>姓名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”使用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</a:rPr>
                <a:t>SQL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</a:rPr>
                <a:t>方式操作出增、删、改、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</a:rPr>
                <a:t>查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376972" y="4936104"/>
              <a:ext cx="4204392" cy="461665"/>
              <a:chOff x="376972" y="4936104"/>
              <a:chExt cx="4204392" cy="461665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411705" y="4936104"/>
                <a:ext cx="41696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练习 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8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948180"/>
            <a:ext cx="6086475" cy="29622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1860" y="1156335"/>
            <a:ext cx="2684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：查询</a:t>
            </a:r>
            <a:r>
              <a:rPr lang="zh-CN" altLang="en-US" dirty="0" smtClean="0">
                <a:sym typeface="+mn-ea"/>
              </a:rPr>
              <a:t>数据</a:t>
            </a:r>
            <a:r>
              <a:rPr lang="en-US" altLang="zh-CN" dirty="0" smtClean="0">
                <a:sym typeface="+mn-ea"/>
              </a:rPr>
              <a:t>SELECT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下午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pic>
        <p:nvPicPr>
          <p:cNvPr id="4" name="Picture 4" descr="o_OOBas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91631" y="3086948"/>
            <a:ext cx="4731026" cy="35802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grpSp>
        <p:nvGrpSpPr>
          <p:cNvPr id="18" name="组合 17"/>
          <p:cNvGrpSpPr/>
          <p:nvPr/>
        </p:nvGrpSpPr>
        <p:grpSpPr>
          <a:xfrm>
            <a:off x="623332" y="900502"/>
            <a:ext cx="6611574" cy="1835463"/>
            <a:chOff x="1502432" y="1650162"/>
            <a:chExt cx="6611574" cy="1835463"/>
          </a:xfrm>
        </p:grpSpPr>
        <p:sp>
          <p:nvSpPr>
            <p:cNvPr id="19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dirty="0" err="1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Caché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面向对象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基础知识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、类的类型、成员属性和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方法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dirty="0" err="1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Caché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对象的命令规范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dirty="0" err="1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Caché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面向对象实现增删改查</a:t>
              </a:r>
              <a:endPara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608119" y="1650162"/>
              <a:ext cx="494474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Caché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面向对象开发 （</a:t>
              </a:r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OOP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）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21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23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学习内容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22" name="直接连接符 21"/>
            <p:cNvCxnSpPr/>
            <p:nvPr/>
          </p:nvCxnSpPr>
          <p:spPr>
            <a:xfrm>
              <a:off x="2671816" y="2225790"/>
              <a:ext cx="3636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框 34"/>
          <p:cNvSpPr txBox="1">
            <a:spLocks noChangeArrowheads="1"/>
          </p:cNvSpPr>
          <p:nvPr/>
        </p:nvSpPr>
        <p:spPr bwMode="auto">
          <a:xfrm>
            <a:off x="1350575" y="3605245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Caché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面向对象基础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知识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99888" y="3568321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50575" y="4142986"/>
            <a:ext cx="36973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）面向对象的主要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特征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algn="just"/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）Caché面向对象的特点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algn="just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面向对象的主要特征示例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详解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algn="just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面向对象的OREF和ID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551988" y="2558704"/>
            <a:ext cx="2621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1）面向对象的主要特征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176436" y="1288301"/>
            <a:ext cx="10927287" cy="5178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①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类和对象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30000"/>
              </a:lnSpc>
            </a:pPr>
            <a:r>
              <a:rPr lang="zh-CN" altLang="en-US" sz="1600" b="1" dirty="0">
                <a:solidFill>
                  <a:srgbClr val="1F4E79"/>
                </a:solidFill>
                <a:latin typeface="Arial" panose="020B0604020202020204" pitchFamily="34" charset="0"/>
              </a:rPr>
              <a:t>类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是对现实生活中一类具有共同特征的事物的抽象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1" dirty="0">
                <a:solidFill>
                  <a:srgbClr val="1F4E79"/>
                </a:solidFill>
                <a:latin typeface="Arial" panose="020B0604020202020204" pitchFamily="34" charset="0"/>
              </a:rPr>
              <a:t>类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的实质是一种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数据类型，包含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数据说明和一组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操作数据的函数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类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的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实例称为</a:t>
            </a:r>
            <a:r>
              <a:rPr lang="zh-CN" altLang="en-US" sz="1600" b="1" dirty="0" smtClean="0">
                <a:solidFill>
                  <a:srgbClr val="1F4E79"/>
                </a:solidFill>
                <a:latin typeface="Arial" panose="020B0604020202020204" pitchFamily="34" charset="0"/>
              </a:rPr>
              <a:t>对象</a:t>
            </a:r>
            <a:endParaRPr lang="zh-CN" altLang="en-US" sz="1600" b="1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②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抽象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1600" b="1" dirty="0" smtClean="0">
                <a:solidFill>
                  <a:srgbClr val="1F4E79"/>
                </a:solidFill>
                <a:latin typeface="Arial" panose="020B0604020202020204" pitchFamily="34" charset="0"/>
              </a:rPr>
              <a:t>抽象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是从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具体事物抽出、概括出它们共同的方面、本质属性与关系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等思维过程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③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继承和多态</a:t>
            </a:r>
            <a:endParaRPr lang="en-US" altLang="zh-CN" sz="1600" dirty="0" smtClean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/>
              <a:t>  </a:t>
            </a:r>
            <a:r>
              <a:rPr lang="zh-CN" altLang="en-US" sz="1600" b="1" dirty="0">
                <a:solidFill>
                  <a:srgbClr val="1F4E79"/>
                </a:solidFill>
                <a:latin typeface="Arial" panose="020B0604020202020204" pitchFamily="34" charset="0"/>
              </a:rPr>
              <a:t>继承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是指一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个类拥有另一类的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属性和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方法</a:t>
            </a:r>
            <a:endParaRPr lang="en-US" altLang="zh-CN" sz="1600" dirty="0" smtClean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b="1" dirty="0" smtClean="0">
                <a:solidFill>
                  <a:srgbClr val="1F4E79"/>
                </a:solidFill>
                <a:latin typeface="Arial" panose="020B0604020202020204" pitchFamily="34" charset="0"/>
              </a:rPr>
              <a:t>多态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即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为接口的多种不同的实现方式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④封装</a:t>
            </a:r>
            <a:endParaRPr lang="en-US" altLang="zh-CN" sz="1600" dirty="0" smtClean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1600" b="1" dirty="0" smtClean="0">
                <a:solidFill>
                  <a:srgbClr val="1F4E79"/>
                </a:solidFill>
                <a:latin typeface="Arial" panose="020B0604020202020204" pitchFamily="34" charset="0"/>
              </a:rPr>
              <a:t>封装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即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隐藏对象的属性和实现细节，仅对外公开接口，控制在程序中属性的读和修改的访问级别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⑤可扩展性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⑥对象持久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侠义理解：持久化仅仅是指把对象永久保存到数据库中。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广义理解：持久化包括和数据库相关的各种操作，比如保存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把对象永久保存到数据库中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、更新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更新数据库中对象的状态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、删除、加载、查询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860585" y="918969"/>
            <a:ext cx="450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1）面向对象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OOP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主要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特征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 txBox="1"/>
          <p:nvPr/>
        </p:nvSpPr>
        <p:spPr>
          <a:xfrm>
            <a:off x="197914" y="190211"/>
            <a:ext cx="9332912" cy="527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000" b="1" kern="1200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ym typeface="+mn-ea"/>
              </a:rPr>
              <a:t>第四章 </a:t>
            </a:r>
            <a:r>
              <a:rPr lang="en-US" altLang="zh-CN" dirty="0" smtClean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第一节  </a:t>
            </a:r>
            <a:r>
              <a:rPr lang="en-US" altLang="zh-CN" dirty="0" err="1" smtClean="0">
                <a:sym typeface="+mn-ea"/>
              </a:rPr>
              <a:t>Caché</a:t>
            </a:r>
            <a:r>
              <a:rPr lang="zh-CN" altLang="en-US" dirty="0" smtClean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939330" y="1577537"/>
            <a:ext cx="2169630" cy="7624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学生类</a:t>
            </a:r>
            <a:endParaRPr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属性：姓名，性别，年龄，班级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方法：吃饭，写作业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636570" y="1519255"/>
            <a:ext cx="2799153" cy="8790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学生对象</a:t>
            </a:r>
            <a:endParaRPr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属性：王小二，男，</a:t>
            </a:r>
            <a:r>
              <a:rPr lang="en-US" altLang="zh-CN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20</a:t>
            </a:r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，计算机</a:t>
            </a:r>
            <a:r>
              <a:rPr lang="en-US" altLang="zh-CN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201801</a:t>
            </a:r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班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方法：吃饭，写作业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6" name="直接箭头连接符 5"/>
          <p:cNvCxnSpPr>
            <a:stCxn id="4" idx="3"/>
            <a:endCxn id="5" idx="1"/>
          </p:cNvCxnSpPr>
          <p:nvPr/>
        </p:nvCxnSpPr>
        <p:spPr>
          <a:xfrm>
            <a:off x="3108960" y="1958781"/>
            <a:ext cx="1527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云形标注 7"/>
          <p:cNvSpPr/>
          <p:nvPr/>
        </p:nvSpPr>
        <p:spPr>
          <a:xfrm>
            <a:off x="8578872" y="1356843"/>
            <a:ext cx="2014761" cy="1550344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概括，分析出各个类及关系的思维过程即是</a:t>
            </a:r>
            <a:r>
              <a:rPr lang="zh-CN" altLang="en-US" sz="1200" dirty="0" smtClean="0">
                <a:solidFill>
                  <a:srgbClr val="FF0000"/>
                </a:solidFill>
              </a:rPr>
              <a:t>抽象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过程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395167" y="3600723"/>
            <a:ext cx="1696311" cy="71459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人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类</a:t>
            </a:r>
            <a:endParaRPr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属性：姓名，性别，年龄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方法：吃饭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37075" y="4926738"/>
            <a:ext cx="1696311" cy="670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学生类</a:t>
            </a:r>
            <a:endParaRPr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属性：班级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方法：写作业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43322" y="4326673"/>
            <a:ext cx="7539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继承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12" name="肘形连接符 11"/>
          <p:cNvCxnSpPr>
            <a:stCxn id="10" idx="0"/>
            <a:endCxn id="9" idx="2"/>
          </p:cNvCxnSpPr>
          <p:nvPr/>
        </p:nvCxnSpPr>
        <p:spPr>
          <a:xfrm rot="5400000" flipH="1" flipV="1">
            <a:off x="2658568" y="3341983"/>
            <a:ext cx="611419" cy="25580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2704190" y="4926737"/>
            <a:ext cx="1342631" cy="670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中国人</a:t>
            </a:r>
            <a:endParaRPr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属性：肤色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方法：吃饭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4" name="肘形连接符 13"/>
          <p:cNvCxnSpPr>
            <a:stCxn id="13" idx="0"/>
            <a:endCxn id="9" idx="2"/>
          </p:cNvCxnSpPr>
          <p:nvPr/>
        </p:nvCxnSpPr>
        <p:spPr>
          <a:xfrm rot="5400000" flipH="1" flipV="1">
            <a:off x="3503705" y="4187120"/>
            <a:ext cx="611418" cy="8678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4534315" y="4926737"/>
            <a:ext cx="1342631" cy="670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美国人</a:t>
            </a:r>
            <a:endParaRPr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属性：肤色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方法：吃饭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189512" y="4926737"/>
            <a:ext cx="1342631" cy="6702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印度人</a:t>
            </a:r>
            <a:endParaRPr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属性：肤色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方法：吃饭</a:t>
            </a:r>
            <a:endParaRPr lang="zh-CN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8" name="肘形连接符 17"/>
          <p:cNvCxnSpPr>
            <a:stCxn id="15" idx="0"/>
            <a:endCxn id="9" idx="2"/>
          </p:cNvCxnSpPr>
          <p:nvPr/>
        </p:nvCxnSpPr>
        <p:spPr>
          <a:xfrm rot="16200000" flipV="1">
            <a:off x="4418768" y="4139874"/>
            <a:ext cx="611418" cy="9623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16" idx="0"/>
            <a:endCxn id="9" idx="2"/>
          </p:cNvCxnSpPr>
          <p:nvPr/>
        </p:nvCxnSpPr>
        <p:spPr>
          <a:xfrm rot="16200000" flipV="1">
            <a:off x="5246367" y="3312275"/>
            <a:ext cx="611418" cy="26175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云形标注 28"/>
          <p:cNvSpPr/>
          <p:nvPr/>
        </p:nvSpPr>
        <p:spPr>
          <a:xfrm>
            <a:off x="8578872" y="3794057"/>
            <a:ext cx="2698728" cy="2002444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吃饭即</a:t>
            </a:r>
            <a:r>
              <a:rPr lang="zh-CN" altLang="en-US" sz="1200" dirty="0" smtClean="0">
                <a:solidFill>
                  <a:srgbClr val="FF0000"/>
                </a:solidFill>
              </a:rPr>
              <a:t>多态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的实现。</a:t>
            </a:r>
            <a:endParaRPr lang="en-US" altLang="zh-CN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提供吃饭接口方法而隐藏具体用筷子，刀叉或手等过程，即是</a:t>
            </a:r>
            <a:r>
              <a:rPr lang="zh-CN" altLang="en-US" sz="1200" dirty="0" smtClean="0">
                <a:solidFill>
                  <a:srgbClr val="FF0000"/>
                </a:solidFill>
              </a:rPr>
              <a:t>封装</a:t>
            </a:r>
            <a:r>
              <a:rPr lang="zh-CN" alt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539627" y="1614271"/>
            <a:ext cx="7539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实例化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" name="文本框 34"/>
          <p:cNvSpPr txBox="1">
            <a:spLocks noChangeArrowheads="1"/>
          </p:cNvSpPr>
          <p:nvPr/>
        </p:nvSpPr>
        <p:spPr bwMode="auto">
          <a:xfrm>
            <a:off x="634572" y="956732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OOP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概念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举例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圆柱形 31"/>
          <p:cNvSpPr/>
          <p:nvPr/>
        </p:nvSpPr>
        <p:spPr>
          <a:xfrm>
            <a:off x="5303306" y="2907186"/>
            <a:ext cx="1485962" cy="588171"/>
          </a:xfrm>
          <a:prstGeom prst="can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存储</a:t>
            </a:r>
            <a:endParaRPr lang="en-US" altLang="zh-CN" dirty="0" smtClean="0"/>
          </a:p>
        </p:txBody>
      </p:sp>
      <p:cxnSp>
        <p:nvCxnSpPr>
          <p:cNvPr id="34" name="直接箭头连接符 33"/>
          <p:cNvCxnSpPr>
            <a:stCxn id="5" idx="2"/>
          </p:cNvCxnSpPr>
          <p:nvPr/>
        </p:nvCxnSpPr>
        <p:spPr>
          <a:xfrm flipH="1">
            <a:off x="6036146" y="2398307"/>
            <a:ext cx="1" cy="5088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5978031" y="2480383"/>
            <a:ext cx="7539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 smtClean="0">
                <a:solidFill>
                  <a:srgbClr val="FF0000"/>
                </a:solidFill>
                <a:latin typeface="Arial" panose="020B0604020202020204" pitchFamily="34" charset="0"/>
              </a:rPr>
              <a:t>持久化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8" grpId="0" bldLvl="0" animBg="1"/>
      <p:bldP spid="9" grpId="0" bldLvl="0" animBg="1"/>
      <p:bldP spid="10" grpId="0" bldLvl="0" animBg="1"/>
      <p:bldP spid="11" grpId="0"/>
      <p:bldP spid="13" grpId="0" bldLvl="0" animBg="1"/>
      <p:bldP spid="15" grpId="0" bldLvl="0" animBg="1"/>
      <p:bldP spid="16" grpId="0" bldLvl="0" animBg="1"/>
      <p:bldP spid="29" grpId="0" bldLvl="0" animBg="1"/>
      <p:bldP spid="30" grpId="0"/>
      <p:bldP spid="32" grpId="0" bldLvl="0" animBg="1"/>
      <p:bldP spid="3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509522" y="1765302"/>
            <a:ext cx="8697785" cy="3417593"/>
          </a:xfrm>
          <a:prstGeom prst="rect">
            <a:avLst/>
          </a:prstGeom>
        </p:spPr>
        <p:txBody>
          <a:bodyPr vert="horz" lIns="81626" tIns="40813" rIns="81626" bIns="40813" rtlCol="0">
            <a:noAutofit/>
          </a:bodyPr>
          <a:lstStyle>
            <a:lvl1pPr marL="306070" indent="-3060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2940" indent="-2552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42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472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03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33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00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①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一个强大的对象模型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    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包括 继承，属性，方法 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Method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，集合，关系，用户定义的数据类型和流。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②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一个灵活的对象持久化机制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；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③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控制数据库的持久化类的各个方面，包括索引、约束和指向完整性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④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一个易于使用的事务和并发模型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；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⑤与Java、C + +、ActiveX的交互性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⑥自动提供XML支持；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⑦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一个强大的协同开发环境：Studio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；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60584" y="1185882"/>
            <a:ext cx="450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）Cach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é面向对象的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特点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583" y="2670467"/>
            <a:ext cx="7746496" cy="2067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782" y="4172507"/>
            <a:ext cx="3590682" cy="26760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808629" y="981374"/>
            <a:ext cx="450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）面向对象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的主要特征示例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详解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37709" y="1469201"/>
            <a:ext cx="8399313" cy="1107748"/>
          </a:xfrm>
          <a:prstGeom prst="rect">
            <a:avLst/>
          </a:prstGeom>
        </p:spPr>
        <p:txBody>
          <a:bodyPr vert="horz" lIns="81626" tIns="40813" rIns="81626" bIns="40813" rtlCol="0">
            <a:noAutofit/>
          </a:bodyPr>
          <a:lstStyle>
            <a:lvl1pPr marL="306070" indent="-3060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2940" indent="-2552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42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472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03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33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00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30000"/>
              </a:lnSpc>
              <a:buNone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①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Persistence：持久性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07670" lvl="1" indent="0">
              <a:lnSpc>
                <a:spcPct val="120000"/>
              </a:lnSpc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对象可以被存储在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Caché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数据库或外部数据库。同时解析存储对象为关系表，可以使用标准的SQL查询。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27020" y="5023705"/>
            <a:ext cx="6096000" cy="7031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② Properties：属性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07670"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简单值、对象、嵌入对象、对象引用、数组、集合、流。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72" y="2662594"/>
            <a:ext cx="3645601" cy="30828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72" y="5788891"/>
            <a:ext cx="3640174" cy="4768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85953" y="1065612"/>
            <a:ext cx="3019726" cy="714746"/>
          </a:xfrm>
          <a:prstGeom prst="rect">
            <a:avLst/>
          </a:prstGeom>
        </p:spPr>
        <p:txBody>
          <a:bodyPr vert="horz" lIns="81626" tIns="40813" rIns="81626" bIns="40813" rtlCol="0">
            <a:noAutofit/>
          </a:bodyPr>
          <a:lstStyle>
            <a:lvl1pPr marL="306070" indent="-3060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2940" indent="-2552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42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472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03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33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00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⑤ Polymorphism：多态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 defTabSz="9144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⑥ Inheritance：继承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01" y="1955657"/>
            <a:ext cx="3706790" cy="32282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36" y="5245269"/>
            <a:ext cx="3760178" cy="675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矩形 8"/>
          <p:cNvSpPr/>
          <p:nvPr/>
        </p:nvSpPr>
        <p:spPr>
          <a:xfrm>
            <a:off x="7188525" y="6027305"/>
            <a:ext cx="4345384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执行结果是 调用的 </a:t>
            </a:r>
            <a:r>
              <a:rPr lang="en-US" altLang="zh-CN" sz="1600" dirty="0" err="1">
                <a:solidFill>
                  <a:srgbClr val="FF0000"/>
                </a:solidFill>
              </a:rPr>
              <a:t>web.Student</a:t>
            </a:r>
            <a:r>
              <a:rPr lang="en-US" altLang="zh-CN" sz="1600" dirty="0">
                <a:solidFill>
                  <a:srgbClr val="FF0000"/>
                </a:solidFill>
              </a:rPr>
              <a:t> </a:t>
            </a:r>
            <a:r>
              <a:rPr lang="zh-CN" altLang="en-US" sz="1600" dirty="0">
                <a:solidFill>
                  <a:srgbClr val="FF0000"/>
                </a:solidFill>
              </a:rPr>
              <a:t>里的</a:t>
            </a:r>
            <a:r>
              <a:rPr lang="en-US" altLang="zh-CN" sz="1600" dirty="0">
                <a:solidFill>
                  <a:srgbClr val="FF0000"/>
                </a:solidFill>
              </a:rPr>
              <a:t>test2 </a:t>
            </a:r>
            <a:r>
              <a:rPr lang="zh-CN" altLang="en-US" sz="1600" dirty="0">
                <a:solidFill>
                  <a:srgbClr val="FF0000"/>
                </a:solidFill>
              </a:rPr>
              <a:t>方法，而不是 </a:t>
            </a:r>
            <a:r>
              <a:rPr lang="en-US" altLang="zh-CN" sz="1600" dirty="0" err="1">
                <a:solidFill>
                  <a:srgbClr val="FF0000"/>
                </a:solidFill>
              </a:rPr>
              <a:t>web.Person</a:t>
            </a:r>
            <a:r>
              <a:rPr lang="zh-CN" altLang="en-US" sz="1600" dirty="0">
                <a:solidFill>
                  <a:srgbClr val="FF0000"/>
                </a:solidFill>
              </a:rPr>
              <a:t>里的 </a:t>
            </a:r>
            <a:r>
              <a:rPr lang="en-US" altLang="zh-CN" sz="1600" dirty="0">
                <a:solidFill>
                  <a:srgbClr val="FF0000"/>
                </a:solidFill>
              </a:rPr>
              <a:t>test2</a:t>
            </a:r>
            <a:r>
              <a:rPr lang="zh-CN" altLang="en-US" sz="1600" dirty="0">
                <a:solidFill>
                  <a:srgbClr val="FF0000"/>
                </a:solidFill>
              </a:rPr>
              <a:t>方法 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7148" y="1065612"/>
            <a:ext cx="4475016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③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Custom Data Types：自定义数据类型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0767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可以使用应用程序自定义的数据类型。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④ Methods：方法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07670"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类方法、实例方法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 bwMode="auto">
          <a:xfrm>
            <a:off x="1547813" y="2895600"/>
            <a:ext cx="6172200" cy="16740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endParaRPr lang="zh-CN" altLang="en-US" sz="1275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407" y="1944909"/>
            <a:ext cx="2316501" cy="3999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811962" y="1944909"/>
            <a:ext cx="69080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）继承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 Class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User.MyClass Extends %Persistent [ ClassType = persistent ]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 {  }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 注意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：对ClassType的要求， 在不同版本之间有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差异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2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）多重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继承   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左继承、右继承</a:t>
            </a: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Class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X Extends (A, B, C) {  }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683895" lvl="1" indent="-214630">
              <a:lnSpc>
                <a:spcPct val="150000"/>
              </a:lnSpc>
              <a:buFontTx/>
              <a:buChar char="–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属性：所有父类的集合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683895" lvl="1" indent="-214630">
              <a:lnSpc>
                <a:spcPct val="150000"/>
              </a:lnSpc>
              <a:buFontTx/>
              <a:buChar char="–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优先级：后面的超类的属性覆盖前面的超类属性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683895" lvl="1" indent="-214630">
              <a:lnSpc>
                <a:spcPct val="150000"/>
              </a:lnSpc>
              <a:buFontTx/>
              <a:buChar char="–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关键字：来源于第一个超类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818466" y="1300595"/>
            <a:ext cx="3815447" cy="434063"/>
          </a:xfrm>
          <a:prstGeom prst="rect">
            <a:avLst/>
          </a:prstGeom>
        </p:spPr>
        <p:txBody>
          <a:bodyPr vert="horz" lIns="81626" tIns="40813" rIns="81626" bIns="40813" rtlCol="0">
            <a:noAutofit/>
          </a:bodyPr>
          <a:lstStyle>
            <a:lvl1pPr marL="306070" indent="-3060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2940" indent="-2552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42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472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03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33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00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20000"/>
              </a:lnSpc>
              <a:buNone/>
            </a:pP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⑦ 继承与多重继承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59915" y="1518619"/>
            <a:ext cx="6908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支持重写：允许在子类中定义某方法与其父类有相同的名称和参数。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不支持重载：同一个类中不允许有重名的类方法或成员方法。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518" y="2222372"/>
            <a:ext cx="4221907" cy="3677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79" y="2528611"/>
            <a:ext cx="4112846" cy="30652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518" y="6008887"/>
            <a:ext cx="4248472" cy="683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矩形 8"/>
          <p:cNvSpPr/>
          <p:nvPr/>
        </p:nvSpPr>
        <p:spPr>
          <a:xfrm>
            <a:off x="993929" y="5838255"/>
            <a:ext cx="3964146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dirty="0"/>
              <a:t>Parameter类级别</a:t>
            </a:r>
            <a:r>
              <a:rPr lang="zh-CN" altLang="en-US" sz="1600" dirty="0" smtClean="0"/>
              <a:t>属性：类似于</a:t>
            </a:r>
            <a:r>
              <a:rPr lang="zh-CN" altLang="en-US" sz="1600" dirty="0"/>
              <a:t>全局变量</a:t>
            </a:r>
            <a:endParaRPr lang="en-US" altLang="zh-CN" sz="1600" dirty="0"/>
          </a:p>
          <a:p>
            <a:r>
              <a:rPr lang="zh-CN" altLang="en-US" sz="1600" dirty="0"/>
              <a:t>参数的使用方法：</a:t>
            </a:r>
            <a:r>
              <a:rPr lang="en-US" altLang="zh-CN" sz="1600" dirty="0">
                <a:solidFill>
                  <a:schemeClr val="accent6"/>
                </a:solidFill>
              </a:rPr>
              <a:t>..#</a:t>
            </a:r>
            <a:r>
              <a:rPr lang="zh-CN" altLang="en-US" sz="1600" dirty="0">
                <a:solidFill>
                  <a:schemeClr val="accent6"/>
                </a:solidFill>
              </a:rPr>
              <a:t>参数名</a:t>
            </a:r>
            <a:endParaRPr lang="zh-CN" altLang="en-US" sz="1600" dirty="0">
              <a:solidFill>
                <a:schemeClr val="accent6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998493" y="979130"/>
            <a:ext cx="3815447" cy="434063"/>
          </a:xfrm>
          <a:prstGeom prst="rect">
            <a:avLst/>
          </a:prstGeom>
        </p:spPr>
        <p:txBody>
          <a:bodyPr vert="horz" lIns="81626" tIns="40813" rIns="81626" bIns="40813" rtlCol="0">
            <a:noAutofit/>
          </a:bodyPr>
          <a:lstStyle>
            <a:lvl1pPr marL="306070" indent="-3060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2940" indent="-255270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4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42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472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030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33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005" indent="-203835" algn="l" defTabSz="81597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⑧</a:t>
            </a: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Cach</a:t>
            </a:r>
            <a:r>
              <a:rPr lang="en-US" altLang="zh-CN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é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支持</a:t>
            </a: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重写、不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支持</a:t>
            </a:r>
            <a:r>
              <a:rPr lang="zh-CN" altLang="en-US" sz="2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重载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08629" y="981374"/>
            <a:ext cx="45088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）面向对象的OREF和ID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2929" y="1466380"/>
            <a:ext cx="4943472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①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OREF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645795" indent="-285750">
              <a:lnSpc>
                <a:spcPct val="130000"/>
              </a:lnSpc>
              <a:buFont typeface="Arial" panose="020B0604020202020204" pitchFamily="34" charset="0"/>
              <a:buChar char="-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一个对象引用，是一个值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645795" indent="-285750">
              <a:lnSpc>
                <a:spcPct val="130000"/>
              </a:lnSpc>
              <a:buFont typeface="Arial" panose="020B0604020202020204" pitchFamily="34" charset="0"/>
              <a:buChar char="-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set obj=##class(test.Person).%New()  新增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9464" y="3846062"/>
            <a:ext cx="6119290" cy="2332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>
              <a:lnSpc>
                <a:spcPct val="13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②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ID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3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    一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个值，唯一标识一个特定的范围内特定的实例。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179705">
              <a:lnSpc>
                <a:spcPct val="13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set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obj=##class(test.Person).%OpenId(ID) 修改 删除 查询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d </a:t>
            </a:r>
            <a:r>
              <a:rPr lang="en-US" altLang="zh-CN" sz="1600" dirty="0" err="1">
                <a:solidFill>
                  <a:srgbClr val="1F4E79"/>
                </a:solidFill>
                <a:latin typeface="Arial" panose="020B0604020202020204" pitchFamily="34" charset="0"/>
              </a:rPr>
              <a:t>obj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.%Save() 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对象的保存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d </a:t>
            </a:r>
            <a:r>
              <a:rPr lang="en-US" altLang="zh-CN" sz="1600" dirty="0" err="1">
                <a:solidFill>
                  <a:srgbClr val="1F4E79"/>
                </a:solidFill>
                <a:latin typeface="Arial" panose="020B0604020202020204" pitchFamily="34" charset="0"/>
              </a:rPr>
              <a:t>obj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.%Close()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对象的关闭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1600" dirty="0" err="1" smtClean="0">
                <a:solidFill>
                  <a:srgbClr val="1F4E79"/>
                </a:solidFill>
                <a:latin typeface="Arial" panose="020B0604020202020204" pitchFamily="34" charset="0"/>
              </a:rPr>
              <a:t>obj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.%Id()  </a:t>
            </a:r>
            <a:r>
              <a:rPr lang="en-US" altLang="zh-CN" sz="1600" dirty="0" err="1">
                <a:solidFill>
                  <a:srgbClr val="1F4E79"/>
                </a:solidFill>
                <a:latin typeface="Arial" panose="020B0604020202020204" pitchFamily="34" charset="0"/>
              </a:rPr>
              <a:t>obj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的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rowed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$</a:t>
            </a:r>
            <a:r>
              <a:rPr lang="en-US" altLang="zh-CN" sz="1600" dirty="0" err="1">
                <a:solidFill>
                  <a:srgbClr val="1F4E79"/>
                </a:solidFill>
                <a:latin typeface="Arial" panose="020B0604020202020204" pitchFamily="34" charset="0"/>
              </a:rPr>
              <a:t>System.OBJ.DisplayError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en-US" altLang="zh-CN" sz="1600" dirty="0" err="1">
                <a:solidFill>
                  <a:srgbClr val="1F4E79"/>
                </a:solidFill>
                <a:latin typeface="Arial" panose="020B0604020202020204" pitchFamily="34" charset="0"/>
              </a:rPr>
              <a:t>sc</a:t>
            </a: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0349" y="2617336"/>
            <a:ext cx="5067710" cy="30768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276" y="5890457"/>
            <a:ext cx="5095219" cy="4479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05" y="2652019"/>
            <a:ext cx="5158550" cy="89128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226194" y="3125583"/>
            <a:ext cx="7990541" cy="335466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① Transient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Object Classes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504190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临时类，注册类，in memory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504190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类型：％RegisteredObject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②Persistent Object Classes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504190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持久类，in DB，其实例可写到磁盘上保存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04190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类型：%Persistent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③ Serial Object Classes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504190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序列化类，in memory，可序列化的类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嵌入类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，可以被嵌入到其他类中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04190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%SerialObject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④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Data Type Classes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504190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数据类型类，依附于某个对象。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4" name="Picture 3" descr="classtyp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30572" y="2834256"/>
            <a:ext cx="4568255" cy="2232458"/>
          </a:xfrm>
          <a:prstGeom prst="rect">
            <a:avLst/>
          </a:prstGeom>
          <a:noFill/>
          <a:ln>
            <a:solidFill>
              <a:srgbClr val="1F4E79"/>
            </a:solidFill>
          </a:ln>
        </p:spPr>
      </p:pic>
      <p:sp>
        <p:nvSpPr>
          <p:cNvPr id="5" name="文本框 34"/>
          <p:cNvSpPr txBox="1">
            <a:spLocks noChangeArrowheads="1"/>
          </p:cNvSpPr>
          <p:nvPr/>
        </p:nvSpPr>
        <p:spPr bwMode="auto">
          <a:xfrm>
            <a:off x="1350575" y="851649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类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的类型、成员属性和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方法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899888" y="814725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50575" y="1339426"/>
            <a:ext cx="36973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1）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ClassType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algn="just"/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2）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Property 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Method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ClassMethod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31623" y="2550400"/>
            <a:ext cx="450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ClassType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017902" y="4804210"/>
            <a:ext cx="8056334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④ Property Type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属性类型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: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3180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单值类型：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A single value of type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，可以选择不同的类型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数据类型或类定义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3180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集合类型：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A collection of type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，一组相同类型的集合，可以选择不同的基础类型和集合的方法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(array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或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list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两种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3180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流类型：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Containing elements of type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，可选择二进制流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图像或声音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和字符流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超长字符串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43180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关系类型：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Relationship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，可以同其他类建立相互引用的关系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一对多和父子两种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236585" y="1236404"/>
            <a:ext cx="5756497" cy="532687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ea"/>
              <a:buAutoNum type="circleNumDbPlain"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关键字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：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Calculated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：表示该属性的值是由其他属性的值计算出来的</a:t>
            </a:r>
            <a:endParaRPr lang="zh-CN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Description</a:t>
            </a:r>
            <a:endParaRPr lang="zh-CN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Final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：关键词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final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修饰的变量一旦赋值，就不能改变</a:t>
            </a:r>
            <a:endParaRPr lang="zh-CN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InitialExpression 表示该属性的初始值</a:t>
            </a:r>
            <a:endParaRPr lang="zh-CN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Private  表示该属性为私有的</a:t>
            </a:r>
            <a:endParaRPr lang="zh-CN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Required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：表示该属性不能为空值，是必须有值输入的</a:t>
            </a:r>
            <a:endParaRPr lang="zh-CN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Transient</a:t>
            </a:r>
            <a:endParaRPr lang="zh-CN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r>
              <a:rPr lang="zh-CN" altLang="zh-CN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Type </a:t>
            </a:r>
            <a:endParaRPr lang="en-US" altLang="zh-CN" sz="1400" dirty="0" smtClean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②访问：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612140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Set </a:t>
            </a:r>
            <a:r>
              <a:rPr lang="en-US" altLang="zh-CN" sz="1400" dirty="0" err="1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val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=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obj.Property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612140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Set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obj.Property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=</a:t>
            </a:r>
            <a:r>
              <a:rPr lang="en-US" altLang="zh-CN" sz="1400" dirty="0" err="1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val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③属性：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694055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数据类型属性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694055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Object-Valued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属性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694055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集合属性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694055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流特性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694055" lvl="1" indent="-285750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多维属性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396240" lvl="1" indent="-285750">
              <a:lnSpc>
                <a:spcPct val="100000"/>
              </a:lnSpc>
              <a:buFont typeface="Calibri" panose="020F0502020204030204" pitchFamily="34" charset="0"/>
              <a:buChar char="-"/>
            </a:pP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82851" y="835173"/>
            <a:ext cx="450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Property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68151" y="173615"/>
            <a:ext cx="9332912" cy="52705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34196" y="1307840"/>
            <a:ext cx="5530390" cy="1190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0490" lvl="1">
              <a:lnSpc>
                <a:spcPct val="150000"/>
              </a:lnSpc>
              <a:spcBef>
                <a:spcPts val="500"/>
              </a:spcBef>
            </a:pPr>
            <a:r>
              <a:rPr lang="en-US" altLang="zh-CN" sz="1400" dirty="0" err="1">
                <a:solidFill>
                  <a:srgbClr val="1F4E79"/>
                </a:solidFill>
                <a:latin typeface="Arial" panose="020B0604020202020204" pitchFamily="34" charset="0"/>
              </a:rPr>
              <a:t>ClassMethod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Method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的区别：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u"/>
            </a:pP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Method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：对象实例的成员方法，只能允许对象调用。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96240" lvl="1" indent="-28575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u"/>
            </a:pPr>
            <a:r>
              <a:rPr lang="en-US" altLang="zh-CN" sz="1400" dirty="0" err="1">
                <a:solidFill>
                  <a:srgbClr val="1F4E79"/>
                </a:solidFill>
                <a:latin typeface="Arial" panose="020B0604020202020204" pitchFamily="34" charset="0"/>
              </a:rPr>
              <a:t>ClassMethod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：类方法，允许类和对象来调用。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756" y="2811857"/>
            <a:ext cx="4858236" cy="37030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1543964" y="835173"/>
            <a:ext cx="4508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）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Method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ClassMethod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310548" y="1521893"/>
            <a:ext cx="5248117" cy="51178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① 执行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Method：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oref.MethodName(arglist)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Set value = oref.MethodName(arglist)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② 执行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ClassMethod：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##class(Classname).MethodName(arglist)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Set value = ##class(Classname).MethodName(arglist)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③ </a:t>
            </a: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 创建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Object：</a:t>
            </a: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Set oref = ##class(Classname).%New()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④ </a:t>
            </a: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 打开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Object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: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Set oref = ##class(Classname).%OpenId(id)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Set oref = ##class(Classname).%Open(oid)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⑤ </a:t>
            </a: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 获取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Property：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Set value = oref.PropertyName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Set value = oref.PropertyName.GetAt(n)   //List property  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Set value = oref.PropertyNameGetAt(key)   //Array property</a:t>
            </a:r>
            <a:endParaRPr lang="en-US" altLang="zh-CN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⑥ 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修改 Properties：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Set oref.PropertyName = value   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//Set car.Owner = person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Set oref.PropertyName.RefPropertyName = </a:t>
            </a: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value</a:t>
            </a:r>
            <a:endParaRPr lang="en-US" altLang="zh-CN" sz="1600" dirty="0" smtClean="0">
              <a:solidFill>
                <a:srgbClr val="1F4E79"/>
              </a:solidFill>
            </a:endParaRPr>
          </a:p>
          <a:p>
            <a:pPr lvl="1">
              <a:lnSpc>
                <a:spcPct val="100000"/>
              </a:lnSpc>
            </a:pPr>
            <a:endParaRPr lang="en-US" altLang="zh-CN" sz="1600" dirty="0" smtClean="0">
              <a:solidFill>
                <a:srgbClr val="1F4E79"/>
              </a:solidFill>
            </a:endParaRPr>
          </a:p>
          <a:p>
            <a:pPr lvl="1">
              <a:lnSpc>
                <a:spcPct val="100000"/>
              </a:lnSpc>
            </a:pPr>
            <a:endParaRPr lang="zh-CN" altLang="en-US" sz="1600" dirty="0">
              <a:solidFill>
                <a:srgbClr val="1F4E79"/>
              </a:solidFill>
            </a:endParaRPr>
          </a:p>
        </p:txBody>
      </p:sp>
      <p:sp>
        <p:nvSpPr>
          <p:cNvPr id="6" name="文本框 34"/>
          <p:cNvSpPr txBox="1">
            <a:spLocks noChangeArrowheads="1"/>
          </p:cNvSpPr>
          <p:nvPr/>
        </p:nvSpPr>
        <p:spPr bwMode="auto">
          <a:xfrm>
            <a:off x="1786996" y="913995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Caché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对象的命令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规范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336310" y="877071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831130" y="1158210"/>
            <a:ext cx="8861115" cy="53153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⑦ 修改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集合属性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List  Properties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（了解）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oref.PropertyName.Insert(data)       //Do person.FavoriteColors.Insert("yellow")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oref.PropertyName.SetAt(data,n)    //Do person.FavoriteColors.SetAt("yellow",2)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oref.PropertyName.InsertAt(data,n) //Do person.FavoriteColors.InsertAt("yellow",2)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oref.PropertyName.InsertObject(itemoid)   ////when property is ListObjects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⑧ 修改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数组属性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Array Properties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+mn-ea"/>
              </a:rPr>
              <a:t>（了解）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oref.PropertyName.SetAt(data,key)   //Do palette.Colors.SetAt("255,0,0","red")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oref.PropertyName.SetObjectAt(ElementOid,key)  //property is Array of Objects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⑨ 修改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流属性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Modifying Stream Properties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+mn-ea"/>
              </a:rPr>
              <a:t>（了解）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Do oref.PropertyName.Write(data)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⑩ 对象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的删除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Deleting Objects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Do ##class(Classname).%DeleteId(id)    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//  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Deleting Objects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⑪ 索引的重建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Rebuild Index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do ##class(Classname).%BuildIndices() </a:t>
            </a:r>
            <a:endParaRPr lang="en-US" altLang="zh-CN" sz="1400" dirty="0">
              <a:solidFill>
                <a:srgbClr val="FF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⑫ 对象的保存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400" dirty="0">
                <a:solidFill>
                  <a:srgbClr val="1F4E79"/>
                </a:solidFill>
                <a:latin typeface="Arial" panose="020B0604020202020204" pitchFamily="34" charset="0"/>
              </a:rPr>
              <a:t>Save Object</a:t>
            </a:r>
            <a:r>
              <a:rPr lang="en-US" altLang="zh-CN" sz="14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endParaRPr lang="zh-CN" altLang="en-US" sz="14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Do oref.%Save()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60045" lvl="1" indent="0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Set sc=oref.%Save()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300467" y="1659701"/>
            <a:ext cx="6222552" cy="28811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705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ClassName：唯一类名，包括所属包。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Property：属性 ，类实例的数据集合。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Method：类方法和实例方法（成员方法</a:t>
            </a: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)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Query ：查询，输出数据集。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 Index：索引的存储结构，用于优化频繁访问数据模式。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179705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Class Parameters：类参数，自定义类通常需要使用的值。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212" y="1857126"/>
            <a:ext cx="5221988" cy="17796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34"/>
          <p:cNvSpPr txBox="1">
            <a:spLocks noChangeArrowheads="1"/>
          </p:cNvSpPr>
          <p:nvPr/>
        </p:nvSpPr>
        <p:spPr bwMode="auto">
          <a:xfrm>
            <a:off x="780921" y="1089232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2000" dirty="0" err="1" smtClean="0">
                <a:sym typeface="+mn-ea"/>
              </a:rPr>
              <a:t>Caché</a:t>
            </a:r>
            <a:r>
              <a:rPr lang="zh-CN" altLang="en-US" sz="2000" dirty="0">
                <a:cs typeface="Arial" panose="020B0604020202020204" pitchFamily="34" charset="0"/>
              </a:rPr>
              <a:t>面向对象开发的</a:t>
            </a:r>
            <a:r>
              <a:rPr lang="zh-CN" altLang="en-US" sz="2000" dirty="0" smtClean="0">
                <a:cs typeface="Arial" panose="020B0604020202020204" pitchFamily="34" charset="0"/>
              </a:rPr>
              <a:t>小结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事务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727" y="5096216"/>
            <a:ext cx="1396518" cy="1533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417" y="5110839"/>
            <a:ext cx="2031190" cy="15189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607" y="5112371"/>
            <a:ext cx="1727124" cy="14668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椭圆 15"/>
          <p:cNvSpPr/>
          <p:nvPr/>
        </p:nvSpPr>
        <p:spPr>
          <a:xfrm>
            <a:off x="729719" y="865669"/>
            <a:ext cx="437034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190407" y="889731"/>
            <a:ext cx="10320020" cy="3585398"/>
            <a:chOff x="380308" y="2999917"/>
            <a:chExt cx="2116926" cy="3585398"/>
          </a:xfrm>
        </p:grpSpPr>
        <p:sp>
          <p:nvSpPr>
            <p:cNvPr id="18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1412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事务的概念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12074" cy="3262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在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关系数据库中，一个事务可以是一条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SQL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语句，一组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SQL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语句或整个程序。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特性：事务是恢复和并发控制的基本单位。事务有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个属性：原子性、一致性、隔离性、持久性。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在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Caché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数据库中，对象也支持事务。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回滚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(Rollback)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指的是程序或数据处理错误，将程序或数据恢复到上一次正确状态的行为。回滚包括程序回滚和数据回滚等类型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。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注意：</a:t>
              </a:r>
              <a:r>
                <a:rPr lang="zh-CN" altLang="en-US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变量和进程</a:t>
              </a:r>
              <a:r>
                <a:rPr lang="en-US" altLang="zh-CN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Global</a:t>
              </a:r>
              <a:r>
                <a:rPr lang="zh-CN" altLang="en-US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不支持事务。</a:t>
              </a:r>
              <a:endParaRPr lang="en-US" altLang="zh-CN" sz="1600" dirty="0">
                <a:solidFill>
                  <a:srgbClr val="E66666"/>
                </a:solidFill>
                <a:latin typeface="Arial" panose="020B0604020202020204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algn="ctr"/>
              <a:endPara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0" name="椭圆 19"/>
          <p:cNvSpPr/>
          <p:nvPr/>
        </p:nvSpPr>
        <p:spPr>
          <a:xfrm>
            <a:off x="736645" y="3511880"/>
            <a:ext cx="437034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271073" y="3528845"/>
            <a:ext cx="10320020" cy="1153963"/>
            <a:chOff x="380308" y="2999917"/>
            <a:chExt cx="2116926" cy="1153963"/>
          </a:xfrm>
        </p:grpSpPr>
        <p:sp>
          <p:nvSpPr>
            <p:cNvPr id="22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1412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事务的命令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1207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288290"/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Tstart     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开始一个事务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288290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Tcommit   提交事务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288290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Trollback  保存失败后回滚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722789" y="4641027"/>
            <a:ext cx="437034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文本框 34"/>
          <p:cNvSpPr txBox="1">
            <a:spLocks noChangeArrowheads="1"/>
          </p:cNvSpPr>
          <p:nvPr/>
        </p:nvSpPr>
        <p:spPr bwMode="auto">
          <a:xfrm>
            <a:off x="1257217" y="4668383"/>
            <a:ext cx="68857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事务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回滚对变量和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的影响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395246" y="3207098"/>
            <a:ext cx="437034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929674" y="3225002"/>
            <a:ext cx="4885464" cy="3228600"/>
            <a:chOff x="445586" y="3009118"/>
            <a:chExt cx="1310799" cy="3228600"/>
          </a:xfrm>
        </p:grpSpPr>
        <p:sp>
          <p:nvSpPr>
            <p:cNvPr id="30" name="文本框 34"/>
            <p:cNvSpPr txBox="1">
              <a:spLocks noChangeArrowheads="1"/>
            </p:cNvSpPr>
            <p:nvPr/>
          </p:nvSpPr>
          <p:spPr bwMode="auto">
            <a:xfrm>
              <a:off x="445586" y="3009118"/>
              <a:ext cx="11277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事务的应用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36"/>
            <p:cNvSpPr>
              <a:spLocks noChangeArrowheads="1"/>
            </p:cNvSpPr>
            <p:nvPr/>
          </p:nvSpPr>
          <p:spPr bwMode="auto">
            <a:xfrm>
              <a:off x="469212" y="3436951"/>
              <a:ext cx="1287173" cy="2800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lvl="1"/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TStart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//...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Set sc = oref.%Save()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 If $$$ISERR(sc) {        </a:t>
              </a:r>
              <a:r>
                <a:rPr lang="zh-CN" altLang="en-US" sz="1600" dirty="0">
                  <a:solidFill>
                    <a:schemeClr val="bg2">
                      <a:lumMod val="7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///If ($$$ISOK(sc))</a:t>
              </a:r>
              <a:endParaRPr lang="zh-CN" altLang="en-US" sz="1600" dirty="0">
                <a:solidFill>
                  <a:schemeClr val="bg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	 TRollBack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    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    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Do $System.Status.DisplayError(sc)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 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}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else{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	TCommit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	Set id=oref.%Id()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  <a:p>
              <a:pPr lvl="1"/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  }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第三章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作业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564200" y="1813952"/>
            <a:ext cx="7901916" cy="3131999"/>
            <a:chOff x="376972" y="4936104"/>
            <a:chExt cx="8244070" cy="3131999"/>
          </a:xfrm>
        </p:grpSpPr>
        <p:sp>
          <p:nvSpPr>
            <p:cNvPr id="9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7870901" cy="2553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query)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：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、新建类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web.DHCStudent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,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实现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SQL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的方式对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DHC_Student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表增删改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.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、新建类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web.DHCStudentCourse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,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+mn-ea"/>
                </a:rPr>
                <a:t>实现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+mn-ea"/>
                </a:rPr>
                <a:t>SQL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+mn-ea"/>
                </a:rPr>
                <a:t>的方式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对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DHC_StudentCourse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表的增删查改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使用三种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查询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DHC_Student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表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作业提交：请截图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QQ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提交给老师，并在程序编码中注释上自己的姓名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376972" y="4936104"/>
              <a:ext cx="4204393" cy="461665"/>
              <a:chOff x="376972" y="4936104"/>
              <a:chExt cx="4204393" cy="461665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411705" y="4936104"/>
                <a:ext cx="41696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作业 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3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950923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2662891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下午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放学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7321109" y="2114359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969181" y="1970343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3079248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下午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第二节课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5404811" y="2359474"/>
            <a:ext cx="1584176" cy="1143988"/>
          </a:xfrm>
          <a:prstGeom prst="ellipse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晚上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做作业</a:t>
            </a:r>
            <a:endParaRPr lang="en-US" altLang="zh-CN" sz="20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5214670" y="1132948"/>
            <a:ext cx="1800200" cy="1800200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2218252" y="2970214"/>
            <a:ext cx="7793037" cy="1459866"/>
          </a:xfrm>
        </p:spPr>
        <p:txBody>
          <a:bodyPr rtlCol="0">
            <a:noAutofit/>
          </a:bodyPr>
          <a:lstStyle/>
          <a:p>
            <a:pPr defTabSz="815975"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6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Thanks For Watching!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27843" y="5365773"/>
            <a:ext cx="2011680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Contect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with me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E-mail</a:t>
            </a: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Date  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2019-07-22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mQ1ZjIxMDI3ZTJlNWI5NDAwMGRiNTllM2YwODlkMm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13254</Words>
  <Application>WPS 演示</Application>
  <PresentationFormat>宽屏</PresentationFormat>
  <Paragraphs>885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8" baseType="lpstr">
      <vt:lpstr>Arial</vt:lpstr>
      <vt:lpstr>宋体</vt:lpstr>
      <vt:lpstr>Wingdings</vt:lpstr>
      <vt:lpstr>微软雅黑</vt:lpstr>
      <vt:lpstr>微软雅黑 Light</vt:lpstr>
      <vt:lpstr>Calibri</vt:lpstr>
      <vt:lpstr>Arial Unicode MS</vt:lpstr>
      <vt:lpstr>华文细黑</vt:lpstr>
      <vt:lpstr>Arial Black</vt:lpstr>
      <vt:lpstr>黑体</vt:lpstr>
      <vt:lpstr>Office 主题</vt:lpstr>
      <vt:lpstr>新员工入职培训   Caché数据库开发技术培训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Watching!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曹倩</dc:creator>
  <cp:lastModifiedBy>tiger</cp:lastModifiedBy>
  <cp:revision>697</cp:revision>
  <dcterms:created xsi:type="dcterms:W3CDTF">2017-01-15T02:29:00Z</dcterms:created>
  <dcterms:modified xsi:type="dcterms:W3CDTF">2023-09-13T00:53:05Z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C0784525765B4F86B7943F18141CC222_12</vt:lpwstr>
  </property>
</Properties>
</file>