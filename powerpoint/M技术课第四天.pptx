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8" r:id="rId3"/>
    <p:sldId id="298" r:id="rId4"/>
    <p:sldId id="299" r:id="rId5"/>
    <p:sldId id="332" r:id="rId6"/>
    <p:sldId id="300" r:id="rId7"/>
    <p:sldId id="301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60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8"/>
    <p:sldId id="321" r:id="rId29"/>
    <p:sldId id="322" r:id="rId30"/>
    <p:sldId id="323" r:id="rId31"/>
    <p:sldId id="324" r:id="rId32"/>
    <p:sldId id="326" r:id="rId33"/>
    <p:sldId id="327" r:id="rId34"/>
    <p:sldId id="328" r:id="rId35"/>
    <p:sldId id="329" r:id="rId36"/>
    <p:sldId id="297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BF3FA"/>
    <a:srgbClr val="FFC000"/>
    <a:srgbClr val="1F4E79"/>
    <a:srgbClr val="7F6E96"/>
    <a:srgbClr val="E66666"/>
    <a:srgbClr val="FF6565"/>
    <a:srgbClr val="FFE493"/>
    <a:srgbClr val="404040"/>
    <a:srgbClr val="FA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8" autoAdjust="0"/>
    <p:restoredTop sz="94660"/>
  </p:normalViewPr>
  <p:slideViewPr>
    <p:cSldViewPr snapToGrid="0">
      <p:cViewPr varScale="1">
        <p:scale>
          <a:sx n="92" d="100"/>
          <a:sy n="92" d="100"/>
        </p:scale>
        <p:origin x="5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0B13E-C7DA-455D-A2A9-7301508769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0C28C-60FE-4F5C-BAAC-E19CEADCECD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20"/>
          <p:cNvSpPr>
            <a:spLocks noGrp="1"/>
          </p:cNvSpPr>
          <p:nvPr>
            <p:ph type="body" sz="quarter" idx="13" hasCustomPrompt="1"/>
          </p:nvPr>
        </p:nvSpPr>
        <p:spPr>
          <a:xfrm>
            <a:off x="268151" y="204788"/>
            <a:ext cx="9332912" cy="52705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>
                <a:solidFill>
                  <a:srgbClr val="E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目录 </a:t>
            </a:r>
            <a:r>
              <a:rPr lang="en-US" altLang="zh-CN" dirty="0"/>
              <a:t>/ CONTENTS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dotGrid">
          <a:fgClr>
            <a:schemeClr val="accent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0845" y="245866"/>
            <a:ext cx="2010847" cy="3929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6" y="6586062"/>
            <a:ext cx="2870611" cy="191374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36164-31F8-4BC1-AC86-89FA080A2E3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E0E46-CC45-4D20-81BF-BC4DF61D18A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9492" y="716573"/>
            <a:ext cx="11615351" cy="0"/>
          </a:xfrm>
          <a:prstGeom prst="line">
            <a:avLst/>
          </a:prstGeom>
          <a:ln>
            <a:solidFill>
              <a:srgbClr val="E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380308" y="638831"/>
            <a:ext cx="2133218" cy="87681"/>
          </a:xfrm>
          <a:prstGeom prst="rect">
            <a:avLst/>
          </a:prstGeom>
          <a:solidFill>
            <a:srgbClr val="E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占位符 26"/>
          <p:cNvSpPr txBox="1"/>
          <p:nvPr userDrawn="1"/>
        </p:nvSpPr>
        <p:spPr>
          <a:xfrm>
            <a:off x="-671068" y="0"/>
            <a:ext cx="606425" cy="527050"/>
          </a:xfrm>
          <a:prstGeom prst="rect">
            <a:avLst/>
          </a:prstGeom>
          <a:solidFill>
            <a:srgbClr val="E6666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公司色调</a:t>
            </a:r>
            <a:endParaRPr lang="zh-CN" altLang="en-US" dirty="0"/>
          </a:p>
        </p:txBody>
      </p:sp>
      <p:sp>
        <p:nvSpPr>
          <p:cNvPr id="11" name="文本占位符 26"/>
          <p:cNvSpPr txBox="1"/>
          <p:nvPr userDrawn="1"/>
        </p:nvSpPr>
        <p:spPr>
          <a:xfrm>
            <a:off x="-671068" y="542819"/>
            <a:ext cx="606425" cy="5270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标题字体色调</a:t>
            </a:r>
            <a:endParaRPr lang="zh-CN" altLang="en-US" dirty="0"/>
          </a:p>
        </p:txBody>
      </p:sp>
      <p:sp>
        <p:nvSpPr>
          <p:cNvPr id="12" name="文本占位符 26"/>
          <p:cNvSpPr txBox="1"/>
          <p:nvPr userDrawn="1"/>
        </p:nvSpPr>
        <p:spPr>
          <a:xfrm>
            <a:off x="-671068" y="1085638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正文字体色调</a:t>
            </a:r>
            <a:endParaRPr lang="zh-CN" altLang="en-US" dirty="0"/>
          </a:p>
        </p:txBody>
      </p:sp>
      <p:sp>
        <p:nvSpPr>
          <p:cNvPr id="13" name="文本占位符 26"/>
          <p:cNvSpPr txBox="1"/>
          <p:nvPr userDrawn="1"/>
        </p:nvSpPr>
        <p:spPr>
          <a:xfrm>
            <a:off x="-667894" y="2533385"/>
            <a:ext cx="606425" cy="527050"/>
          </a:xfrm>
          <a:prstGeom prst="rect">
            <a:avLst/>
          </a:prstGeom>
          <a:solidFill>
            <a:srgbClr val="FF6565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15" name="文本占位符 26"/>
          <p:cNvSpPr txBox="1"/>
          <p:nvPr userDrawn="1"/>
        </p:nvSpPr>
        <p:spPr>
          <a:xfrm>
            <a:off x="-667895" y="3068800"/>
            <a:ext cx="606425" cy="527050"/>
          </a:xfrm>
          <a:prstGeom prst="rect">
            <a:avLst/>
          </a:prstGeom>
          <a:solidFill>
            <a:srgbClr val="FFC00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2</a:t>
            </a:r>
            <a:endParaRPr lang="zh-CN" altLang="en-US" dirty="0"/>
          </a:p>
        </p:txBody>
      </p:sp>
      <p:sp>
        <p:nvSpPr>
          <p:cNvPr id="16" name="文本占位符 26"/>
          <p:cNvSpPr txBox="1"/>
          <p:nvPr userDrawn="1"/>
        </p:nvSpPr>
        <p:spPr>
          <a:xfrm>
            <a:off x="-667894" y="4715565"/>
            <a:ext cx="606425" cy="527050"/>
          </a:xfrm>
          <a:prstGeom prst="rect">
            <a:avLst/>
          </a:prstGeom>
          <a:solidFill>
            <a:srgbClr val="7F6E96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3</a:t>
            </a:r>
            <a:endParaRPr lang="zh-CN" altLang="en-US" dirty="0"/>
          </a:p>
        </p:txBody>
      </p:sp>
      <p:sp>
        <p:nvSpPr>
          <p:cNvPr id="17" name="文本占位符 26"/>
          <p:cNvSpPr txBox="1"/>
          <p:nvPr userDrawn="1"/>
        </p:nvSpPr>
        <p:spPr>
          <a:xfrm>
            <a:off x="-667894" y="4159043"/>
            <a:ext cx="606425" cy="527050"/>
          </a:xfrm>
          <a:prstGeom prst="rect">
            <a:avLst/>
          </a:prstGeom>
          <a:solidFill>
            <a:srgbClr val="00B0F0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4</a:t>
            </a:r>
            <a:endParaRPr lang="zh-CN" altLang="en-US" dirty="0"/>
          </a:p>
        </p:txBody>
      </p:sp>
      <p:sp>
        <p:nvSpPr>
          <p:cNvPr id="18" name="文本占位符 26"/>
          <p:cNvSpPr txBox="1"/>
          <p:nvPr userDrawn="1"/>
        </p:nvSpPr>
        <p:spPr>
          <a:xfrm>
            <a:off x="-667894" y="5272087"/>
            <a:ext cx="606425" cy="52705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5</a:t>
            </a:r>
            <a:endParaRPr lang="zh-CN" altLang="en-US" dirty="0"/>
          </a:p>
        </p:txBody>
      </p:sp>
      <p:sp>
        <p:nvSpPr>
          <p:cNvPr id="19" name="文本占位符 26"/>
          <p:cNvSpPr txBox="1"/>
          <p:nvPr userDrawn="1"/>
        </p:nvSpPr>
        <p:spPr>
          <a:xfrm>
            <a:off x="-667894" y="3612795"/>
            <a:ext cx="606425" cy="527050"/>
          </a:xfrm>
          <a:prstGeom prst="rect">
            <a:avLst/>
          </a:prstGeom>
          <a:solidFill>
            <a:srgbClr val="00BA89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图表色参考</a:t>
            </a:r>
            <a:r>
              <a:rPr lang="en-US" altLang="zh-CN"/>
              <a:t>6</a:t>
            </a:r>
            <a:endParaRPr lang="zh-CN" altLang="en-US" dirty="0"/>
          </a:p>
        </p:txBody>
      </p:sp>
      <p:sp>
        <p:nvSpPr>
          <p:cNvPr id="20" name="文本占位符 26"/>
          <p:cNvSpPr txBox="1"/>
          <p:nvPr userDrawn="1"/>
        </p:nvSpPr>
        <p:spPr>
          <a:xfrm>
            <a:off x="-671068" y="1628457"/>
            <a:ext cx="606425" cy="527050"/>
          </a:xfrm>
          <a:prstGeom prst="rect">
            <a:avLst/>
          </a:prstGeom>
          <a:solidFill>
            <a:srgbClr val="EBF3FA"/>
          </a:solidFill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1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正文背景辅助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8" grpId="3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8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2219538" y="2047608"/>
            <a:ext cx="7793037" cy="1459866"/>
          </a:xfrm>
        </p:spPr>
        <p:txBody>
          <a:bodyPr rtlCol="0">
            <a:noAutofit/>
          </a:bodyPr>
          <a:lstStyle/>
          <a:p>
            <a:pPr defTabSz="815975">
              <a:spcBef>
                <a:spcPts val="600"/>
              </a:spcBef>
              <a:defRPr/>
            </a:pP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新员工入职培训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zh-CN" altLang="en-US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br>
              <a:rPr lang="en-US" altLang="zh-CN" sz="32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</a:br>
            <a:r>
              <a:rPr lang="en-US" altLang="zh-CN" sz="3200" kern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sym typeface="微软雅黑" panose="020B0503020204020204" pitchFamily="34" charset="-122"/>
              </a:rPr>
              <a:t>Caché</a:t>
            </a:r>
            <a:r>
              <a:rPr lang="zh-CN" altLang="en-US" sz="3200" kern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数据库开发技术培训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74142" y="6538620"/>
            <a:ext cx="10791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2018/07/11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 Box 5"/>
          <p:cNvSpPr>
            <a:spLocks noChangeArrowheads="1"/>
          </p:cNvSpPr>
          <p:nvPr/>
        </p:nvSpPr>
        <p:spPr bwMode="auto">
          <a:xfrm>
            <a:off x="10187257" y="6489192"/>
            <a:ext cx="1980029" cy="350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815975" indent="-358775" defTabSz="163322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633855" indent="-719455" defTabSz="1633220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2451100" indent="-1079500" defTabSz="1633220">
              <a:spcBef>
                <a:spcPct val="20000"/>
              </a:spcBef>
              <a:buFont typeface="Arial" panose="020B0604020202020204" pitchFamily="34" charset="0"/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3267075" indent="-1438275" defTabSz="1633220">
              <a:spcBef>
                <a:spcPct val="20000"/>
              </a:spcBef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37242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41814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46386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5095875" indent="-1438275" defTabSz="163322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东华医为科技有限公司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8" name="矩形: 圆角 4"/>
          <p:cNvSpPr/>
          <p:nvPr/>
        </p:nvSpPr>
        <p:spPr bwMode="auto">
          <a:xfrm>
            <a:off x="2996903" y="1401037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: 圆角 7"/>
          <p:cNvSpPr/>
          <p:nvPr/>
        </p:nvSpPr>
        <p:spPr bwMode="auto">
          <a:xfrm>
            <a:off x="2996903" y="1401037"/>
            <a:ext cx="17462" cy="5762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矩形: 圆角 21"/>
          <p:cNvSpPr/>
          <p:nvPr/>
        </p:nvSpPr>
        <p:spPr bwMode="auto">
          <a:xfrm rot="10800000">
            <a:off x="7102053" y="3916622"/>
            <a:ext cx="1800225" cy="22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矩形: 圆角 22"/>
          <p:cNvSpPr/>
          <p:nvPr/>
        </p:nvSpPr>
        <p:spPr bwMode="auto">
          <a:xfrm rot="10800000">
            <a:off x="8879417" y="3341947"/>
            <a:ext cx="17462" cy="5762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45625" y="4031243"/>
            <a:ext cx="32308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东华医为科技有限公司    孙凤超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r">
              <a:defRPr/>
            </a:pP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          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268151" y="173615"/>
            <a:ext cx="9332912" cy="527050"/>
          </a:xfrm>
        </p:spPr>
        <p:txBody>
          <a:bodyPr/>
          <a:lstStyle/>
          <a:p>
            <a:r>
              <a:rPr lang="zh-CN" altLang="en-US" dirty="0" smtClean="0"/>
              <a:t>第四天课表安排</a:t>
            </a:r>
            <a:endParaRPr lang="zh-CN" altLang="en-US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748146" y="1340426"/>
          <a:ext cx="10505209" cy="437525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7434"/>
                <a:gridCol w="465202"/>
                <a:gridCol w="930404"/>
                <a:gridCol w="1146415"/>
                <a:gridCol w="1111827"/>
                <a:gridCol w="1278082"/>
                <a:gridCol w="2208453"/>
                <a:gridCol w="2997392"/>
              </a:tblGrid>
              <a:tr h="263599">
                <a:tc gridSpan="3"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dirty="0" smtClean="0">
                          <a:effectLst/>
                        </a:rPr>
                        <a:t>章节安排</a:t>
                      </a:r>
                      <a:endParaRPr lang="zh-CN" altLang="en-US" sz="1200" b="1" i="0" u="none" strike="noStrike" dirty="0" smtClean="0">
                        <a:solidFill>
                          <a:srgbClr val="FFFFFF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anchor="ctr"/>
                </a:tc>
                <a:tc hMerge="1">
                  <a:tcPr/>
                </a:tc>
                <a:tc h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dirty="0" smtClean="0">
                          <a:effectLst/>
                        </a:rPr>
                        <a:t>上课时间</a:t>
                      </a:r>
                      <a:endParaRPr lang="zh-CN" altLang="en-US" sz="12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dirty="0" smtClean="0">
                          <a:effectLst/>
                        </a:rPr>
                        <a:t>授课时长</a:t>
                      </a:r>
                      <a:endParaRPr lang="zh-CN" altLang="en-US" sz="12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kern="1200" dirty="0" smtClean="0">
                          <a:effectLst/>
                        </a:rPr>
                        <a:t>章节</a:t>
                      </a:r>
                      <a:endParaRPr lang="zh-CN" altLang="en-US" sz="1200" b="1" u="none" strike="noStrike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dirty="0" smtClean="0">
                          <a:effectLst/>
                        </a:rPr>
                        <a:t>课程内容</a:t>
                      </a:r>
                      <a:endParaRPr lang="zh-CN" altLang="en-US" sz="1200" b="1" i="0" u="none" strike="noStrike" dirty="0" smtClean="0">
                        <a:solidFill>
                          <a:srgbClr val="FFFFFF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81597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u="none" strike="noStrike" dirty="0" smtClean="0">
                          <a:effectLst/>
                        </a:rPr>
                        <a:t>详细大纲</a:t>
                      </a:r>
                      <a:endParaRPr lang="zh-CN" altLang="en-US" sz="1200" b="1" i="0" u="none" strike="noStrike" dirty="0" smtClean="0">
                        <a:solidFill>
                          <a:srgbClr val="FFFFFF"/>
                        </a:solidFill>
                        <a:effectLst/>
                        <a:latin typeface="宋体" panose="02010600030101010101" pitchFamily="2" charset="-122"/>
                        <a:ea typeface="+mn-ea"/>
                      </a:endParaRPr>
                    </a:p>
                  </a:txBody>
                  <a:tcPr anchor="ctr"/>
                </a:tc>
              </a:tr>
              <a:tr h="370780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/>
                        <a:t>第四天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/>
                        <a:t>上午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/>
                        <a:t>第一堂课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08:30-10:30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1.5h(</a:t>
                      </a:r>
                      <a:r>
                        <a:rPr lang="zh-CN" altLang="en-US" sz="1400" kern="1200" dirty="0" smtClean="0"/>
                        <a:t>讲课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0.5(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练习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第四章第一节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CN" sz="1400" u="none" strike="noStrike" dirty="0" smtClean="0">
                          <a:effectLst/>
                        </a:rPr>
                        <a:t>Cache</a:t>
                      </a:r>
                      <a:r>
                        <a:rPr lang="zh-CN" altLang="en-US" sz="1400" u="none" strike="noStrike" dirty="0" smtClean="0">
                          <a:effectLst/>
                        </a:rPr>
                        <a:t>面向对象开发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u="none" strike="noStrike" dirty="0" smtClean="0">
                          <a:effectLst/>
                        </a:rPr>
                        <a:t>1.Caché</a:t>
                      </a:r>
                      <a:r>
                        <a:rPr lang="zh-CN" altLang="en-US" sz="1400" u="none" strike="noStrike" dirty="0" smtClean="0">
                          <a:effectLst/>
                        </a:rPr>
                        <a:t>面向对象实现增删改查</a:t>
                      </a:r>
                      <a:endParaRPr lang="zh-CN" altLang="en-US" sz="1400" b="0" i="0" u="none" strike="noStrike" dirty="0" smtClean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492" marR="7492" marT="7492" marB="0" anchor="ctr"/>
                </a:tc>
              </a:tr>
              <a:tr h="549501">
                <a:tc vMerge="1">
                  <a:tcPr marL="7492" marR="7492" marT="7492" marB="0" anchor="ctr"/>
                </a:tc>
                <a:tc vMerge="1"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 smtClean="0"/>
                        <a:t>休息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20min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hMerge="1">
                  <a:tcPr/>
                </a:tc>
                <a:tc hMerge="1">
                  <a:tcPr marL="7492" marR="7492" marT="7492" marB="0" anchor="ctr"/>
                </a:tc>
              </a:tr>
              <a:tr h="967612">
                <a:tc vMerge="1">
                  <a:tcPr marL="7492" marR="7492" marT="7492" marB="0" anchor="ctr"/>
                </a:tc>
                <a:tc vMerge="1"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第二堂课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/>
                        <a:t>10:50-12:00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1h(</a:t>
                      </a:r>
                      <a:r>
                        <a:rPr lang="zh-CN" altLang="en-US" sz="1400" kern="1200" dirty="0" smtClean="0"/>
                        <a:t>讲课</a:t>
                      </a:r>
                      <a:r>
                        <a:rPr lang="en-US" altLang="zh-CN" sz="1400" kern="1200" dirty="0" smtClean="0"/>
                        <a:t>)</a:t>
                      </a:r>
                      <a:endParaRPr lang="en-US" altLang="zh-CN" sz="1400" kern="1200" dirty="0" smtClean="0"/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/>
                        <a:t>0.5h(</a:t>
                      </a:r>
                      <a:r>
                        <a:rPr lang="zh-CN" altLang="en-US" sz="1400" kern="1200" dirty="0" smtClean="0"/>
                        <a:t>练习</a:t>
                      </a:r>
                      <a:r>
                        <a:rPr lang="en-US" altLang="zh-CN" sz="1400" kern="1200" dirty="0" smtClean="0"/>
                        <a:t>)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第四章第三节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u="none" strike="noStrike" dirty="0" smtClean="0">
                          <a:effectLst/>
                        </a:rPr>
                        <a:t>父子表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300355" indent="-228600" algn="l" fontAlgn="b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u="none" strike="noStrike" dirty="0" smtClean="0">
                          <a:effectLst/>
                        </a:rPr>
                        <a:t>父子表的理解</a:t>
                      </a:r>
                      <a:endParaRPr lang="zh-CN" altLang="en-US" sz="1400" u="none" strike="noStrike" dirty="0" smtClean="0">
                        <a:effectLst/>
                      </a:endParaRPr>
                    </a:p>
                    <a:p>
                      <a:pPr marL="300355" indent="-228600" algn="l" fontAlgn="b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u="none" strike="noStrike" dirty="0" smtClean="0">
                          <a:effectLst/>
                        </a:rPr>
                        <a:t>父子关系的定义</a:t>
                      </a:r>
                      <a:endParaRPr lang="zh-CN" altLang="en-US" sz="1400" u="none" strike="noStrike" dirty="0" smtClean="0">
                        <a:effectLst/>
                      </a:endParaRPr>
                    </a:p>
                    <a:p>
                      <a:pPr marL="300355" indent="-228600" algn="l" fontAlgn="b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u="none" strike="noStrike" dirty="0" smtClean="0">
                          <a:effectLst/>
                        </a:rPr>
                        <a:t>父子表的创建步骤</a:t>
                      </a:r>
                      <a:endParaRPr lang="zh-CN" altLang="en-US" sz="1400" u="none" strike="noStrike" dirty="0" smtClean="0">
                        <a:effectLst/>
                      </a:endParaRPr>
                    </a:p>
                  </a:txBody>
                  <a:tcPr marL="7492" marR="7492" marT="7492" marB="0" anchor="ctr"/>
                </a:tc>
              </a:tr>
              <a:tr h="580143">
                <a:tc vMerge="1">
                  <a:tcPr marL="7492" marR="7492" marT="7492" marB="0" anchor="ctr"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下午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第三堂课</a:t>
                      </a:r>
                      <a:endParaRPr lang="zh-CN" altLang="en-US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13:30-15:30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1.5h(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讲课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0.5h(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练习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/>
                        <a:t>第四章第三节</a:t>
                      </a:r>
                      <a:endParaRPr lang="zh-CN" altLang="en-US" sz="1400" kern="1200" dirty="0" smtClean="0"/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71755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父子表</a:t>
                      </a:r>
                      <a:endParaRPr lang="zh-CN" altLang="en-US" sz="14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71755" marR="0" lvl="0" indent="0" algn="l" defTabSz="914400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defRPr/>
                      </a:pPr>
                      <a:r>
                        <a:rPr lang="en-US" altLang="zh-CN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 </a:t>
                      </a: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子表的增删改查</a:t>
                      </a:r>
                      <a:endParaRPr lang="en-US" altLang="zh-CN" sz="14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</a:tr>
              <a:tr h="172445">
                <a:tc vMerge="1">
                  <a:tcPr marL="7492" marR="7492" marT="7492" marB="0" anchor="ctr"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休息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20min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 gridSpan="3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7492" marR="7492" marT="7492" marB="0" anchor="ctr"/>
                </a:tc>
                <a:tc hMerge="1">
                  <a:tcPr marL="7492" marR="7492" marT="7492" marB="0" anchor="ctr"/>
                </a:tc>
                <a:tc hMerge="1">
                  <a:tcPr marL="7492" marR="7492" marT="7492" marB="0" anchor="ctr"/>
                </a:tc>
              </a:tr>
              <a:tr h="643826">
                <a:tc vMerge="1">
                  <a:tcPr marL="7492" marR="7492" marT="7492" marB="0" anchor="ctr"/>
                </a:tc>
                <a:tc vMerge="1"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第四堂课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16:00-17:00</a:t>
                      </a:r>
                      <a:endParaRPr lang="zh-CN" altLang="en-US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0.5h(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讲课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0.5h(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练习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zh-CN" sz="1400" kern="12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0.5h(</a:t>
                      </a:r>
                      <a:r>
                        <a:rPr lang="zh-CN" altLang="en-US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复习</a:t>
                      </a:r>
                      <a:r>
                        <a:rPr lang="en-US" altLang="zh-CN" sz="1400" kern="12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kern="1200" dirty="0" smtClean="0"/>
                        <a:t>第五章第一节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CN" sz="1400" u="none" strike="noStrike" dirty="0" err="1" smtClean="0">
                          <a:effectLst/>
                        </a:rPr>
                        <a:t>webservice</a:t>
                      </a:r>
                      <a:r>
                        <a:rPr lang="zh-CN" altLang="en-US" sz="1400" u="none" strike="noStrike" dirty="0" smtClean="0">
                          <a:effectLst/>
                        </a:rPr>
                        <a:t>调用与提供</a:t>
                      </a:r>
                      <a:endParaRPr lang="zh-CN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  <a:tc>
                  <a:txBody>
                    <a:bodyPr/>
                    <a:lstStyle/>
                    <a:p>
                      <a:pPr marL="300355" indent="-228600" algn="l" defTabSz="914400" rtl="0" eaLnBrk="1" fontAlgn="b" latinLnBrk="0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altLang="zh-CN" sz="14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WebService</a:t>
                      </a: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技术的概念</a:t>
                      </a:r>
                      <a:endParaRPr lang="en-US" altLang="zh-CN" sz="14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00355" indent="-228600" algn="l" defTabSz="914400" rtl="0" eaLnBrk="1" fontAlgn="b" latinLnBrk="0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新建</a:t>
                      </a:r>
                      <a:r>
                        <a:rPr lang="en-US" altLang="zh-CN" sz="14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WebService</a:t>
                      </a: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的步骤</a:t>
                      </a:r>
                      <a:endParaRPr lang="zh-CN" altLang="en-US" sz="14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00355" indent="-228600" algn="l" defTabSz="914400" rtl="0" eaLnBrk="1" fontAlgn="b" latinLnBrk="0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调用</a:t>
                      </a:r>
                      <a:r>
                        <a:rPr lang="en-US" altLang="zh-CN" sz="14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WebService</a:t>
                      </a: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技术</a:t>
                      </a:r>
                      <a:endParaRPr lang="en-US" altLang="zh-CN" sz="1400" u="none" strike="noStrike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00355" indent="-228600" algn="l" defTabSz="914400" rtl="0" eaLnBrk="1" fontAlgn="b" latinLnBrk="0" hangingPunct="1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提供</a:t>
                      </a:r>
                      <a:r>
                        <a:rPr lang="en-US" altLang="zh-CN" sz="14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WebService</a:t>
                      </a:r>
                      <a:r>
                        <a:rPr lang="zh-CN" altLang="en-US" sz="14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接口</a:t>
                      </a:r>
                      <a:endParaRPr lang="zh-CN" altLang="en-US" sz="14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2" marR="7492" marT="7492" marB="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707833" y="1397006"/>
            <a:ext cx="128143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rgbClr val="1F4E79"/>
                </a:solidFill>
                <a:latin typeface="Arial" panose="020B0604020202020204" pitchFamily="34" charset="0"/>
              </a:rPr>
              <a:t>、新增</a:t>
            </a:r>
            <a:endParaRPr lang="en-US" altLang="zh-CN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34"/>
          <p:cNvSpPr txBox="1">
            <a:spLocks noChangeArrowheads="1"/>
          </p:cNvSpPr>
          <p:nvPr/>
        </p:nvSpPr>
        <p:spPr bwMode="auto">
          <a:xfrm>
            <a:off x="1350575" y="882829"/>
            <a:ext cx="45618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Caché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面向对象实现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增、删、改、查</a:t>
            </a:r>
            <a:endParaRPr lang="zh-CN" alt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899888" y="845905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02105" y="1318661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注意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：字段定义时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大驼峰、小驼峰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格式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5260" y="1765300"/>
            <a:ext cx="9875520" cy="4504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79612" y="1164119"/>
            <a:ext cx="2349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4</a:t>
            </a:r>
            <a:r>
              <a:rPr lang="zh-CN" altLang="en-US" dirty="0" smtClean="0">
                <a:solidFill>
                  <a:srgbClr val="1F4E79"/>
                </a:solidFill>
                <a:latin typeface="Arial" panose="020B0604020202020204" pitchFamily="34" charset="0"/>
              </a:rPr>
              <a:t>、更新</a:t>
            </a: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UPADATE</a:t>
            </a:r>
            <a:endParaRPr lang="en-US" altLang="zh-CN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366638" y="5449755"/>
            <a:ext cx="7901916" cy="917218"/>
            <a:chOff x="376972" y="4936104"/>
            <a:chExt cx="8244070" cy="917218"/>
          </a:xfrm>
        </p:grpSpPr>
        <p:sp>
          <p:nvSpPr>
            <p:cNvPr id="14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787090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请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使用学生表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，课程科目表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DHC_Course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实现面向对象的增删改查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/>
            <p:cNvGrpSpPr/>
            <p:nvPr/>
          </p:nvGrpSpPr>
          <p:grpSpPr>
            <a:xfrm>
              <a:off x="376972" y="4936104"/>
              <a:ext cx="4204393" cy="461665"/>
              <a:chOff x="376972" y="4936104"/>
              <a:chExt cx="4204393" cy="461665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411705" y="4936104"/>
                <a:ext cx="41696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练习 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10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8" name="图片 1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1534795"/>
            <a:ext cx="8665210" cy="3914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293768" y="869216"/>
            <a:ext cx="22557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rgbClr val="1F4E79"/>
                </a:solidFill>
                <a:latin typeface="Arial" panose="020B0604020202020204" pitchFamily="34" charset="0"/>
              </a:rPr>
              <a:t>、删除 </a:t>
            </a: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DELETE</a:t>
            </a:r>
            <a:endParaRPr lang="en-US" altLang="zh-CN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4160" y="1238885"/>
            <a:ext cx="8369300" cy="5196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第一节  </a:t>
            </a:r>
            <a:r>
              <a:rPr lang="en-US" altLang="zh-CN" dirty="0" err="1">
                <a:sym typeface="+mn-ea"/>
              </a:rPr>
              <a:t>Caché</a:t>
            </a:r>
            <a:r>
              <a:rPr lang="zh-CN" altLang="en-US" dirty="0">
                <a:sym typeface="+mn-ea"/>
              </a:rPr>
              <a:t>面向对象开发</a:t>
            </a:r>
            <a:endParaRPr lang="zh-CN" altLang="en-US" dirty="0"/>
          </a:p>
        </p:txBody>
      </p:sp>
      <p:sp>
        <p:nvSpPr>
          <p:cNvPr id="3" name="Rectangle 4"/>
          <p:cNvSpPr>
            <a:spLocks noGrp="1" noChangeArrowheads="1"/>
          </p:cNvSpPr>
          <p:nvPr/>
        </p:nvSpPr>
        <p:spPr bwMode="auto">
          <a:xfrm>
            <a:off x="1547813" y="2895600"/>
            <a:ext cx="6172200" cy="167401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20000"/>
              </a:spcBef>
            </a:pPr>
            <a:endParaRPr lang="zh-CN" altLang="en-US" sz="1275" dirty="0"/>
          </a:p>
        </p:txBody>
      </p:sp>
      <p:sp>
        <p:nvSpPr>
          <p:cNvPr id="7" name="矩形 6"/>
          <p:cNvSpPr/>
          <p:nvPr/>
        </p:nvSpPr>
        <p:spPr>
          <a:xfrm>
            <a:off x="3197548" y="1126523"/>
            <a:ext cx="2191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rgbClr val="1F4E79"/>
                </a:solidFill>
                <a:latin typeface="Arial" panose="020B0604020202020204" pitchFamily="34" charset="0"/>
              </a:rPr>
              <a:t>、查询</a:t>
            </a:r>
            <a:r>
              <a:rPr lang="en-US" altLang="zh-CN" dirty="0" smtClean="0">
                <a:solidFill>
                  <a:srgbClr val="1F4E79"/>
                </a:solidFill>
                <a:latin typeface="Arial" panose="020B0604020202020204" pitchFamily="34" charset="0"/>
              </a:rPr>
              <a:t>SELECT</a:t>
            </a:r>
            <a:endParaRPr lang="en-US" altLang="zh-CN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725" y="1496060"/>
            <a:ext cx="8060055" cy="4709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6464" y="4466151"/>
            <a:ext cx="4961578" cy="23837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758" y="1338260"/>
            <a:ext cx="5023284" cy="25534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6212800" y="850383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：账单大类与账单子类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46220" y="403837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示例：医嘱表与医嘱明细表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3332" y="900502"/>
            <a:ext cx="6611574" cy="1835463"/>
            <a:chOff x="1502432" y="1650162"/>
            <a:chExt cx="6611574" cy="1835463"/>
          </a:xfrm>
        </p:grpSpPr>
        <p:sp>
          <p:nvSpPr>
            <p:cNvPr id="9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、父子表的理解</a:t>
              </a:r>
              <a:endPara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、父子关系的定义</a:t>
              </a:r>
              <a:endPara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、父子表的创建步骤</a:t>
              </a:r>
              <a:endPara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  <a:p>
              <a:pPr algn="just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dirty="0" smtClean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、子表的增删</a:t>
              </a:r>
              <a:r>
                <a:rPr lang="zh-CN" altLang="en-US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</a:rPr>
                <a:t>改查</a:t>
              </a:r>
              <a:endPara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608119" y="1650162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父子表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1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3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学习内容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>
              <a:off x="2671816" y="2225790"/>
              <a:ext cx="3636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34"/>
          <p:cNvSpPr txBox="1">
            <a:spLocks noChangeArrowheads="1"/>
          </p:cNvSpPr>
          <p:nvPr/>
        </p:nvSpPr>
        <p:spPr bwMode="auto">
          <a:xfrm>
            <a:off x="1373791" y="3586783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父子</a:t>
            </a:r>
            <a:r>
              <a:rPr lang="zh-CN" alt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表的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理解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99888" y="3568321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350575" y="4142986"/>
            <a:ext cx="36973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：账单大类与账单子类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u"/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：医嘱表与医嘱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明细表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654547" y="3436285"/>
            <a:ext cx="3528392" cy="28803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 smtClean="0"/>
          </a:p>
        </p:txBody>
      </p:sp>
      <p:sp>
        <p:nvSpPr>
          <p:cNvPr id="8" name="文本框 34"/>
          <p:cNvSpPr txBox="1">
            <a:spLocks noChangeArrowheads="1"/>
          </p:cNvSpPr>
          <p:nvPr/>
        </p:nvSpPr>
        <p:spPr bwMode="auto">
          <a:xfrm>
            <a:off x="1373791" y="1041008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父子关系的定义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899888" y="102254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25231" y="1728125"/>
            <a:ext cx="52476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①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RelationShip的特点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只有持久类能定义RelationShip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RelationShip是双向的，在两个类中都要定义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两种类型：1-n；父子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自动保证数据完整性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RelationShip解析为关系表中的外键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②父子关系的定义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定义方法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7175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存储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53250" y="95213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父表的定义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036328" y="287267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子表的定义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30" y="1321435"/>
            <a:ext cx="4140200" cy="14751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595" y="3242310"/>
            <a:ext cx="4794885" cy="1095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30" y="4411345"/>
            <a:ext cx="7537450" cy="2150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861749" y="1125404"/>
            <a:ext cx="483294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父子</a:t>
            </a:r>
            <a:r>
              <a:rPr lang="zh-CN" altLang="en-US" dirty="0"/>
              <a:t>表间的</a:t>
            </a:r>
            <a:r>
              <a:rPr lang="en-US" altLang="zh-CN" dirty="0" err="1"/>
              <a:t>RelationShip</a:t>
            </a:r>
            <a:r>
              <a:rPr lang="zh-CN" altLang="en-US" dirty="0" smtClean="0"/>
              <a:t>定义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 smtClean="0"/>
              <a:t>子</a:t>
            </a:r>
            <a:r>
              <a:rPr lang="zh-CN" altLang="en-US" dirty="0"/>
              <a:t>表中</a:t>
            </a:r>
            <a:r>
              <a:rPr lang="en-US" altLang="zh-CN" dirty="0" err="1"/>
              <a:t>ChildSub</a:t>
            </a:r>
            <a:r>
              <a:rPr lang="zh-CN" altLang="en-US" dirty="0"/>
              <a:t>的</a:t>
            </a:r>
            <a:r>
              <a:rPr lang="zh-CN" altLang="en-US" dirty="0" smtClean="0"/>
              <a:t>定义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子表中</a:t>
            </a:r>
            <a:r>
              <a:rPr lang="en-US" altLang="zh-CN" dirty="0" err="1"/>
              <a:t>ChildSub</a:t>
            </a:r>
            <a:r>
              <a:rPr lang="zh-CN" altLang="en-US" dirty="0"/>
              <a:t>的</a:t>
            </a:r>
            <a:r>
              <a:rPr lang="en-US" altLang="zh-CN" dirty="0"/>
              <a:t>Index</a:t>
            </a:r>
            <a:r>
              <a:rPr lang="zh-CN" altLang="en-US" dirty="0" smtClean="0"/>
              <a:t>定义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子</a:t>
            </a:r>
            <a:r>
              <a:rPr lang="zh-CN" altLang="en-US" dirty="0"/>
              <a:t>表</a:t>
            </a:r>
            <a:r>
              <a:rPr lang="en-US" altLang="zh-CN" dirty="0" err="1"/>
              <a:t>SQLStorage</a:t>
            </a:r>
            <a:r>
              <a:rPr lang="zh-CN" altLang="en-US" dirty="0"/>
              <a:t>的</a:t>
            </a:r>
            <a:r>
              <a:rPr lang="en-US" altLang="zh-CN" dirty="0" err="1"/>
              <a:t>DataMaster</a:t>
            </a:r>
            <a:r>
              <a:rPr lang="zh-CN" altLang="en-US" dirty="0"/>
              <a:t>的</a:t>
            </a:r>
            <a:r>
              <a:rPr lang="zh-CN" altLang="en-US" dirty="0" smtClean="0"/>
              <a:t>定义</a:t>
            </a:r>
            <a:endParaRPr lang="en-US" altLang="zh-CN" dirty="0" smtClean="0"/>
          </a:p>
        </p:txBody>
      </p:sp>
      <p:sp>
        <p:nvSpPr>
          <p:cNvPr id="13" name="文本框 34"/>
          <p:cNvSpPr txBox="1">
            <a:spLocks noChangeArrowheads="1"/>
          </p:cNvSpPr>
          <p:nvPr/>
        </p:nvSpPr>
        <p:spPr bwMode="auto">
          <a:xfrm>
            <a:off x="1767718" y="853319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父子表的创建步骤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241858" y="845256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67970" y="2633980"/>
            <a:ext cx="9638665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第一步：父子表间的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RelationShip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定义</a:t>
            </a:r>
            <a:endParaRPr lang="en-US" altLang="zh-CN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21" y="6001774"/>
            <a:ext cx="11714742" cy="4740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534670" y="3140710"/>
            <a:ext cx="980503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父表： </a:t>
            </a:r>
            <a:endParaRPr lang="zh-CN" altLang="en-US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Relationship ChildStudentCourse As User.DHCStudentCourse [ Cardinality = children, Inverse = DHCSCStParRef ]</a:t>
            </a:r>
            <a:endParaRPr lang="zh-CN" altLang="en-US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子表：</a:t>
            </a:r>
            <a:endParaRPr lang="zh-CN" altLang="en-US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Index RowIDBasedIDKeyIndex On DHCSCChildsub [ IdKey, PrimaryKey, Unique ];</a:t>
            </a:r>
            <a:endParaRPr lang="zh-CN" altLang="en-US" sz="16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Relationship DHCSCStParRef As User.DHCStudent [ Cardinality = parent, Inverse = ChildStudentCourse, Required, SqlFieldName = DHCSC_St_ParRef ];</a:t>
            </a:r>
            <a:endParaRPr lang="zh-CN" altLang="en-US" sz="16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endParaRPr lang="zh-CN" altLang="en-US" sz="16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sym typeface="+mn-ea"/>
            </a:endParaRPr>
          </a:p>
          <a:p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sym typeface="+mn-ea"/>
              </a:rPr>
              <a:t>Property DHCSCChildsub As %Numeric(SCALE = 0) [ InitialExpression = {$i(^DHCSTUDENT(+$s($d(initvalue):initvalue,1:%d(0)),"C",0))}, Required, SqlColumnNumber = 2, SqlFieldName = DHCSC_Childsub ];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273031" y="933045"/>
            <a:ext cx="3429144" cy="4540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第二步：子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表中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ChildSub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的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定义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91" y="4200282"/>
            <a:ext cx="4202174" cy="26248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739" y="4281055"/>
            <a:ext cx="4172337" cy="25336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19" y="1578180"/>
            <a:ext cx="4285301" cy="25773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739" y="1598962"/>
            <a:ext cx="4188189" cy="25773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346" y="1598962"/>
            <a:ext cx="2763982" cy="518351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753802" y="1604121"/>
            <a:ext cx="399340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第三步：子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表中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ChildSub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的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Index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定义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53802" y="3492066"/>
            <a:ext cx="495520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第四步：子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表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SQLStorage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的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DataMaster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的定义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938" y="989961"/>
            <a:ext cx="4348135" cy="25420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039" y="3999897"/>
            <a:ext cx="4512545" cy="27602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524" y="3999897"/>
            <a:ext cx="4349853" cy="27602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341286" y="1405384"/>
            <a:ext cx="10015977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 smtClean="0">
                <a:solidFill>
                  <a:srgbClr val="1F4E79"/>
                </a:solidFill>
                <a:latin typeface="Arial" panose="020B0604020202020204" pitchFamily="34" charset="0"/>
              </a:rPr>
              <a:t>父子表 创建</a:t>
            </a:r>
            <a:r>
              <a:rPr lang="zh-CN" altLang="en-US" sz="2000" dirty="0">
                <a:solidFill>
                  <a:srgbClr val="1F4E79"/>
                </a:solidFill>
                <a:latin typeface="Arial" panose="020B0604020202020204" pitchFamily="34" charset="0"/>
              </a:rPr>
              <a:t>步骤描述：</a:t>
            </a:r>
            <a:endParaRPr lang="en-US" altLang="zh-CN" sz="20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Relationship 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copy  改：父表 和子表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子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表 ChildSub copy  改：sub名称 + InitialExpression (storage 未确定 可以先不修改)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子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表对 ChildSub 加 index  [ IdKey, PrimaryKey, Unique ]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新建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一个storage , SQLStoage  去定义主索引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DataMap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里 subscripts 去定义Global节点  第一级节点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：</a:t>
            </a:r>
            <a:endParaRPr lang="en-US" altLang="zh-CN" sz="1600" dirty="0" smtClean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1F4E7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{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父表.RowId }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{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DHC_BStudent.St_RowId}///  最后一级节点是 {ChildSub}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6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.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DataMap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里 RowId  父表.RowId {L1}     ChildSub {Lx}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7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.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定义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SqlRowIdName 属性值 注意: SqlIdExpression 不用去定义</a:t>
            </a:r>
            <a:endParaRPr lang="en-US" altLang="zh-CN" sz="1600" dirty="0">
              <a:solidFill>
                <a:srgbClr val="1F4E79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8</a:t>
            </a:r>
            <a:r>
              <a:rPr lang="en-US" altLang="zh-CN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. </a:t>
            </a:r>
            <a:r>
              <a:rPr lang="zh-CN" altLang="en-US" sz="1600" dirty="0" smtClean="0">
                <a:solidFill>
                  <a:srgbClr val="1F4E79"/>
                </a:solidFill>
                <a:latin typeface="Arial" panose="020B0604020202020204" pitchFamily="34" charset="0"/>
              </a:rPr>
              <a:t>  storage </a:t>
            </a:r>
            <a:r>
              <a:rPr lang="zh-CN" altLang="en-US" sz="1600" dirty="0">
                <a:solidFill>
                  <a:srgbClr val="1F4E79"/>
                </a:solidFill>
                <a:latin typeface="Arial" panose="020B0604020202020204" pitchFamily="34" charset="0"/>
              </a:rPr>
              <a:t>已经确定，对 ChildSub 修改 InitialExpression:Global 名称 附加节点 </a:t>
            </a:r>
            <a:endParaRPr lang="zh-CN" altLang="en-US" sz="1600" dirty="0">
              <a:solidFill>
                <a:srgbClr val="1F4E7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0000"/>
          </a:bodyPr>
          <a:p>
            <a:pPr>
              <a:lnSpc>
                <a:spcPct val="150000"/>
              </a:lnSpc>
              <a:buFontTx/>
              <a:buAutoNum type="arabicPeriod"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创建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DHC_StudentCourse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学生选课表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学生表的子表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)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 要求 ：  存储 ：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Global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使用学生表的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Global  ^DHCSTUDNET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（根据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		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实际学生表的存储而定）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indent="0">
              <a:lnSpc>
                <a:spcPct val="150000"/>
              </a:lnSpc>
              <a:buFontTx/>
              <a:buNone/>
            </a:pP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	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字段：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DHCScCourseDR    DHCScScore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 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上午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上午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13" name="文本框 34"/>
          <p:cNvSpPr txBox="1">
            <a:spLocks noChangeArrowheads="1"/>
          </p:cNvSpPr>
          <p:nvPr/>
        </p:nvSpPr>
        <p:spPr bwMode="auto">
          <a:xfrm>
            <a:off x="1868857" y="894945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子表的增、删、改、查</a:t>
            </a:r>
            <a:endParaRPr lang="en-US" altLang="zh-CN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342997" y="886882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68857" y="1419225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：新增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703149" y="1323916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：更新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05" y="1788557"/>
            <a:ext cx="5135122" cy="503502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206" y="1788556"/>
            <a:ext cx="5376429" cy="49675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第三节  </a:t>
            </a:r>
            <a:r>
              <a:rPr lang="zh-CN" altLang="en-US" dirty="0">
                <a:sym typeface="+mn-ea"/>
              </a:rPr>
              <a:t>父子表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898803" y="1069438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：删除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95275" y="1591704"/>
            <a:ext cx="1467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示例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：查询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022" y="2573992"/>
            <a:ext cx="6505575" cy="3162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51" y="1776370"/>
            <a:ext cx="5138559" cy="475754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练习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835785" y="1717675"/>
            <a:ext cx="7270750" cy="3331641"/>
            <a:chOff x="376972" y="4936104"/>
            <a:chExt cx="7310371" cy="1881456"/>
          </a:xfrm>
        </p:grpSpPr>
        <p:sp>
          <p:nvSpPr>
            <p:cNvPr id="9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6937202" cy="1302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FontTx/>
                <a:buAutoNum type="arabicPeriod"/>
              </a:pP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了解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Cach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é的面向对象知识。阅读Using Caché Objects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buFontTx/>
                <a:buAutoNum type="arabicPeriod"/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创建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DHC_StudentCourse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学生选课表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学生表的子表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  <a:p>
              <a:pPr indent="0">
                <a:lnSpc>
                  <a:spcPct val="150000"/>
                </a:lnSpc>
                <a:buFontTx/>
                <a:buNone/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  要求 ：  存储 ：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Global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使用学生表的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Global  ^DHCSTUDNET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（根据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		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实际学生表的存储而定）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  <a:p>
              <a:pPr indent="0">
                <a:lnSpc>
                  <a:spcPct val="150000"/>
                </a:lnSpc>
                <a:buFontTx/>
                <a:buNone/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	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字段：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DHCScCourseDR    DHCScScore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  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  <a:p>
              <a:pPr indent="0">
                <a:lnSpc>
                  <a:spcPct val="150000"/>
                </a:lnSpc>
                <a:buFontTx/>
                <a:buNone/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3.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 对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DHC_StudentCourse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进行数据查询 、新增 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对象方式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376972" y="4936104"/>
              <a:ext cx="4204393" cy="442992"/>
              <a:chOff x="376972" y="4936104"/>
              <a:chExt cx="4204393" cy="442992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411705" y="4936104"/>
                <a:ext cx="4169660" cy="259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练习 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11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067694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1779662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课间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休息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5700125" y="1563638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6348197" y="1419622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2196019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第一节课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 smtClean="0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83679" y="4306185"/>
            <a:ext cx="9932243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 service是一个平台独立的，低耦合的，自包含的、基于可编程的web的应用程序，可使用开放的XML(标准通用标记语言下的一个子集)标准来描述、发布、发现、协调和配置这些应用程序，用于开发分布式的互操作的应用程序。     </a:t>
            </a:r>
            <a:endParaRPr lang="zh-CN" altLang="en-US" sz="14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zh-CN" altLang="en-US" sz="14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 Service技术， 能使得运行在不同机器上的不同应用无须借助附加的、专门的第三方软件或硬件， 就可相互交换数据或集成。</a:t>
            </a:r>
            <a:endParaRPr lang="zh-CN" altLang="en-US" sz="1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81991" y="784524"/>
            <a:ext cx="6611574" cy="2132057"/>
            <a:chOff x="1502432" y="1722899"/>
            <a:chExt cx="6611574" cy="2132057"/>
          </a:xfrm>
        </p:grpSpPr>
        <p:sp>
          <p:nvSpPr>
            <p:cNvPr id="8" name="矩形 57"/>
            <p:cNvSpPr>
              <a:spLocks noChangeArrowheads="1"/>
            </p:cNvSpPr>
            <p:nvPr/>
          </p:nvSpPr>
          <p:spPr bwMode="auto">
            <a:xfrm>
              <a:off x="2641893" y="2285296"/>
              <a:ext cx="5472113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WebService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技术概念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、新建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WebService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的步骤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3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、调用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WebService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技术</a:t>
              </a:r>
              <a:endPara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、提供</a:t>
              </a:r>
              <a:r>
                <a:rPr lang="en-US" altLang="zh-CN" sz="1600" dirty="0" err="1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WebService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接口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608119" y="1756935"/>
              <a:ext cx="28746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WebService</a:t>
              </a:r>
              <a:r>
                <a:rPr lang="zh-CN" altLang="en-US" sz="20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的应用开发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0" name="组合 73"/>
            <p:cNvGrpSpPr/>
            <p:nvPr/>
          </p:nvGrpSpPr>
          <p:grpSpPr bwMode="auto">
            <a:xfrm>
              <a:off x="1502432" y="1722899"/>
              <a:ext cx="1105687" cy="1052310"/>
              <a:chOff x="498342" y="103823"/>
              <a:chExt cx="1104763" cy="1051430"/>
            </a:xfrm>
            <a:solidFill>
              <a:schemeClr val="accent1">
                <a:lumMod val="50000"/>
              </a:schemeClr>
            </a:solidFill>
          </p:grpSpPr>
          <p:sp>
            <p:nvSpPr>
              <p:cNvPr id="12" name="椭圆 55"/>
              <p:cNvSpPr>
                <a:spLocks noChangeArrowheads="1"/>
              </p:cNvSpPr>
              <p:nvPr/>
            </p:nvSpPr>
            <p:spPr bwMode="auto">
              <a:xfrm>
                <a:off x="498342" y="103823"/>
                <a:ext cx="1104763" cy="105143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 eaLnBrk="1" hangingPunct="1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文本框 60"/>
              <p:cNvSpPr txBox="1">
                <a:spLocks noChangeArrowheads="1"/>
              </p:cNvSpPr>
              <p:nvPr/>
            </p:nvSpPr>
            <p:spPr bwMode="auto">
              <a:xfrm>
                <a:off x="679098" y="280483"/>
                <a:ext cx="762844" cy="70729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algn="ctr" eaLnBrk="1" hangingPunct="1"/>
                <a:r>
                  <a:rPr lang="zh-CN" altLang="en-US" sz="2000" dirty="0" smtClean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学习要点</a:t>
                </a:r>
                <a:endParaRPr lang="zh-CN" altLang="en-US" sz="2000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>
              <a:off x="2671816" y="2225790"/>
              <a:ext cx="2628000" cy="0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34"/>
          <p:cNvSpPr txBox="1">
            <a:spLocks noChangeArrowheads="1"/>
          </p:cNvSpPr>
          <p:nvPr/>
        </p:nvSpPr>
        <p:spPr bwMode="auto">
          <a:xfrm>
            <a:off x="1645876" y="3739105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技术的概念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122452" y="3702181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2532221" y="4237197"/>
            <a:ext cx="4256723" cy="2769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endParaRPr lang="zh-CN" altLang="en-US" sz="1200"/>
          </a:p>
        </p:txBody>
      </p:sp>
      <p:pic>
        <p:nvPicPr>
          <p:cNvPr id="5" name="图片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0567" y="2959133"/>
            <a:ext cx="4443629" cy="30784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/>
        </p:nvSpPr>
        <p:spPr>
          <a:xfrm>
            <a:off x="7000575" y="1302001"/>
            <a:ext cx="191863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处为包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名；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处为类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名；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处为服务</a:t>
            </a: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名；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点击完成。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34"/>
          <p:cNvSpPr txBox="1">
            <a:spLocks noChangeArrowheads="1"/>
          </p:cNvSpPr>
          <p:nvPr/>
        </p:nvSpPr>
        <p:spPr bwMode="auto">
          <a:xfrm>
            <a:off x="1040151" y="866049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新建</a:t>
            </a:r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服的步骤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53117" y="862655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2" name="图片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17" y="2987412"/>
            <a:ext cx="4970162" cy="305356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/>
        </p:nvSpPr>
        <p:spPr>
          <a:xfrm>
            <a:off x="1817650" y="2419561"/>
            <a:ext cx="1918638" cy="41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新建</a:t>
            </a:r>
            <a:r>
              <a:rPr lang="en-US" altLang="zh-CN"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WebService</a:t>
            </a:r>
            <a:endParaRPr lang="en-US" altLang="zh-CN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20047" y="1076197"/>
            <a:ext cx="444635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此时默认生成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Test()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方法，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新建方法须在后面添加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[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webmethod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]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标识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2504638"/>
            <a:ext cx="5431600" cy="25972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5" name="图片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456" y="2504638"/>
            <a:ext cx="6202279" cy="25972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6443873" y="1152635"/>
            <a:ext cx="5315133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r>
              <a:rPr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编译</a:t>
            </a:r>
            <a:endParaRPr 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</a:t>
            </a:r>
            <a:r>
              <a:rPr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发布</a:t>
            </a:r>
            <a:r>
              <a:rPr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1600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        </a:t>
            </a:r>
            <a:r>
              <a:rPr sz="1600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将此处的</a:t>
            </a: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URL后加上?WSDL交付第三方即可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7970" y="5207635"/>
            <a:ext cx="1160907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sys </a:t>
            </a:r>
            <a:r>
              <a:rPr lang="zh-CN" altLang="en-US"/>
              <a:t>命名空间下执行如下代码</a:t>
            </a:r>
            <a:endParaRPr lang="zh-CN" altLang="en-US"/>
          </a:p>
          <a:p>
            <a:r>
              <a:rPr lang="en-US" altLang="zh-CN"/>
              <a:t>zn “%SYS”</a:t>
            </a:r>
            <a:endParaRPr lang="zh-CN" altLang="en-US"/>
          </a:p>
          <a:p>
            <a:r>
              <a:rPr lang="zh-CN" altLang="en-US"/>
              <a:t>s ^SYS("Security","CSP","AllowClass","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/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imedical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/web/</a:t>
            </a:r>
            <a:r>
              <a:rPr lang="zh-CN" altLang="en-US"/>
              <a:t>","%CSP.UI.Portal.About") = 1   </a:t>
            </a:r>
            <a:endParaRPr lang="zh-CN" altLang="en-US"/>
          </a:p>
          <a:p>
            <a:r>
              <a:rPr lang="zh-CN" altLang="en-US"/>
              <a:t>s ^SYS("Security","CSP","AllowClass","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/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imedical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/web/</a:t>
            </a:r>
            <a:r>
              <a:rPr lang="zh-CN" altLang="en-US"/>
              <a:t>","%SOAP.WebServiceInfo") = 1 </a:t>
            </a:r>
            <a:endParaRPr lang="zh-CN" altLang="en-US"/>
          </a:p>
          <a:p>
            <a:r>
              <a:rPr lang="zh-CN" altLang="en-US"/>
              <a:t>s ^SYS("Security","CSP","AllowClass","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/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imedical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/web/</a:t>
            </a:r>
            <a:r>
              <a:rPr lang="zh-CN" altLang="en-US"/>
              <a:t>","%SOAP.WebServiceInvoke") = 1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pic>
        <p:nvPicPr>
          <p:cNvPr id="3" name="图片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664" y="1021661"/>
            <a:ext cx="9467683" cy="520249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4" name="内容占位符 2"/>
          <p:cNvSpPr txBox="1"/>
          <p:nvPr/>
        </p:nvSpPr>
        <p:spPr>
          <a:xfrm>
            <a:off x="1485265" y="1049655"/>
            <a:ext cx="9468485" cy="33947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smtClean="0"/>
          </a:p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dirty="0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368" y="2636727"/>
            <a:ext cx="5637802" cy="317790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608450" y="1996944"/>
            <a:ext cx="3325637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Tools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菜单下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Add-Ins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选项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478" y="2636727"/>
            <a:ext cx="5707619" cy="2791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746489" y="1996944"/>
            <a:ext cx="4207396" cy="41774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新建一个SOAP向导（SOAP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Wizard）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34"/>
          <p:cNvSpPr txBox="1">
            <a:spLocks noChangeArrowheads="1"/>
          </p:cNvSpPr>
          <p:nvPr/>
        </p:nvSpPr>
        <p:spPr bwMode="auto">
          <a:xfrm>
            <a:off x="1724691" y="1191808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调用</a:t>
            </a:r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273657" y="1173299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0375" y="5925185"/>
            <a:ext cx="113677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第三方接口  http://www.webxml.com.cn/WebServices/WeatherWebService.asmx? 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32534" y="1782926"/>
            <a:ext cx="501621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在红框中输入第三方提供的URL，点击下一步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843" y="2366650"/>
            <a:ext cx="5566930" cy="314294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860" y="2288556"/>
            <a:ext cx="4999485" cy="31935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7751869" y="1782926"/>
            <a:ext cx="250382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点击下一步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485900" y="1063467"/>
            <a:ext cx="6172200" cy="33944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smtClean="0"/>
          </a:p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dirty="0"/>
          </a:p>
        </p:txBody>
      </p:sp>
      <p:sp>
        <p:nvSpPr>
          <p:cNvPr id="4" name="文本框 3"/>
          <p:cNvSpPr txBox="1"/>
          <p:nvPr/>
        </p:nvSpPr>
        <p:spPr>
          <a:xfrm>
            <a:off x="1785927" y="1469204"/>
            <a:ext cx="304226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点击下一步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1" y="2224864"/>
            <a:ext cx="5985621" cy="377594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005" y="2224864"/>
            <a:ext cx="5804157" cy="3675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127514" y="1469204"/>
            <a:ext cx="606448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此时生成相应的SOAP类，红圈处为类的存储位置，点击完成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485900" y="1063467"/>
            <a:ext cx="6172200" cy="33944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smtClean="0"/>
          </a:p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dirty="0"/>
          </a:p>
        </p:txBody>
      </p:sp>
      <p:sp>
        <p:nvSpPr>
          <p:cNvPr id="4" name="文本框 3"/>
          <p:cNvSpPr txBox="1"/>
          <p:nvPr/>
        </p:nvSpPr>
        <p:spPr>
          <a:xfrm>
            <a:off x="523730" y="5000620"/>
            <a:ext cx="477982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若为自动打开此类，手动输入上图地址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50" y="1306775"/>
            <a:ext cx="5290985" cy="334974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371" y="1306775"/>
            <a:ext cx="6423094" cy="334974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6783227" y="4980921"/>
            <a:ext cx="495849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生成的SOAP类，以下为此接口提供的方法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90088" y="4534838"/>
            <a:ext cx="362643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新建测试类编写测试方法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4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1" y="1114782"/>
            <a:ext cx="5823618" cy="30371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5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013" y="976487"/>
            <a:ext cx="5166207" cy="315622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6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013" y="4919519"/>
            <a:ext cx="4972316" cy="1907308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6470815" y="4298074"/>
            <a:ext cx="3992829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新建测试类编写测试方法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3" name="内容占位符 2"/>
          <p:cNvSpPr txBox="1"/>
          <p:nvPr/>
        </p:nvSpPr>
        <p:spPr>
          <a:xfrm>
            <a:off x="1485900" y="1063467"/>
            <a:ext cx="6172200" cy="33944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smtClean="0"/>
          </a:p>
          <a:p>
            <a:pPr>
              <a:buFont typeface="Arial" panose="020B0604020202020204" pitchFamily="34" charset="0"/>
              <a:buNone/>
            </a:pPr>
            <a:r>
              <a:rPr lang="zh-CN" altLang="en-US" sz="2100" smtClean="0"/>
              <a:t>　　　　　</a:t>
            </a:r>
            <a:endParaRPr lang="zh-CN" altLang="en-US" sz="2100" dirty="0"/>
          </a:p>
        </p:txBody>
      </p:sp>
      <p:sp>
        <p:nvSpPr>
          <p:cNvPr id="4" name="文本框 3"/>
          <p:cNvSpPr txBox="1"/>
          <p:nvPr/>
        </p:nvSpPr>
        <p:spPr>
          <a:xfrm>
            <a:off x="107503" y="4121368"/>
            <a:ext cx="582950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运行结果为一对象，查询该对象Cache</a:t>
            </a:r>
            <a:r>
              <a:rPr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-&gt;Documentation</a:t>
            </a:r>
            <a:endParaRPr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1131590"/>
            <a:ext cx="5622856" cy="264031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6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007" y="1080560"/>
            <a:ext cx="5985864" cy="287188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pic>
        <p:nvPicPr>
          <p:cNvPr id="7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007" y="4301171"/>
            <a:ext cx="6067629" cy="220063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  <p:sp>
        <p:nvSpPr>
          <p:cNvPr id="8" name="文本框 7"/>
          <p:cNvSpPr txBox="1"/>
          <p:nvPr/>
        </p:nvSpPr>
        <p:spPr>
          <a:xfrm>
            <a:off x="492125" y="4617085"/>
            <a:ext cx="5059680" cy="156845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备注：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一般第三方才用</a:t>
            </a:r>
            <a:r>
              <a:rPr lang="en-US" altLang="zh-CN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webservice</a:t>
            </a:r>
            <a:r>
              <a:rPr lang="zh-CN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去调用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我们调用别人的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webservice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或别人调用我们的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webservcie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 )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自己的不需要调用</a:t>
            </a:r>
            <a:r>
              <a:rPr lang="en-US" altLang="zh-CN" sz="1600" dirty="0" err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webservice</a:t>
            </a:r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rPr>
              <a:t>，可直接调用类方法 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sp>
        <p:nvSpPr>
          <p:cNvPr id="6" name="文本框 34"/>
          <p:cNvSpPr txBox="1">
            <a:spLocks noChangeArrowheads="1"/>
          </p:cNvSpPr>
          <p:nvPr/>
        </p:nvSpPr>
        <p:spPr bwMode="auto">
          <a:xfrm>
            <a:off x="1776299" y="981618"/>
            <a:ext cx="40899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提供</a:t>
            </a:r>
            <a:r>
              <a:rPr lang="en-US" altLang="zh-CN" sz="2000" b="1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</a:t>
            </a:r>
            <a:r>
              <a:rPr lang="zh-CN" altLang="en-US" sz="2000" b="1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接口</a:t>
            </a:r>
            <a:endParaRPr lang="en-US" altLang="zh-CN" sz="2000" b="1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252875" y="944694"/>
            <a:ext cx="450687" cy="437034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文本框 34"/>
          <p:cNvSpPr txBox="1">
            <a:spLocks noChangeArrowheads="1"/>
          </p:cNvSpPr>
          <p:nvPr/>
        </p:nvSpPr>
        <p:spPr bwMode="auto">
          <a:xfrm>
            <a:off x="1776299" y="1446842"/>
            <a:ext cx="76170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eaLnBrk="1" hangingPunct="1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创建</a:t>
            </a:r>
            <a:r>
              <a:rPr lang="en-US" altLang="zh-CN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WebMethod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，提供</a:t>
            </a:r>
            <a:r>
              <a:rPr lang="en-US" altLang="zh-CN" dirty="0" err="1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WebService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接口</a:t>
            </a:r>
            <a:r>
              <a:rPr lang="en-US" altLang="zh-CN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——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以学生表为例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15" y="2096732"/>
            <a:ext cx="4962525" cy="4000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949" y="2096732"/>
            <a:ext cx="6372478" cy="4000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第五章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>
                <a:sym typeface="+mn-ea"/>
              </a:rPr>
              <a:t>第二节  </a:t>
            </a:r>
            <a:r>
              <a:rPr lang="en-US" altLang="zh-CN" dirty="0" err="1">
                <a:sym typeface="+mn-ea"/>
              </a:rPr>
              <a:t>webservice</a:t>
            </a:r>
            <a:r>
              <a:rPr lang="zh-CN" altLang="en-US" dirty="0">
                <a:sym typeface="+mn-ea"/>
              </a:rPr>
              <a:t>的应用开发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84" y="1133120"/>
            <a:ext cx="6550170" cy="43729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545" y="1132840"/>
            <a:ext cx="4981575" cy="26460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文本框 2"/>
          <p:cNvSpPr txBox="1"/>
          <p:nvPr/>
        </p:nvSpPr>
        <p:spPr>
          <a:xfrm>
            <a:off x="7216140" y="3910965"/>
            <a:ext cx="485838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olidFill>
                  <a:schemeClr val="tx1"/>
                </a:solidFill>
                <a:uFillTx/>
              </a:rPr>
              <a:t>s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^SYS("Security","CSP","AllowClass","/dthealth/web/","%CSP.UI.Portal.About")=1</a:t>
            </a:r>
            <a:endParaRPr lang="zh-CN" altLang="en-US" sz="1600">
              <a:solidFill>
                <a:schemeClr val="tx1"/>
              </a:solidFill>
              <a:uFillTx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</a:rPr>
              <a:t>s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^SYS("Security","CSP","AllowClass","/dthealth/web/","%SOAP.WebServiceInfo")=1</a:t>
            </a:r>
            <a:endParaRPr lang="zh-CN" altLang="en-US" sz="1600">
              <a:solidFill>
                <a:schemeClr val="tx1"/>
              </a:solidFill>
              <a:uFillTx/>
            </a:endParaRPr>
          </a:p>
          <a:p>
            <a:r>
              <a:rPr lang="en-US" altLang="zh-CN" sz="1600">
                <a:solidFill>
                  <a:schemeClr val="tx1"/>
                </a:solidFill>
                <a:uFillTx/>
              </a:rPr>
              <a:t>s </a:t>
            </a:r>
            <a:r>
              <a:rPr lang="zh-CN" altLang="en-US" sz="1600">
                <a:solidFill>
                  <a:schemeClr val="tx1"/>
                </a:solidFill>
                <a:uFillTx/>
              </a:rPr>
              <a:t>^SYS("Security","CSP","AllowClass","/dthealth/web/","%SOAP.WebServiceInvoke")=1</a:t>
            </a:r>
            <a:endParaRPr lang="zh-CN" altLang="en-US" sz="16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第四章 </a:t>
            </a:r>
            <a:r>
              <a:rPr lang="en-US" altLang="zh-CN" dirty="0">
                <a:sym typeface="+mn-ea"/>
              </a:rPr>
              <a:t>| |   </a:t>
            </a:r>
            <a:r>
              <a:rPr lang="zh-CN" altLang="en-US" dirty="0" smtClean="0">
                <a:sym typeface="+mn-ea"/>
              </a:rPr>
              <a:t>作业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1834228" y="1208348"/>
            <a:ext cx="9730855" cy="4363264"/>
            <a:chOff x="376972" y="4936104"/>
            <a:chExt cx="10152202" cy="4363264"/>
          </a:xfrm>
        </p:grpSpPr>
        <p:sp>
          <p:nvSpPr>
            <p:cNvPr id="9" name="矩形 57"/>
            <p:cNvSpPr>
              <a:spLocks noChangeArrowheads="1"/>
            </p:cNvSpPr>
            <p:nvPr/>
          </p:nvSpPr>
          <p:spPr bwMode="auto">
            <a:xfrm>
              <a:off x="750141" y="5514768"/>
              <a:ext cx="9779033" cy="3784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1 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建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学生科目表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学生子表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    表名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DHC_StudentCourse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,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类名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User.DHCStudentCourse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  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字段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Sc_Crs_DR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DHC_Course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),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Sc_Score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(%Numeric), 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Sc_ScoreType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(%String)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    Global(Master Map): ^DHCSTUDENT({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DHC_Student.St_RowID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},”C”,{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Sc_Sub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})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    Index:  ^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DHCSTUDENTi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(0,”Course”,{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St_Crs_DR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},{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DHC_Student.St_RowID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},{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Sc_Sub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})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2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编写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Query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：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        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1</a:t>
              </a:r>
              <a:r>
                <a:rPr lang="zh-CN" altLang="en-US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表名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:.DHC_StudentCourse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, </a:t>
              </a:r>
              <a:r>
                <a:rPr lang="en-US" altLang="zh-CN" sz="1600" dirty="0" smtClean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Query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入参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: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课程表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RowID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，学生表</a:t>
              </a:r>
              <a:r>
                <a:rPr lang="en-US" altLang="zh-CN" sz="1600" dirty="0" err="1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RowID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，出参</a:t>
              </a: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: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表中所有列</a:t>
              </a:r>
              <a:endParaRPr lang="en-US" altLang="zh-CN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        2.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sym typeface="Arial" panose="020B0604020202020204" pitchFamily="34" charset="0"/>
                </a:rPr>
                <a:t>查询出选择某课程的所有学生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存储结构：</a:t>
              </a:r>
              <a:endParaRPr lang="zh-CN" altLang="en-US" sz="16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zh-CN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   Global</a:t>
              </a:r>
              <a:r>
                <a:rPr lang="zh-CN" altLang="en-US" sz="16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rPr>
                <a:t>名称要求</a:t>
              </a:r>
              <a:r>
                <a:rPr lang="zh-CN" altLang="en-US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大写，并和表的名字相同</a:t>
              </a:r>
              <a:r>
                <a:rPr lang="en-US" altLang="zh-CN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(</a:t>
              </a:r>
              <a:r>
                <a:rPr lang="zh-CN" altLang="en-US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去掉下划线</a:t>
              </a:r>
              <a:r>
                <a:rPr lang="en-US" altLang="zh-CN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)</a:t>
              </a:r>
              <a:r>
                <a:rPr lang="zh-CN" altLang="en-US" sz="1600" dirty="0">
                  <a:solidFill>
                    <a:srgbClr val="E66666"/>
                  </a:solidFill>
                  <a:latin typeface="Arial" panose="020B0604020202020204" pitchFamily="34" charset="0"/>
                </a:rPr>
                <a:t>，每个属性的存储位置自己定义</a:t>
              </a:r>
              <a:endParaRPr lang="zh-CN" altLang="en-US" sz="1600" dirty="0">
                <a:solidFill>
                  <a:srgbClr val="E66666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750141" y="5345491"/>
              <a:ext cx="3561148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/>
            <p:cNvGrpSpPr/>
            <p:nvPr/>
          </p:nvGrpSpPr>
          <p:grpSpPr>
            <a:xfrm>
              <a:off x="376972" y="4936104"/>
              <a:ext cx="4204393" cy="461665"/>
              <a:chOff x="376972" y="4936104"/>
              <a:chExt cx="4204393" cy="461665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411705" y="4936104"/>
                <a:ext cx="41696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作业 </a:t>
                </a:r>
                <a:r>
                  <a:rPr lang="en-US" altLang="zh-CN" sz="2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4</a:t>
                </a:r>
                <a:r>
                  <a:rPr lang="en-US" altLang="zh-CN" sz="2400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endPara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972" y="5007841"/>
                <a:ext cx="373169" cy="371255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915816" y="2950923"/>
            <a:ext cx="1656185" cy="122413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4139952" y="2662891"/>
            <a:ext cx="1584176" cy="11439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下午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放学</a:t>
            </a:r>
            <a:endParaRPr lang="zh-CN" altLang="en-US" sz="2000" dirty="0"/>
          </a:p>
        </p:txBody>
      </p:sp>
      <p:sp>
        <p:nvSpPr>
          <p:cNvPr id="5" name="椭圆 4"/>
          <p:cNvSpPr/>
          <p:nvPr/>
        </p:nvSpPr>
        <p:spPr>
          <a:xfrm>
            <a:off x="7321109" y="2114359"/>
            <a:ext cx="360041" cy="28803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969181" y="1970343"/>
            <a:ext cx="168019" cy="16617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97150" y="3079248"/>
            <a:ext cx="12935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FF0000"/>
                </a:solidFill>
              </a:rPr>
              <a:t>下午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 algn="ctr"/>
            <a:r>
              <a:rPr lang="zh-CN" altLang="en-US" sz="2000" dirty="0" smtClean="0">
                <a:solidFill>
                  <a:schemeClr val="lt1"/>
                </a:solidFill>
              </a:rPr>
              <a:t>第二节课</a:t>
            </a:r>
            <a:endParaRPr lang="en-US" altLang="zh-CN" sz="2000" dirty="0" smtClean="0">
              <a:solidFill>
                <a:schemeClr val="lt1"/>
              </a:solidFill>
            </a:endParaRPr>
          </a:p>
          <a:p>
            <a:pPr algn="ctr"/>
            <a:r>
              <a:rPr lang="zh-CN" altLang="en-US" sz="2000" b="1" dirty="0" smtClean="0">
                <a:solidFill>
                  <a:schemeClr val="accent1">
                    <a:lumMod val="75000"/>
                  </a:schemeClr>
                </a:solidFill>
              </a:rPr>
              <a:t>完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404811" y="2359474"/>
            <a:ext cx="1584176" cy="1143988"/>
          </a:xfrm>
          <a:prstGeom prst="ellipse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/>
              <a:t>晚上</a:t>
            </a:r>
            <a:endParaRPr lang="en-US" altLang="zh-CN" sz="2000" dirty="0" smtClean="0"/>
          </a:p>
          <a:p>
            <a:pPr algn="ctr"/>
            <a:r>
              <a:rPr lang="zh-CN" altLang="en-US" sz="2000" dirty="0" smtClean="0"/>
              <a:t>做作业</a:t>
            </a:r>
            <a:endParaRPr lang="en-US" altLang="zh-CN" sz="2000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5214670" y="1132948"/>
            <a:ext cx="1800200" cy="1800200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2218252" y="2970214"/>
            <a:ext cx="7793037" cy="1459866"/>
          </a:xfrm>
        </p:spPr>
        <p:txBody>
          <a:bodyPr rtlCol="0">
            <a:noAutofit/>
          </a:bodyPr>
          <a:lstStyle/>
          <a:p>
            <a:pPr defTabSz="815975" eaLnBrk="1" fontAlgn="auto" hangingPunct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600" kern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  <a:cs typeface="Arial" panose="020B0604020202020204" pitchFamily="34" charset="0"/>
              </a:rPr>
              <a:t>Thanks For Watching!</a:t>
            </a:r>
            <a:endParaRPr lang="zh-CN" altLang="en-US" sz="3200" kern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27843" y="5365773"/>
            <a:ext cx="2011680" cy="10763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Contect</a:t>
            </a: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with me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E-mail</a:t>
            </a:r>
            <a:r>
              <a:rPr lang="zh-CN" alt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endParaRPr lang="en-US" altLang="zh-CN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Date  </a:t>
            </a:r>
            <a:r>
              <a:rPr lang="zh-CN" alt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：</a:t>
            </a:r>
            <a:r>
              <a:rPr lang="en-US" altLang="zh-CN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2019-07-22</a:t>
            </a:r>
            <a:endParaRPr lang="zh-CN" alt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4942</Words>
  <Application>WPS 演示</Application>
  <PresentationFormat>宽屏</PresentationFormat>
  <Paragraphs>431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微软雅黑 Light</vt:lpstr>
      <vt:lpstr>Calibri</vt:lpstr>
      <vt:lpstr>Arial Unicode MS</vt:lpstr>
      <vt:lpstr>华文细黑</vt:lpstr>
      <vt:lpstr>Arial Unicode MS</vt:lpstr>
      <vt:lpstr>黑体</vt:lpstr>
      <vt:lpstr>Arial Black</vt:lpstr>
      <vt:lpstr>Office 主题</vt:lpstr>
      <vt:lpstr>新员工入职培训   Caché数据库开发技术培训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Thanks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曹倩</dc:creator>
  <cp:lastModifiedBy>tiger</cp:lastModifiedBy>
  <cp:revision>682</cp:revision>
  <dcterms:created xsi:type="dcterms:W3CDTF">2017-01-15T02:29:00Z</dcterms:created>
  <dcterms:modified xsi:type="dcterms:W3CDTF">2021-01-11T06:27:41Z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2052-11.1.0.10228</vt:lpwstr>
  </property>
</Properties>
</file>