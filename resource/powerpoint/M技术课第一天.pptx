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58" r:id="rId3"/>
    <p:sldId id="280" r:id="rId4"/>
    <p:sldId id="480" r:id="rId5"/>
    <p:sldId id="481" r:id="rId6"/>
    <p:sldId id="482" r:id="rId7"/>
    <p:sldId id="483" r:id="rId8"/>
    <p:sldId id="491" r:id="rId9"/>
    <p:sldId id="492" r:id="rId10"/>
    <p:sldId id="484" r:id="rId11"/>
    <p:sldId id="755" r:id="rId12"/>
    <p:sldId id="485" r:id="rId13"/>
    <p:sldId id="848" r:id="rId14"/>
    <p:sldId id="849" r:id="rId15"/>
    <p:sldId id="813" r:id="rId16"/>
    <p:sldId id="490" r:id="rId17"/>
    <p:sldId id="489" r:id="rId18"/>
    <p:sldId id="493" r:id="rId19"/>
    <p:sldId id="494" r:id="rId20"/>
    <p:sldId id="674" r:id="rId21"/>
    <p:sldId id="653" r:id="rId22"/>
    <p:sldId id="496" r:id="rId23"/>
    <p:sldId id="502" r:id="rId24"/>
    <p:sldId id="501" r:id="rId25"/>
    <p:sldId id="500" r:id="rId26"/>
    <p:sldId id="499" r:id="rId27"/>
    <p:sldId id="498" r:id="rId28"/>
    <p:sldId id="791" r:id="rId29"/>
    <p:sldId id="497" r:id="rId30"/>
    <p:sldId id="507" r:id="rId31"/>
    <p:sldId id="675" r:id="rId32"/>
    <p:sldId id="505" r:id="rId33"/>
    <p:sldId id="509" r:id="rId34"/>
    <p:sldId id="508" r:id="rId35"/>
    <p:sldId id="504" r:id="rId36"/>
    <p:sldId id="814" r:id="rId37"/>
    <p:sldId id="815" r:id="rId38"/>
    <p:sldId id="816" r:id="rId39"/>
    <p:sldId id="817" r:id="rId40"/>
    <p:sldId id="515" r:id="rId41"/>
    <p:sldId id="513" r:id="rId42"/>
    <p:sldId id="520" r:id="rId43"/>
    <p:sldId id="519" r:id="rId44"/>
    <p:sldId id="518" r:id="rId45"/>
    <p:sldId id="522" r:id="rId46"/>
    <p:sldId id="521" r:id="rId47"/>
    <p:sldId id="517" r:id="rId48"/>
    <p:sldId id="677" r:id="rId49"/>
    <p:sldId id="297" r:id="rId50"/>
  </p:sldIdLst>
  <p:sldSz cx="12192000" cy="6858000"/>
  <p:notesSz cx="6858000" cy="9144000"/>
  <p:custDataLst>
    <p:tags r:id="rId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EBF3FA"/>
    <a:srgbClr val="FFC000"/>
    <a:srgbClr val="1F4E79"/>
    <a:srgbClr val="7F6E96"/>
    <a:srgbClr val="E66666"/>
    <a:srgbClr val="FF6565"/>
    <a:srgbClr val="FFE493"/>
    <a:srgbClr val="404040"/>
    <a:srgbClr val="FA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88" autoAdjust="0"/>
    <p:restoredTop sz="94660"/>
  </p:normalViewPr>
  <p:slideViewPr>
    <p:cSldViewPr snapToGrid="0">
      <p:cViewPr varScale="1">
        <p:scale>
          <a:sx n="92" d="100"/>
          <a:sy n="92" d="100"/>
        </p:scale>
        <p:origin x="57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gs" Target="tags/tag8.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notesMaster" Target="notesMasters/notesMaster1.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C0B13E-C7DA-455D-A2A9-73015087697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0C28C-60FE-4F5C-BAAC-E19CEADCECD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3836164-31F8-4BC1-AC86-89FA080A2E3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21"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3836164-31F8-4BC1-AC86-89FA080A2E3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7"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3836164-31F8-4BC1-AC86-89FA080A2E3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7"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A3836164-31F8-4BC1-AC86-89FA080A2E3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8"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A3836164-31F8-4BC1-AC86-89FA080A2E3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10"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3836164-31F8-4BC1-AC86-89FA080A2E35}"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6"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3836164-31F8-4BC1-AC86-89FA080A2E3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6"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A3836164-31F8-4BC1-AC86-89FA080A2E3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8"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3836164-31F8-4BC1-AC86-89FA080A2E3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8"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3836164-31F8-4BC1-AC86-89FA080A2E3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7"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10;文本">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3836164-31F8-4BC1-AC86-89FA080A2E3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AE0E46-CC45-4D20-81BF-BC4DF61D18A9}" type="slidenum">
              <a:rPr lang="zh-CN" altLang="en-US" smtClean="0"/>
            </a:fld>
            <a:endParaRPr lang="zh-CN" altLang="en-US"/>
          </a:p>
        </p:txBody>
      </p:sp>
      <p:sp>
        <p:nvSpPr>
          <p:cNvPr id="7" name="文本占位符 20"/>
          <p:cNvSpPr>
            <a:spLocks noGrp="1"/>
          </p:cNvSpPr>
          <p:nvPr>
            <p:ph type="body" sz="quarter" idx="13" hasCustomPrompt="1"/>
          </p:nvPr>
        </p:nvSpPr>
        <p:spPr>
          <a:xfrm>
            <a:off x="268151" y="204788"/>
            <a:ext cx="9332912" cy="527050"/>
          </a:xfrm>
        </p:spPr>
        <p:txBody>
          <a:bodyPr>
            <a:noAutofit/>
          </a:bodyPr>
          <a:lstStyle>
            <a:lvl1pPr marL="0" indent="0">
              <a:buFontTx/>
              <a:buNone/>
              <a:defRPr sz="2000" b="1">
                <a:solidFill>
                  <a:srgbClr val="E66666"/>
                </a:solidFill>
                <a:latin typeface="微软雅黑" panose="020B0503020204020204" pitchFamily="34" charset="-122"/>
                <a:ea typeface="微软雅黑" panose="020B0503020204020204" pitchFamily="34" charset="-122"/>
              </a:defRPr>
            </a:lvl1pPr>
            <a:lvl2pPr marL="457200" indent="0">
              <a:buFontTx/>
              <a:buNone/>
              <a:defRPr sz="2000" b="1">
                <a:latin typeface="微软雅黑" panose="020B0503020204020204" pitchFamily="34" charset="-122"/>
                <a:ea typeface="微软雅黑" panose="020B0503020204020204" pitchFamily="34" charset="-122"/>
              </a:defRPr>
            </a:lvl2pPr>
            <a:lvl3pPr marL="914400" indent="0">
              <a:buFontTx/>
              <a:buNone/>
              <a:defRPr sz="2000" b="1">
                <a:latin typeface="微软雅黑" panose="020B0503020204020204" pitchFamily="34" charset="-122"/>
                <a:ea typeface="微软雅黑" panose="020B0503020204020204" pitchFamily="34" charset="-122"/>
              </a:defRPr>
            </a:lvl3pPr>
            <a:lvl4pPr marL="1371600" indent="0">
              <a:buFontTx/>
              <a:buNone/>
              <a:defRPr sz="2000" b="1">
                <a:latin typeface="微软雅黑" panose="020B0503020204020204" pitchFamily="34" charset="-122"/>
                <a:ea typeface="微软雅黑" panose="020B0503020204020204" pitchFamily="34" charset="-122"/>
              </a:defRPr>
            </a:lvl4pPr>
            <a:lvl5pPr marL="1828800" indent="0">
              <a:buFontTx/>
              <a:buNone/>
              <a:defRPr sz="2000" b="1">
                <a:latin typeface="微软雅黑" panose="020B0503020204020204" pitchFamily="34" charset="-122"/>
                <a:ea typeface="微软雅黑" panose="020B0503020204020204" pitchFamily="34" charset="-122"/>
              </a:defRPr>
            </a:lvl5pPr>
          </a:lstStyle>
          <a:p>
            <a:pPr lvl="0"/>
            <a:r>
              <a:rPr lang="zh-CN" altLang="en-US" dirty="0"/>
              <a:t>目录 </a:t>
            </a:r>
            <a:r>
              <a:rPr lang="en-US" altLang="zh-CN" dirty="0"/>
              <a:t>/ CONTENTS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9800845" y="245866"/>
            <a:ext cx="2010847" cy="392965"/>
          </a:xfrm>
          <a:prstGeom prst="rect">
            <a:avLst/>
          </a:prstGeom>
        </p:spPr>
      </p:pic>
      <p:pic>
        <p:nvPicPr>
          <p:cNvPr id="14" name="图片 13"/>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4066" y="6586062"/>
            <a:ext cx="2870611" cy="191374"/>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836164-31F8-4BC1-AC86-89FA080A2E3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AE0E46-CC45-4D20-81BF-BC4DF61D18A9}" type="slidenum">
              <a:rPr lang="zh-CN" altLang="en-US" smtClean="0"/>
            </a:fld>
            <a:endParaRPr lang="zh-CN" altLang="en-US"/>
          </a:p>
        </p:txBody>
      </p:sp>
      <p:cxnSp>
        <p:nvCxnSpPr>
          <p:cNvPr id="7" name="直接连接符 6"/>
          <p:cNvCxnSpPr/>
          <p:nvPr userDrawn="1"/>
        </p:nvCxnSpPr>
        <p:spPr>
          <a:xfrm>
            <a:off x="259492" y="716573"/>
            <a:ext cx="11615351" cy="0"/>
          </a:xfrm>
          <a:prstGeom prst="line">
            <a:avLst/>
          </a:prstGeom>
          <a:ln>
            <a:solidFill>
              <a:srgbClr val="E66666"/>
            </a:solidFill>
          </a:ln>
        </p:spPr>
        <p:style>
          <a:lnRef idx="1">
            <a:schemeClr val="accent1"/>
          </a:lnRef>
          <a:fillRef idx="0">
            <a:schemeClr val="accent1"/>
          </a:fillRef>
          <a:effectRef idx="0">
            <a:schemeClr val="accent1"/>
          </a:effectRef>
          <a:fontRef idx="minor">
            <a:schemeClr val="tx1"/>
          </a:fontRef>
        </p:style>
      </p:cxnSp>
      <p:sp>
        <p:nvSpPr>
          <p:cNvPr id="8" name="矩形 7"/>
          <p:cNvSpPr/>
          <p:nvPr userDrawn="1"/>
        </p:nvSpPr>
        <p:spPr>
          <a:xfrm>
            <a:off x="380308" y="638831"/>
            <a:ext cx="2133218" cy="87681"/>
          </a:xfrm>
          <a:prstGeom prst="rect">
            <a:avLst/>
          </a:prstGeom>
          <a:solidFill>
            <a:srgbClr val="E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占位符 26"/>
          <p:cNvSpPr txBox="1"/>
          <p:nvPr userDrawn="1"/>
        </p:nvSpPr>
        <p:spPr>
          <a:xfrm>
            <a:off x="-671068" y="0"/>
            <a:ext cx="606425" cy="527050"/>
          </a:xfrm>
          <a:prstGeom prst="rect">
            <a:avLst/>
          </a:prstGeom>
          <a:solidFill>
            <a:srgbClr val="E66666"/>
          </a:solidFill>
        </p:spPr>
        <p:txBody>
          <a:bodyPr anchor="ctr">
            <a:noAutofit/>
          </a:bodyPr>
          <a:lstStyle>
            <a:lvl1pPr marL="0" indent="0" algn="ctr" defTabSz="914400" rtl="0" eaLnBrk="1" latinLnBrk="0" hangingPunct="1">
              <a:lnSpc>
                <a:spcPct val="90000"/>
              </a:lnSpc>
              <a:spcBef>
                <a:spcPts val="1000"/>
              </a:spcBef>
              <a:buFontTx/>
              <a:buNone/>
              <a:defRPr sz="1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公司色调</a:t>
            </a:r>
            <a:endParaRPr lang="zh-CN" altLang="en-US" dirty="0"/>
          </a:p>
        </p:txBody>
      </p:sp>
      <p:sp>
        <p:nvSpPr>
          <p:cNvPr id="11" name="文本占位符 26"/>
          <p:cNvSpPr txBox="1"/>
          <p:nvPr userDrawn="1"/>
        </p:nvSpPr>
        <p:spPr>
          <a:xfrm>
            <a:off x="-671068" y="542819"/>
            <a:ext cx="606425" cy="527050"/>
          </a:xfrm>
          <a:prstGeom prst="rect">
            <a:avLst/>
          </a:prstGeom>
          <a:solidFill>
            <a:schemeClr val="tx1">
              <a:lumMod val="75000"/>
              <a:lumOff val="25000"/>
            </a:schemeClr>
          </a:solidFill>
        </p:spPr>
        <p:txBody>
          <a:bodyPr anchor="ctr">
            <a:noAutofit/>
          </a:bodyPr>
          <a:lstStyle>
            <a:lvl1pPr marL="0" indent="0" algn="ctr" defTabSz="914400" rtl="0" eaLnBrk="1" latinLnBrk="0" hangingPunct="1">
              <a:lnSpc>
                <a:spcPct val="90000"/>
              </a:lnSpc>
              <a:spcBef>
                <a:spcPts val="1000"/>
              </a:spcBef>
              <a:buFontTx/>
              <a:buNone/>
              <a:defRPr sz="11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标题字体色调</a:t>
            </a:r>
            <a:endParaRPr lang="zh-CN" altLang="en-US" dirty="0"/>
          </a:p>
        </p:txBody>
      </p:sp>
      <p:sp>
        <p:nvSpPr>
          <p:cNvPr id="12" name="文本占位符 26"/>
          <p:cNvSpPr txBox="1"/>
          <p:nvPr userDrawn="1"/>
        </p:nvSpPr>
        <p:spPr>
          <a:xfrm>
            <a:off x="-671068" y="1085638"/>
            <a:ext cx="606425" cy="527050"/>
          </a:xfrm>
          <a:prstGeom prst="rect">
            <a:avLst/>
          </a:prstGeom>
          <a:solidFill>
            <a:schemeClr val="accent1">
              <a:lumMod val="50000"/>
            </a:schemeClr>
          </a:solidFill>
        </p:spPr>
        <p:txBody>
          <a:bodyPr anchor="ctr">
            <a:noAutofit/>
          </a:bodyPr>
          <a:lstStyle>
            <a:lvl1pPr marL="0" indent="0" algn="ctr" defTabSz="914400" rtl="0" eaLnBrk="1" latinLnBrk="0" hangingPunct="1">
              <a:lnSpc>
                <a:spcPct val="90000"/>
              </a:lnSpc>
              <a:spcBef>
                <a:spcPts val="1000"/>
              </a:spcBef>
              <a:buFontTx/>
              <a:buNone/>
              <a:defRPr sz="11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正文字体色调</a:t>
            </a:r>
            <a:endParaRPr lang="zh-CN" altLang="en-US" dirty="0"/>
          </a:p>
        </p:txBody>
      </p:sp>
      <p:sp>
        <p:nvSpPr>
          <p:cNvPr id="13" name="文本占位符 26"/>
          <p:cNvSpPr txBox="1"/>
          <p:nvPr userDrawn="1"/>
        </p:nvSpPr>
        <p:spPr>
          <a:xfrm>
            <a:off x="-667894" y="2533385"/>
            <a:ext cx="606425" cy="527050"/>
          </a:xfrm>
          <a:prstGeom prst="rect">
            <a:avLst/>
          </a:prstGeom>
          <a:solidFill>
            <a:srgbClr val="FF6565"/>
          </a:solidFill>
        </p:spPr>
        <p:txBody>
          <a:bodyPr anchor="ctr">
            <a:noAutofit/>
          </a:bodyPr>
          <a:lstStyle>
            <a:lvl1pPr marL="0" indent="0" algn="ctr" defTabSz="914400" rtl="0" eaLnBrk="1" latinLnBrk="0" hangingPunct="1">
              <a:lnSpc>
                <a:spcPct val="90000"/>
              </a:lnSpc>
              <a:spcBef>
                <a:spcPts val="1000"/>
              </a:spcBef>
              <a:buFontTx/>
              <a:buNone/>
              <a:defRPr sz="11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图表色参考</a:t>
            </a:r>
            <a:r>
              <a:rPr lang="en-US" altLang="zh-CN"/>
              <a:t>1</a:t>
            </a:r>
            <a:endParaRPr lang="zh-CN" altLang="en-US" dirty="0"/>
          </a:p>
        </p:txBody>
      </p:sp>
      <p:sp>
        <p:nvSpPr>
          <p:cNvPr id="15" name="文本占位符 26"/>
          <p:cNvSpPr txBox="1"/>
          <p:nvPr userDrawn="1"/>
        </p:nvSpPr>
        <p:spPr>
          <a:xfrm>
            <a:off x="-667895" y="3068800"/>
            <a:ext cx="606425" cy="527050"/>
          </a:xfrm>
          <a:prstGeom prst="rect">
            <a:avLst/>
          </a:prstGeom>
          <a:solidFill>
            <a:srgbClr val="FFC000"/>
          </a:solidFill>
        </p:spPr>
        <p:txBody>
          <a:bodyPr anchor="ctr">
            <a:noAutofit/>
          </a:bodyPr>
          <a:lstStyle>
            <a:lvl1pPr marL="0" indent="0" algn="ctr" defTabSz="914400" rtl="0" eaLnBrk="1" latinLnBrk="0" hangingPunct="1">
              <a:lnSpc>
                <a:spcPct val="90000"/>
              </a:lnSpc>
              <a:spcBef>
                <a:spcPts val="1000"/>
              </a:spcBef>
              <a:buFontTx/>
              <a:buNone/>
              <a:defRPr sz="11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图表色参考</a:t>
            </a:r>
            <a:r>
              <a:rPr lang="en-US" altLang="zh-CN"/>
              <a:t>2</a:t>
            </a:r>
            <a:endParaRPr lang="zh-CN" altLang="en-US" dirty="0"/>
          </a:p>
        </p:txBody>
      </p:sp>
      <p:sp>
        <p:nvSpPr>
          <p:cNvPr id="16" name="文本占位符 26"/>
          <p:cNvSpPr txBox="1"/>
          <p:nvPr userDrawn="1"/>
        </p:nvSpPr>
        <p:spPr>
          <a:xfrm>
            <a:off x="-667894" y="4715565"/>
            <a:ext cx="606425" cy="527050"/>
          </a:xfrm>
          <a:prstGeom prst="rect">
            <a:avLst/>
          </a:prstGeom>
          <a:solidFill>
            <a:srgbClr val="7F6E96"/>
          </a:solidFill>
        </p:spPr>
        <p:txBody>
          <a:bodyPr anchor="ctr">
            <a:noAutofit/>
          </a:bodyPr>
          <a:lstStyle>
            <a:lvl1pPr marL="0" indent="0" algn="ctr" defTabSz="914400" rtl="0" eaLnBrk="1" latinLnBrk="0" hangingPunct="1">
              <a:lnSpc>
                <a:spcPct val="90000"/>
              </a:lnSpc>
              <a:spcBef>
                <a:spcPts val="1000"/>
              </a:spcBef>
              <a:buFontTx/>
              <a:buNone/>
              <a:defRPr sz="11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图表色参考</a:t>
            </a:r>
            <a:r>
              <a:rPr lang="en-US" altLang="zh-CN"/>
              <a:t>3</a:t>
            </a:r>
            <a:endParaRPr lang="zh-CN" altLang="en-US" dirty="0"/>
          </a:p>
        </p:txBody>
      </p:sp>
      <p:sp>
        <p:nvSpPr>
          <p:cNvPr id="17" name="文本占位符 26"/>
          <p:cNvSpPr txBox="1"/>
          <p:nvPr userDrawn="1"/>
        </p:nvSpPr>
        <p:spPr>
          <a:xfrm>
            <a:off x="-667894" y="4159043"/>
            <a:ext cx="606425" cy="527050"/>
          </a:xfrm>
          <a:prstGeom prst="rect">
            <a:avLst/>
          </a:prstGeom>
          <a:solidFill>
            <a:srgbClr val="00B0F0"/>
          </a:solidFill>
        </p:spPr>
        <p:txBody>
          <a:bodyPr anchor="ctr">
            <a:noAutofit/>
          </a:bodyPr>
          <a:lstStyle>
            <a:lvl1pPr marL="0" indent="0" algn="ctr" defTabSz="914400" rtl="0" eaLnBrk="1" latinLnBrk="0" hangingPunct="1">
              <a:lnSpc>
                <a:spcPct val="90000"/>
              </a:lnSpc>
              <a:spcBef>
                <a:spcPts val="1000"/>
              </a:spcBef>
              <a:buFontTx/>
              <a:buNone/>
              <a:defRPr sz="11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图表色参考</a:t>
            </a:r>
            <a:r>
              <a:rPr lang="en-US" altLang="zh-CN"/>
              <a:t>4</a:t>
            </a:r>
            <a:endParaRPr lang="zh-CN" altLang="en-US" dirty="0"/>
          </a:p>
        </p:txBody>
      </p:sp>
      <p:sp>
        <p:nvSpPr>
          <p:cNvPr id="18" name="文本占位符 26"/>
          <p:cNvSpPr txBox="1"/>
          <p:nvPr userDrawn="1"/>
        </p:nvSpPr>
        <p:spPr>
          <a:xfrm>
            <a:off x="-667894" y="5272087"/>
            <a:ext cx="606425" cy="527050"/>
          </a:xfrm>
          <a:prstGeom prst="rect">
            <a:avLst/>
          </a:prstGeom>
          <a:solidFill>
            <a:schemeClr val="accent1">
              <a:lumMod val="50000"/>
            </a:schemeClr>
          </a:solidFill>
        </p:spPr>
        <p:txBody>
          <a:bodyPr anchor="ctr">
            <a:noAutofit/>
          </a:bodyPr>
          <a:lstStyle>
            <a:lvl1pPr marL="0" indent="0" algn="ctr" defTabSz="914400" rtl="0" eaLnBrk="1" latinLnBrk="0" hangingPunct="1">
              <a:lnSpc>
                <a:spcPct val="90000"/>
              </a:lnSpc>
              <a:spcBef>
                <a:spcPts val="1000"/>
              </a:spcBef>
              <a:buFontTx/>
              <a:buNone/>
              <a:defRPr sz="11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图表色参考</a:t>
            </a:r>
            <a:r>
              <a:rPr lang="en-US" altLang="zh-CN"/>
              <a:t>5</a:t>
            </a:r>
            <a:endParaRPr lang="zh-CN" altLang="en-US" dirty="0"/>
          </a:p>
        </p:txBody>
      </p:sp>
      <p:sp>
        <p:nvSpPr>
          <p:cNvPr id="19" name="文本占位符 26"/>
          <p:cNvSpPr txBox="1"/>
          <p:nvPr userDrawn="1"/>
        </p:nvSpPr>
        <p:spPr>
          <a:xfrm>
            <a:off x="-667894" y="3612795"/>
            <a:ext cx="606425" cy="527050"/>
          </a:xfrm>
          <a:prstGeom prst="rect">
            <a:avLst/>
          </a:prstGeom>
          <a:solidFill>
            <a:srgbClr val="00BA89"/>
          </a:solidFill>
        </p:spPr>
        <p:txBody>
          <a:bodyPr anchor="ctr">
            <a:noAutofit/>
          </a:bodyPr>
          <a:lstStyle>
            <a:lvl1pPr marL="0" indent="0" algn="ctr" defTabSz="914400" rtl="0" eaLnBrk="1" latinLnBrk="0" hangingPunct="1">
              <a:lnSpc>
                <a:spcPct val="90000"/>
              </a:lnSpc>
              <a:spcBef>
                <a:spcPts val="1000"/>
              </a:spcBef>
              <a:buFontTx/>
              <a:buNone/>
              <a:defRPr sz="11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图表色参考</a:t>
            </a:r>
            <a:r>
              <a:rPr lang="en-US" altLang="zh-CN"/>
              <a:t>6</a:t>
            </a:r>
            <a:endParaRPr lang="zh-CN" altLang="en-US" dirty="0"/>
          </a:p>
        </p:txBody>
      </p:sp>
      <p:sp>
        <p:nvSpPr>
          <p:cNvPr id="20" name="文本占位符 26"/>
          <p:cNvSpPr txBox="1"/>
          <p:nvPr userDrawn="1"/>
        </p:nvSpPr>
        <p:spPr>
          <a:xfrm>
            <a:off x="-671068" y="1628457"/>
            <a:ext cx="606425" cy="527050"/>
          </a:xfrm>
          <a:prstGeom prst="rect">
            <a:avLst/>
          </a:prstGeom>
          <a:solidFill>
            <a:srgbClr val="EBF3FA"/>
          </a:solidFill>
        </p:spPr>
        <p:txBody>
          <a:bodyPr anchor="ctr">
            <a:noAutofit/>
          </a:bodyPr>
          <a:lstStyle>
            <a:lvl1pPr marL="0" indent="0" algn="ctr" defTabSz="914400" rtl="0" eaLnBrk="1" latinLnBrk="0" hangingPunct="1">
              <a:lnSpc>
                <a:spcPct val="90000"/>
              </a:lnSpc>
              <a:spcBef>
                <a:spcPts val="1000"/>
              </a:spcBef>
              <a:buFontTx/>
              <a:buNone/>
              <a:defRPr sz="1100" kern="1200">
                <a:solidFill>
                  <a:schemeClr val="accent1">
                    <a:lumMod val="50000"/>
                  </a:schemeClr>
                </a:solidFill>
                <a:latin typeface="+mn-lt"/>
                <a:ea typeface="+mn-ea"/>
                <a:cs typeface="+mn-cs"/>
              </a:defRPr>
            </a:lvl1pPr>
            <a:lvl2pPr marL="4572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正文背景辅助</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350"/>
                                        <p:tgtEl>
                                          <p:spTgt spid="7"/>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00"/>
                                        <p:tgtEl>
                                          <p:spTgt spid="8"/>
                                        </p:tgtEl>
                                        <p:attrNameLst>
                                          <p:attrName>ppt_y</p:attrName>
                                        </p:attrNameLst>
                                      </p:cBhvr>
                                      <p:tavLst>
                                        <p:tav tm="0">
                                          <p:val>
                                            <p:strVal val="#ppt_y+#ppt_h*1.125000"/>
                                          </p:val>
                                        </p:tav>
                                        <p:tav tm="100000">
                                          <p:val>
                                            <p:strVal val="#ppt_y"/>
                                          </p:val>
                                        </p:tav>
                                      </p:tavLst>
                                    </p:anim>
                                    <p:animEffect transition="in" filter="wipe(up)">
                                      <p:cBhvr>
                                        <p:cTn id="12"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P spid="8" grpId="3" animBg="1"/>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9" Type="http://schemas.openxmlformats.org/officeDocument/2006/relationships/hyperlink" Target="http://127.0.0.1:8972/csp/sys/op/UtilSysProcs.csp?$NAMESPACE=DHC-APP" TargetMode="External"/><Relationship Id="rId8" Type="http://schemas.openxmlformats.org/officeDocument/2006/relationships/hyperlink" Target="http://127.0.0.1:8972/csp/sys/exp/UtilExpGlobalList.csp?$NAMESPACE=DHC-APP" TargetMode="External"/><Relationship Id="rId7" Type="http://schemas.openxmlformats.org/officeDocument/2006/relationships/hyperlink" Target="http://127.0.0.1:8972/csp/sys/UtilHome.csp?$NAMESPACE=DHC-APP" TargetMode="External"/><Relationship Id="rId6" Type="http://schemas.openxmlformats.org/officeDocument/2006/relationships/hyperlink" Target="http://127.0.0.1:8972/csp/sys/exp/UtilSqlQuery.csp?$NAMESPACE=%25SYS" TargetMode="External"/><Relationship Id="rId5" Type="http://schemas.openxmlformats.org/officeDocument/2006/relationships/hyperlink" Target="http://127.0.0.1:8972/csp/sys/exp/UtilSqlHome.csp?$NAMESPACE=%25SYS" TargetMode="External"/><Relationship Id="rId4" Type="http://schemas.openxmlformats.org/officeDocument/2006/relationships/hyperlink" Target="http://127.0.0.1:8972/csp/sys/UtilHome.csp?$NAMESPACE=%25SYS" TargetMode="External"/><Relationship Id="rId3" Type="http://schemas.openxmlformats.org/officeDocument/2006/relationships/hyperlink" Target="http://127.0.0.1:8972/csp/sys/mgr/UtilSysDatabases.csp?$NAMESPACE=" TargetMode="External"/><Relationship Id="rId2" Type="http://schemas.openxmlformats.org/officeDocument/2006/relationships/hyperlink" Target="http://127.0.0.1:8972/csp/sys/mgr/UtilConfigHome.csp?$NAMESPACE=" TargetMode="External"/><Relationship Id="rId11" Type="http://schemas.openxmlformats.org/officeDocument/2006/relationships/slideLayout" Target="../slideLayouts/slideLayout7.xml"/><Relationship Id="rId10" Type="http://schemas.openxmlformats.org/officeDocument/2006/relationships/image" Target="../media/image18.png"/><Relationship Id="rId1" Type="http://schemas.openxmlformats.org/officeDocument/2006/relationships/hyperlink" Target="http://127.0.0.1:8972/csp/sys/UtilHome.csp?$NAMESPACE=" TargetMode="Externa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jpe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localhost:57772/csp/sys/sec/%25CSP.UI.Portal.Services.zen" TargetMode="External"/><Relationship Id="rId1" Type="http://schemas.openxmlformats.org/officeDocument/2006/relationships/tags" Target="../tags/tag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tags" Target="../tags/tag4.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tags" Target="../tags/tag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0.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标题 1"/>
          <p:cNvSpPr>
            <a:spLocks noGrp="1"/>
          </p:cNvSpPr>
          <p:nvPr>
            <p:ph type="ctrTitle"/>
          </p:nvPr>
        </p:nvSpPr>
        <p:spPr>
          <a:xfrm>
            <a:off x="2219538" y="2047608"/>
            <a:ext cx="7793037" cy="1459866"/>
          </a:xfrm>
        </p:spPr>
        <p:txBody>
          <a:bodyPr rtlCol="0">
            <a:noAutofit/>
          </a:bodyPr>
          <a:lstStyle/>
          <a:p>
            <a:pPr defTabSz="815975">
              <a:spcBef>
                <a:spcPts val="600"/>
              </a:spcBef>
              <a:defRPr/>
            </a:pPr>
            <a:r>
              <a:rPr lang="zh-CN" altLang="en-US" sz="3200" kern="2000" dirty="0" smtClean="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cs typeface="Arial" panose="020B0604020202020204" pitchFamily="34" charset="0"/>
              </a:rPr>
              <a:t>新员工入职培训</a:t>
            </a:r>
            <a:br>
              <a:rPr lang="en-US" altLang="zh-CN" sz="3200" kern="20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br>
            <a:r>
              <a:rPr lang="zh-CN" altLang="en-US" sz="3200" kern="20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 </a:t>
            </a:r>
            <a:br>
              <a:rPr lang="en-US" altLang="zh-CN" sz="3200" kern="20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br>
            <a:r>
              <a:rPr lang="en-US" altLang="zh-CN" sz="3200" kern="2000" dirty="0" err="1">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sym typeface="微软雅黑" panose="020B0503020204020204" pitchFamily="34" charset="-122"/>
              </a:rPr>
              <a:t>IRIS</a:t>
            </a:r>
            <a:r>
              <a:rPr lang="zh-CN" altLang="en-US" sz="3200" kern="2000" dirty="0" smtClean="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数据</a:t>
            </a:r>
            <a:r>
              <a:rPr lang="zh-CN" altLang="en-US" sz="3200" kern="2000" dirty="0" smtClean="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平台开发技术培训</a:t>
            </a:r>
            <a:endParaRPr lang="zh-CN" altLang="en-US" sz="3200" kern="20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endParaRPr>
          </a:p>
        </p:txBody>
      </p:sp>
      <p:sp>
        <p:nvSpPr>
          <p:cNvPr id="5" name="TextBox 7"/>
          <p:cNvSpPr txBox="1">
            <a:spLocks noChangeArrowheads="1"/>
          </p:cNvSpPr>
          <p:nvPr/>
        </p:nvSpPr>
        <p:spPr bwMode="auto">
          <a:xfrm>
            <a:off x="74142" y="6538620"/>
            <a:ext cx="10791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Calibri" panose="020F0502020204030204" pitchFamily="34" charset="0"/>
                <a:ea typeface="宋体" panose="02010600030101010101" pitchFamily="2" charset="-122"/>
              </a:defRPr>
            </a:lvl1pPr>
            <a:lvl2pPr marL="742950" indent="-285750">
              <a:defRPr sz="1600">
                <a:solidFill>
                  <a:schemeClr val="tx1"/>
                </a:solidFill>
                <a:latin typeface="Calibri" panose="020F0502020204030204" pitchFamily="34" charset="0"/>
                <a:ea typeface="宋体" panose="02010600030101010101" pitchFamily="2" charset="-122"/>
              </a:defRPr>
            </a:lvl2pPr>
            <a:lvl3pPr marL="1143000" indent="-228600">
              <a:defRPr sz="1600">
                <a:solidFill>
                  <a:schemeClr val="tx1"/>
                </a:solidFill>
                <a:latin typeface="Calibri" panose="020F0502020204030204" pitchFamily="34" charset="0"/>
                <a:ea typeface="宋体" panose="02010600030101010101" pitchFamily="2" charset="-122"/>
              </a:defRPr>
            </a:lvl3pPr>
            <a:lvl4pPr marL="1600200" indent="-228600">
              <a:defRPr sz="1600">
                <a:solidFill>
                  <a:schemeClr val="tx1"/>
                </a:solidFill>
                <a:latin typeface="Calibri" panose="020F0502020204030204" pitchFamily="34" charset="0"/>
                <a:ea typeface="宋体" panose="02010600030101010101" pitchFamily="2" charset="-122"/>
              </a:defRPr>
            </a:lvl4pPr>
            <a:lvl5pPr marL="2057400" indent="-228600">
              <a:defRPr sz="1600">
                <a:solidFill>
                  <a:schemeClr val="tx1"/>
                </a:solidFill>
                <a:latin typeface="Calibri" panose="020F0502020204030204" pitchFamily="34" charset="0"/>
                <a:ea typeface="宋体" panose="02010600030101010101" pitchFamily="2" charset="-122"/>
              </a:defRPr>
            </a:lvl5pPr>
            <a:lvl6pPr marL="2514600" indent="-228600" defTabSz="815975" eaLnBrk="0" fontAlgn="base" hangingPunct="0">
              <a:spcBef>
                <a:spcPct val="0"/>
              </a:spcBef>
              <a:spcAft>
                <a:spcPct val="0"/>
              </a:spcAft>
              <a:defRPr sz="1600">
                <a:solidFill>
                  <a:schemeClr val="tx1"/>
                </a:solidFill>
                <a:latin typeface="Calibri" panose="020F0502020204030204" pitchFamily="34" charset="0"/>
                <a:ea typeface="宋体" panose="02010600030101010101" pitchFamily="2" charset="-122"/>
              </a:defRPr>
            </a:lvl6pPr>
            <a:lvl7pPr marL="2971800" indent="-228600" defTabSz="815975" eaLnBrk="0" fontAlgn="base" hangingPunct="0">
              <a:spcBef>
                <a:spcPct val="0"/>
              </a:spcBef>
              <a:spcAft>
                <a:spcPct val="0"/>
              </a:spcAft>
              <a:defRPr sz="1600">
                <a:solidFill>
                  <a:schemeClr val="tx1"/>
                </a:solidFill>
                <a:latin typeface="Calibri" panose="020F0502020204030204" pitchFamily="34" charset="0"/>
                <a:ea typeface="宋体" panose="02010600030101010101" pitchFamily="2" charset="-122"/>
              </a:defRPr>
            </a:lvl7pPr>
            <a:lvl8pPr marL="3429000" indent="-228600" defTabSz="815975" eaLnBrk="0" fontAlgn="base" hangingPunct="0">
              <a:spcBef>
                <a:spcPct val="0"/>
              </a:spcBef>
              <a:spcAft>
                <a:spcPct val="0"/>
              </a:spcAft>
              <a:defRPr sz="1600">
                <a:solidFill>
                  <a:schemeClr val="tx1"/>
                </a:solidFill>
                <a:latin typeface="Calibri" panose="020F0502020204030204" pitchFamily="34" charset="0"/>
                <a:ea typeface="宋体" panose="02010600030101010101" pitchFamily="2" charset="-122"/>
              </a:defRPr>
            </a:lvl8pPr>
            <a:lvl9pPr marL="3886200" indent="-228600" defTabSz="815975" eaLnBrk="0" fontAlgn="base" hangingPunct="0">
              <a:spcBef>
                <a:spcPct val="0"/>
              </a:spcBef>
              <a:spcAft>
                <a:spcPct val="0"/>
              </a:spcAft>
              <a:defRPr sz="1600">
                <a:solidFill>
                  <a:schemeClr val="tx1"/>
                </a:solidFill>
                <a:latin typeface="Calibri" panose="020F0502020204030204" pitchFamily="34" charset="0"/>
                <a:ea typeface="宋体" panose="02010600030101010101" pitchFamily="2" charset="-122"/>
              </a:defRPr>
            </a:lvl9pPr>
          </a:lstStyle>
          <a:p>
            <a:pPr eaLnBrk="1" hangingPunct="1"/>
            <a:r>
              <a:rPr lang="en-US" altLang="zh-CN" sz="1400" dirty="0" smtClean="0">
                <a:solidFill>
                  <a:schemeClr val="bg1"/>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2018/07/11</a:t>
            </a:r>
            <a:endParaRPr lang="zh-CN" altLang="en-US" sz="1400" dirty="0">
              <a:solidFill>
                <a:schemeClr val="bg1"/>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6" name="Text Box 5"/>
          <p:cNvSpPr>
            <a:spLocks noChangeArrowheads="1"/>
          </p:cNvSpPr>
          <p:nvPr/>
        </p:nvSpPr>
        <p:spPr bwMode="auto">
          <a:xfrm>
            <a:off x="10187257" y="6489192"/>
            <a:ext cx="1980029" cy="3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633220">
              <a:spcBef>
                <a:spcPct val="20000"/>
              </a:spcBef>
              <a:buFont typeface="Arial" panose="020B0604020202020204" pitchFamily="34" charset="0"/>
              <a:buChar char="•"/>
              <a:defRPr sz="2900">
                <a:solidFill>
                  <a:schemeClr val="tx1"/>
                </a:solidFill>
                <a:latin typeface="Calibri" panose="020F0502020204030204" pitchFamily="34" charset="0"/>
                <a:ea typeface="宋体" panose="02010600030101010101" pitchFamily="2" charset="-122"/>
              </a:defRPr>
            </a:lvl1pPr>
            <a:lvl2pPr marL="815975" indent="-358775" defTabSz="1633220">
              <a:spcBef>
                <a:spcPct val="20000"/>
              </a:spcBef>
              <a:buFont typeface="Arial" panose="020B0604020202020204" pitchFamily="34" charset="0"/>
              <a:buChar char="–"/>
              <a:defRPr sz="2600">
                <a:solidFill>
                  <a:schemeClr val="tx1"/>
                </a:solidFill>
                <a:latin typeface="Calibri" panose="020F0502020204030204" pitchFamily="34" charset="0"/>
                <a:ea typeface="宋体" panose="02010600030101010101" pitchFamily="2" charset="-122"/>
              </a:defRPr>
            </a:lvl2pPr>
            <a:lvl3pPr marL="1633855" indent="-719455" defTabSz="1633220">
              <a:spcBef>
                <a:spcPct val="2000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3pPr>
            <a:lvl4pPr marL="2451100" indent="-1079500" defTabSz="1633220">
              <a:spcBef>
                <a:spcPct val="200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3267075" indent="-1438275" defTabSz="1633220">
              <a:spcBef>
                <a:spcPct val="200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3724275" indent="-1438275" defTabSz="1633220" eaLnBrk="0" fontAlgn="base" hangingPunct="0">
              <a:spcBef>
                <a:spcPct val="200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4181475" indent="-1438275" defTabSz="1633220" eaLnBrk="0" fontAlgn="base" hangingPunct="0">
              <a:spcBef>
                <a:spcPct val="200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4638675" indent="-1438275" defTabSz="1633220" eaLnBrk="0" fontAlgn="base" hangingPunct="0">
              <a:spcBef>
                <a:spcPct val="200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5095875" indent="-1438275" defTabSz="1633220" eaLnBrk="0" fontAlgn="base" hangingPunct="0">
              <a:spcBef>
                <a:spcPct val="200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a:lnSpc>
                <a:spcPct val="120000"/>
              </a:lnSpc>
              <a:spcBef>
                <a:spcPct val="0"/>
              </a:spcBef>
              <a:buFont typeface="Arial" panose="020B0604020202020204" pitchFamily="34" charset="0"/>
              <a:buNone/>
            </a:pPr>
            <a:r>
              <a:rPr lang="zh-CN" altLang="en-US" sz="1400"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东华医为科技有限公司</a:t>
            </a:r>
            <a:endParaRPr lang="en-US" altLang="zh-CN" sz="1400" dirty="0">
              <a:effectLst>
                <a:outerShdw blurRad="38100" dist="38100" dir="2700000" algn="tl">
                  <a:srgbClr val="000000">
                    <a:alpha val="43137"/>
                  </a:srgbClr>
                </a:outerShdw>
              </a:effectLst>
              <a:latin typeface="Arial" panose="020B0604020202020204" pitchFamily="34" charset="0"/>
            </a:endParaRPr>
          </a:p>
        </p:txBody>
      </p:sp>
      <p:sp>
        <p:nvSpPr>
          <p:cNvPr id="8" name="矩形: 圆角 4"/>
          <p:cNvSpPr/>
          <p:nvPr/>
        </p:nvSpPr>
        <p:spPr bwMode="auto">
          <a:xfrm>
            <a:off x="2996903" y="1401037"/>
            <a:ext cx="1800225" cy="2222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effectLst>
                <a:outerShdw blurRad="38100" dist="38100" dir="2700000" algn="tl">
                  <a:srgbClr val="000000">
                    <a:alpha val="43137"/>
                  </a:srgbClr>
                </a:outerShdw>
              </a:effectLst>
            </a:endParaRPr>
          </a:p>
        </p:txBody>
      </p:sp>
      <p:sp>
        <p:nvSpPr>
          <p:cNvPr id="9" name="矩形: 圆角 7"/>
          <p:cNvSpPr/>
          <p:nvPr/>
        </p:nvSpPr>
        <p:spPr bwMode="auto">
          <a:xfrm>
            <a:off x="2996903" y="1401037"/>
            <a:ext cx="17462" cy="57626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effectLst>
                <a:outerShdw blurRad="38100" dist="38100" dir="2700000" algn="tl">
                  <a:srgbClr val="000000">
                    <a:alpha val="43137"/>
                  </a:srgbClr>
                </a:outerShdw>
              </a:effectLst>
            </a:endParaRPr>
          </a:p>
        </p:txBody>
      </p:sp>
      <p:sp>
        <p:nvSpPr>
          <p:cNvPr id="11" name="矩形: 圆角 21"/>
          <p:cNvSpPr/>
          <p:nvPr/>
        </p:nvSpPr>
        <p:spPr bwMode="auto">
          <a:xfrm rot="10800000">
            <a:off x="7102053" y="3916622"/>
            <a:ext cx="1800225" cy="2222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effectLst>
                <a:outerShdw blurRad="38100" dist="38100" dir="2700000" algn="tl">
                  <a:srgbClr val="000000">
                    <a:alpha val="43137"/>
                  </a:srgbClr>
                </a:outerShdw>
              </a:effectLst>
            </a:endParaRPr>
          </a:p>
        </p:txBody>
      </p:sp>
      <p:sp>
        <p:nvSpPr>
          <p:cNvPr id="12" name="矩形: 圆角 22"/>
          <p:cNvSpPr/>
          <p:nvPr/>
        </p:nvSpPr>
        <p:spPr bwMode="auto">
          <a:xfrm rot="10800000">
            <a:off x="8879417" y="3341947"/>
            <a:ext cx="17462" cy="57626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effectLst>
                <a:outerShdw blurRad="38100" dist="38100" dir="2700000" algn="tl">
                  <a:srgbClr val="000000">
                    <a:alpha val="43137"/>
                  </a:srgbClr>
                </a:outerShdw>
              </a:effectLst>
            </a:endParaRPr>
          </a:p>
        </p:txBody>
      </p:sp>
      <p:sp>
        <p:nvSpPr>
          <p:cNvPr id="13" name="文本框 12"/>
          <p:cNvSpPr txBox="1"/>
          <p:nvPr/>
        </p:nvSpPr>
        <p:spPr>
          <a:xfrm>
            <a:off x="5445625" y="4031243"/>
            <a:ext cx="3230880" cy="583565"/>
          </a:xfrm>
          <a:prstGeom prst="rect">
            <a:avLst/>
          </a:prstGeom>
          <a:noFill/>
        </p:spPr>
        <p:txBody>
          <a:bodyPr wrap="none">
            <a:spAutoFit/>
          </a:bodyPr>
          <a:lstStyle/>
          <a:p>
            <a:pPr algn="r">
              <a:defRPr/>
            </a:pPr>
            <a:r>
              <a:rPr lang="zh-CN" altLang="en-US" sz="1600" dirty="0" smtClean="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东华医为科技有限公司    孙凤超</a:t>
            </a:r>
            <a:r>
              <a:rPr lang="en-US" altLang="zh-CN" sz="1600" dirty="0" smtClean="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 </a:t>
            </a:r>
            <a:endParaRPr lang="en-US" altLang="zh-CN"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endParaRPr>
          </a:p>
          <a:p>
            <a:pPr algn="r">
              <a:defRPr/>
            </a:pPr>
            <a:r>
              <a:rPr lang="zh-CN" altLang="en-US" sz="1600" dirty="0" smtClean="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           </a:t>
            </a:r>
            <a:endParaRPr lang="zh-CN" altLang="en-US"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dotGrid">
          <a:fgClr>
            <a:schemeClr val="accent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5" name="矩形 1"/>
          <p:cNvSpPr>
            <a:spLocks noChangeArrowheads="1"/>
          </p:cNvSpPr>
          <p:nvPr/>
        </p:nvSpPr>
        <p:spPr bwMode="auto">
          <a:xfrm>
            <a:off x="407990" y="1196977"/>
            <a:ext cx="3798887" cy="3603625"/>
          </a:xfrm>
          <a:prstGeom prst="rect">
            <a:avLst/>
          </a:prstGeom>
          <a:blipFill dpi="0" rotWithShape="1">
            <a:blip r:embed="rId1"/>
            <a:srcRect/>
            <a:stretch>
              <a:fillRect/>
            </a:stretch>
          </a:blipFill>
          <a:ln>
            <a:noFill/>
          </a:ln>
          <a:effectLst>
            <a:outerShdw dist="38100" dir="5400000" algn="ctr" rotWithShape="0">
              <a:srgbClr val="000000">
                <a:alpha val="0"/>
              </a:srgbClr>
            </a:outerShdw>
          </a:effectLst>
        </p:spPr>
        <p:txBody>
          <a:bodyPr anchor="ctr"/>
          <a:lstStyle/>
          <a:p>
            <a:pPr algn="ctr" eaLnBrk="1" hangingPunct="1"/>
            <a:r>
              <a:rPr lang="en-US" altLang="zh-CN" dirty="0" smtClean="0">
                <a:solidFill>
                  <a:srgbClr val="0070C0"/>
                </a:solidFill>
              </a:rPr>
              <a:t> </a:t>
            </a:r>
            <a:endParaRPr lang="zh-CN" altLang="en-US" dirty="0">
              <a:solidFill>
                <a:srgbClr val="0070C0"/>
              </a:solidFill>
            </a:endParaRPr>
          </a:p>
        </p:txBody>
      </p:sp>
      <p:sp>
        <p:nvSpPr>
          <p:cNvPr id="64" name="椭圆 63"/>
          <p:cNvSpPr/>
          <p:nvPr/>
        </p:nvSpPr>
        <p:spPr>
          <a:xfrm>
            <a:off x="4617945" y="1004795"/>
            <a:ext cx="641444" cy="64144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lumMod val="65000"/>
                    <a:lumOff val="35000"/>
                  </a:schemeClr>
                </a:solidFill>
              </a:rPr>
              <a:t>1</a:t>
            </a:r>
            <a:endParaRPr lang="zh-CN" altLang="en-US" sz="3200" dirty="0">
              <a:solidFill>
                <a:schemeClr val="tx1">
                  <a:lumMod val="65000"/>
                  <a:lumOff val="35000"/>
                </a:schemeClr>
              </a:solidFill>
            </a:endParaRPr>
          </a:p>
        </p:txBody>
      </p:sp>
      <p:sp>
        <p:nvSpPr>
          <p:cNvPr id="65" name="文本框 64"/>
          <p:cNvSpPr txBox="1"/>
          <p:nvPr/>
        </p:nvSpPr>
        <p:spPr>
          <a:xfrm>
            <a:off x="5348074" y="1090466"/>
            <a:ext cx="3282315" cy="460375"/>
          </a:xfrm>
          <a:prstGeom prst="rect">
            <a:avLst/>
          </a:prstGeom>
          <a:noFill/>
        </p:spPr>
        <p:txBody>
          <a:bodyPr wrap="none" rtlCol="0">
            <a:spAutoFit/>
          </a:bodyPr>
          <a:lstStyle/>
          <a:p>
            <a:r>
              <a:rPr lang="en-US" altLang="zh-CN" sz="2400" dirty="0" err="1" smtClean="0">
                <a:solidFill>
                  <a:schemeClr val="tx1">
                    <a:lumMod val="65000"/>
                    <a:lumOff val="35000"/>
                  </a:schemeClr>
                </a:solidFill>
              </a:rPr>
              <a:t>Cache </a:t>
            </a:r>
            <a:r>
              <a:rPr lang="zh-CN" altLang="en-US" sz="2400" dirty="0">
                <a:solidFill>
                  <a:schemeClr val="tx1">
                    <a:lumMod val="65000"/>
                    <a:lumOff val="35000"/>
                  </a:schemeClr>
                </a:solidFill>
              </a:rPr>
              <a:t>简介及多维存储</a:t>
            </a:r>
            <a:endParaRPr lang="zh-CN" altLang="en-US" sz="2400" dirty="0">
              <a:solidFill>
                <a:schemeClr val="tx1">
                  <a:lumMod val="65000"/>
                  <a:lumOff val="35000"/>
                </a:schemeClr>
              </a:solidFill>
            </a:endParaRPr>
          </a:p>
        </p:txBody>
      </p:sp>
      <p:sp>
        <p:nvSpPr>
          <p:cNvPr id="66" name="椭圆 65"/>
          <p:cNvSpPr/>
          <p:nvPr/>
        </p:nvSpPr>
        <p:spPr>
          <a:xfrm>
            <a:off x="4617945" y="2102612"/>
            <a:ext cx="641444" cy="64144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lumMod val="65000"/>
                    <a:lumOff val="35000"/>
                  </a:schemeClr>
                </a:solidFill>
              </a:rPr>
              <a:t>2</a:t>
            </a:r>
            <a:endParaRPr lang="zh-CN" altLang="en-US" sz="3200" dirty="0">
              <a:solidFill>
                <a:schemeClr val="tx1">
                  <a:lumMod val="65000"/>
                  <a:lumOff val="35000"/>
                </a:schemeClr>
              </a:solidFill>
            </a:endParaRPr>
          </a:p>
        </p:txBody>
      </p:sp>
      <p:sp>
        <p:nvSpPr>
          <p:cNvPr id="67" name="文本框 66"/>
          <p:cNvSpPr txBox="1"/>
          <p:nvPr/>
        </p:nvSpPr>
        <p:spPr>
          <a:xfrm>
            <a:off x="5348074" y="2188283"/>
            <a:ext cx="2989921" cy="461665"/>
          </a:xfrm>
          <a:prstGeom prst="rect">
            <a:avLst/>
          </a:prstGeom>
          <a:noFill/>
        </p:spPr>
        <p:txBody>
          <a:bodyPr wrap="none" rtlCol="0">
            <a:spAutoFit/>
          </a:bodyPr>
          <a:lstStyle/>
          <a:p>
            <a:r>
              <a:rPr lang="zh-CN" altLang="en-US" sz="2400" dirty="0" smtClean="0">
                <a:solidFill>
                  <a:schemeClr val="tx1">
                    <a:lumMod val="65000"/>
                    <a:lumOff val="35000"/>
                  </a:schemeClr>
                </a:solidFill>
              </a:rPr>
              <a:t>持久类、存储与</a:t>
            </a:r>
            <a:r>
              <a:rPr lang="zh-CN" altLang="en-US" sz="2400" dirty="0">
                <a:solidFill>
                  <a:schemeClr val="tx1">
                    <a:lumMod val="65000"/>
                    <a:lumOff val="35000"/>
                  </a:schemeClr>
                </a:solidFill>
              </a:rPr>
              <a:t>索引</a:t>
            </a:r>
            <a:endParaRPr lang="zh-CN" altLang="en-US" sz="2400" dirty="0">
              <a:solidFill>
                <a:schemeClr val="tx1">
                  <a:lumMod val="65000"/>
                  <a:lumOff val="35000"/>
                </a:schemeClr>
              </a:solidFill>
            </a:endParaRPr>
          </a:p>
        </p:txBody>
      </p:sp>
      <p:sp>
        <p:nvSpPr>
          <p:cNvPr id="68" name="椭圆 67"/>
          <p:cNvSpPr/>
          <p:nvPr/>
        </p:nvSpPr>
        <p:spPr>
          <a:xfrm>
            <a:off x="4617945" y="3291079"/>
            <a:ext cx="641444" cy="64144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lumMod val="65000"/>
                    <a:lumOff val="35000"/>
                  </a:schemeClr>
                </a:solidFill>
              </a:rPr>
              <a:t>3</a:t>
            </a:r>
            <a:endParaRPr lang="zh-CN" altLang="en-US" sz="3200" dirty="0">
              <a:solidFill>
                <a:schemeClr val="tx1">
                  <a:lumMod val="65000"/>
                  <a:lumOff val="35000"/>
                </a:schemeClr>
              </a:solidFill>
            </a:endParaRPr>
          </a:p>
        </p:txBody>
      </p:sp>
      <p:sp>
        <p:nvSpPr>
          <p:cNvPr id="69" name="文本框 68"/>
          <p:cNvSpPr txBox="1"/>
          <p:nvPr/>
        </p:nvSpPr>
        <p:spPr>
          <a:xfrm>
            <a:off x="5348074" y="3376750"/>
            <a:ext cx="4665060" cy="461665"/>
          </a:xfrm>
          <a:prstGeom prst="rect">
            <a:avLst/>
          </a:prstGeom>
          <a:noFill/>
        </p:spPr>
        <p:txBody>
          <a:bodyPr wrap="none" rtlCol="0">
            <a:spAutoFit/>
          </a:bodyPr>
          <a:lstStyle/>
          <a:p>
            <a:r>
              <a:rPr lang="en-US" altLang="zh-CN" sz="2400" dirty="0" smtClean="0">
                <a:solidFill>
                  <a:schemeClr val="tx1">
                    <a:lumMod val="65000"/>
                    <a:lumOff val="35000"/>
                  </a:schemeClr>
                </a:solidFill>
              </a:rPr>
              <a:t>SQL</a:t>
            </a:r>
            <a:r>
              <a:rPr lang="zh-CN" altLang="en-US" sz="2400" dirty="0">
                <a:solidFill>
                  <a:schemeClr val="tx1">
                    <a:lumMod val="65000"/>
                    <a:lumOff val="35000"/>
                  </a:schemeClr>
                </a:solidFill>
              </a:rPr>
              <a:t>与</a:t>
            </a:r>
            <a:r>
              <a:rPr lang="en-US" altLang="zh-CN" sz="2400" dirty="0">
                <a:solidFill>
                  <a:schemeClr val="tx1">
                    <a:lumMod val="65000"/>
                    <a:lumOff val="35000"/>
                  </a:schemeClr>
                </a:solidFill>
              </a:rPr>
              <a:t>Query</a:t>
            </a:r>
            <a:r>
              <a:rPr lang="zh-CN" altLang="en-US" sz="2400" dirty="0">
                <a:solidFill>
                  <a:schemeClr val="tx1">
                    <a:lumMod val="65000"/>
                    <a:lumOff val="35000"/>
                  </a:schemeClr>
                </a:solidFill>
              </a:rPr>
              <a:t>实现、</a:t>
            </a:r>
            <a:r>
              <a:rPr lang="en-US" altLang="zh-CN" sz="2400" dirty="0">
                <a:solidFill>
                  <a:schemeClr val="tx1">
                    <a:lumMod val="65000"/>
                    <a:lumOff val="35000"/>
                  </a:schemeClr>
                </a:solidFill>
              </a:rPr>
              <a:t>M</a:t>
            </a:r>
            <a:r>
              <a:rPr lang="zh-CN" altLang="en-US" sz="2400" dirty="0">
                <a:solidFill>
                  <a:schemeClr val="tx1">
                    <a:lumMod val="65000"/>
                    <a:lumOff val="35000"/>
                  </a:schemeClr>
                </a:solidFill>
              </a:rPr>
              <a:t>的基础知识</a:t>
            </a:r>
            <a:endParaRPr lang="zh-CN" altLang="en-US" sz="2400" dirty="0">
              <a:solidFill>
                <a:schemeClr val="tx1">
                  <a:lumMod val="65000"/>
                  <a:lumOff val="35000"/>
                </a:schemeClr>
              </a:solidFill>
            </a:endParaRPr>
          </a:p>
        </p:txBody>
      </p:sp>
      <p:sp>
        <p:nvSpPr>
          <p:cNvPr id="70" name="椭圆 69"/>
          <p:cNvSpPr/>
          <p:nvPr/>
        </p:nvSpPr>
        <p:spPr>
          <a:xfrm>
            <a:off x="4617945" y="4496998"/>
            <a:ext cx="641444" cy="64144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lumMod val="65000"/>
                    <a:lumOff val="35000"/>
                  </a:schemeClr>
                </a:solidFill>
              </a:rPr>
              <a:t>4</a:t>
            </a:r>
            <a:endParaRPr lang="zh-CN" altLang="en-US" sz="3200" dirty="0">
              <a:solidFill>
                <a:schemeClr val="tx1">
                  <a:lumMod val="65000"/>
                  <a:lumOff val="35000"/>
                </a:schemeClr>
              </a:solidFill>
            </a:endParaRPr>
          </a:p>
        </p:txBody>
      </p:sp>
      <p:sp>
        <p:nvSpPr>
          <p:cNvPr id="71" name="文本框 70"/>
          <p:cNvSpPr txBox="1"/>
          <p:nvPr/>
        </p:nvSpPr>
        <p:spPr>
          <a:xfrm>
            <a:off x="5348074" y="4582669"/>
            <a:ext cx="5077031" cy="461665"/>
          </a:xfrm>
          <a:prstGeom prst="rect">
            <a:avLst/>
          </a:prstGeom>
          <a:noFill/>
        </p:spPr>
        <p:txBody>
          <a:bodyPr wrap="none" rtlCol="0">
            <a:spAutoFit/>
          </a:bodyPr>
          <a:lstStyle/>
          <a:p>
            <a:r>
              <a:rPr lang="en-US" altLang="zh-CN" sz="2400" dirty="0" err="1" smtClean="0">
                <a:solidFill>
                  <a:schemeClr val="tx1">
                    <a:lumMod val="65000"/>
                    <a:lumOff val="35000"/>
                  </a:schemeClr>
                </a:solidFill>
              </a:rPr>
              <a:t>Caché</a:t>
            </a:r>
            <a:r>
              <a:rPr lang="zh-CN" altLang="en-US" sz="2400" dirty="0">
                <a:solidFill>
                  <a:schemeClr val="tx1">
                    <a:lumMod val="65000"/>
                    <a:lumOff val="35000"/>
                  </a:schemeClr>
                </a:solidFill>
              </a:rPr>
              <a:t>面向对象开发、父子表与事务</a:t>
            </a:r>
            <a:endParaRPr lang="zh-CN" altLang="en-US" sz="2400" dirty="0">
              <a:solidFill>
                <a:schemeClr val="tx1">
                  <a:lumMod val="65000"/>
                  <a:lumOff val="35000"/>
                </a:schemeClr>
              </a:solidFill>
            </a:endParaRPr>
          </a:p>
        </p:txBody>
      </p:sp>
      <p:sp>
        <p:nvSpPr>
          <p:cNvPr id="2" name="矩形 1"/>
          <p:cNvSpPr/>
          <p:nvPr/>
        </p:nvSpPr>
        <p:spPr>
          <a:xfrm>
            <a:off x="407990" y="5090982"/>
            <a:ext cx="3798887" cy="1383957"/>
          </a:xfrm>
          <a:prstGeom prst="rect">
            <a:avLst/>
          </a:prstGeom>
          <a:solidFill>
            <a:srgbClr val="006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ltLang="zh-CN" dirty="0"/>
          </a:p>
        </p:txBody>
      </p:sp>
      <p:sp>
        <p:nvSpPr>
          <p:cNvPr id="3" name="文本框 2"/>
          <p:cNvSpPr txBox="1"/>
          <p:nvPr/>
        </p:nvSpPr>
        <p:spPr>
          <a:xfrm>
            <a:off x="439047" y="5166937"/>
            <a:ext cx="1107996" cy="369332"/>
          </a:xfrm>
          <a:prstGeom prst="rect">
            <a:avLst/>
          </a:prstGeom>
          <a:noFill/>
        </p:spPr>
        <p:txBody>
          <a:bodyPr wrap="none" rtlCol="0">
            <a:spAutoFit/>
          </a:bodyPr>
          <a:lstStyle/>
          <a:p>
            <a:r>
              <a:rPr lang="zh-CN" altLang="en-US" dirty="0" smtClean="0">
                <a:solidFill>
                  <a:schemeClr val="bg1"/>
                </a:solidFill>
              </a:rPr>
              <a:t>课程目录</a:t>
            </a:r>
            <a:endParaRPr lang="en-US" altLang="zh-CN" dirty="0">
              <a:solidFill>
                <a:schemeClr val="bg1"/>
              </a:solidFill>
            </a:endParaRPr>
          </a:p>
        </p:txBody>
      </p:sp>
      <p:cxnSp>
        <p:nvCxnSpPr>
          <p:cNvPr id="72" name="直接连接符 71"/>
          <p:cNvCxnSpPr/>
          <p:nvPr/>
        </p:nvCxnSpPr>
        <p:spPr>
          <a:xfrm>
            <a:off x="504225" y="5608731"/>
            <a:ext cx="3561148"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453715" y="5813385"/>
            <a:ext cx="3220720" cy="737235"/>
          </a:xfrm>
          <a:prstGeom prst="rect">
            <a:avLst/>
          </a:prstGeom>
          <a:noFill/>
        </p:spPr>
        <p:txBody>
          <a:bodyPr wrap="none" rtlCol="0">
            <a:spAutoFit/>
          </a:bodyPr>
          <a:lstStyle/>
          <a:p>
            <a:r>
              <a:rPr lang="zh-CN" altLang="en-US" sz="1400" dirty="0" smtClean="0">
                <a:solidFill>
                  <a:schemeClr val="bg1"/>
                </a:solidFill>
              </a:rPr>
              <a:t>基础</a:t>
            </a:r>
            <a:r>
              <a:rPr lang="en-US" altLang="zh-CN" sz="1400" dirty="0" smtClean="0">
                <a:solidFill>
                  <a:schemeClr val="bg1"/>
                </a:solidFill>
              </a:rPr>
              <a:t>M</a:t>
            </a:r>
            <a:r>
              <a:rPr lang="zh-CN" altLang="en-US" sz="1400" dirty="0" smtClean="0">
                <a:solidFill>
                  <a:schemeClr val="bg1"/>
                </a:solidFill>
              </a:rPr>
              <a:t>技术</a:t>
            </a:r>
            <a:r>
              <a:rPr lang="en-US" altLang="zh-CN" sz="1400" dirty="0" smtClean="0">
                <a:solidFill>
                  <a:schemeClr val="bg1"/>
                </a:solidFill>
              </a:rPr>
              <a:t>+HISUI</a:t>
            </a:r>
            <a:r>
              <a:rPr lang="zh-CN" altLang="en-US" sz="1400" dirty="0" smtClean="0">
                <a:solidFill>
                  <a:schemeClr val="bg1"/>
                </a:solidFill>
              </a:rPr>
              <a:t>技术、组件开发技术</a:t>
            </a:r>
            <a:endParaRPr lang="en-US" altLang="zh-CN" sz="1400" dirty="0" smtClean="0">
              <a:solidFill>
                <a:schemeClr val="bg1"/>
              </a:solidFill>
            </a:endParaRPr>
          </a:p>
          <a:p>
            <a:r>
              <a:rPr lang="en-US" altLang="zh-CN" sz="1400" dirty="0" smtClean="0">
                <a:solidFill>
                  <a:schemeClr val="bg1"/>
                </a:solidFill>
              </a:rPr>
              <a:t>   (</a:t>
            </a:r>
            <a:r>
              <a:rPr lang="zh-CN" altLang="en-US" sz="1400" dirty="0" smtClean="0">
                <a:solidFill>
                  <a:schemeClr val="bg1"/>
                </a:solidFill>
              </a:rPr>
              <a:t>后端</a:t>
            </a:r>
            <a:r>
              <a:rPr lang="en-US" altLang="zh-CN" sz="1400" dirty="0" smtClean="0">
                <a:solidFill>
                  <a:schemeClr val="bg1"/>
                </a:solidFill>
              </a:rPr>
              <a:t>)                   (</a:t>
            </a:r>
            <a:r>
              <a:rPr lang="zh-CN" altLang="en-US" sz="1400" dirty="0" smtClean="0">
                <a:solidFill>
                  <a:schemeClr val="bg1"/>
                </a:solidFill>
              </a:rPr>
              <a:t>前端</a:t>
            </a:r>
            <a:r>
              <a:rPr lang="en-US" altLang="zh-CN" sz="1400" dirty="0" smtClean="0">
                <a:solidFill>
                  <a:schemeClr val="bg1"/>
                </a:solidFill>
              </a:rPr>
              <a:t>)</a:t>
            </a:r>
            <a:endParaRPr lang="en-US" altLang="zh-CN" sz="1400" dirty="0" smtClean="0">
              <a:solidFill>
                <a:schemeClr val="bg1"/>
              </a:solidFill>
            </a:endParaRPr>
          </a:p>
          <a:p>
            <a:r>
              <a:rPr lang="en-US" altLang="zh-CN" sz="1400" dirty="0" smtClean="0">
                <a:solidFill>
                  <a:schemeClr val="bg1"/>
                </a:solidFill>
              </a:rPr>
              <a:t>  </a:t>
            </a:r>
            <a:endParaRPr lang="en-US" altLang="zh-CN" sz="1400" dirty="0">
              <a:solidFill>
                <a:schemeClr val="bg1"/>
              </a:solidFill>
            </a:endParaRPr>
          </a:p>
        </p:txBody>
      </p:sp>
      <p:sp>
        <p:nvSpPr>
          <p:cNvPr id="8" name="文本占位符 7"/>
          <p:cNvSpPr>
            <a:spLocks noGrp="1"/>
          </p:cNvSpPr>
          <p:nvPr>
            <p:ph type="body" sz="quarter" idx="13"/>
          </p:nvPr>
        </p:nvSpPr>
        <p:spPr/>
        <p:txBody>
          <a:bodyPr/>
          <a:lstStyle/>
          <a:p>
            <a:r>
              <a:rPr lang="zh-CN" altLang="en-US" dirty="0" smtClean="0"/>
              <a:t>目录</a:t>
            </a:r>
            <a:endParaRPr lang="zh-CN" altLang="en-US" dirty="0"/>
          </a:p>
        </p:txBody>
      </p:sp>
      <p:sp>
        <p:nvSpPr>
          <p:cNvPr id="20" name="椭圆 19"/>
          <p:cNvSpPr/>
          <p:nvPr/>
        </p:nvSpPr>
        <p:spPr>
          <a:xfrm>
            <a:off x="4624871" y="5771617"/>
            <a:ext cx="641444" cy="64144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lumMod val="65000"/>
                    <a:lumOff val="35000"/>
                  </a:schemeClr>
                </a:solidFill>
              </a:rPr>
              <a:t>5</a:t>
            </a:r>
            <a:endParaRPr lang="zh-CN" altLang="en-US" sz="3200" dirty="0">
              <a:solidFill>
                <a:schemeClr val="tx1">
                  <a:lumMod val="65000"/>
                  <a:lumOff val="35000"/>
                </a:schemeClr>
              </a:solidFill>
            </a:endParaRPr>
          </a:p>
        </p:txBody>
      </p:sp>
      <p:sp>
        <p:nvSpPr>
          <p:cNvPr id="21" name="文本框 20"/>
          <p:cNvSpPr txBox="1"/>
          <p:nvPr/>
        </p:nvSpPr>
        <p:spPr>
          <a:xfrm>
            <a:off x="5355000" y="5857288"/>
            <a:ext cx="5427345" cy="460375"/>
          </a:xfrm>
          <a:prstGeom prst="rect">
            <a:avLst/>
          </a:prstGeom>
          <a:noFill/>
        </p:spPr>
        <p:txBody>
          <a:bodyPr wrap="none" rtlCol="0">
            <a:spAutoFit/>
          </a:bodyPr>
          <a:lstStyle/>
          <a:p>
            <a:r>
              <a:rPr lang="en-US" altLang="zh-CN" sz="2400" dirty="0" smtClean="0">
                <a:solidFill>
                  <a:schemeClr val="tx1">
                    <a:lumMod val="65000"/>
                    <a:lumOff val="35000"/>
                  </a:schemeClr>
                </a:solidFill>
              </a:rPr>
              <a:t> CSP</a:t>
            </a:r>
            <a:r>
              <a:rPr lang="zh-CN" altLang="en-US" sz="2400" dirty="0">
                <a:solidFill>
                  <a:schemeClr val="tx1">
                    <a:lumMod val="65000"/>
                    <a:lumOff val="35000"/>
                  </a:schemeClr>
                </a:solidFill>
              </a:rPr>
              <a:t>、</a:t>
            </a:r>
            <a:r>
              <a:rPr lang="en-US" altLang="zh-CN" sz="2400" dirty="0" err="1">
                <a:solidFill>
                  <a:schemeClr val="tx1">
                    <a:lumMod val="65000"/>
                    <a:lumOff val="35000"/>
                  </a:schemeClr>
                </a:solidFill>
              </a:rPr>
              <a:t>Webservice</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HISUI</a:t>
            </a:r>
            <a:r>
              <a:rPr lang="zh-CN" altLang="en-US" sz="2400" dirty="0">
                <a:solidFill>
                  <a:schemeClr val="tx1">
                    <a:lumMod val="65000"/>
                    <a:lumOff val="35000"/>
                  </a:schemeClr>
                </a:solidFill>
              </a:rPr>
              <a:t>、组件开发</a:t>
            </a:r>
            <a:endParaRPr lang="zh-CN" altLang="en-US" sz="2400" dirty="0">
              <a:solidFill>
                <a:schemeClr val="tx1">
                  <a:lumMod val="65000"/>
                  <a:lumOff val="3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Scale>
                                      <p:cBhvr>
                                        <p:cTn id="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8" dur="1000" decel="50000" fill="hold">
                                          <p:stCondLst>
                                            <p:cond delay="0"/>
                                          </p:stCondLst>
                                        </p:cTn>
                                        <p:tgtEl>
                                          <p:spTgt spid="5"/>
                                        </p:tgtEl>
                                        <p:attrNameLst>
                                          <p:attrName>ppt_x</p:attrName>
                                          <p:attrName>ppt_y</p:attrName>
                                        </p:attrNameLst>
                                      </p:cBhvr>
                                      <p:rCtr x="0" y="0"/>
                                    </p:animMotion>
                                    <p:animEffect transition="in" filter="fade">
                                      <p:cBhvr>
                                        <p:cTn id="9" dur="1000"/>
                                        <p:tgtEl>
                                          <p:spTgt spid="5"/>
                                        </p:tgtEl>
                                      </p:cBhvr>
                                    </p:animEffect>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wipe(left)">
                                      <p:cBhvr>
                                        <p:cTn id="13" dur="35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68151" y="173615"/>
            <a:ext cx="9332912" cy="527050"/>
          </a:xfrm>
        </p:spPr>
        <p:txBody>
          <a:bodyPr/>
          <a:lstStyle/>
          <a:p>
            <a:r>
              <a:rPr lang="zh-CN" altLang="en-US" dirty="0" smtClean="0"/>
              <a:t>大纲</a:t>
            </a:r>
            <a:endParaRPr lang="zh-CN" altLang="en-US" dirty="0"/>
          </a:p>
        </p:txBody>
      </p:sp>
      <p:graphicFrame>
        <p:nvGraphicFramePr>
          <p:cNvPr id="19" name="表格 18"/>
          <p:cNvGraphicFramePr>
            <a:graphicFrameLocks noGrp="1"/>
          </p:cNvGraphicFramePr>
          <p:nvPr>
            <p:custDataLst>
              <p:tags r:id="rId1"/>
            </p:custDataLst>
          </p:nvPr>
        </p:nvGraphicFramePr>
        <p:xfrm>
          <a:off x="268151" y="857590"/>
          <a:ext cx="10912466" cy="5723534"/>
        </p:xfrm>
        <a:graphic>
          <a:graphicData uri="http://schemas.openxmlformats.org/drawingml/2006/table">
            <a:tbl>
              <a:tblPr firstRow="1" bandRow="1">
                <a:tableStyleId>{00A15C55-8517-42AA-B614-E9B94910E393}</a:tableStyleId>
              </a:tblPr>
              <a:tblGrid>
                <a:gridCol w="1908543"/>
                <a:gridCol w="1004496"/>
                <a:gridCol w="2008993"/>
                <a:gridCol w="5990434"/>
              </a:tblGrid>
              <a:tr h="320409">
                <a:tc gridSpan="2">
                  <a:txBody>
                    <a:bodyPr/>
                    <a:lstStyle/>
                    <a:p>
                      <a:pPr marL="0" marR="0" lvl="0" indent="0" algn="ctr" defTabSz="815975" rtl="0" eaLnBrk="1" fontAlgn="auto" latinLnBrk="0" hangingPunct="1">
                        <a:lnSpc>
                          <a:spcPct val="100000"/>
                        </a:lnSpc>
                        <a:spcBef>
                          <a:spcPts val="0"/>
                        </a:spcBef>
                        <a:spcAft>
                          <a:spcPts val="0"/>
                        </a:spcAft>
                        <a:buClrTx/>
                        <a:buSzTx/>
                        <a:buFontTx/>
                        <a:buNone/>
                        <a:defRPr/>
                      </a:pPr>
                      <a:r>
                        <a:rPr lang="zh-CN" altLang="en-US" sz="1200" u="none" strike="noStrike" dirty="0" smtClean="0">
                          <a:effectLst/>
                        </a:rPr>
                        <a:t>章节安排</a:t>
                      </a:r>
                      <a:endParaRPr lang="zh-CN" altLang="en-US" sz="1200" b="1" i="0" u="none" strike="noStrike" dirty="0" smtClean="0">
                        <a:solidFill>
                          <a:srgbClr val="FFFFFF"/>
                        </a:solidFill>
                        <a:effectLst/>
                        <a:latin typeface="宋体" panose="02010600030101010101" pitchFamily="2" charset="-122"/>
                        <a:ea typeface="+mn-ea"/>
                      </a:endParaRPr>
                    </a:p>
                  </a:txBody>
                  <a:tcPr anchor="ctr"/>
                </a:tc>
                <a:tc hMerge="1">
                  <a:tcPr/>
                </a:tc>
                <a:tc>
                  <a:txBody>
                    <a:bodyPr/>
                    <a:lstStyle/>
                    <a:p>
                      <a:pPr marL="0" marR="0" lvl="0" indent="0" algn="ctr" defTabSz="815975" rtl="0" eaLnBrk="1" fontAlgn="auto" latinLnBrk="0" hangingPunct="1">
                        <a:lnSpc>
                          <a:spcPct val="100000"/>
                        </a:lnSpc>
                        <a:spcBef>
                          <a:spcPts val="0"/>
                        </a:spcBef>
                        <a:spcAft>
                          <a:spcPts val="0"/>
                        </a:spcAft>
                        <a:buClrTx/>
                        <a:buSzTx/>
                        <a:buFontTx/>
                        <a:buNone/>
                        <a:defRPr/>
                      </a:pPr>
                      <a:r>
                        <a:rPr lang="zh-CN" altLang="en-US" sz="1200" u="none" strike="noStrike" dirty="0" smtClean="0">
                          <a:effectLst/>
                        </a:rPr>
                        <a:t>课程内容</a:t>
                      </a:r>
                      <a:endParaRPr lang="zh-CN" altLang="en-US" sz="1200" b="1" i="0" u="none" strike="noStrike" dirty="0" smtClean="0">
                        <a:solidFill>
                          <a:srgbClr val="FFFFFF"/>
                        </a:solidFill>
                        <a:effectLst/>
                        <a:latin typeface="宋体" panose="02010600030101010101" pitchFamily="2" charset="-122"/>
                        <a:ea typeface="+mn-ea"/>
                      </a:endParaRPr>
                    </a:p>
                  </a:txBody>
                  <a:tcPr anchor="ctr"/>
                </a:tc>
                <a:tc>
                  <a:txBody>
                    <a:bodyPr/>
                    <a:lstStyle/>
                    <a:p>
                      <a:pPr marL="0" marR="0" lvl="0" indent="0" algn="ctr" defTabSz="815975" rtl="0" eaLnBrk="1" fontAlgn="auto" latinLnBrk="0" hangingPunct="1">
                        <a:lnSpc>
                          <a:spcPct val="100000"/>
                        </a:lnSpc>
                        <a:spcBef>
                          <a:spcPts val="0"/>
                        </a:spcBef>
                        <a:spcAft>
                          <a:spcPts val="0"/>
                        </a:spcAft>
                        <a:buClrTx/>
                        <a:buSzTx/>
                        <a:buFontTx/>
                        <a:buNone/>
                        <a:defRPr/>
                      </a:pPr>
                      <a:r>
                        <a:rPr lang="zh-CN" altLang="en-US" sz="1200" u="none" strike="noStrike" dirty="0" smtClean="0">
                          <a:effectLst/>
                        </a:rPr>
                        <a:t>详细大纲</a:t>
                      </a:r>
                      <a:endParaRPr lang="zh-CN" altLang="en-US" sz="1200" b="1" i="0" u="none" strike="noStrike" dirty="0" smtClean="0">
                        <a:solidFill>
                          <a:srgbClr val="FFFFFF"/>
                        </a:solidFill>
                        <a:effectLst/>
                        <a:latin typeface="宋体" panose="02010600030101010101" pitchFamily="2" charset="-122"/>
                        <a:ea typeface="+mn-ea"/>
                      </a:endParaRPr>
                    </a:p>
                  </a:txBody>
                  <a:tcPr anchor="ctr"/>
                </a:tc>
              </a:tr>
              <a:tr h="229154">
                <a:tc rowSpan="6">
                  <a:txBody>
                    <a:bodyPr/>
                    <a:lstStyle/>
                    <a:p>
                      <a:pPr algn="ctr" rtl="0" fontAlgn="ctr"/>
                      <a:r>
                        <a:rPr lang="zh-CN" altLang="en-US" sz="1400" kern="1200" dirty="0"/>
                        <a:t>第一</a:t>
                      </a:r>
                      <a:r>
                        <a:rPr lang="zh-CN" altLang="en-US" sz="1400" kern="1200" dirty="0" smtClean="0"/>
                        <a:t>章</a:t>
                      </a:r>
                      <a:endParaRPr lang="en-US" altLang="zh-CN" sz="1400" kern="1200" dirty="0" smtClean="0"/>
                    </a:p>
                    <a:p>
                      <a:pPr algn="ctr" rtl="0" fontAlgn="ctr"/>
                      <a:r>
                        <a:rPr lang="en-US" altLang="zh-CN" sz="1400" kern="1200" dirty="0" err="1" smtClean="0"/>
                        <a:t>Caché</a:t>
                      </a:r>
                      <a:r>
                        <a:rPr lang="zh-CN" altLang="en-US" sz="1400" kern="1200" dirty="0"/>
                        <a:t>简介及多维存储</a:t>
                      </a:r>
                      <a:br>
                        <a:rPr lang="zh-CN" altLang="en-US" sz="1400" kern="1200" dirty="0"/>
                      </a:b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ctr" defTabSz="914400" rtl="0" eaLnBrk="1" fontAlgn="ctr" latinLnBrk="0" hangingPunct="1"/>
                      <a:r>
                        <a:rPr lang="zh-CN" altLang="en-US" sz="1400" kern="1200" dirty="0"/>
                        <a:t>第一节</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r>
                        <a:rPr lang="en-US" sz="1400" kern="1200" dirty="0"/>
                        <a:t>Cache</a:t>
                      </a:r>
                      <a:r>
                        <a:rPr lang="zh-CN" altLang="en-US" sz="1400" kern="1200" dirty="0"/>
                        <a:t>简介</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lnSpc>
                          <a:spcPts val="1400"/>
                        </a:lnSpc>
                      </a:pPr>
                      <a:r>
                        <a:rPr lang="en-US" sz="1400" kern="1200" dirty="0"/>
                        <a:t>Cache</a:t>
                      </a:r>
                      <a:r>
                        <a:rPr lang="zh-CN" altLang="en-US" sz="1400" kern="1200" dirty="0"/>
                        <a:t>简介</a:t>
                      </a:r>
                      <a:endParaRPr lang="zh-CN" altLang="en-US" sz="1400" kern="1200" dirty="0">
                        <a:solidFill>
                          <a:schemeClr val="tx1">
                            <a:lumMod val="75000"/>
                            <a:lumOff val="25000"/>
                          </a:schemeClr>
                        </a:solidFill>
                        <a:latin typeface="+mn-lt"/>
                        <a:ea typeface="+mn-ea"/>
                        <a:cs typeface="+mn-cs"/>
                      </a:endParaRPr>
                    </a:p>
                  </a:txBody>
                  <a:tcPr marL="7492" marR="7492" marT="7492" marB="0" anchor="ctr"/>
                </a:tc>
              </a:tr>
              <a:tr h="307347">
                <a:tc vMerge="1">
                  <a:tcPr/>
                </a:tc>
                <a:tc>
                  <a:txBody>
                    <a:bodyPr/>
                    <a:lstStyle/>
                    <a:p>
                      <a:pPr marL="0" algn="ctr" defTabSz="914400" rtl="0" eaLnBrk="1" fontAlgn="ctr" latinLnBrk="0" hangingPunct="1"/>
                      <a:r>
                        <a:rPr lang="zh-CN" altLang="en-US" sz="1400" kern="1200" dirty="0"/>
                        <a:t>第二节</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r>
                        <a:rPr lang="zh-CN" altLang="en-US" sz="1400" kern="1200" dirty="0" smtClean="0"/>
                        <a:t>开发环境简单了解</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marR="0" lvl="0" indent="0" algn="l" defTabSz="914400" rtl="0" eaLnBrk="1" fontAlgn="ctr" latinLnBrk="0" hangingPunct="1">
                        <a:lnSpc>
                          <a:spcPts val="1400"/>
                        </a:lnSpc>
                        <a:spcBef>
                          <a:spcPts val="0"/>
                        </a:spcBef>
                        <a:spcAft>
                          <a:spcPts val="0"/>
                        </a:spcAft>
                        <a:buClrTx/>
                        <a:buSzTx/>
                        <a:buFontTx/>
                        <a:buNone/>
                        <a:defRPr/>
                      </a:pPr>
                      <a:r>
                        <a:rPr lang="zh-CN" altLang="en-US" sz="1400" kern="1200" dirty="0" smtClean="0"/>
                        <a:t>开发环境简单了解</a:t>
                      </a:r>
                      <a:endParaRPr lang="zh-CN" altLang="en-US" sz="1400" kern="1200" dirty="0" smtClean="0">
                        <a:solidFill>
                          <a:schemeClr val="tx1">
                            <a:lumMod val="75000"/>
                            <a:lumOff val="25000"/>
                          </a:schemeClr>
                        </a:solidFill>
                        <a:latin typeface="+mn-lt"/>
                        <a:ea typeface="+mn-ea"/>
                        <a:cs typeface="+mn-cs"/>
                      </a:endParaRPr>
                    </a:p>
                  </a:txBody>
                  <a:tcPr marL="7492" marR="7492" marT="7492" marB="0" anchor="ctr"/>
                </a:tc>
              </a:tr>
              <a:tr h="1108708">
                <a:tc vMerge="1">
                  <a:tcPr/>
                </a:tc>
                <a:tc>
                  <a:txBody>
                    <a:bodyPr/>
                    <a:lstStyle/>
                    <a:p>
                      <a:pPr marL="0" algn="ctr" defTabSz="914400" rtl="0" eaLnBrk="1" fontAlgn="ctr" latinLnBrk="0" hangingPunct="1"/>
                      <a:r>
                        <a:rPr lang="zh-CN" altLang="en-US" sz="1400" kern="1200" dirty="0"/>
                        <a:t>第三节</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r>
                        <a:rPr lang="zh-CN" altLang="en-US" sz="1400" kern="1200" dirty="0"/>
                        <a:t>多维存储结构</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indent="-228600" algn="l" defTabSz="914400" rtl="0" eaLnBrk="1" fontAlgn="ctr" latinLnBrk="0" hangingPunct="1">
                        <a:lnSpc>
                          <a:spcPts val="1400"/>
                        </a:lnSpc>
                        <a:buFont typeface="+mj-lt"/>
                        <a:buAutoNum type="arabicPeriod"/>
                      </a:pPr>
                      <a:r>
                        <a:rPr lang="zh-CN" altLang="en-US" sz="1400" kern="1200" dirty="0" smtClean="0">
                          <a:solidFill>
                            <a:schemeClr val="dk1"/>
                          </a:solidFill>
                          <a:latin typeface="+mn-lt"/>
                          <a:ea typeface="+mn-ea"/>
                          <a:cs typeface="+mn-cs"/>
                        </a:rPr>
                        <a:t>多维存储结构介绍</a:t>
                      </a:r>
                      <a:endParaRPr lang="zh-CN" altLang="en-US" sz="1400" kern="1200" dirty="0" smtClean="0">
                        <a:solidFill>
                          <a:schemeClr val="dk1"/>
                        </a:solidFill>
                        <a:latin typeface="+mn-lt"/>
                        <a:ea typeface="+mn-ea"/>
                        <a:cs typeface="+mn-cs"/>
                      </a:endParaRPr>
                    </a:p>
                    <a:p>
                      <a:pPr marL="0" indent="-228600" algn="l" defTabSz="914400" rtl="0" eaLnBrk="1" fontAlgn="ctr" latinLnBrk="0" hangingPunct="1">
                        <a:lnSpc>
                          <a:spcPts val="1400"/>
                        </a:lnSpc>
                        <a:buFont typeface="+mj-lt"/>
                        <a:buAutoNum type="arabicPeriod"/>
                      </a:pPr>
                      <a:r>
                        <a:rPr lang="zh-CN" altLang="en-US" sz="1400" kern="1200" dirty="0" smtClean="0">
                          <a:solidFill>
                            <a:schemeClr val="dk1"/>
                          </a:solidFill>
                          <a:latin typeface="+mn-lt"/>
                          <a:ea typeface="+mn-ea"/>
                          <a:cs typeface="+mn-cs"/>
                        </a:rPr>
                        <a:t>变量、数组、</a:t>
                      </a:r>
                      <a:r>
                        <a:rPr lang="en-US" altLang="zh-CN" sz="1400" kern="1200" dirty="0" smtClean="0">
                          <a:solidFill>
                            <a:schemeClr val="dk1"/>
                          </a:solidFill>
                          <a:latin typeface="+mn-lt"/>
                          <a:ea typeface="+mn-ea"/>
                          <a:cs typeface="+mn-cs"/>
                        </a:rPr>
                        <a:t>Global</a:t>
                      </a:r>
                      <a:r>
                        <a:rPr lang="zh-CN" altLang="en-US" sz="1400" kern="1200" dirty="0" smtClean="0">
                          <a:solidFill>
                            <a:schemeClr val="dk1"/>
                          </a:solidFill>
                          <a:latin typeface="+mn-lt"/>
                          <a:ea typeface="+mn-ea"/>
                          <a:cs typeface="+mn-cs"/>
                        </a:rPr>
                        <a:t>、进程</a:t>
                      </a:r>
                      <a:r>
                        <a:rPr lang="en-US" altLang="zh-CN" sz="1400" kern="1200" dirty="0" smtClean="0">
                          <a:solidFill>
                            <a:schemeClr val="dk1"/>
                          </a:solidFill>
                          <a:latin typeface="+mn-lt"/>
                          <a:ea typeface="+mn-ea"/>
                          <a:cs typeface="+mn-cs"/>
                        </a:rPr>
                        <a:t>Global</a:t>
                      </a:r>
                      <a:r>
                        <a:rPr lang="zh-CN" altLang="en-US" sz="1400" kern="1200" dirty="0" smtClean="0">
                          <a:solidFill>
                            <a:schemeClr val="dk1"/>
                          </a:solidFill>
                          <a:latin typeface="+mn-lt"/>
                          <a:ea typeface="+mn-ea"/>
                          <a:cs typeface="+mn-cs"/>
                        </a:rPr>
                        <a:t>的使用与区别</a:t>
                      </a:r>
                      <a:endParaRPr lang="en-US" altLang="zh-CN" sz="1400" kern="1200" dirty="0" smtClean="0">
                        <a:solidFill>
                          <a:schemeClr val="dk1"/>
                        </a:solidFill>
                        <a:latin typeface="+mn-lt"/>
                        <a:ea typeface="+mn-ea"/>
                        <a:cs typeface="+mn-cs"/>
                      </a:endParaRPr>
                    </a:p>
                    <a:p>
                      <a:pPr marL="0" indent="-228600" algn="l" defTabSz="914400" rtl="0" eaLnBrk="1" fontAlgn="ctr" latinLnBrk="0" hangingPunct="1">
                        <a:lnSpc>
                          <a:spcPts val="1400"/>
                        </a:lnSpc>
                        <a:buFont typeface="+mj-lt"/>
                        <a:buAutoNum type="arabicPeriod"/>
                      </a:pPr>
                      <a:r>
                        <a:rPr lang="zh-CN" altLang="en-US" sz="1400" kern="1200" dirty="0" smtClean="0">
                          <a:solidFill>
                            <a:schemeClr val="dk1"/>
                          </a:solidFill>
                          <a:latin typeface="+mn-lt"/>
                          <a:ea typeface="+mn-ea"/>
                          <a:cs typeface="+mn-cs"/>
                        </a:rPr>
                        <a:t>基本语法一览表</a:t>
                      </a:r>
                      <a:r>
                        <a:rPr lang="en-US" altLang="zh-CN" sz="1400" kern="1200" dirty="0" smtClean="0">
                          <a:solidFill>
                            <a:schemeClr val="dk1"/>
                          </a:solidFill>
                          <a:latin typeface="+mn-lt"/>
                          <a:ea typeface="+mn-ea"/>
                          <a:cs typeface="+mn-cs"/>
                        </a:rPr>
                        <a:t>(</a:t>
                      </a:r>
                      <a:r>
                        <a:rPr lang="zh-CN" altLang="en-US" sz="1400" kern="1200" dirty="0" smtClean="0">
                          <a:solidFill>
                            <a:schemeClr val="dk1"/>
                          </a:solidFill>
                          <a:latin typeface="+mn-lt"/>
                          <a:ea typeface="+mn-ea"/>
                          <a:cs typeface="+mn-cs"/>
                        </a:rPr>
                        <a:t>常用</a:t>
                      </a:r>
                      <a:r>
                        <a:rPr lang="en-US" altLang="zh-CN" sz="1400" kern="1200" dirty="0" smtClean="0">
                          <a:solidFill>
                            <a:schemeClr val="dk1"/>
                          </a:solidFill>
                          <a:latin typeface="+mn-lt"/>
                          <a:ea typeface="+mn-ea"/>
                          <a:cs typeface="+mn-cs"/>
                        </a:rPr>
                        <a:t>)</a:t>
                      </a:r>
                      <a:endParaRPr lang="zh-CN" altLang="en-US" sz="1400" kern="1200" dirty="0" smtClean="0">
                        <a:solidFill>
                          <a:schemeClr val="dk1"/>
                        </a:solidFill>
                        <a:latin typeface="+mn-lt"/>
                        <a:ea typeface="+mn-ea"/>
                        <a:cs typeface="+mn-cs"/>
                      </a:endParaRPr>
                    </a:p>
                    <a:p>
                      <a:pPr marL="0" indent="-228600" algn="l" defTabSz="914400" rtl="0" eaLnBrk="1" fontAlgn="ctr" latinLnBrk="0" hangingPunct="1">
                        <a:lnSpc>
                          <a:spcPts val="1400"/>
                        </a:lnSpc>
                        <a:buFont typeface="+mj-lt"/>
                        <a:buAutoNum type="arabicPeriod"/>
                      </a:pPr>
                      <a:r>
                        <a:rPr lang="en-US" altLang="zh-CN" sz="1400" kern="1200" dirty="0" smtClean="0">
                          <a:solidFill>
                            <a:schemeClr val="dk1"/>
                          </a:solidFill>
                          <a:latin typeface="+mn-lt"/>
                          <a:ea typeface="+mn-ea"/>
                          <a:cs typeface="+mn-cs"/>
                        </a:rPr>
                        <a:t>Global</a:t>
                      </a:r>
                      <a:r>
                        <a:rPr lang="zh-CN" altLang="en-US" sz="1400" kern="1200" dirty="0" smtClean="0">
                          <a:solidFill>
                            <a:schemeClr val="dk1"/>
                          </a:solidFill>
                          <a:latin typeface="+mn-lt"/>
                          <a:ea typeface="+mn-ea"/>
                          <a:cs typeface="+mn-cs"/>
                        </a:rPr>
                        <a:t>的存储位置</a:t>
                      </a:r>
                      <a:r>
                        <a:rPr lang="en-US" altLang="zh-CN" sz="1400" kern="1200" dirty="0" smtClean="0">
                          <a:solidFill>
                            <a:schemeClr val="dk1"/>
                          </a:solidFill>
                          <a:latin typeface="+mn-lt"/>
                          <a:ea typeface="+mn-ea"/>
                          <a:cs typeface="+mn-cs"/>
                        </a:rPr>
                        <a:t>(</a:t>
                      </a:r>
                      <a:r>
                        <a:rPr lang="zh-CN" altLang="en-US" sz="1400" kern="1200" dirty="0" smtClean="0">
                          <a:solidFill>
                            <a:schemeClr val="dk1"/>
                          </a:solidFill>
                          <a:latin typeface="+mn-lt"/>
                          <a:ea typeface="+mn-ea"/>
                          <a:cs typeface="+mn-cs"/>
                        </a:rPr>
                        <a:t>节点</a:t>
                      </a:r>
                      <a:r>
                        <a:rPr lang="en-US" altLang="zh-CN" sz="1400" kern="1200" dirty="0" smtClean="0">
                          <a:solidFill>
                            <a:schemeClr val="dk1"/>
                          </a:solidFill>
                          <a:latin typeface="+mn-lt"/>
                          <a:ea typeface="+mn-ea"/>
                          <a:cs typeface="+mn-cs"/>
                        </a:rPr>
                        <a:t>)</a:t>
                      </a:r>
                      <a:endParaRPr lang="zh-CN" altLang="en-US" sz="1400" kern="1200" dirty="0" smtClean="0">
                        <a:solidFill>
                          <a:schemeClr val="dk1"/>
                        </a:solidFill>
                        <a:latin typeface="+mn-lt"/>
                        <a:ea typeface="+mn-ea"/>
                        <a:cs typeface="+mn-cs"/>
                      </a:endParaRPr>
                    </a:p>
                    <a:p>
                      <a:pPr marL="0" indent="-228600" algn="l" defTabSz="914400" rtl="0" eaLnBrk="1" fontAlgn="ctr" latinLnBrk="0" hangingPunct="1">
                        <a:lnSpc>
                          <a:spcPts val="1400"/>
                        </a:lnSpc>
                        <a:buFont typeface="+mj-lt"/>
                        <a:buAutoNum type="arabicPeriod"/>
                      </a:pPr>
                      <a:r>
                        <a:rPr lang="zh-CN" altLang="en-US" sz="1400" kern="1200" dirty="0" smtClean="0">
                          <a:solidFill>
                            <a:schemeClr val="dk1"/>
                          </a:solidFill>
                          <a:latin typeface="+mn-lt"/>
                          <a:ea typeface="+mn-ea"/>
                          <a:cs typeface="+mn-cs"/>
                        </a:rPr>
                        <a:t>画</a:t>
                      </a:r>
                      <a:r>
                        <a:rPr lang="en-US" altLang="zh-CN" sz="1400" kern="1200" dirty="0" smtClean="0">
                          <a:solidFill>
                            <a:schemeClr val="dk1"/>
                          </a:solidFill>
                          <a:latin typeface="+mn-lt"/>
                          <a:ea typeface="+mn-ea"/>
                          <a:cs typeface="+mn-cs"/>
                        </a:rPr>
                        <a:t>Global</a:t>
                      </a:r>
                      <a:r>
                        <a:rPr lang="zh-CN" altLang="en-US" sz="1400" kern="1200" dirty="0" smtClean="0">
                          <a:solidFill>
                            <a:schemeClr val="dk1"/>
                          </a:solidFill>
                          <a:latin typeface="+mn-lt"/>
                          <a:ea typeface="+mn-ea"/>
                          <a:cs typeface="+mn-cs"/>
                        </a:rPr>
                        <a:t>的树状结构</a:t>
                      </a:r>
                      <a:endParaRPr lang="zh-CN" altLang="en-US" sz="1400" kern="1200" dirty="0" smtClean="0">
                        <a:solidFill>
                          <a:schemeClr val="dk1"/>
                        </a:solidFill>
                        <a:latin typeface="+mn-lt"/>
                        <a:ea typeface="+mn-ea"/>
                        <a:cs typeface="+mn-cs"/>
                      </a:endParaRPr>
                    </a:p>
                    <a:p>
                      <a:pPr marL="0" indent="-228600" algn="l" defTabSz="914400" rtl="0" eaLnBrk="1" fontAlgn="ctr" latinLnBrk="0" hangingPunct="1">
                        <a:lnSpc>
                          <a:spcPts val="1400"/>
                        </a:lnSpc>
                        <a:buFont typeface="+mj-lt"/>
                        <a:buAutoNum type="arabicPeriod"/>
                      </a:pPr>
                      <a:r>
                        <a:rPr lang="zh-CN" altLang="en-US" sz="1400" kern="1200" dirty="0" smtClean="0">
                          <a:solidFill>
                            <a:schemeClr val="dk1"/>
                          </a:solidFill>
                          <a:latin typeface="+mn-lt"/>
                          <a:ea typeface="+mn-ea"/>
                          <a:cs typeface="+mn-cs"/>
                        </a:rPr>
                        <a:t>查看</a:t>
                      </a:r>
                      <a:r>
                        <a:rPr lang="en-US" altLang="zh-CN" sz="1400" kern="1200" dirty="0" smtClean="0">
                          <a:solidFill>
                            <a:schemeClr val="dk1"/>
                          </a:solidFill>
                          <a:latin typeface="+mn-lt"/>
                          <a:ea typeface="+mn-ea"/>
                          <a:cs typeface="+mn-cs"/>
                        </a:rPr>
                        <a:t>Global</a:t>
                      </a:r>
                      <a:r>
                        <a:rPr lang="zh-CN" altLang="en-US" sz="1400" kern="1200" dirty="0" smtClean="0">
                          <a:solidFill>
                            <a:schemeClr val="dk1"/>
                          </a:solidFill>
                          <a:latin typeface="+mn-lt"/>
                          <a:ea typeface="+mn-ea"/>
                          <a:cs typeface="+mn-cs"/>
                        </a:rPr>
                        <a:t>的数据</a:t>
                      </a:r>
                      <a:endParaRPr lang="zh-CN" altLang="en-US" sz="1400" kern="1200" dirty="0">
                        <a:solidFill>
                          <a:schemeClr val="dk1"/>
                        </a:solidFill>
                        <a:latin typeface="+mn-lt"/>
                        <a:ea typeface="+mn-ea"/>
                        <a:cs typeface="+mn-cs"/>
                      </a:endParaRPr>
                    </a:p>
                  </a:txBody>
                  <a:tcPr marL="7492" marR="7492" marT="7492" marB="0" anchor="ctr"/>
                </a:tc>
              </a:tr>
              <a:tr h="344890">
                <a:tc vMerge="1">
                  <a:tcPr/>
                </a:tc>
                <a:tc>
                  <a:txBody>
                    <a:bodyPr/>
                    <a:lstStyle/>
                    <a:p>
                      <a:pPr marL="0" algn="ctr" defTabSz="914400" rtl="0" eaLnBrk="1" fontAlgn="ctr" latinLnBrk="0" hangingPunct="1"/>
                      <a:r>
                        <a:rPr lang="zh-CN" altLang="en-US" sz="1400" kern="1200" dirty="0"/>
                        <a:t>第</a:t>
                      </a:r>
                      <a:r>
                        <a:rPr lang="zh-CN" altLang="en-US" sz="1400" kern="1200" dirty="0"/>
                        <a:t>四节</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r>
                        <a:rPr lang="zh-CN" altLang="en-US" sz="1400" kern="1200" dirty="0"/>
                        <a:t>开发环境</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lnSpc>
                          <a:spcPts val="1400"/>
                        </a:lnSpc>
                      </a:pPr>
                      <a:r>
                        <a:rPr lang="en-US" sz="1400" kern="1200" dirty="0" err="1"/>
                        <a:t>Terminal、studio、portal、CacheTT</a:t>
                      </a:r>
                      <a:r>
                        <a:rPr lang="zh-CN" altLang="en-US" sz="1400" kern="1200" dirty="0"/>
                        <a:t>的使用</a:t>
                      </a:r>
                      <a:endParaRPr lang="zh-CN" altLang="en-US" sz="1400" kern="1200" dirty="0">
                        <a:solidFill>
                          <a:schemeClr val="tx1">
                            <a:lumMod val="75000"/>
                            <a:lumOff val="25000"/>
                          </a:schemeClr>
                        </a:solidFill>
                        <a:latin typeface="+mn-lt"/>
                        <a:ea typeface="+mn-ea"/>
                        <a:cs typeface="+mn-cs"/>
                      </a:endParaRPr>
                    </a:p>
                  </a:txBody>
                  <a:tcPr marL="7492" marR="7492" marT="7492" marB="0" anchor="ctr"/>
                </a:tc>
              </a:tr>
              <a:tr h="333945">
                <a:tc vMerge="1">
                  <a:tcPr/>
                </a:tc>
                <a:tc>
                  <a:txBody>
                    <a:bodyPr/>
                    <a:lstStyle/>
                    <a:p>
                      <a:pPr marL="0" algn="ctr" defTabSz="914400" rtl="0" eaLnBrk="1" fontAlgn="ctr" latinLnBrk="0" hangingPunct="1"/>
                      <a:r>
                        <a:rPr lang="zh-CN" altLang="en-US" sz="1400" kern="1200" dirty="0"/>
                        <a:t>第</a:t>
                      </a:r>
                      <a:r>
                        <a:rPr lang="zh-CN" altLang="en-US" sz="1400" kern="1200" dirty="0"/>
                        <a:t>五节</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r>
                        <a:rPr lang="zh-CN" altLang="en-US" sz="1400" kern="1200" dirty="0"/>
                        <a:t>代码编写规范</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lnSpc>
                          <a:spcPts val="1400"/>
                        </a:lnSpc>
                      </a:pPr>
                      <a:r>
                        <a:rPr lang="zh-CN" altLang="en-US" sz="1400" kern="1200" dirty="0"/>
                        <a:t>代码编写规范</a:t>
                      </a:r>
                      <a:endParaRPr lang="zh-CN" altLang="en-US" sz="1400" kern="1200" dirty="0">
                        <a:solidFill>
                          <a:schemeClr val="tx1">
                            <a:lumMod val="75000"/>
                            <a:lumOff val="25000"/>
                          </a:schemeClr>
                        </a:solidFill>
                        <a:latin typeface="+mn-lt"/>
                        <a:ea typeface="+mn-ea"/>
                        <a:cs typeface="+mn-cs"/>
                      </a:endParaRPr>
                    </a:p>
                  </a:txBody>
                  <a:tcPr marL="7492" marR="7492" marT="7492" marB="0" anchor="ctr"/>
                </a:tc>
              </a:tr>
              <a:tr h="374955">
                <a:tc vMerge="1">
                  <a:tcPr/>
                </a:tc>
                <a:tc>
                  <a:txBody>
                    <a:bodyPr/>
                    <a:lstStyle/>
                    <a:p>
                      <a:pPr marL="0" algn="ctr" defTabSz="914400" rtl="0" eaLnBrk="1" fontAlgn="ctr" latinLnBrk="0" hangingPunct="1"/>
                      <a:r>
                        <a:rPr lang="zh-CN" altLang="en-US" sz="1400" kern="1200"/>
                        <a:t>第</a:t>
                      </a:r>
                      <a:r>
                        <a:rPr lang="zh-CN" altLang="en-US" sz="1400" kern="1200"/>
                        <a:t>六节</a:t>
                      </a:r>
                      <a:endParaRPr lang="zh-CN" altLang="en-US" sz="1400" kern="120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r>
                        <a:rPr lang="en-US" sz="1400" kern="1200" dirty="0" err="1"/>
                        <a:t>Sql</a:t>
                      </a:r>
                      <a:r>
                        <a:rPr lang="zh-CN" altLang="en-US" sz="1400" kern="1200" dirty="0" smtClean="0"/>
                        <a:t>语句</a:t>
                      </a:r>
                      <a:r>
                        <a:rPr lang="en-US" altLang="zh-CN" sz="1400" kern="1200" dirty="0" smtClean="0"/>
                        <a:t>(</a:t>
                      </a:r>
                      <a:r>
                        <a:rPr lang="zh-CN" altLang="en-US" sz="1400" kern="1200" dirty="0" smtClean="0"/>
                        <a:t>了解</a:t>
                      </a:r>
                      <a:r>
                        <a:rPr lang="en-US" altLang="zh-CN" sz="1400" kern="1200" dirty="0" smtClean="0"/>
                        <a:t>)</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lnSpc>
                          <a:spcPts val="1400"/>
                        </a:lnSpc>
                      </a:pPr>
                      <a:r>
                        <a:rPr lang="zh-CN" altLang="en-US" sz="1400" kern="1200" dirty="0"/>
                        <a:t>增删改查、多表关联的</a:t>
                      </a:r>
                      <a:r>
                        <a:rPr lang="en-US" altLang="zh-CN" sz="1400" kern="1200" dirty="0"/>
                        <a:t>SQL</a:t>
                      </a:r>
                      <a:r>
                        <a:rPr lang="zh-CN" altLang="en-US" sz="1400" kern="1200" dirty="0"/>
                        <a:t>语法</a:t>
                      </a:r>
                      <a:endParaRPr lang="zh-CN" altLang="en-US" sz="1400" kern="1200" dirty="0">
                        <a:solidFill>
                          <a:schemeClr val="tx1">
                            <a:lumMod val="75000"/>
                            <a:lumOff val="25000"/>
                          </a:schemeClr>
                        </a:solidFill>
                        <a:latin typeface="+mn-lt"/>
                        <a:ea typeface="+mn-ea"/>
                        <a:cs typeface="+mn-cs"/>
                      </a:endParaRPr>
                    </a:p>
                  </a:txBody>
                  <a:tcPr marL="7492" marR="7492" marT="7492" marB="0" anchor="ctr"/>
                </a:tc>
              </a:tr>
              <a:tr h="239319">
                <a:tc rowSpan="3">
                  <a:txBody>
                    <a:bodyPr/>
                    <a:lstStyle/>
                    <a:p>
                      <a:pPr marL="0" algn="ctr" defTabSz="914400" rtl="0" eaLnBrk="1" fontAlgn="ctr" latinLnBrk="0" hangingPunct="1"/>
                      <a:r>
                        <a:rPr lang="zh-CN" altLang="en-US" sz="1400" kern="1200" dirty="0"/>
                        <a:t>第二</a:t>
                      </a:r>
                      <a:r>
                        <a:rPr lang="zh-CN" altLang="en-US" sz="1400" kern="1200" dirty="0" smtClean="0"/>
                        <a:t>章</a:t>
                      </a:r>
                      <a:endParaRPr lang="en-US" altLang="zh-CN" sz="1400" kern="1200" dirty="0" smtClean="0"/>
                    </a:p>
                    <a:p>
                      <a:pPr marL="0" algn="ctr" defTabSz="914400" rtl="0" eaLnBrk="1" fontAlgn="ctr" latinLnBrk="0" hangingPunct="1"/>
                      <a:r>
                        <a:rPr lang="zh-CN" altLang="en-US" sz="1400" kern="1200" dirty="0" smtClean="0"/>
                        <a:t>持久类、存储与索引</a:t>
                      </a:r>
                      <a:br>
                        <a:rPr lang="zh-CN" altLang="en-US" sz="1400" kern="1200" dirty="0"/>
                      </a:b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ctr" defTabSz="914400" rtl="0" eaLnBrk="1" fontAlgn="ctr" latinLnBrk="0" hangingPunct="1"/>
                      <a:r>
                        <a:rPr lang="zh-CN" altLang="en-US" sz="1400" kern="1200" dirty="0"/>
                        <a:t>第一节</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indent="0" algn="l" defTabSz="914400" rtl="0" eaLnBrk="1" fontAlgn="ctr" latinLnBrk="0" hangingPunct="1">
                        <a:lnSpc>
                          <a:spcPts val="1400"/>
                        </a:lnSpc>
                        <a:buFont typeface="+mj-lt"/>
                        <a:buNone/>
                      </a:pPr>
                      <a:r>
                        <a:rPr lang="zh-CN" altLang="en-US" sz="1400" kern="1200" dirty="0" smtClean="0">
                          <a:solidFill>
                            <a:schemeClr val="dk1"/>
                          </a:solidFill>
                          <a:latin typeface="+mn-lt"/>
                          <a:ea typeface="+mn-ea"/>
                          <a:cs typeface="+mn-cs"/>
                        </a:rPr>
                        <a:t>创建持久类</a:t>
                      </a:r>
                      <a:r>
                        <a:rPr lang="en-US" altLang="zh-CN" sz="1400" kern="1200" dirty="0" smtClean="0">
                          <a:solidFill>
                            <a:schemeClr val="dk1"/>
                          </a:solidFill>
                          <a:latin typeface="+mn-lt"/>
                          <a:ea typeface="+mn-ea"/>
                          <a:cs typeface="+mn-cs"/>
                        </a:rPr>
                        <a:t>(</a:t>
                      </a:r>
                      <a:r>
                        <a:rPr lang="zh-CN" altLang="en-US" sz="1400" kern="1200" dirty="0" smtClean="0">
                          <a:solidFill>
                            <a:schemeClr val="dk1"/>
                          </a:solidFill>
                          <a:latin typeface="+mn-lt"/>
                          <a:ea typeface="+mn-ea"/>
                          <a:cs typeface="+mn-cs"/>
                        </a:rPr>
                        <a:t>实体类</a:t>
                      </a:r>
                      <a:r>
                        <a:rPr lang="en-US" altLang="zh-CN" sz="1400" kern="1200" dirty="0" smtClean="0">
                          <a:solidFill>
                            <a:schemeClr val="dk1"/>
                          </a:solidFill>
                          <a:latin typeface="+mn-lt"/>
                          <a:ea typeface="+mn-ea"/>
                          <a:cs typeface="+mn-cs"/>
                        </a:rPr>
                        <a:t>)</a:t>
                      </a:r>
                      <a:endParaRPr lang="zh-CN" altLang="en-US" sz="1400" kern="1200" dirty="0">
                        <a:solidFill>
                          <a:schemeClr val="dk1"/>
                        </a:solidFill>
                        <a:latin typeface="+mn-lt"/>
                        <a:ea typeface="+mn-ea"/>
                        <a:cs typeface="+mn-cs"/>
                      </a:endParaRPr>
                    </a:p>
                  </a:txBody>
                  <a:tcPr marL="7492" marR="7492" marT="7492" marB="0" anchor="ctr"/>
                </a:tc>
                <a:tc>
                  <a:txBody>
                    <a:bodyPr/>
                    <a:lstStyle/>
                    <a:p>
                      <a:pPr marL="0" indent="-228600" algn="l" defTabSz="914400" rtl="0" eaLnBrk="1" fontAlgn="ctr" latinLnBrk="0" hangingPunct="1">
                        <a:lnSpc>
                          <a:spcPts val="1400"/>
                        </a:lnSpc>
                        <a:buFont typeface="+mj-lt"/>
                        <a:buAutoNum type="arabicPeriod"/>
                      </a:pPr>
                      <a:r>
                        <a:rPr lang="zh-CN" altLang="en-US" sz="1400" kern="1200" dirty="0" smtClean="0">
                          <a:solidFill>
                            <a:schemeClr val="dk1"/>
                          </a:solidFill>
                          <a:latin typeface="+mn-lt"/>
                          <a:ea typeface="+mn-ea"/>
                          <a:cs typeface="+mn-cs"/>
                        </a:rPr>
                        <a:t>面向对象的持久类概念</a:t>
                      </a:r>
                      <a:endParaRPr lang="zh-CN" altLang="en-US" sz="1400" kern="1200" dirty="0" smtClean="0">
                        <a:solidFill>
                          <a:schemeClr val="dk1"/>
                        </a:solidFill>
                        <a:latin typeface="+mn-lt"/>
                        <a:ea typeface="+mn-ea"/>
                        <a:cs typeface="+mn-cs"/>
                      </a:endParaRPr>
                    </a:p>
                    <a:p>
                      <a:pPr marL="0" indent="-228600" algn="l" defTabSz="914400" rtl="0" eaLnBrk="1" fontAlgn="ctr" latinLnBrk="0" hangingPunct="1">
                        <a:lnSpc>
                          <a:spcPts val="1400"/>
                        </a:lnSpc>
                        <a:buFont typeface="+mj-lt"/>
                        <a:buAutoNum type="arabicPeriod"/>
                      </a:pPr>
                      <a:r>
                        <a:rPr lang="zh-CN" altLang="en-US" sz="1400" kern="1200" dirty="0" smtClean="0">
                          <a:solidFill>
                            <a:schemeClr val="dk1"/>
                          </a:solidFill>
                          <a:latin typeface="+mn-lt"/>
                          <a:ea typeface="+mn-ea"/>
                          <a:cs typeface="+mn-cs"/>
                        </a:rPr>
                        <a:t>持久类建表步骤</a:t>
                      </a:r>
                      <a:endParaRPr lang="zh-CN" altLang="en-US" sz="1400" kern="1200" dirty="0" smtClean="0">
                        <a:solidFill>
                          <a:schemeClr val="dk1"/>
                        </a:solidFill>
                        <a:latin typeface="+mn-lt"/>
                        <a:ea typeface="+mn-ea"/>
                        <a:cs typeface="+mn-cs"/>
                      </a:endParaRPr>
                    </a:p>
                    <a:p>
                      <a:pPr marL="0" indent="-228600" algn="l" defTabSz="914400" rtl="0" eaLnBrk="1" fontAlgn="ctr" latinLnBrk="0" hangingPunct="1">
                        <a:lnSpc>
                          <a:spcPts val="1400"/>
                        </a:lnSpc>
                        <a:buFont typeface="+mj-lt"/>
                        <a:buAutoNum type="arabicPeriod"/>
                      </a:pPr>
                      <a:r>
                        <a:rPr lang="zh-CN" altLang="en-US" sz="1400" kern="1200" dirty="0" smtClean="0">
                          <a:solidFill>
                            <a:schemeClr val="dk1"/>
                          </a:solidFill>
                          <a:latin typeface="+mn-lt"/>
                          <a:ea typeface="+mn-ea"/>
                          <a:cs typeface="+mn-cs"/>
                        </a:rPr>
                        <a:t>持久类建表相关基础知识</a:t>
                      </a:r>
                      <a:endParaRPr lang="zh-CN" altLang="en-US" sz="1400" kern="1200" dirty="0" smtClean="0">
                        <a:solidFill>
                          <a:schemeClr val="dk1"/>
                        </a:solidFill>
                        <a:latin typeface="+mn-lt"/>
                        <a:ea typeface="+mn-ea"/>
                        <a:cs typeface="+mn-cs"/>
                      </a:endParaRPr>
                    </a:p>
                    <a:p>
                      <a:pPr marL="0" indent="-228600" algn="l" defTabSz="914400" rtl="0" eaLnBrk="1" fontAlgn="ctr" latinLnBrk="0" hangingPunct="1">
                        <a:lnSpc>
                          <a:spcPts val="1400"/>
                        </a:lnSpc>
                        <a:buFont typeface="+mj-lt"/>
                        <a:buAutoNum type="arabicPeriod"/>
                      </a:pPr>
                      <a:r>
                        <a:rPr lang="zh-CN" altLang="en-US" sz="1400" kern="1200" dirty="0" smtClean="0">
                          <a:solidFill>
                            <a:schemeClr val="dk1"/>
                          </a:solidFill>
                          <a:latin typeface="+mn-lt"/>
                          <a:ea typeface="+mn-ea"/>
                          <a:cs typeface="+mn-cs"/>
                        </a:rPr>
                        <a:t>主索引、自增</a:t>
                      </a:r>
                      <a:r>
                        <a:rPr lang="en-US" altLang="zh-CN" sz="1400" kern="1200" dirty="0" smtClean="0">
                          <a:solidFill>
                            <a:schemeClr val="dk1"/>
                          </a:solidFill>
                          <a:latin typeface="+mn-lt"/>
                          <a:ea typeface="+mn-ea"/>
                          <a:cs typeface="+mn-cs"/>
                        </a:rPr>
                        <a:t>Id</a:t>
                      </a:r>
                      <a:r>
                        <a:rPr lang="zh-CN" altLang="en-US" sz="1400" kern="1200" dirty="0" smtClean="0">
                          <a:solidFill>
                            <a:schemeClr val="dk1"/>
                          </a:solidFill>
                          <a:latin typeface="+mn-lt"/>
                          <a:ea typeface="+mn-ea"/>
                          <a:cs typeface="+mn-cs"/>
                        </a:rPr>
                        <a:t>、</a:t>
                      </a:r>
                      <a:r>
                        <a:rPr lang="en-US" altLang="zh-CN" sz="1400" kern="1200" dirty="0" err="1" smtClean="0">
                          <a:solidFill>
                            <a:schemeClr val="dk1"/>
                          </a:solidFill>
                          <a:latin typeface="+mn-lt"/>
                          <a:ea typeface="+mn-ea"/>
                          <a:cs typeface="+mn-cs"/>
                        </a:rPr>
                        <a:t>Rowid</a:t>
                      </a:r>
                      <a:r>
                        <a:rPr lang="zh-CN" altLang="en-US" sz="1400" kern="1200" dirty="0" smtClean="0">
                          <a:solidFill>
                            <a:schemeClr val="dk1"/>
                          </a:solidFill>
                          <a:latin typeface="+mn-lt"/>
                          <a:ea typeface="+mn-ea"/>
                          <a:cs typeface="+mn-cs"/>
                        </a:rPr>
                        <a:t>的定义</a:t>
                      </a:r>
                      <a:endParaRPr lang="en-US" altLang="zh-CN" sz="1400" kern="1200" dirty="0">
                        <a:solidFill>
                          <a:schemeClr val="dk1"/>
                        </a:solidFill>
                        <a:latin typeface="+mn-lt"/>
                        <a:ea typeface="+mn-ea"/>
                        <a:cs typeface="+mn-cs"/>
                      </a:endParaRPr>
                    </a:p>
                  </a:txBody>
                  <a:tcPr marL="7492" marR="7492" marT="7492" marB="0" anchor="ctr"/>
                </a:tc>
              </a:tr>
              <a:tr h="362637">
                <a:tc vMerge="1">
                  <a:tcPr/>
                </a:tc>
                <a:tc>
                  <a:txBody>
                    <a:bodyPr/>
                    <a:lstStyle/>
                    <a:p>
                      <a:pPr marL="0" algn="ctr" defTabSz="914400" rtl="0" eaLnBrk="1" fontAlgn="ctr" latinLnBrk="0" hangingPunct="1"/>
                      <a:r>
                        <a:rPr lang="zh-CN" altLang="en-US" sz="1400" kern="1200" dirty="0"/>
                        <a:t>第二节</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400" kern="1200" dirty="0" smtClean="0"/>
                        <a:t>两种存储的查询方法</a:t>
                      </a:r>
                      <a:endParaRPr lang="zh-CN" altLang="en-US" sz="1400" kern="1200" dirty="0" smtClean="0">
                        <a:solidFill>
                          <a:schemeClr val="tx1">
                            <a:lumMod val="75000"/>
                            <a:lumOff val="25000"/>
                          </a:schemeClr>
                        </a:solidFill>
                        <a:latin typeface="+mn-lt"/>
                        <a:ea typeface="+mn-ea"/>
                        <a:cs typeface="+mn-cs"/>
                      </a:endParaRPr>
                    </a:p>
                  </a:txBody>
                  <a:tcPr marL="7492" marR="7492" marT="7492" marB="0" anchor="ctr"/>
                </a:tc>
                <a:tc>
                  <a:txBody>
                    <a:bodyPr/>
                    <a:lstStyle/>
                    <a:p>
                      <a:pPr marL="0" indent="0" algn="l" fontAlgn="b">
                        <a:lnSpc>
                          <a:spcPct val="150000"/>
                        </a:lnSpc>
                        <a:buFont typeface="+mj-lt"/>
                        <a:buNone/>
                      </a:pPr>
                      <a:r>
                        <a:rPr lang="en-US" altLang="zh-CN" sz="1400" kern="1200" dirty="0" smtClean="0"/>
                        <a:t>1. Cache SQL Storage</a:t>
                      </a:r>
                      <a:r>
                        <a:rPr lang="zh-CN" altLang="en-US" sz="1400" kern="1200" dirty="0" smtClean="0"/>
                        <a:t>的创建步骤</a:t>
                      </a:r>
                      <a:endParaRPr lang="en-US" altLang="zh-CN" sz="1400" kern="1200" dirty="0" smtClean="0"/>
                    </a:p>
                    <a:p>
                      <a:pPr marL="0" indent="0" algn="l" fontAlgn="b">
                        <a:lnSpc>
                          <a:spcPct val="150000"/>
                        </a:lnSpc>
                        <a:buFont typeface="+mj-lt"/>
                        <a:buNone/>
                      </a:pPr>
                      <a:r>
                        <a:rPr lang="en-US" altLang="zh-CN" sz="1400" kern="1200" dirty="0" smtClean="0"/>
                        <a:t>2.Cache  Storage</a:t>
                      </a:r>
                      <a:r>
                        <a:rPr lang="zh-CN" altLang="en-US" sz="1400" kern="1200" dirty="0" smtClean="0"/>
                        <a:t>和</a:t>
                      </a:r>
                      <a:r>
                        <a:rPr lang="en-US" altLang="zh-CN" sz="1400" kern="1200" dirty="0" smtClean="0"/>
                        <a:t>Cache SQL Storage</a:t>
                      </a:r>
                      <a:r>
                        <a:rPr lang="zh-CN" altLang="en-US" sz="1400" kern="1200" dirty="0" smtClean="0"/>
                        <a:t>的不同及使用方法</a:t>
                      </a:r>
                      <a:endParaRPr lang="zh-CN" altLang="en-US" sz="1400" kern="1200" dirty="0">
                        <a:solidFill>
                          <a:schemeClr val="tx1">
                            <a:lumMod val="75000"/>
                            <a:lumOff val="25000"/>
                          </a:schemeClr>
                        </a:solidFill>
                        <a:latin typeface="+mn-lt"/>
                        <a:ea typeface="+mn-ea"/>
                        <a:cs typeface="+mn-cs"/>
                      </a:endParaRPr>
                    </a:p>
                  </a:txBody>
                  <a:tcPr marL="7492" marR="7492" marT="7492" marB="0" anchor="ctr"/>
                </a:tc>
              </a:tr>
              <a:tr h="668931">
                <a:tc vMerge="1">
                  <a:tcPr/>
                </a:tc>
                <a:tc>
                  <a:txBody>
                    <a:bodyPr/>
                    <a:lstStyle/>
                    <a:p>
                      <a:pPr marL="0" algn="ctr" defTabSz="914400" rtl="0" eaLnBrk="1" fontAlgn="ctr" latinLnBrk="0" hangingPunct="1"/>
                      <a:r>
                        <a:rPr lang="zh-CN" altLang="en-US" sz="1400" kern="1200" dirty="0"/>
                        <a:t>第三节</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algn="l" defTabSz="914400" rtl="0" eaLnBrk="1" fontAlgn="ctr" latinLnBrk="0" hangingPunct="1"/>
                      <a:r>
                        <a:rPr lang="zh-CN" altLang="en-US" sz="1400" kern="1200" dirty="0"/>
                        <a:t>索引</a:t>
                      </a:r>
                      <a:endParaRPr lang="zh-CN" altLang="en-US" sz="1400" kern="1200" dirty="0">
                        <a:solidFill>
                          <a:schemeClr val="tx1">
                            <a:lumMod val="75000"/>
                            <a:lumOff val="25000"/>
                          </a:schemeClr>
                        </a:solidFill>
                        <a:latin typeface="+mn-lt"/>
                        <a:ea typeface="+mn-ea"/>
                        <a:cs typeface="+mn-cs"/>
                      </a:endParaRPr>
                    </a:p>
                  </a:txBody>
                  <a:tcPr marL="7492" marR="7492" marT="7492" marB="0" anchor="ctr"/>
                </a:tc>
                <a:tc>
                  <a:txBody>
                    <a:bodyPr/>
                    <a:lstStyle/>
                    <a:p>
                      <a:pPr marL="0" indent="-228600" algn="l" defTabSz="914400" rtl="0" eaLnBrk="1" fontAlgn="ctr" latinLnBrk="0" hangingPunct="1">
                        <a:lnSpc>
                          <a:spcPts val="1400"/>
                        </a:lnSpc>
                        <a:buFont typeface="+mj-lt"/>
                        <a:buAutoNum type="arabicPeriod"/>
                      </a:pPr>
                      <a:r>
                        <a:rPr lang="zh-CN" altLang="en-US" sz="1400" kern="1200" dirty="0"/>
                        <a:t>索引的</a:t>
                      </a:r>
                      <a:r>
                        <a:rPr lang="zh-CN" altLang="en-US" sz="1400" kern="1200" dirty="0" smtClean="0"/>
                        <a:t>概念</a:t>
                      </a:r>
                      <a:endParaRPr lang="en-US" altLang="zh-CN" sz="1400" kern="1200" dirty="0" smtClean="0"/>
                    </a:p>
                    <a:p>
                      <a:pPr marL="0" marR="0" lvl="0" indent="-228600" algn="l" defTabSz="914400" rtl="0" eaLnBrk="1" fontAlgn="ctr" latinLnBrk="0" hangingPunct="1">
                        <a:lnSpc>
                          <a:spcPts val="1400"/>
                        </a:lnSpc>
                        <a:spcBef>
                          <a:spcPts val="0"/>
                        </a:spcBef>
                        <a:spcAft>
                          <a:spcPts val="0"/>
                        </a:spcAft>
                        <a:buClrTx/>
                        <a:buSzTx/>
                        <a:buFont typeface="+mj-lt"/>
                        <a:buAutoNum type="arabicPeriod"/>
                        <a:defRPr/>
                      </a:pPr>
                      <a:r>
                        <a:rPr lang="zh-CN" altLang="en-US" sz="1400" kern="1200" dirty="0" smtClean="0"/>
                        <a:t>索引遍历与无索引遍历的对比</a:t>
                      </a:r>
                      <a:r>
                        <a:rPr lang="en-US" altLang="zh-CN" sz="1400" kern="1200" dirty="0" smtClean="0"/>
                        <a:t>(</a:t>
                      </a:r>
                      <a:r>
                        <a:rPr lang="zh-CN" altLang="en-US" sz="1400" kern="1200" dirty="0" smtClean="0"/>
                        <a:t>示例</a:t>
                      </a:r>
                      <a:r>
                        <a:rPr lang="en-US" altLang="zh-CN" sz="1400" kern="1200" dirty="0" smtClean="0"/>
                        <a:t>)</a:t>
                      </a:r>
                      <a:endParaRPr lang="en-US" altLang="zh-CN" sz="1400" kern="1200" dirty="0" smtClean="0"/>
                    </a:p>
                    <a:p>
                      <a:pPr marL="0" indent="-228600" algn="l" defTabSz="914400" rtl="0" eaLnBrk="1" fontAlgn="ctr" latinLnBrk="0" hangingPunct="1">
                        <a:lnSpc>
                          <a:spcPts val="1400"/>
                        </a:lnSpc>
                        <a:buFont typeface="+mj-lt"/>
                        <a:buAutoNum type="arabicPeriod"/>
                      </a:pPr>
                      <a:r>
                        <a:rPr lang="zh-CN" altLang="en-US" sz="1400" kern="1200" dirty="0" smtClean="0"/>
                        <a:t>索引</a:t>
                      </a:r>
                      <a:r>
                        <a:rPr lang="zh-CN" altLang="en-US" sz="1400" kern="1200" dirty="0"/>
                        <a:t>的创建和</a:t>
                      </a:r>
                      <a:r>
                        <a:rPr lang="zh-CN" altLang="en-US" sz="1400" kern="1200" dirty="0" smtClean="0"/>
                        <a:t>生成</a:t>
                      </a:r>
                      <a:endParaRPr lang="en-US" altLang="zh-CN" sz="1400" kern="1200" dirty="0" smtClean="0"/>
                    </a:p>
                  </a:txBody>
                  <a:tcPr marL="7492" marR="7492" marT="7492"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大纲</a:t>
            </a:r>
            <a:endParaRPr lang="zh-CN" altLang="en-US" dirty="0"/>
          </a:p>
        </p:txBody>
      </p:sp>
      <p:graphicFrame>
        <p:nvGraphicFramePr>
          <p:cNvPr id="3" name="表格 2"/>
          <p:cNvGraphicFramePr>
            <a:graphicFrameLocks noGrp="1"/>
          </p:cNvGraphicFramePr>
          <p:nvPr/>
        </p:nvGraphicFramePr>
        <p:xfrm>
          <a:off x="386983" y="599475"/>
          <a:ext cx="11136535" cy="5417785"/>
        </p:xfrm>
        <a:graphic>
          <a:graphicData uri="http://schemas.openxmlformats.org/drawingml/2006/table">
            <a:tbl>
              <a:tblPr firstRow="1" bandRow="1">
                <a:tableStyleId>{00A15C55-8517-42AA-B614-E9B94910E393}</a:tableStyleId>
              </a:tblPr>
              <a:tblGrid>
                <a:gridCol w="2106835"/>
                <a:gridCol w="1402773"/>
                <a:gridCol w="2462645"/>
                <a:gridCol w="5164282"/>
              </a:tblGrid>
              <a:tr h="390380">
                <a:tc gridSpan="2">
                  <a:txBody>
                    <a:bodyPr/>
                    <a:lstStyle/>
                    <a:p>
                      <a:pPr marL="0" indent="0" algn="ctr" defTabSz="914400" rtl="0" eaLnBrk="1" fontAlgn="ctr" latinLnBrk="0" hangingPunct="1">
                        <a:lnSpc>
                          <a:spcPts val="1400"/>
                        </a:lnSpc>
                        <a:buFont typeface="+mj-lt"/>
                        <a:buNone/>
                      </a:pPr>
                      <a:r>
                        <a:rPr lang="zh-CN" altLang="en-US" sz="1400" kern="1200" dirty="0"/>
                        <a:t>章节安排</a:t>
                      </a:r>
                      <a:endParaRPr lang="zh-CN" altLang="en-US" sz="1400" kern="1200" dirty="0">
                        <a:solidFill>
                          <a:schemeClr val="dk1"/>
                        </a:solidFill>
                        <a:latin typeface="+mn-lt"/>
                        <a:ea typeface="+mn-ea"/>
                        <a:cs typeface="+mn-cs"/>
                      </a:endParaRPr>
                    </a:p>
                  </a:txBody>
                  <a:tcPr marL="9525" marR="9525" marT="9525" marB="0" anchor="ctr"/>
                </a:tc>
                <a:tc hMerge="1">
                  <a:tcPr/>
                </a:tc>
                <a:tc>
                  <a:txBody>
                    <a:bodyPr/>
                    <a:lstStyle/>
                    <a:p>
                      <a:pPr marL="0" indent="0" algn="ctr" defTabSz="914400" rtl="0" eaLnBrk="1" fontAlgn="ctr" latinLnBrk="0" hangingPunct="1">
                        <a:lnSpc>
                          <a:spcPts val="1400"/>
                        </a:lnSpc>
                        <a:buFont typeface="+mj-lt"/>
                        <a:buNone/>
                      </a:pPr>
                      <a:r>
                        <a:rPr lang="zh-CN" altLang="en-US" sz="1400" kern="1200" dirty="0"/>
                        <a:t>课程内容</a:t>
                      </a:r>
                      <a:endParaRPr lang="zh-CN" altLang="en-US" sz="1400" kern="1200" dirty="0">
                        <a:solidFill>
                          <a:schemeClr val="dk1"/>
                        </a:solidFill>
                        <a:latin typeface="+mn-lt"/>
                        <a:ea typeface="+mn-ea"/>
                        <a:cs typeface="+mn-cs"/>
                      </a:endParaRPr>
                    </a:p>
                  </a:txBody>
                  <a:tcPr marL="9525" marR="9525" marT="9525" marB="0" anchor="ctr"/>
                </a:tc>
                <a:tc>
                  <a:txBody>
                    <a:bodyPr/>
                    <a:lstStyle/>
                    <a:p>
                      <a:pPr marL="0" indent="0" algn="ctr" defTabSz="914400" rtl="0" eaLnBrk="1" fontAlgn="ctr" latinLnBrk="0" hangingPunct="1">
                        <a:lnSpc>
                          <a:spcPts val="1400"/>
                        </a:lnSpc>
                        <a:buFont typeface="+mj-lt"/>
                        <a:buNone/>
                      </a:pPr>
                      <a:r>
                        <a:rPr lang="zh-CN" altLang="en-US" sz="1400" kern="1200" dirty="0"/>
                        <a:t>详细大纲</a:t>
                      </a:r>
                      <a:endParaRPr lang="zh-CN" altLang="en-US" sz="1400" kern="1200" dirty="0">
                        <a:solidFill>
                          <a:schemeClr val="dk1"/>
                        </a:solidFill>
                        <a:latin typeface="+mn-lt"/>
                        <a:ea typeface="+mn-ea"/>
                        <a:cs typeface="+mn-cs"/>
                      </a:endParaRPr>
                    </a:p>
                  </a:txBody>
                  <a:tcPr marL="9525" marR="9525" marT="9525" marB="0" anchor="ctr"/>
                </a:tc>
              </a:tr>
              <a:tr h="636939">
                <a:tc rowSpan="3">
                  <a:txBody>
                    <a:bodyPr/>
                    <a:lstStyle/>
                    <a:p>
                      <a:pPr marL="0" indent="0" algn="ctr" defTabSz="914400" rtl="0" eaLnBrk="1" fontAlgn="ctr" latinLnBrk="0" hangingPunct="1">
                        <a:lnSpc>
                          <a:spcPts val="1400"/>
                        </a:lnSpc>
                        <a:buFontTx/>
                        <a:buNone/>
                      </a:pPr>
                      <a:r>
                        <a:rPr lang="zh-CN" altLang="en-US" sz="1400" kern="1200" dirty="0"/>
                        <a:t>第三</a:t>
                      </a:r>
                      <a:r>
                        <a:rPr lang="zh-CN" altLang="en-US" sz="1400" kern="1200" dirty="0" smtClean="0"/>
                        <a:t>章</a:t>
                      </a:r>
                      <a:endParaRPr lang="en-US" altLang="zh-CN" sz="1400" kern="1200" dirty="0" smtClean="0"/>
                    </a:p>
                    <a:p>
                      <a:pPr marL="0" indent="0" algn="ctr" defTabSz="914400" rtl="0" eaLnBrk="1" fontAlgn="ctr" latinLnBrk="0" hangingPunct="1">
                        <a:lnSpc>
                          <a:spcPts val="1400"/>
                        </a:lnSpc>
                        <a:buFontTx/>
                        <a:buNone/>
                      </a:pPr>
                      <a:endParaRPr lang="en-US" altLang="zh-CN" sz="1400" kern="1200" dirty="0" smtClean="0"/>
                    </a:p>
                    <a:p>
                      <a:pPr marL="0" indent="0" algn="ctr" defTabSz="914400" rtl="0" eaLnBrk="1" fontAlgn="ctr" latinLnBrk="0" hangingPunct="1">
                        <a:lnSpc>
                          <a:spcPts val="1400"/>
                        </a:lnSpc>
                        <a:buFontTx/>
                        <a:buNone/>
                      </a:pPr>
                      <a:r>
                        <a:rPr lang="en-US" altLang="zh-CN" sz="1400" kern="1200" dirty="0" smtClean="0"/>
                        <a:t>SQL</a:t>
                      </a:r>
                      <a:r>
                        <a:rPr lang="zh-CN" altLang="en-US" sz="1400" kern="1200" dirty="0"/>
                        <a:t>与</a:t>
                      </a:r>
                      <a:r>
                        <a:rPr lang="en-US" altLang="zh-CN" sz="1400" kern="1200" dirty="0"/>
                        <a:t>Query</a:t>
                      </a:r>
                      <a:r>
                        <a:rPr lang="zh-CN" altLang="en-US" sz="1400" kern="1200" dirty="0" smtClean="0"/>
                        <a:t>实现</a:t>
                      </a:r>
                      <a:endParaRPr lang="en-US" altLang="zh-CN" sz="1400" kern="1200" dirty="0" smtClean="0"/>
                    </a:p>
                    <a:p>
                      <a:pPr marL="0" indent="0" algn="ctr" defTabSz="914400" rtl="0" eaLnBrk="1" fontAlgn="ctr" latinLnBrk="0" hangingPunct="1">
                        <a:lnSpc>
                          <a:spcPts val="1400"/>
                        </a:lnSpc>
                        <a:buFontTx/>
                        <a:buNone/>
                      </a:pPr>
                      <a:r>
                        <a:rPr lang="en-US" altLang="zh-CN" sz="1400" kern="1200" dirty="0" smtClean="0"/>
                        <a:t>M</a:t>
                      </a:r>
                      <a:r>
                        <a:rPr lang="zh-CN" altLang="en-US" sz="1400" kern="1200" dirty="0"/>
                        <a:t>的基础知识</a:t>
                      </a:r>
                      <a:endParaRPr lang="zh-CN" altLang="en-US" sz="1400" kern="1200" dirty="0">
                        <a:solidFill>
                          <a:schemeClr val="dk1"/>
                        </a:solidFill>
                        <a:latin typeface="+mn-lt"/>
                        <a:ea typeface="+mn-ea"/>
                        <a:cs typeface="+mn-cs"/>
                      </a:endParaRPr>
                    </a:p>
                  </a:txBody>
                  <a:tcPr marL="9525" marR="9525" marT="9525" marB="0" anchor="ctr"/>
                </a:tc>
                <a:tc>
                  <a:txBody>
                    <a:bodyPr/>
                    <a:lstStyle/>
                    <a:p>
                      <a:pPr marL="0" indent="0" algn="l" defTabSz="914400" rtl="0" eaLnBrk="1" fontAlgn="ctr" latinLnBrk="0" hangingPunct="1">
                        <a:lnSpc>
                          <a:spcPts val="1400"/>
                        </a:lnSpc>
                        <a:buFontTx/>
                        <a:buNone/>
                      </a:pPr>
                      <a:r>
                        <a:rPr lang="zh-CN" altLang="en-US" sz="1400" kern="1200" dirty="0"/>
                        <a:t>第一节</a:t>
                      </a:r>
                      <a:endParaRPr lang="zh-CN" altLang="en-US" sz="1400" kern="1200" dirty="0">
                        <a:solidFill>
                          <a:schemeClr val="dk1"/>
                        </a:solidFill>
                        <a:latin typeface="+mn-lt"/>
                        <a:ea typeface="+mn-ea"/>
                        <a:cs typeface="+mn-cs"/>
                      </a:endParaRPr>
                    </a:p>
                  </a:txBody>
                  <a:tcPr marL="9525" marR="9525" marT="9525" marB="0" anchor="ctr"/>
                </a:tc>
                <a:tc>
                  <a:txBody>
                    <a:bodyPr/>
                    <a:lstStyle/>
                    <a:p>
                      <a:pPr marL="71755" indent="0" algn="l" defTabSz="914400" rtl="0" eaLnBrk="1" fontAlgn="b" latinLnBrk="0" hangingPunct="1">
                        <a:lnSpc>
                          <a:spcPts val="1600"/>
                        </a:lnSpc>
                        <a:buFont typeface="+mj-lt"/>
                        <a:buNone/>
                      </a:pPr>
                      <a:r>
                        <a:rPr lang="en-US" altLang="zh-CN" sz="1400" u="none" strike="noStrike" kern="1200" dirty="0" smtClean="0">
                          <a:effectLst/>
                        </a:rPr>
                        <a:t>M</a:t>
                      </a:r>
                      <a:r>
                        <a:rPr lang="zh-CN" altLang="en-US" sz="1400" u="none" strike="noStrike" kern="1200" dirty="0" smtClean="0">
                          <a:effectLst/>
                        </a:rPr>
                        <a:t>基础知识</a:t>
                      </a:r>
                      <a:endParaRPr lang="zh-CN" altLang="en-US" sz="1400" u="none" strike="noStrike" kern="1200" dirty="0">
                        <a:solidFill>
                          <a:schemeClr val="dk1"/>
                        </a:solidFill>
                        <a:effectLst/>
                        <a:latin typeface="+mn-lt"/>
                        <a:ea typeface="+mn-ea"/>
                        <a:cs typeface="+mn-cs"/>
                      </a:endParaRPr>
                    </a:p>
                  </a:txBody>
                  <a:tcPr marL="9525" marR="9525" marT="9525" marB="0" anchor="ctr"/>
                </a:tc>
                <a:tc>
                  <a:txBody>
                    <a:bodyPr/>
                    <a:lstStyle/>
                    <a:p>
                      <a:pPr marL="300355" indent="-228600" algn="l" fontAlgn="b">
                        <a:lnSpc>
                          <a:spcPts val="1600"/>
                        </a:lnSpc>
                        <a:buFont typeface="+mj-lt"/>
                        <a:buAutoNum type="arabicPeriod"/>
                      </a:pPr>
                      <a:r>
                        <a:rPr lang="en-US" altLang="zh-CN" sz="1400" u="none" strike="noStrike" dirty="0" smtClean="0">
                          <a:effectLst/>
                        </a:rPr>
                        <a:t>Routine</a:t>
                      </a:r>
                      <a:r>
                        <a:rPr lang="zh-CN" altLang="en-US" sz="1400" u="none" strike="noStrike" dirty="0" smtClean="0">
                          <a:effectLst/>
                        </a:rPr>
                        <a:t>的概念、命名和执行</a:t>
                      </a:r>
                      <a:endParaRPr lang="zh-CN" altLang="en-US" sz="1400" u="none" strike="noStrike"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常见的特殊变量</a:t>
                      </a:r>
                      <a:endParaRPr lang="zh-CN" altLang="en-US"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基本运算符</a:t>
                      </a:r>
                      <a:endParaRPr lang="zh-CN" altLang="en-US"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常见的命令</a:t>
                      </a:r>
                      <a:endParaRPr lang="zh-CN" altLang="en-US"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程序流控制命令</a:t>
                      </a:r>
                      <a:endParaRPr lang="zh-CN" altLang="en-US"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常见的函数</a:t>
                      </a:r>
                      <a:endParaRPr lang="en-US" altLang="zh-CN" sz="1400" u="none" strike="noStrike" kern="1200" dirty="0" smtClean="0">
                        <a:solidFill>
                          <a:schemeClr val="dk1"/>
                        </a:solidFill>
                        <a:effectLst/>
                        <a:latin typeface="+mn-lt"/>
                        <a:ea typeface="+mn-ea"/>
                        <a:cs typeface="+mn-cs"/>
                      </a:endParaRPr>
                    </a:p>
                  </a:txBody>
                  <a:tcPr marL="9525" marR="9525" marT="9525" marB="0" anchor="ctr"/>
                </a:tc>
              </a:tr>
              <a:tr h="509380">
                <a:tc vMerge="1">
                  <a:tcPr/>
                </a:tc>
                <a:tc>
                  <a:txBody>
                    <a:bodyPr/>
                    <a:lstStyle/>
                    <a:p>
                      <a:pPr marL="0" indent="0" algn="l" defTabSz="914400" rtl="0" eaLnBrk="1" fontAlgn="ctr" latinLnBrk="0" hangingPunct="1">
                        <a:lnSpc>
                          <a:spcPts val="1400"/>
                        </a:lnSpc>
                        <a:buFontTx/>
                        <a:buNone/>
                      </a:pPr>
                      <a:r>
                        <a:rPr lang="zh-CN" altLang="en-US" sz="1400" kern="1200" dirty="0"/>
                        <a:t>第二</a:t>
                      </a:r>
                      <a:r>
                        <a:rPr lang="zh-CN" altLang="en-US" sz="1400" kern="1200" dirty="0" smtClean="0"/>
                        <a:t>节</a:t>
                      </a:r>
                      <a:endParaRPr lang="zh-CN" altLang="en-US" sz="1400" kern="1200" dirty="0">
                        <a:solidFill>
                          <a:schemeClr val="dk1"/>
                        </a:solidFill>
                        <a:latin typeface="+mn-lt"/>
                        <a:ea typeface="+mn-ea"/>
                        <a:cs typeface="+mn-cs"/>
                      </a:endParaRPr>
                    </a:p>
                  </a:txBody>
                  <a:tcPr marL="9525" marR="9525" marT="9525" marB="0" anchor="ctr"/>
                </a:tc>
                <a:tc>
                  <a:txBody>
                    <a:bodyPr/>
                    <a:lstStyle/>
                    <a:p>
                      <a:pPr marL="0" marR="0" lvl="0" indent="0" algn="l" defTabSz="914400" rtl="0" eaLnBrk="1" fontAlgn="ctr" latinLnBrk="0" hangingPunct="1">
                        <a:lnSpc>
                          <a:spcPts val="1400"/>
                        </a:lnSpc>
                        <a:spcBef>
                          <a:spcPts val="0"/>
                        </a:spcBef>
                        <a:spcAft>
                          <a:spcPts val="0"/>
                        </a:spcAft>
                        <a:buClrTx/>
                        <a:buSzTx/>
                        <a:buFontTx/>
                        <a:buNone/>
                        <a:defRPr/>
                      </a:pPr>
                      <a:r>
                        <a:rPr lang="en-US" altLang="zh-CN" sz="1400" kern="1200" dirty="0" smtClean="0"/>
                        <a:t>SQL</a:t>
                      </a:r>
                      <a:r>
                        <a:rPr lang="zh-CN" altLang="en-US" sz="1400" kern="1200" dirty="0" smtClean="0"/>
                        <a:t>和</a:t>
                      </a:r>
                      <a:r>
                        <a:rPr lang="en-US" altLang="zh-CN" sz="1400" kern="1200" dirty="0" smtClean="0"/>
                        <a:t>PLIST</a:t>
                      </a:r>
                      <a:r>
                        <a:rPr lang="zh-CN" altLang="en-US" sz="1400" kern="1200" dirty="0" smtClean="0"/>
                        <a:t>实现增删改</a:t>
                      </a:r>
                      <a:endParaRPr lang="zh-CN" altLang="en-US" sz="1400" kern="1200" dirty="0" smtClean="0"/>
                    </a:p>
                  </a:txBody>
                  <a:tcPr marL="9525" marR="9525" marT="9525" marB="0" anchor="ctr"/>
                </a:tc>
                <a:tc>
                  <a:txBody>
                    <a:bodyPr/>
                    <a:lstStyle/>
                    <a:p>
                      <a:pPr marL="300355" indent="-228600" algn="l" fontAlgn="b">
                        <a:lnSpc>
                          <a:spcPts val="1600"/>
                        </a:lnSpc>
                        <a:buFont typeface="+mj-lt"/>
                        <a:buAutoNum type="arabicPeriod"/>
                      </a:pPr>
                      <a:r>
                        <a:rPr lang="zh-CN" altLang="en-US" sz="1400" u="none" strike="noStrike" dirty="0" smtClean="0">
                          <a:effectLst/>
                        </a:rPr>
                        <a:t>终端调试命令一览表</a:t>
                      </a:r>
                      <a:endParaRPr lang="en-US" altLang="zh-CN" sz="1400" u="none" strike="noStrike" dirty="0" smtClean="0">
                        <a:effectLst/>
                      </a:endParaRPr>
                    </a:p>
                    <a:p>
                      <a:pPr marL="300355" indent="-228600" algn="l" fontAlgn="b">
                        <a:lnSpc>
                          <a:spcPts val="1600"/>
                        </a:lnSpc>
                        <a:buFont typeface="+mj-lt"/>
                        <a:buAutoNum type="arabicPeriod"/>
                      </a:pPr>
                      <a:r>
                        <a:rPr lang="en-US" altLang="zh-CN" sz="1400" u="none" strike="noStrike" dirty="0" smtClean="0">
                          <a:effectLst/>
                        </a:rPr>
                        <a:t>SQL</a:t>
                      </a:r>
                      <a:r>
                        <a:rPr lang="zh-CN" altLang="en-US" sz="1400" u="none" strike="noStrike" dirty="0" smtClean="0">
                          <a:effectLst/>
                        </a:rPr>
                        <a:t>和</a:t>
                      </a:r>
                      <a:r>
                        <a:rPr lang="en-US" altLang="zh-CN" sz="1400" u="none" strike="noStrike" dirty="0" smtClean="0">
                          <a:effectLst/>
                        </a:rPr>
                        <a:t>PLIST</a:t>
                      </a:r>
                      <a:r>
                        <a:rPr lang="zh-CN" altLang="en-US" sz="1400" u="none" strike="noStrike" dirty="0" smtClean="0">
                          <a:effectLst/>
                        </a:rPr>
                        <a:t>实现增删查改</a:t>
                      </a:r>
                      <a:endParaRPr lang="en-US" altLang="zh-CN"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706582">
                <a:tc vMerge="1">
                  <a:tcPr/>
                </a:tc>
                <a:tc>
                  <a:txBody>
                    <a:bodyPr/>
                    <a:lstStyle/>
                    <a:p>
                      <a:pPr marL="0" indent="0" algn="l" defTabSz="914400" rtl="0" eaLnBrk="1" fontAlgn="ctr" latinLnBrk="0" hangingPunct="1">
                        <a:lnSpc>
                          <a:spcPts val="1400"/>
                        </a:lnSpc>
                        <a:buFontTx/>
                        <a:buNone/>
                      </a:pPr>
                      <a:r>
                        <a:rPr lang="zh-CN" altLang="en-US" sz="1400" kern="1200" dirty="0" smtClean="0"/>
                        <a:t>第三节</a:t>
                      </a:r>
                      <a:endParaRPr lang="zh-CN" altLang="en-US" sz="1400" kern="1200" dirty="0">
                        <a:solidFill>
                          <a:schemeClr val="dk1"/>
                        </a:solidFill>
                        <a:latin typeface="+mn-lt"/>
                        <a:ea typeface="+mn-ea"/>
                        <a:cs typeface="+mn-cs"/>
                      </a:endParaRPr>
                    </a:p>
                  </a:txBody>
                  <a:tcPr marL="9525" marR="9525" marT="9525" marB="0" anchor="ctr"/>
                </a:tc>
                <a:tc>
                  <a:txBody>
                    <a:bodyPr/>
                    <a:lstStyle/>
                    <a:p>
                      <a:pPr marL="0" indent="0" algn="l" defTabSz="914400" rtl="0" eaLnBrk="1" fontAlgn="ctr" latinLnBrk="0" hangingPunct="1">
                        <a:lnSpc>
                          <a:spcPts val="1400"/>
                        </a:lnSpc>
                        <a:buFontTx/>
                        <a:buNone/>
                      </a:pPr>
                      <a:r>
                        <a:rPr lang="en-US" sz="1400" kern="1200" dirty="0"/>
                        <a:t>Query</a:t>
                      </a:r>
                      <a:endParaRPr lang="en-US" sz="1400" kern="1200" dirty="0">
                        <a:solidFill>
                          <a:schemeClr val="dk1"/>
                        </a:solidFill>
                        <a:latin typeface="+mn-lt"/>
                        <a:ea typeface="+mn-ea"/>
                        <a:cs typeface="+mn-cs"/>
                      </a:endParaRPr>
                    </a:p>
                  </a:txBody>
                  <a:tcPr marL="9525" marR="9525" marT="9525" marB="0" anchor="ctr"/>
                </a:tc>
                <a:tc>
                  <a:txBody>
                    <a:bodyPr/>
                    <a:lstStyle/>
                    <a:p>
                      <a:pPr marL="300355" indent="-228600" algn="l" fontAlgn="b">
                        <a:lnSpc>
                          <a:spcPts val="1600"/>
                        </a:lnSpc>
                        <a:buFont typeface="+mj-lt"/>
                        <a:buAutoNum type="arabicPeriod"/>
                      </a:pPr>
                      <a:r>
                        <a:rPr lang="en-US" altLang="zh-CN" sz="1400" u="none" strike="noStrike" dirty="0" smtClean="0">
                          <a:effectLst/>
                        </a:rPr>
                        <a:t>Query</a:t>
                      </a:r>
                      <a:r>
                        <a:rPr lang="zh-CN" altLang="en-US" sz="1400" u="none" strike="noStrike" dirty="0" smtClean="0">
                          <a:effectLst/>
                        </a:rPr>
                        <a:t>的概念</a:t>
                      </a:r>
                      <a:endParaRPr lang="zh-CN" altLang="en-US" sz="1400" u="none" strike="noStrike" dirty="0" smtClean="0">
                        <a:effectLst/>
                      </a:endParaRPr>
                    </a:p>
                    <a:p>
                      <a:pPr marL="300355" indent="-228600" algn="l" fontAlgn="b">
                        <a:lnSpc>
                          <a:spcPts val="1600"/>
                        </a:lnSpc>
                        <a:buFont typeface="+mj-lt"/>
                        <a:buAutoNum type="arabicPeriod"/>
                      </a:pPr>
                      <a:r>
                        <a:rPr lang="en-US" altLang="zh-CN" sz="1400" u="none" strike="noStrike" dirty="0" smtClean="0">
                          <a:effectLst/>
                        </a:rPr>
                        <a:t>Query</a:t>
                      </a:r>
                      <a:r>
                        <a:rPr lang="zh-CN" altLang="en-US" sz="1400" u="none" strike="noStrike" dirty="0" smtClean="0">
                          <a:effectLst/>
                        </a:rPr>
                        <a:t>的编写</a:t>
                      </a:r>
                      <a:endParaRPr lang="zh-CN" altLang="en-US" sz="1400" u="none" strike="noStrike" dirty="0" smtClean="0">
                        <a:effectLst/>
                      </a:endParaRPr>
                    </a:p>
                    <a:p>
                      <a:pPr marL="300355" indent="-228600" algn="l" fontAlgn="b">
                        <a:lnSpc>
                          <a:spcPts val="1600"/>
                        </a:lnSpc>
                        <a:buFont typeface="+mj-lt"/>
                        <a:buAutoNum type="arabicPeriod"/>
                      </a:pPr>
                      <a:r>
                        <a:rPr lang="en-US" altLang="zh-CN" sz="1400" u="none" strike="noStrike" dirty="0" smtClean="0">
                          <a:effectLst/>
                        </a:rPr>
                        <a:t>Query</a:t>
                      </a:r>
                      <a:r>
                        <a:rPr lang="zh-CN" altLang="en-US" sz="1400" u="none" strike="noStrike" dirty="0" smtClean="0">
                          <a:effectLst/>
                        </a:rPr>
                        <a:t>的执行与调用</a:t>
                      </a:r>
                      <a:endParaRPr lang="zh-CN" altLang="en-US" sz="1400" u="none" strike="noStrike" dirty="0" smtClean="0">
                        <a:effectLst/>
                      </a:endParaRPr>
                    </a:p>
                    <a:p>
                      <a:pPr marL="300355" indent="-228600" algn="l" fontAlgn="b">
                        <a:lnSpc>
                          <a:spcPts val="1600"/>
                        </a:lnSpc>
                        <a:buFont typeface="+mj-lt"/>
                        <a:buAutoNum type="arabicPeriod"/>
                      </a:pPr>
                      <a:r>
                        <a:rPr lang="en-US" altLang="zh-CN" sz="1400" u="none" strike="noStrike" dirty="0" smtClean="0">
                          <a:effectLst/>
                        </a:rPr>
                        <a:t>%Query</a:t>
                      </a:r>
                      <a:r>
                        <a:rPr lang="zh-CN" altLang="en-US" sz="1400" u="none" strike="noStrike" dirty="0" smtClean="0">
                          <a:effectLst/>
                        </a:rPr>
                        <a:t>的使用</a:t>
                      </a:r>
                      <a:endParaRPr lang="zh-CN" altLang="en-US" sz="1400" u="none" strike="noStrike" dirty="0" smtClean="0">
                        <a:effectLst/>
                      </a:endParaRPr>
                    </a:p>
                    <a:p>
                      <a:pPr marL="300355" indent="-228600" algn="l" fontAlgn="b">
                        <a:lnSpc>
                          <a:spcPts val="1600"/>
                        </a:lnSpc>
                        <a:buFont typeface="+mj-lt"/>
                        <a:buAutoNum type="arabicPeriod"/>
                      </a:pPr>
                      <a:r>
                        <a:rPr lang="zh-CN" altLang="en-US" sz="1400" u="none" strike="noStrike" dirty="0" smtClean="0">
                          <a:effectLst/>
                        </a:rPr>
                        <a:t>特殊</a:t>
                      </a:r>
                      <a:r>
                        <a:rPr lang="en-US" altLang="zh-CN" sz="1400" u="none" strike="noStrike" dirty="0" smtClean="0">
                          <a:effectLst/>
                        </a:rPr>
                        <a:t>Query</a:t>
                      </a:r>
                      <a:r>
                        <a:rPr lang="zh-CN" altLang="en-US" sz="1400" u="none" strike="noStrike" dirty="0" smtClean="0">
                          <a:effectLst/>
                        </a:rPr>
                        <a:t>的使用</a:t>
                      </a:r>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485026">
                <a:tc rowSpan="3">
                  <a:txBody>
                    <a:bodyPr/>
                    <a:lstStyle/>
                    <a:p>
                      <a:pPr marL="0" indent="0" algn="ctr" defTabSz="914400" rtl="0" eaLnBrk="1" fontAlgn="ctr" latinLnBrk="0" hangingPunct="1">
                        <a:lnSpc>
                          <a:spcPts val="1400"/>
                        </a:lnSpc>
                        <a:buFontTx/>
                        <a:buNone/>
                      </a:pPr>
                      <a:r>
                        <a:rPr lang="zh-CN" altLang="en-US" sz="1400" kern="1200" dirty="0"/>
                        <a:t>第四</a:t>
                      </a:r>
                      <a:r>
                        <a:rPr lang="zh-CN" altLang="en-US" sz="1400" kern="1200" dirty="0" smtClean="0"/>
                        <a:t>章</a:t>
                      </a:r>
                      <a:endParaRPr lang="en-US" altLang="zh-CN" sz="1400" kern="1200" dirty="0" smtClean="0"/>
                    </a:p>
                    <a:p>
                      <a:pPr marL="0" indent="0" algn="ctr" defTabSz="914400" rtl="0" eaLnBrk="1" fontAlgn="ctr" latinLnBrk="0" hangingPunct="1">
                        <a:lnSpc>
                          <a:spcPts val="1400"/>
                        </a:lnSpc>
                        <a:buFontTx/>
                        <a:buNone/>
                      </a:pPr>
                      <a:endParaRPr lang="en-US" altLang="zh-CN" sz="1400" kern="1200" dirty="0" smtClean="0"/>
                    </a:p>
                    <a:p>
                      <a:pPr marL="0" indent="0" algn="ctr" defTabSz="914400" rtl="0" eaLnBrk="1" fontAlgn="ctr" latinLnBrk="0" hangingPunct="1">
                        <a:lnSpc>
                          <a:spcPts val="1400"/>
                        </a:lnSpc>
                        <a:buFontTx/>
                        <a:buNone/>
                      </a:pPr>
                      <a:r>
                        <a:rPr lang="en-US" altLang="zh-CN" sz="1400" kern="1200" dirty="0" err="1" smtClean="0"/>
                        <a:t>Caché</a:t>
                      </a:r>
                      <a:r>
                        <a:rPr lang="zh-CN" altLang="en-US" sz="1400" kern="1200" dirty="0"/>
                        <a:t>面向对象</a:t>
                      </a:r>
                      <a:r>
                        <a:rPr lang="zh-CN" altLang="en-US" sz="1400" kern="1200" dirty="0" smtClean="0"/>
                        <a:t>开发</a:t>
                      </a:r>
                      <a:endParaRPr lang="en-US" altLang="zh-CN" sz="1400" kern="1200" dirty="0" smtClean="0"/>
                    </a:p>
                    <a:p>
                      <a:pPr marL="0" indent="0" algn="ctr" defTabSz="914400" rtl="0" eaLnBrk="1" fontAlgn="ctr" latinLnBrk="0" hangingPunct="1">
                        <a:lnSpc>
                          <a:spcPts val="1400"/>
                        </a:lnSpc>
                        <a:buFontTx/>
                        <a:buNone/>
                      </a:pPr>
                      <a:r>
                        <a:rPr lang="zh-CN" altLang="en-US" sz="1400" kern="1200" dirty="0" smtClean="0"/>
                        <a:t>父子</a:t>
                      </a:r>
                      <a:r>
                        <a:rPr lang="zh-CN" altLang="en-US" sz="1400" kern="1200" dirty="0"/>
                        <a:t>表与事务</a:t>
                      </a:r>
                      <a:endParaRPr lang="zh-CN" altLang="en-US" sz="1400" kern="1200" dirty="0">
                        <a:solidFill>
                          <a:schemeClr val="dk1"/>
                        </a:solidFill>
                        <a:latin typeface="+mn-lt"/>
                        <a:ea typeface="+mn-ea"/>
                        <a:cs typeface="+mn-cs"/>
                      </a:endParaRPr>
                    </a:p>
                  </a:txBody>
                  <a:tcPr marL="9525" marR="9525" marT="9525" marB="0" anchor="ctr"/>
                </a:tc>
                <a:tc>
                  <a:txBody>
                    <a:bodyPr/>
                    <a:lstStyle/>
                    <a:p>
                      <a:pPr marL="0" indent="0" algn="l" defTabSz="914400" rtl="0" eaLnBrk="1" fontAlgn="ctr" latinLnBrk="0" hangingPunct="1">
                        <a:lnSpc>
                          <a:spcPts val="1400"/>
                        </a:lnSpc>
                        <a:buFontTx/>
                        <a:buNone/>
                      </a:pPr>
                      <a:r>
                        <a:rPr lang="zh-CN" altLang="en-US" sz="1400" kern="1200" dirty="0"/>
                        <a:t>第一节</a:t>
                      </a:r>
                      <a:endParaRPr lang="zh-CN" altLang="en-US" sz="1400" kern="1200" dirty="0">
                        <a:solidFill>
                          <a:schemeClr val="dk1"/>
                        </a:solidFill>
                        <a:latin typeface="+mn-lt"/>
                        <a:ea typeface="+mn-ea"/>
                        <a:cs typeface="+mn-cs"/>
                      </a:endParaRPr>
                    </a:p>
                  </a:txBody>
                  <a:tcPr marL="9525" marR="9525" marT="9525" marB="0" anchor="ctr"/>
                </a:tc>
                <a:tc>
                  <a:txBody>
                    <a:bodyPr/>
                    <a:lstStyle/>
                    <a:p>
                      <a:pPr marL="0" indent="0" algn="l" defTabSz="914400" rtl="0" eaLnBrk="1" fontAlgn="ctr" latinLnBrk="0" hangingPunct="1">
                        <a:lnSpc>
                          <a:spcPts val="1400"/>
                        </a:lnSpc>
                        <a:buFontTx/>
                        <a:buNone/>
                      </a:pPr>
                      <a:r>
                        <a:rPr lang="en-US" altLang="zh-CN" sz="1400" kern="1200" dirty="0"/>
                        <a:t>Cache</a:t>
                      </a:r>
                      <a:r>
                        <a:rPr lang="zh-CN" altLang="en-US" sz="1400" kern="1200" dirty="0"/>
                        <a:t>面向对象开发</a:t>
                      </a:r>
                      <a:endParaRPr lang="zh-CN" altLang="en-US" sz="1400" kern="1200" dirty="0">
                        <a:solidFill>
                          <a:schemeClr val="dk1"/>
                        </a:solidFill>
                        <a:latin typeface="+mn-lt"/>
                        <a:ea typeface="+mn-ea"/>
                        <a:cs typeface="+mn-cs"/>
                      </a:endParaRPr>
                    </a:p>
                  </a:txBody>
                  <a:tcPr marL="9525" marR="9525" marT="9525" marB="0" anchor="ctr"/>
                </a:tc>
                <a:tc>
                  <a:txBody>
                    <a:bodyPr/>
                    <a:lstStyle/>
                    <a:p>
                      <a:pPr marL="300355" indent="-228600" algn="l" defTabSz="914400" rtl="0" eaLnBrk="1" fontAlgn="b" latinLnBrk="0" hangingPunct="1">
                        <a:lnSpc>
                          <a:spcPts val="1600"/>
                        </a:lnSpc>
                        <a:buFont typeface="+mj-lt"/>
                        <a:buAutoNum type="arabicPeriod"/>
                      </a:pPr>
                      <a:r>
                        <a:rPr lang="en-US" altLang="zh-CN" sz="1400" u="none" strike="noStrike" kern="1200" dirty="0" err="1" smtClean="0">
                          <a:solidFill>
                            <a:schemeClr val="dk1"/>
                          </a:solidFill>
                          <a:effectLst/>
                          <a:latin typeface="+mn-lt"/>
                          <a:ea typeface="+mn-ea"/>
                          <a:cs typeface="+mn-cs"/>
                        </a:rPr>
                        <a:t>Caché</a:t>
                      </a:r>
                      <a:r>
                        <a:rPr lang="zh-CN" altLang="en-US" sz="1400" u="none" strike="noStrike" kern="1200" dirty="0" smtClean="0">
                          <a:solidFill>
                            <a:schemeClr val="dk1"/>
                          </a:solidFill>
                          <a:effectLst/>
                          <a:latin typeface="+mn-lt"/>
                          <a:ea typeface="+mn-ea"/>
                          <a:cs typeface="+mn-cs"/>
                        </a:rPr>
                        <a:t>面向对象基础知识</a:t>
                      </a:r>
                      <a:endParaRPr lang="zh-CN" altLang="en-US" sz="1400" u="none" strike="noStrike" kern="1200" dirty="0" smtClean="0">
                        <a:solidFill>
                          <a:schemeClr val="dk1"/>
                        </a:solidFill>
                        <a:effectLst/>
                        <a:latin typeface="+mn-lt"/>
                        <a:ea typeface="+mn-ea"/>
                        <a:cs typeface="+mn-cs"/>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solidFill>
                            <a:schemeClr val="dk1"/>
                          </a:solidFill>
                          <a:effectLst/>
                          <a:latin typeface="+mn-lt"/>
                          <a:ea typeface="+mn-ea"/>
                          <a:cs typeface="+mn-cs"/>
                        </a:rPr>
                        <a:t>类的类型、成员属性和方法</a:t>
                      </a:r>
                      <a:endParaRPr lang="zh-CN" altLang="en-US" sz="1400" u="none" strike="noStrike" kern="1200" dirty="0" smtClean="0">
                        <a:solidFill>
                          <a:schemeClr val="dk1"/>
                        </a:solidFill>
                        <a:effectLst/>
                        <a:latin typeface="+mn-lt"/>
                        <a:ea typeface="+mn-ea"/>
                        <a:cs typeface="+mn-cs"/>
                      </a:endParaRPr>
                    </a:p>
                    <a:p>
                      <a:pPr marL="300355" indent="-228600" algn="l" defTabSz="914400" rtl="0" eaLnBrk="1" fontAlgn="b" latinLnBrk="0" hangingPunct="1">
                        <a:lnSpc>
                          <a:spcPts val="1600"/>
                        </a:lnSpc>
                        <a:buFont typeface="+mj-lt"/>
                        <a:buAutoNum type="arabicPeriod"/>
                      </a:pPr>
                      <a:r>
                        <a:rPr lang="en-US" altLang="zh-CN" sz="1400" u="none" strike="noStrike" kern="1200" dirty="0" err="1" smtClean="0">
                          <a:solidFill>
                            <a:schemeClr val="dk1"/>
                          </a:solidFill>
                          <a:effectLst/>
                          <a:latin typeface="+mn-lt"/>
                          <a:ea typeface="+mn-ea"/>
                          <a:cs typeface="+mn-cs"/>
                        </a:rPr>
                        <a:t>Caché</a:t>
                      </a:r>
                      <a:r>
                        <a:rPr lang="zh-CN" altLang="en-US" sz="1400" u="none" strike="noStrike" kern="1200" dirty="0" smtClean="0">
                          <a:solidFill>
                            <a:schemeClr val="dk1"/>
                          </a:solidFill>
                          <a:effectLst/>
                          <a:latin typeface="+mn-lt"/>
                          <a:ea typeface="+mn-ea"/>
                          <a:cs typeface="+mn-cs"/>
                        </a:rPr>
                        <a:t>对象的命令规范</a:t>
                      </a:r>
                      <a:endParaRPr lang="en-US" altLang="zh-CN" sz="1400" u="none" strike="noStrike" kern="1200" dirty="0" smtClean="0">
                        <a:solidFill>
                          <a:schemeClr val="dk1"/>
                        </a:solidFill>
                        <a:effectLst/>
                        <a:latin typeface="+mn-lt"/>
                        <a:ea typeface="+mn-ea"/>
                        <a:cs typeface="+mn-cs"/>
                      </a:endParaRPr>
                    </a:p>
                    <a:p>
                      <a:pPr marL="300355" marR="0" lvl="0" indent="-228600" algn="l" defTabSz="914400" rtl="0" eaLnBrk="1" fontAlgn="b" latinLnBrk="0" hangingPunct="1">
                        <a:lnSpc>
                          <a:spcPts val="1600"/>
                        </a:lnSpc>
                        <a:spcBef>
                          <a:spcPts val="0"/>
                        </a:spcBef>
                        <a:spcAft>
                          <a:spcPts val="0"/>
                        </a:spcAft>
                        <a:buClrTx/>
                        <a:buSzTx/>
                        <a:buFont typeface="+mj-lt"/>
                        <a:buAutoNum type="arabicPeriod"/>
                        <a:defRPr/>
                      </a:pPr>
                      <a:r>
                        <a:rPr lang="en-US" altLang="zh-CN" sz="1400" u="none" strike="noStrike" kern="1200" dirty="0" err="1" smtClean="0">
                          <a:solidFill>
                            <a:schemeClr val="dk1"/>
                          </a:solidFill>
                          <a:effectLst/>
                          <a:latin typeface="+mn-lt"/>
                          <a:ea typeface="+mn-ea"/>
                          <a:cs typeface="+mn-cs"/>
                        </a:rPr>
                        <a:t>Caché</a:t>
                      </a:r>
                      <a:r>
                        <a:rPr lang="zh-CN" altLang="en-US" sz="1400" u="none" strike="noStrike" kern="1200" dirty="0" smtClean="0">
                          <a:solidFill>
                            <a:schemeClr val="dk1"/>
                          </a:solidFill>
                          <a:effectLst/>
                          <a:latin typeface="+mn-lt"/>
                          <a:ea typeface="+mn-ea"/>
                          <a:cs typeface="+mn-cs"/>
                        </a:rPr>
                        <a:t>面向对象实现增删改查</a:t>
                      </a:r>
                      <a:endParaRPr lang="zh-CN" altLang="en-US" sz="1400" u="none" strike="noStrike" kern="1200" dirty="0" smtClean="0">
                        <a:solidFill>
                          <a:schemeClr val="dk1"/>
                        </a:solidFill>
                        <a:effectLst/>
                        <a:latin typeface="+mn-lt"/>
                        <a:ea typeface="+mn-ea"/>
                        <a:cs typeface="+mn-cs"/>
                      </a:endParaRPr>
                    </a:p>
                  </a:txBody>
                  <a:tcPr marL="9525" marR="9525" marT="9525" marB="0" anchor="ctr"/>
                </a:tc>
              </a:tr>
              <a:tr h="485027">
                <a:tc vMerge="1">
                  <a:tcPr marL="9525" marR="9525" marT="9525" marB="0" anchor="ctr"/>
                </a:tc>
                <a:tc>
                  <a:txBody>
                    <a:bodyPr/>
                    <a:lstStyle/>
                    <a:p>
                      <a:pPr marL="0" indent="0" algn="l" defTabSz="914400" rtl="0" eaLnBrk="1" fontAlgn="ctr" latinLnBrk="0" hangingPunct="1">
                        <a:lnSpc>
                          <a:spcPts val="1400"/>
                        </a:lnSpc>
                        <a:buFontTx/>
                        <a:buNone/>
                      </a:pPr>
                      <a:r>
                        <a:rPr lang="zh-CN" altLang="en-US" sz="1400" kern="1200" dirty="0"/>
                        <a:t>第二节</a:t>
                      </a:r>
                      <a:endParaRPr lang="zh-CN" altLang="en-US" sz="1400" kern="1200" dirty="0">
                        <a:solidFill>
                          <a:schemeClr val="dk1"/>
                        </a:solidFill>
                        <a:latin typeface="+mn-lt"/>
                        <a:ea typeface="+mn-ea"/>
                        <a:cs typeface="+mn-cs"/>
                      </a:endParaRPr>
                    </a:p>
                  </a:txBody>
                  <a:tcPr marL="9525" marR="9525" marT="9525" marB="0" anchor="ctr"/>
                </a:tc>
                <a:tc>
                  <a:txBody>
                    <a:bodyPr/>
                    <a:lstStyle/>
                    <a:p>
                      <a:pPr marL="0" indent="0" algn="l" defTabSz="914400" rtl="0" eaLnBrk="1" fontAlgn="ctr" latinLnBrk="0" hangingPunct="1">
                        <a:lnSpc>
                          <a:spcPts val="1400"/>
                        </a:lnSpc>
                        <a:buFontTx/>
                        <a:buNone/>
                      </a:pPr>
                      <a:r>
                        <a:rPr lang="zh-CN" altLang="en-US" sz="1400" kern="1200" dirty="0" smtClean="0"/>
                        <a:t>事务</a:t>
                      </a:r>
                      <a:endParaRPr lang="zh-CN" altLang="en-US" sz="1400" kern="1200" dirty="0">
                        <a:solidFill>
                          <a:schemeClr val="dk1"/>
                        </a:solidFill>
                        <a:latin typeface="+mn-lt"/>
                        <a:ea typeface="+mn-ea"/>
                        <a:cs typeface="+mn-cs"/>
                      </a:endParaRPr>
                    </a:p>
                  </a:txBody>
                  <a:tcPr marL="9525" marR="9525" marT="9525" marB="0" anchor="ctr"/>
                </a:tc>
                <a:tc>
                  <a:txBody>
                    <a:bodyPr/>
                    <a:lstStyle/>
                    <a:p>
                      <a:pPr marL="300355" indent="-228600" algn="l" defTabSz="914400" rtl="0" eaLnBrk="1" fontAlgn="b" latinLnBrk="0" hangingPunct="1">
                        <a:lnSpc>
                          <a:spcPts val="1600"/>
                        </a:lnSpc>
                        <a:buFont typeface="+mj-lt"/>
                        <a:buAutoNum type="arabicPeriod"/>
                      </a:pPr>
                      <a:r>
                        <a:rPr lang="zh-CN" altLang="en-US" sz="1400" u="none" strike="noStrike" kern="1200" dirty="0" smtClean="0">
                          <a:solidFill>
                            <a:schemeClr val="dk1"/>
                          </a:solidFill>
                          <a:effectLst/>
                          <a:latin typeface="+mn-lt"/>
                          <a:ea typeface="+mn-ea"/>
                          <a:cs typeface="+mn-cs"/>
                        </a:rPr>
                        <a:t>事务的概念</a:t>
                      </a:r>
                      <a:endParaRPr lang="en-US" altLang="zh-CN" sz="1400" u="none" strike="noStrike" kern="1200" dirty="0" smtClean="0">
                        <a:solidFill>
                          <a:schemeClr val="dk1"/>
                        </a:solidFill>
                        <a:effectLst/>
                        <a:latin typeface="+mn-lt"/>
                        <a:ea typeface="+mn-ea"/>
                        <a:cs typeface="+mn-cs"/>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solidFill>
                            <a:schemeClr val="dk1"/>
                          </a:solidFill>
                          <a:effectLst/>
                          <a:latin typeface="+mn-lt"/>
                          <a:ea typeface="+mn-ea"/>
                          <a:cs typeface="+mn-cs"/>
                        </a:rPr>
                        <a:t>事务的命令</a:t>
                      </a:r>
                      <a:endParaRPr lang="en-US" altLang="zh-CN" sz="1400" u="none" strike="noStrike" kern="1200" dirty="0" smtClean="0">
                        <a:solidFill>
                          <a:schemeClr val="dk1"/>
                        </a:solidFill>
                        <a:effectLst/>
                        <a:latin typeface="+mn-lt"/>
                        <a:ea typeface="+mn-ea"/>
                        <a:cs typeface="+mn-cs"/>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solidFill>
                            <a:schemeClr val="dk1"/>
                          </a:solidFill>
                          <a:effectLst/>
                          <a:latin typeface="+mn-lt"/>
                          <a:ea typeface="+mn-ea"/>
                          <a:cs typeface="+mn-cs"/>
                        </a:rPr>
                        <a:t>事务回滚对变量和</a:t>
                      </a:r>
                      <a:r>
                        <a:rPr lang="en-US" altLang="zh-CN" sz="1400" u="none" strike="noStrike" kern="1200" dirty="0" smtClean="0">
                          <a:solidFill>
                            <a:schemeClr val="dk1"/>
                          </a:solidFill>
                          <a:effectLst/>
                          <a:latin typeface="+mn-lt"/>
                          <a:ea typeface="+mn-ea"/>
                          <a:cs typeface="+mn-cs"/>
                        </a:rPr>
                        <a:t>global</a:t>
                      </a:r>
                      <a:r>
                        <a:rPr lang="zh-CN" altLang="en-US" sz="1400" u="none" strike="noStrike" kern="1200" dirty="0" smtClean="0">
                          <a:solidFill>
                            <a:schemeClr val="dk1"/>
                          </a:solidFill>
                          <a:effectLst/>
                          <a:latin typeface="+mn-lt"/>
                          <a:ea typeface="+mn-ea"/>
                          <a:cs typeface="+mn-cs"/>
                        </a:rPr>
                        <a:t>的影响</a:t>
                      </a:r>
                      <a:endParaRPr lang="zh-CN" altLang="en-US" sz="1400" u="none" strike="noStrike" kern="1200" dirty="0" smtClean="0">
                        <a:solidFill>
                          <a:schemeClr val="dk1"/>
                        </a:solidFill>
                        <a:effectLst/>
                        <a:latin typeface="+mn-lt"/>
                        <a:ea typeface="+mn-ea"/>
                        <a:cs typeface="+mn-cs"/>
                      </a:endParaRPr>
                    </a:p>
                  </a:txBody>
                  <a:tcPr marL="9525" marR="9525" marT="9525" marB="0" anchor="ctr"/>
                </a:tc>
              </a:tr>
              <a:tr h="803338">
                <a:tc vMerge="1">
                  <a:tcPr marL="9525" marR="9525" marT="9525" marB="0" anchor="ctr"/>
                </a:tc>
                <a:tc>
                  <a:txBody>
                    <a:bodyPr/>
                    <a:lstStyle/>
                    <a:p>
                      <a:pPr marL="0" indent="0" algn="l" defTabSz="914400" rtl="0" eaLnBrk="1" fontAlgn="ctr" latinLnBrk="0" hangingPunct="1">
                        <a:lnSpc>
                          <a:spcPts val="1400"/>
                        </a:lnSpc>
                        <a:buFontTx/>
                        <a:buNone/>
                      </a:pPr>
                      <a:r>
                        <a:rPr lang="zh-CN" altLang="en-US" sz="1400" kern="1200" dirty="0"/>
                        <a:t>第三节</a:t>
                      </a:r>
                      <a:endParaRPr lang="zh-CN" altLang="en-US" sz="1400" kern="1200" dirty="0">
                        <a:solidFill>
                          <a:schemeClr val="dk1"/>
                        </a:solidFill>
                        <a:latin typeface="+mn-lt"/>
                        <a:ea typeface="+mn-ea"/>
                        <a:cs typeface="+mn-cs"/>
                      </a:endParaRPr>
                    </a:p>
                  </a:txBody>
                  <a:tcPr marL="9525" marR="9525" marT="9525" marB="0" anchor="ctr"/>
                </a:tc>
                <a:tc>
                  <a:txBody>
                    <a:bodyPr/>
                    <a:lstStyle/>
                    <a:p>
                      <a:pPr marL="71755" marR="0" lvl="0" indent="0" algn="l" defTabSz="914400" rtl="0" eaLnBrk="1" fontAlgn="b" latinLnBrk="0" hangingPunct="1">
                        <a:lnSpc>
                          <a:spcPts val="1600"/>
                        </a:lnSpc>
                        <a:spcBef>
                          <a:spcPts val="0"/>
                        </a:spcBef>
                        <a:spcAft>
                          <a:spcPts val="0"/>
                        </a:spcAft>
                        <a:buClrTx/>
                        <a:buSzTx/>
                        <a:buFont typeface="+mj-lt"/>
                        <a:buNone/>
                        <a:defRPr/>
                      </a:pPr>
                      <a:r>
                        <a:rPr lang="zh-CN" altLang="en-US" sz="1400" u="none" strike="noStrike" kern="1200" dirty="0" smtClean="0">
                          <a:solidFill>
                            <a:schemeClr val="dk1"/>
                          </a:solidFill>
                          <a:effectLst/>
                          <a:latin typeface="+mn-lt"/>
                          <a:ea typeface="+mn-ea"/>
                          <a:cs typeface="+mn-cs"/>
                        </a:rPr>
                        <a:t>父子表</a:t>
                      </a:r>
                      <a:endParaRPr lang="zh-CN" altLang="en-US" sz="1400" u="none" strike="noStrike" kern="1200" dirty="0" smtClean="0">
                        <a:solidFill>
                          <a:schemeClr val="dk1"/>
                        </a:solidFill>
                        <a:effectLst/>
                        <a:latin typeface="+mn-lt"/>
                        <a:ea typeface="+mn-ea"/>
                        <a:cs typeface="+mn-cs"/>
                      </a:endParaRPr>
                    </a:p>
                  </a:txBody>
                  <a:tcPr marL="9525" marR="9525" marT="9525" marB="0" anchor="ctr"/>
                </a:tc>
                <a:tc>
                  <a:txBody>
                    <a:bodyPr/>
                    <a:lstStyle/>
                    <a:p>
                      <a:pPr marL="300355" indent="-228600" algn="l" defTabSz="914400" rtl="0" eaLnBrk="1" fontAlgn="b" latinLnBrk="0" hangingPunct="1">
                        <a:lnSpc>
                          <a:spcPts val="1600"/>
                        </a:lnSpc>
                        <a:buFont typeface="+mj-lt"/>
                        <a:buAutoNum type="arabicPeriod"/>
                      </a:pPr>
                      <a:r>
                        <a:rPr lang="zh-CN" altLang="en-US" sz="1400" u="none" strike="noStrike" kern="1200" smtClean="0">
                          <a:solidFill>
                            <a:schemeClr val="dk1"/>
                          </a:solidFill>
                          <a:effectLst/>
                          <a:latin typeface="+mn-lt"/>
                          <a:ea typeface="+mn-ea"/>
                          <a:cs typeface="+mn-cs"/>
                        </a:rPr>
                        <a:t>父子表的理解</a:t>
                      </a:r>
                      <a:endParaRPr lang="en-US" altLang="zh-CN" sz="1400" u="none" strike="noStrike" kern="1200" smtClean="0">
                        <a:solidFill>
                          <a:schemeClr val="dk1"/>
                        </a:solidFill>
                        <a:effectLst/>
                        <a:latin typeface="+mn-lt"/>
                        <a:ea typeface="+mn-ea"/>
                        <a:cs typeface="+mn-cs"/>
                      </a:endParaRPr>
                    </a:p>
                    <a:p>
                      <a:pPr marL="300355" indent="-228600" algn="l" defTabSz="914400" rtl="0" eaLnBrk="1" fontAlgn="b" latinLnBrk="0" hangingPunct="1">
                        <a:lnSpc>
                          <a:spcPts val="1600"/>
                        </a:lnSpc>
                        <a:buFont typeface="+mj-lt"/>
                        <a:buAutoNum type="arabicPeriod"/>
                      </a:pPr>
                      <a:r>
                        <a:rPr lang="zh-CN" altLang="en-US" sz="1400" u="none" strike="noStrike" kern="1200" smtClean="0">
                          <a:solidFill>
                            <a:schemeClr val="dk1"/>
                          </a:solidFill>
                          <a:effectLst/>
                          <a:latin typeface="+mn-lt"/>
                          <a:ea typeface="+mn-ea"/>
                          <a:cs typeface="+mn-cs"/>
                        </a:rPr>
                        <a:t>父子关系的定义</a:t>
                      </a:r>
                      <a:endParaRPr lang="en-US" altLang="zh-CN" sz="1400" u="none" strike="noStrike" kern="1200" smtClean="0">
                        <a:solidFill>
                          <a:schemeClr val="dk1"/>
                        </a:solidFill>
                        <a:effectLst/>
                        <a:latin typeface="+mn-lt"/>
                        <a:ea typeface="+mn-ea"/>
                        <a:cs typeface="+mn-cs"/>
                      </a:endParaRPr>
                    </a:p>
                    <a:p>
                      <a:pPr marL="300355" indent="-228600" algn="l" defTabSz="914400" rtl="0" eaLnBrk="1" fontAlgn="b" latinLnBrk="0" hangingPunct="1">
                        <a:lnSpc>
                          <a:spcPts val="1600"/>
                        </a:lnSpc>
                        <a:buFont typeface="+mj-lt"/>
                        <a:buAutoNum type="arabicPeriod"/>
                      </a:pPr>
                      <a:r>
                        <a:rPr lang="zh-CN" altLang="en-US" sz="1400" u="none" strike="noStrike" kern="1200" smtClean="0">
                          <a:solidFill>
                            <a:schemeClr val="dk1"/>
                          </a:solidFill>
                          <a:effectLst/>
                          <a:latin typeface="+mn-lt"/>
                          <a:ea typeface="+mn-ea"/>
                          <a:cs typeface="+mn-cs"/>
                        </a:rPr>
                        <a:t>父子表的创建步骤</a:t>
                      </a:r>
                      <a:endParaRPr lang="en-US" altLang="zh-CN" sz="1400" u="none" strike="noStrike" kern="1200" smtClean="0">
                        <a:solidFill>
                          <a:schemeClr val="dk1"/>
                        </a:solidFill>
                        <a:effectLst/>
                        <a:latin typeface="+mn-lt"/>
                        <a:ea typeface="+mn-ea"/>
                        <a:cs typeface="+mn-cs"/>
                      </a:endParaRPr>
                    </a:p>
                    <a:p>
                      <a:pPr marL="300355" indent="-228600" algn="l" defTabSz="914400" rtl="0" eaLnBrk="1" fontAlgn="b" latinLnBrk="0" hangingPunct="1">
                        <a:lnSpc>
                          <a:spcPts val="1600"/>
                        </a:lnSpc>
                        <a:buFont typeface="+mj-lt"/>
                        <a:buAutoNum type="arabicPeriod"/>
                      </a:pPr>
                      <a:r>
                        <a:rPr lang="zh-CN" altLang="en-US" sz="1400" u="none" strike="noStrike" kern="1200" smtClean="0">
                          <a:solidFill>
                            <a:schemeClr val="dk1"/>
                          </a:solidFill>
                          <a:effectLst/>
                          <a:latin typeface="+mn-lt"/>
                          <a:ea typeface="+mn-ea"/>
                          <a:cs typeface="+mn-cs"/>
                        </a:rPr>
                        <a:t>子表的增删改查</a:t>
                      </a:r>
                      <a:endParaRPr lang="en-US" altLang="zh-CN" sz="1400" u="none" strike="noStrike" kern="1200" dirty="0">
                        <a:solidFill>
                          <a:schemeClr val="dk1"/>
                        </a:solidFill>
                        <a:effectLst/>
                        <a:latin typeface="+mn-lt"/>
                        <a:ea typeface="+mn-ea"/>
                        <a:cs typeface="+mn-cs"/>
                      </a:endParaRPr>
                    </a:p>
                  </a:txBody>
                  <a:tcPr marL="9525" marR="952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大纲</a:t>
            </a:r>
            <a:endParaRPr lang="zh-CN" altLang="en-US" dirty="0"/>
          </a:p>
        </p:txBody>
      </p:sp>
      <p:graphicFrame>
        <p:nvGraphicFramePr>
          <p:cNvPr id="3" name="表格 2"/>
          <p:cNvGraphicFramePr>
            <a:graphicFrameLocks noGrp="1"/>
          </p:cNvGraphicFramePr>
          <p:nvPr>
            <p:custDataLst>
              <p:tags r:id="rId1"/>
            </p:custDataLst>
          </p:nvPr>
        </p:nvGraphicFramePr>
        <p:xfrm>
          <a:off x="529890" y="1211702"/>
          <a:ext cx="10671510" cy="4883378"/>
        </p:xfrm>
        <a:graphic>
          <a:graphicData uri="http://schemas.openxmlformats.org/drawingml/2006/table">
            <a:tbl>
              <a:tblPr firstRow="1" bandRow="1">
                <a:tableStyleId>{00A15C55-8517-42AA-B614-E9B94910E393}</a:tableStyleId>
              </a:tblPr>
              <a:tblGrid>
                <a:gridCol w="2229452"/>
                <a:gridCol w="1306536"/>
                <a:gridCol w="2499008"/>
                <a:gridCol w="4636514"/>
              </a:tblGrid>
              <a:tr h="352097">
                <a:tc gridSpan="2">
                  <a:txBody>
                    <a:bodyPr/>
                    <a:lstStyle/>
                    <a:p>
                      <a:pPr marL="0" indent="0" algn="ctr" defTabSz="914400" rtl="0" eaLnBrk="1" fontAlgn="ctr" latinLnBrk="0" hangingPunct="1">
                        <a:lnSpc>
                          <a:spcPts val="1400"/>
                        </a:lnSpc>
                        <a:buFont typeface="+mj-lt"/>
                        <a:buNone/>
                      </a:pPr>
                      <a:r>
                        <a:rPr lang="zh-CN" altLang="en-US" sz="1400" kern="1200" dirty="0"/>
                        <a:t>章节安排</a:t>
                      </a:r>
                      <a:endParaRPr lang="zh-CN" altLang="en-US" sz="1400" kern="1200" dirty="0">
                        <a:solidFill>
                          <a:schemeClr val="dk1"/>
                        </a:solidFill>
                        <a:latin typeface="+mn-lt"/>
                        <a:ea typeface="+mn-ea"/>
                        <a:cs typeface="+mn-cs"/>
                      </a:endParaRPr>
                    </a:p>
                  </a:txBody>
                  <a:tcPr marL="9525" marR="9525" marT="9525" marB="0" anchor="ctr"/>
                </a:tc>
                <a:tc hMerge="1">
                  <a:tcPr/>
                </a:tc>
                <a:tc>
                  <a:txBody>
                    <a:bodyPr/>
                    <a:lstStyle/>
                    <a:p>
                      <a:pPr marL="0" indent="0" algn="ctr" defTabSz="914400" rtl="0" eaLnBrk="1" fontAlgn="ctr" latinLnBrk="0" hangingPunct="1">
                        <a:lnSpc>
                          <a:spcPts val="1400"/>
                        </a:lnSpc>
                        <a:buFont typeface="+mj-lt"/>
                        <a:buNone/>
                      </a:pPr>
                      <a:r>
                        <a:rPr lang="zh-CN" altLang="en-US" sz="1400" kern="1200" dirty="0"/>
                        <a:t>课程内容</a:t>
                      </a:r>
                      <a:endParaRPr lang="zh-CN" altLang="en-US" sz="1400" kern="1200" dirty="0">
                        <a:solidFill>
                          <a:schemeClr val="dk1"/>
                        </a:solidFill>
                        <a:latin typeface="+mn-lt"/>
                        <a:ea typeface="+mn-ea"/>
                        <a:cs typeface="+mn-cs"/>
                      </a:endParaRPr>
                    </a:p>
                  </a:txBody>
                  <a:tcPr marL="9525" marR="9525" marT="9525" marB="0" anchor="ctr"/>
                </a:tc>
                <a:tc>
                  <a:txBody>
                    <a:bodyPr/>
                    <a:lstStyle/>
                    <a:p>
                      <a:pPr marL="0" indent="0" algn="ctr" defTabSz="914400" rtl="0" eaLnBrk="1" fontAlgn="ctr" latinLnBrk="0" hangingPunct="1">
                        <a:lnSpc>
                          <a:spcPts val="1400"/>
                        </a:lnSpc>
                        <a:buFont typeface="+mj-lt"/>
                        <a:buNone/>
                      </a:pPr>
                      <a:r>
                        <a:rPr lang="zh-CN" altLang="en-US" sz="1400" kern="1200" dirty="0"/>
                        <a:t>详细大纲</a:t>
                      </a:r>
                      <a:endParaRPr lang="zh-CN" altLang="en-US" sz="1400" kern="1200" dirty="0">
                        <a:solidFill>
                          <a:schemeClr val="dk1"/>
                        </a:solidFill>
                        <a:latin typeface="+mn-lt"/>
                        <a:ea typeface="+mn-ea"/>
                        <a:cs typeface="+mn-cs"/>
                      </a:endParaRPr>
                    </a:p>
                  </a:txBody>
                  <a:tcPr marL="9525" marR="9525" marT="9525" marB="0" anchor="ctr"/>
                </a:tc>
              </a:tr>
              <a:tr h="1211674">
                <a:tc rowSpan="4">
                  <a:txBody>
                    <a:bodyPr/>
                    <a:lstStyle/>
                    <a:p>
                      <a:pPr marL="0" indent="0" algn="ctr" defTabSz="914400" rtl="0" eaLnBrk="1" fontAlgn="ctr" latinLnBrk="0" hangingPunct="1">
                        <a:lnSpc>
                          <a:spcPts val="1400"/>
                        </a:lnSpc>
                        <a:buFont typeface="+mj-lt"/>
                        <a:buNone/>
                      </a:pPr>
                      <a:r>
                        <a:rPr lang="zh-CN" altLang="en-US" sz="1400" kern="1200" dirty="0"/>
                        <a:t>第五</a:t>
                      </a:r>
                      <a:r>
                        <a:rPr lang="zh-CN" altLang="en-US" sz="1400" kern="1200" dirty="0" smtClean="0"/>
                        <a:t>章</a:t>
                      </a:r>
                      <a:endParaRPr lang="en-US" altLang="zh-CN" sz="1400" kern="1200" dirty="0" smtClean="0"/>
                    </a:p>
                    <a:p>
                      <a:pPr marL="0" indent="-228600" algn="ctr" defTabSz="914400" rtl="0" eaLnBrk="1" fontAlgn="ctr" latinLnBrk="0" hangingPunct="1">
                        <a:lnSpc>
                          <a:spcPts val="1400"/>
                        </a:lnSpc>
                        <a:buFont typeface="+mj-lt"/>
                        <a:buAutoNum type="arabicPeriod"/>
                      </a:pPr>
                      <a:endParaRPr lang="en-US" altLang="zh-CN" sz="1400" kern="1200" dirty="0" smtClean="0"/>
                    </a:p>
                    <a:p>
                      <a:pPr marL="0" indent="0" algn="ctr" defTabSz="914400" rtl="0" eaLnBrk="1" fontAlgn="ctr" latinLnBrk="0" hangingPunct="1">
                        <a:lnSpc>
                          <a:spcPts val="1400"/>
                        </a:lnSpc>
                        <a:buFont typeface="+mj-lt"/>
                        <a:buNone/>
                      </a:pPr>
                      <a:r>
                        <a:rPr lang="en-US" sz="1400" kern="1200" dirty="0" smtClean="0"/>
                        <a:t>CSP</a:t>
                      </a:r>
                      <a:endParaRPr lang="en-US" sz="1400" kern="1200" dirty="0" smtClean="0"/>
                    </a:p>
                    <a:p>
                      <a:pPr marL="0" indent="0" algn="ctr" defTabSz="914400" rtl="0" eaLnBrk="1" fontAlgn="ctr" latinLnBrk="0" hangingPunct="1">
                        <a:lnSpc>
                          <a:spcPts val="1400"/>
                        </a:lnSpc>
                        <a:buFont typeface="+mj-lt"/>
                        <a:buNone/>
                      </a:pPr>
                      <a:r>
                        <a:rPr lang="en-US" sz="1400" kern="1200" dirty="0" err="1" smtClean="0"/>
                        <a:t>Webservice</a:t>
                      </a:r>
                      <a:endParaRPr lang="en-US" sz="1400" kern="1200" dirty="0" smtClean="0"/>
                    </a:p>
                    <a:p>
                      <a:pPr marL="0" indent="0" algn="ctr" defTabSz="914400" rtl="0" eaLnBrk="1" fontAlgn="ctr" latinLnBrk="0" hangingPunct="1">
                        <a:lnSpc>
                          <a:spcPts val="1400"/>
                        </a:lnSpc>
                        <a:buFont typeface="+mj-lt"/>
                        <a:buNone/>
                      </a:pPr>
                      <a:r>
                        <a:rPr lang="en-US" altLang="zh-CN" sz="1400" kern="1200" dirty="0" smtClean="0"/>
                        <a:t>HISUI</a:t>
                      </a:r>
                      <a:endParaRPr lang="en-US" altLang="zh-CN" sz="1400" kern="1200" dirty="0" smtClean="0"/>
                    </a:p>
                    <a:p>
                      <a:pPr marL="0" indent="0" algn="ctr" defTabSz="914400" rtl="0" eaLnBrk="1" fontAlgn="ctr" latinLnBrk="0" hangingPunct="1">
                        <a:lnSpc>
                          <a:spcPts val="1400"/>
                        </a:lnSpc>
                        <a:buFont typeface="+mj-lt"/>
                        <a:buNone/>
                      </a:pPr>
                      <a:r>
                        <a:rPr lang="zh-CN" altLang="en-US" sz="1400" kern="1200" dirty="0" smtClean="0"/>
                        <a:t>组件</a:t>
                      </a:r>
                      <a:r>
                        <a:rPr lang="zh-CN" altLang="en-US" sz="1400" kern="1200" dirty="0"/>
                        <a:t>开发</a:t>
                      </a:r>
                      <a:endParaRPr lang="zh-CN" altLang="en-US" sz="1400" kern="1200" dirty="0">
                        <a:solidFill>
                          <a:schemeClr val="dk1"/>
                        </a:solidFill>
                        <a:latin typeface="+mn-lt"/>
                        <a:ea typeface="+mn-ea"/>
                        <a:cs typeface="+mn-cs"/>
                      </a:endParaRPr>
                    </a:p>
                  </a:txBody>
                  <a:tcPr marL="9525" marR="9525" marT="9525" marB="0" anchor="ctr"/>
                </a:tc>
                <a:tc>
                  <a:txBody>
                    <a:bodyPr/>
                    <a:lstStyle/>
                    <a:p>
                      <a:pPr marL="0" indent="0" algn="ctr" defTabSz="914400" rtl="0" eaLnBrk="1" fontAlgn="ctr" latinLnBrk="0" hangingPunct="1">
                        <a:lnSpc>
                          <a:spcPts val="1400"/>
                        </a:lnSpc>
                        <a:buFontTx/>
                        <a:buNone/>
                      </a:pPr>
                      <a:r>
                        <a:rPr lang="zh-CN" altLang="en-US" sz="1400" kern="1200" dirty="0"/>
                        <a:t>第一节</a:t>
                      </a:r>
                      <a:endParaRPr lang="zh-CN" altLang="en-US" sz="1400" kern="1200" dirty="0">
                        <a:solidFill>
                          <a:schemeClr val="dk1"/>
                        </a:solidFill>
                        <a:latin typeface="+mn-lt"/>
                        <a:ea typeface="+mn-ea"/>
                        <a:cs typeface="+mn-cs"/>
                      </a:endParaRPr>
                    </a:p>
                  </a:txBody>
                  <a:tcPr marL="9525" marR="9525" marT="9525" marB="0" anchor="ctr"/>
                </a:tc>
                <a:tc>
                  <a:txBody>
                    <a:bodyPr/>
                    <a:lstStyle/>
                    <a:p>
                      <a:pPr marL="0" indent="0" algn="l" defTabSz="914400" rtl="0" eaLnBrk="1" fontAlgn="ctr" latinLnBrk="0" hangingPunct="1">
                        <a:lnSpc>
                          <a:spcPts val="1400"/>
                        </a:lnSpc>
                        <a:buFontTx/>
                        <a:buNone/>
                      </a:pPr>
                      <a:r>
                        <a:rPr lang="en-US" altLang="zh-CN" sz="1400" kern="1200" dirty="0" err="1" smtClean="0"/>
                        <a:t>webservice</a:t>
                      </a:r>
                      <a:r>
                        <a:rPr lang="zh-CN" altLang="en-US" sz="1400" kern="1200" dirty="0" smtClean="0"/>
                        <a:t>调用与提供</a:t>
                      </a:r>
                      <a:endParaRPr lang="en-US" sz="1400" kern="1200" dirty="0">
                        <a:solidFill>
                          <a:schemeClr val="dk1"/>
                        </a:solidFill>
                        <a:latin typeface="+mn-lt"/>
                        <a:ea typeface="+mn-ea"/>
                        <a:cs typeface="+mn-cs"/>
                      </a:endParaRPr>
                    </a:p>
                  </a:txBody>
                  <a:tcPr marL="9525" marR="9525" marT="9525" marB="0" anchor="ctr"/>
                </a:tc>
                <a:tc>
                  <a:txBody>
                    <a:bodyPr/>
                    <a:lstStyle/>
                    <a:p>
                      <a:pPr marL="0" indent="-228600" algn="l" defTabSz="914400" rtl="0" eaLnBrk="1" fontAlgn="ctr" latinLnBrk="0" hangingPunct="1">
                        <a:lnSpc>
                          <a:spcPts val="1400"/>
                        </a:lnSpc>
                        <a:buFont typeface="+mj-lt"/>
                        <a:buAutoNum type="arabicPeriod"/>
                      </a:pPr>
                      <a:r>
                        <a:rPr lang="en-US" altLang="zh-CN" sz="1400" kern="1200" dirty="0" err="1" smtClean="0"/>
                        <a:t>WebService</a:t>
                      </a:r>
                      <a:r>
                        <a:rPr lang="zh-CN" altLang="en-US" sz="1400" kern="1200" dirty="0" smtClean="0"/>
                        <a:t>技术的概念</a:t>
                      </a:r>
                      <a:endParaRPr lang="en-US" altLang="zh-CN" sz="1400" kern="1200" dirty="0" smtClean="0"/>
                    </a:p>
                    <a:p>
                      <a:pPr marL="0" indent="-228600" algn="l" defTabSz="914400" rtl="0" eaLnBrk="1" fontAlgn="ctr" latinLnBrk="0" hangingPunct="1">
                        <a:lnSpc>
                          <a:spcPts val="1400"/>
                        </a:lnSpc>
                        <a:buFont typeface="+mj-lt"/>
                        <a:buAutoNum type="arabicPeriod"/>
                      </a:pPr>
                      <a:r>
                        <a:rPr lang="zh-CN" altLang="en-US" sz="1400" kern="1200" dirty="0" smtClean="0"/>
                        <a:t>新建</a:t>
                      </a:r>
                      <a:r>
                        <a:rPr lang="en-US" altLang="zh-CN" sz="1400" kern="1200" dirty="0" err="1" smtClean="0"/>
                        <a:t>WebService</a:t>
                      </a:r>
                      <a:r>
                        <a:rPr lang="zh-CN" altLang="en-US" sz="1400" kern="1200" dirty="0" smtClean="0"/>
                        <a:t>的步骤</a:t>
                      </a:r>
                      <a:endParaRPr lang="zh-CN" altLang="en-US" sz="1400" kern="1200" dirty="0" smtClean="0"/>
                    </a:p>
                    <a:p>
                      <a:pPr marL="0" indent="-228600" algn="l" defTabSz="914400" rtl="0" eaLnBrk="1" fontAlgn="ctr" latinLnBrk="0" hangingPunct="1">
                        <a:lnSpc>
                          <a:spcPts val="1400"/>
                        </a:lnSpc>
                        <a:buFont typeface="+mj-lt"/>
                        <a:buAutoNum type="arabicPeriod"/>
                      </a:pPr>
                      <a:r>
                        <a:rPr lang="zh-CN" altLang="en-US" sz="1400" kern="1200" dirty="0" smtClean="0"/>
                        <a:t>调用</a:t>
                      </a:r>
                      <a:r>
                        <a:rPr lang="en-US" altLang="zh-CN" sz="1400" kern="1200" dirty="0" err="1" smtClean="0"/>
                        <a:t>WebService</a:t>
                      </a:r>
                      <a:r>
                        <a:rPr lang="zh-CN" altLang="en-US" sz="1400" kern="1200" dirty="0" smtClean="0"/>
                        <a:t>技术</a:t>
                      </a:r>
                      <a:endParaRPr lang="en-US" altLang="zh-CN" sz="1400" kern="1200" dirty="0" smtClean="0"/>
                    </a:p>
                    <a:p>
                      <a:pPr marL="0" indent="-228600" algn="l" defTabSz="914400" rtl="0" eaLnBrk="1" fontAlgn="ctr" latinLnBrk="0" hangingPunct="1">
                        <a:lnSpc>
                          <a:spcPts val="1400"/>
                        </a:lnSpc>
                        <a:buFont typeface="+mj-lt"/>
                        <a:buAutoNum type="arabicPeriod"/>
                      </a:pPr>
                      <a:r>
                        <a:rPr lang="zh-CN" altLang="en-US" sz="1400" kern="1200" dirty="0" smtClean="0"/>
                        <a:t>提供</a:t>
                      </a:r>
                      <a:r>
                        <a:rPr lang="en-US" altLang="zh-CN" sz="1400" kern="1200" dirty="0" err="1" smtClean="0"/>
                        <a:t>WebService</a:t>
                      </a:r>
                      <a:r>
                        <a:rPr lang="zh-CN" altLang="en-US" sz="1400" kern="1200" dirty="0" smtClean="0"/>
                        <a:t>接口</a:t>
                      </a:r>
                      <a:endParaRPr lang="zh-CN" altLang="en-US" sz="1400" kern="1200" dirty="0" smtClean="0">
                        <a:solidFill>
                          <a:schemeClr val="dk1"/>
                        </a:solidFill>
                        <a:latin typeface="+mn-lt"/>
                        <a:ea typeface="+mn-ea"/>
                        <a:cs typeface="+mn-cs"/>
                      </a:endParaRPr>
                    </a:p>
                    <a:p>
                      <a:pPr marL="0" indent="-228600" algn="l" defTabSz="914400" rtl="0" eaLnBrk="1" fontAlgn="ctr" latinLnBrk="0" hangingPunct="1">
                        <a:lnSpc>
                          <a:spcPts val="1400"/>
                        </a:lnSpc>
                        <a:buFont typeface="+mj-lt"/>
                        <a:buAutoNum type="arabicPeriod"/>
                      </a:pPr>
                      <a:endParaRPr lang="zh-CN" altLang="en-US" sz="1400" kern="1200" dirty="0">
                        <a:solidFill>
                          <a:schemeClr val="dk1"/>
                        </a:solidFill>
                        <a:latin typeface="+mn-lt"/>
                        <a:ea typeface="+mn-ea"/>
                        <a:cs typeface="+mn-cs"/>
                      </a:endParaRPr>
                    </a:p>
                  </a:txBody>
                  <a:tcPr marL="9525" marR="9525" marT="9525" marB="0" anchor="ctr"/>
                </a:tc>
              </a:tr>
              <a:tr h="892518">
                <a:tc vMerge="1">
                  <a:tcPr/>
                </a:tc>
                <a:tc>
                  <a:txBody>
                    <a:bodyPr/>
                    <a:lstStyle/>
                    <a:p>
                      <a:pPr marL="0" indent="0" algn="ctr" defTabSz="914400" rtl="0" eaLnBrk="1" fontAlgn="ctr" latinLnBrk="0" hangingPunct="1">
                        <a:lnSpc>
                          <a:spcPts val="1400"/>
                        </a:lnSpc>
                        <a:buFontTx/>
                        <a:buNone/>
                      </a:pPr>
                      <a:r>
                        <a:rPr lang="zh-CN" altLang="en-US" sz="1400" kern="1200"/>
                        <a:t>第二节</a:t>
                      </a:r>
                      <a:endParaRPr lang="zh-CN" altLang="en-US" sz="1400" kern="1200">
                        <a:solidFill>
                          <a:schemeClr val="dk1"/>
                        </a:solidFill>
                        <a:latin typeface="+mn-lt"/>
                        <a:ea typeface="+mn-ea"/>
                        <a:cs typeface="+mn-cs"/>
                      </a:endParaRPr>
                    </a:p>
                  </a:txBody>
                  <a:tcPr marL="9525" marR="9525" marT="9525" marB="0" anchor="ctr"/>
                </a:tc>
                <a:tc>
                  <a:txBody>
                    <a:bodyPr/>
                    <a:lstStyle/>
                    <a:p>
                      <a:pPr marL="0" marR="0" lvl="0" indent="0" algn="l" defTabSz="914400" rtl="0" eaLnBrk="1" fontAlgn="ctr" latinLnBrk="0" hangingPunct="1">
                        <a:lnSpc>
                          <a:spcPts val="1400"/>
                        </a:lnSpc>
                        <a:spcBef>
                          <a:spcPts val="0"/>
                        </a:spcBef>
                        <a:spcAft>
                          <a:spcPts val="0"/>
                        </a:spcAft>
                        <a:buClrTx/>
                        <a:buSzTx/>
                        <a:buFontTx/>
                        <a:buNone/>
                        <a:defRPr/>
                      </a:pPr>
                      <a:r>
                        <a:rPr lang="en-US" altLang="zh-CN" sz="1400" kern="1200" dirty="0" smtClean="0"/>
                        <a:t>CSP</a:t>
                      </a:r>
                      <a:endParaRPr lang="en-US" altLang="zh-CN" sz="1400" kern="1200" dirty="0" smtClean="0">
                        <a:solidFill>
                          <a:schemeClr val="dk1"/>
                        </a:solidFill>
                        <a:latin typeface="+mn-lt"/>
                        <a:ea typeface="+mn-ea"/>
                        <a:cs typeface="+mn-cs"/>
                      </a:endParaRPr>
                    </a:p>
                    <a:p>
                      <a:pPr marL="0" indent="0" algn="l" defTabSz="914400" rtl="0" eaLnBrk="1" fontAlgn="ctr" latinLnBrk="0" hangingPunct="1">
                        <a:lnSpc>
                          <a:spcPts val="1400"/>
                        </a:lnSpc>
                        <a:buFontTx/>
                        <a:buNone/>
                      </a:pPr>
                      <a:endParaRPr lang="zh-CN" altLang="en-US" sz="1400" kern="1200" dirty="0">
                        <a:solidFill>
                          <a:schemeClr val="dk1"/>
                        </a:solidFill>
                        <a:latin typeface="+mn-lt"/>
                        <a:ea typeface="+mn-ea"/>
                        <a:cs typeface="+mn-cs"/>
                      </a:endParaRPr>
                    </a:p>
                  </a:txBody>
                  <a:tcPr marL="9525" marR="9525" marT="9525" marB="0" anchor="ctr"/>
                </a:tc>
                <a:tc>
                  <a:txBody>
                    <a:bodyPr/>
                    <a:lstStyle/>
                    <a:p>
                      <a:pPr marL="0" indent="-228600" algn="l" defTabSz="914400" rtl="0" eaLnBrk="1" fontAlgn="ctr" latinLnBrk="0" hangingPunct="1">
                        <a:lnSpc>
                          <a:spcPts val="1400"/>
                        </a:lnSpc>
                        <a:buFont typeface="+mj-lt"/>
                        <a:buAutoNum type="arabicPeriod"/>
                      </a:pPr>
                      <a:r>
                        <a:rPr lang="en-US" altLang="zh-CN" sz="1400" kern="1200" dirty="0" smtClean="0"/>
                        <a:t>CSP</a:t>
                      </a:r>
                      <a:r>
                        <a:rPr lang="zh-CN" altLang="en-US" sz="1400" kern="1200" dirty="0" smtClean="0"/>
                        <a:t>简介</a:t>
                      </a:r>
                      <a:endParaRPr lang="en-US" altLang="zh-CN" sz="1400" kern="1200" dirty="0" smtClean="0"/>
                    </a:p>
                    <a:p>
                      <a:pPr marL="0" indent="-228600" algn="l" defTabSz="914400" rtl="0" eaLnBrk="1" fontAlgn="ctr" latinLnBrk="0" hangingPunct="1">
                        <a:lnSpc>
                          <a:spcPts val="1400"/>
                        </a:lnSpc>
                        <a:buFont typeface="+mj-lt"/>
                        <a:buAutoNum type="arabicPeriod"/>
                      </a:pPr>
                      <a:r>
                        <a:rPr lang="en-US" altLang="zh-CN" sz="1400" kern="1200" dirty="0" smtClean="0"/>
                        <a:t>CSP</a:t>
                      </a:r>
                      <a:r>
                        <a:rPr lang="zh-CN" altLang="en-US" sz="1400" kern="1200" dirty="0" smtClean="0"/>
                        <a:t>页面展示</a:t>
                      </a:r>
                      <a:endParaRPr lang="en-US" altLang="zh-CN" sz="1400" kern="1200" dirty="0" smtClean="0"/>
                    </a:p>
                    <a:p>
                      <a:pPr marL="0" indent="-228600" algn="l" defTabSz="914400" rtl="0" eaLnBrk="1" fontAlgn="ctr" latinLnBrk="0" hangingPunct="1">
                        <a:lnSpc>
                          <a:spcPts val="1400"/>
                        </a:lnSpc>
                        <a:buFont typeface="+mj-lt"/>
                        <a:buAutoNum type="arabicPeriod"/>
                      </a:pPr>
                      <a:r>
                        <a:rPr lang="en-US" altLang="zh-CN" sz="1400" kern="1200" dirty="0" smtClean="0"/>
                        <a:t>CSP</a:t>
                      </a:r>
                      <a:r>
                        <a:rPr lang="zh-CN" altLang="en-US" sz="1400" kern="1200" dirty="0" smtClean="0"/>
                        <a:t>应用</a:t>
                      </a:r>
                      <a:endParaRPr lang="en-US" altLang="zh-CN" sz="1400" kern="1200" dirty="0" smtClean="0"/>
                    </a:p>
                    <a:p>
                      <a:pPr marL="0" indent="-228600" algn="l" defTabSz="914400" rtl="0" eaLnBrk="1" fontAlgn="ctr" latinLnBrk="0" hangingPunct="1">
                        <a:lnSpc>
                          <a:spcPts val="1400"/>
                        </a:lnSpc>
                        <a:buFont typeface="+mj-lt"/>
                        <a:buAutoNum type="arabicPeriod"/>
                      </a:pPr>
                      <a:r>
                        <a:rPr lang="en-US" altLang="zh-CN" sz="1400" kern="1200" dirty="0" smtClean="0"/>
                        <a:t>CSP</a:t>
                      </a:r>
                      <a:r>
                        <a:rPr lang="zh-CN" altLang="en-US" sz="1400" kern="1200" dirty="0" smtClean="0"/>
                        <a:t>的新建</a:t>
                      </a:r>
                      <a:endParaRPr lang="en-US" altLang="zh-CN" sz="1400" kern="1200" dirty="0" smtClean="0"/>
                    </a:p>
                    <a:p>
                      <a:pPr marL="0" indent="-228600" algn="l" defTabSz="914400" rtl="0" eaLnBrk="1" fontAlgn="ctr" latinLnBrk="0" hangingPunct="1">
                        <a:lnSpc>
                          <a:spcPts val="1400"/>
                        </a:lnSpc>
                        <a:buFont typeface="+mj-lt"/>
                        <a:buAutoNum type="arabicPeriod"/>
                      </a:pPr>
                      <a:r>
                        <a:rPr lang="zh-CN" altLang="en-US" sz="1400" kern="1200" dirty="0" smtClean="0"/>
                        <a:t>在</a:t>
                      </a:r>
                      <a:r>
                        <a:rPr lang="en-US" altLang="zh-CN" sz="1400" kern="1200" dirty="0" smtClean="0"/>
                        <a:t>HIS</a:t>
                      </a:r>
                      <a:r>
                        <a:rPr lang="zh-CN" altLang="en-US" sz="1400" kern="1200" dirty="0" smtClean="0"/>
                        <a:t>中挂菜单</a:t>
                      </a:r>
                      <a:endParaRPr lang="zh-CN" altLang="en-US" sz="1400" kern="1200" dirty="0">
                        <a:solidFill>
                          <a:schemeClr val="dk1"/>
                        </a:solidFill>
                        <a:latin typeface="+mn-lt"/>
                        <a:ea typeface="+mn-ea"/>
                        <a:cs typeface="+mn-cs"/>
                      </a:endParaRPr>
                    </a:p>
                  </a:txBody>
                  <a:tcPr marL="9525" marR="9525" marT="9525" marB="0" anchor="ctr"/>
                </a:tc>
              </a:tr>
              <a:tr h="1205345">
                <a:tc vMerge="1">
                  <a:tcPr/>
                </a:tc>
                <a:tc>
                  <a:txBody>
                    <a:bodyPr/>
                    <a:lstStyle/>
                    <a:p>
                      <a:pPr marL="0" indent="0" algn="ctr" defTabSz="914400" rtl="0" eaLnBrk="1" fontAlgn="ctr" latinLnBrk="0" hangingPunct="1">
                        <a:lnSpc>
                          <a:spcPts val="1400"/>
                        </a:lnSpc>
                        <a:buFontTx/>
                        <a:buNone/>
                      </a:pPr>
                      <a:r>
                        <a:rPr lang="zh-CN" altLang="en-US" sz="1400" kern="1200" dirty="0"/>
                        <a:t>第三节</a:t>
                      </a:r>
                      <a:endParaRPr lang="zh-CN" altLang="en-US" sz="1400" kern="1200" dirty="0">
                        <a:solidFill>
                          <a:schemeClr val="dk1"/>
                        </a:solidFill>
                        <a:latin typeface="+mn-lt"/>
                        <a:ea typeface="+mn-ea"/>
                        <a:cs typeface="+mn-cs"/>
                      </a:endParaRPr>
                    </a:p>
                  </a:txBody>
                  <a:tcPr marL="9525" marR="9525" marT="9525" marB="0" anchor="ctr"/>
                </a:tc>
                <a:tc>
                  <a:txBody>
                    <a:bodyPr/>
                    <a:lstStyle/>
                    <a:p>
                      <a:pPr marL="0" indent="0" algn="l" defTabSz="914400" rtl="0" eaLnBrk="1" fontAlgn="ctr" latinLnBrk="0" hangingPunct="1">
                        <a:lnSpc>
                          <a:spcPts val="1400"/>
                        </a:lnSpc>
                        <a:buFontTx/>
                        <a:buNone/>
                      </a:pPr>
                      <a:r>
                        <a:rPr lang="en-US" altLang="zh-CN" sz="1400" kern="1200" dirty="0" smtClean="0"/>
                        <a:t>HISUI</a:t>
                      </a:r>
                      <a:r>
                        <a:rPr lang="zh-CN" altLang="en-US" sz="1400" kern="1200" dirty="0" smtClean="0"/>
                        <a:t>技术</a:t>
                      </a:r>
                      <a:endParaRPr lang="zh-CN" altLang="en-US" sz="1400" kern="1200" dirty="0">
                        <a:solidFill>
                          <a:schemeClr val="dk1"/>
                        </a:solidFill>
                        <a:latin typeface="+mn-lt"/>
                        <a:ea typeface="+mn-ea"/>
                        <a:cs typeface="+mn-cs"/>
                      </a:endParaRPr>
                    </a:p>
                  </a:txBody>
                  <a:tcPr marL="9525" marR="9525" marT="9525" marB="0" anchor="ctr"/>
                </a:tc>
                <a:tc>
                  <a:txBody>
                    <a:bodyPr/>
                    <a:lstStyle/>
                    <a:p>
                      <a:pPr marL="300355" indent="-228600" algn="l" defTabSz="914400" rtl="0" eaLnBrk="1" fontAlgn="b" latinLnBrk="0" hangingPunct="1">
                        <a:lnSpc>
                          <a:spcPts val="1600"/>
                        </a:lnSpc>
                        <a:buFont typeface="+mj-lt"/>
                        <a:buAutoNum type="arabicPeriod"/>
                      </a:pPr>
                      <a:r>
                        <a:rPr lang="en-US" altLang="zh-CN" sz="1400" u="none" strike="noStrike" kern="1200" dirty="0" smtClean="0">
                          <a:effectLst/>
                        </a:rPr>
                        <a:t>HISUI</a:t>
                      </a:r>
                      <a:r>
                        <a:rPr lang="zh-CN" altLang="en-US" sz="1400" u="none" strike="noStrike" kern="1200" dirty="0" smtClean="0">
                          <a:effectLst/>
                        </a:rPr>
                        <a:t>技术简介</a:t>
                      </a:r>
                      <a:endParaRPr lang="en-US" altLang="zh-CN"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如何实现</a:t>
                      </a:r>
                      <a:r>
                        <a:rPr lang="en-US" altLang="zh-CN" sz="1400" u="none" strike="noStrike" kern="1200" dirty="0" smtClean="0">
                          <a:effectLst/>
                        </a:rPr>
                        <a:t>HISUI</a:t>
                      </a:r>
                      <a:endParaRPr lang="zh-CN" altLang="en-US"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如何使用</a:t>
                      </a:r>
                      <a:r>
                        <a:rPr lang="en-US" altLang="zh-CN" sz="1400" u="none" strike="noStrike" kern="1200" dirty="0" smtClean="0">
                          <a:effectLst/>
                        </a:rPr>
                        <a:t>HISUI</a:t>
                      </a:r>
                      <a:endParaRPr lang="zh-CN" altLang="en-US"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en-US" altLang="zh-CN" sz="1400" u="none" strike="noStrike" kern="1200" dirty="0" smtClean="0">
                          <a:effectLst/>
                        </a:rPr>
                        <a:t>CSP</a:t>
                      </a:r>
                      <a:r>
                        <a:rPr lang="zh-CN" altLang="en-US" sz="1400" u="none" strike="noStrike" kern="1200" dirty="0" smtClean="0">
                          <a:effectLst/>
                        </a:rPr>
                        <a:t>中引入</a:t>
                      </a:r>
                      <a:r>
                        <a:rPr lang="en-US" altLang="zh-CN" sz="1400" u="none" strike="noStrike" kern="1200" dirty="0" smtClean="0">
                          <a:effectLst/>
                        </a:rPr>
                        <a:t>HISUI</a:t>
                      </a:r>
                      <a:r>
                        <a:rPr lang="zh-CN" altLang="en-US" sz="1400" u="none" strike="noStrike" kern="1200" dirty="0" smtClean="0">
                          <a:effectLst/>
                        </a:rPr>
                        <a:t>技术</a:t>
                      </a:r>
                      <a:endParaRPr lang="zh-CN" altLang="en-US"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组件开发中引入</a:t>
                      </a:r>
                      <a:r>
                        <a:rPr lang="en-US" altLang="zh-CN" sz="1400" u="none" strike="noStrike" kern="1200" dirty="0" smtClean="0">
                          <a:effectLst/>
                        </a:rPr>
                        <a:t>HISUI</a:t>
                      </a:r>
                      <a:r>
                        <a:rPr lang="zh-CN" altLang="en-US" sz="1400" u="none" strike="noStrike" kern="1200" dirty="0" smtClean="0">
                          <a:effectLst/>
                        </a:rPr>
                        <a:t>技术</a:t>
                      </a:r>
                      <a:endParaRPr lang="zh-CN" altLang="en-US" sz="1400" u="none" strike="noStrike" kern="1200" dirty="0">
                        <a:solidFill>
                          <a:schemeClr val="dk1"/>
                        </a:solidFill>
                        <a:effectLst/>
                        <a:latin typeface="+mn-lt"/>
                        <a:ea typeface="+mn-ea"/>
                        <a:cs typeface="+mn-cs"/>
                      </a:endParaRPr>
                    </a:p>
                  </a:txBody>
                  <a:tcPr marL="9525" marR="9525" marT="9525" marB="0" anchor="ctr"/>
                </a:tc>
              </a:tr>
              <a:tr h="1215737">
                <a:tc vMerge="1">
                  <a:tcPr/>
                </a:tc>
                <a:tc>
                  <a:txBody>
                    <a:bodyPr/>
                    <a:lstStyle/>
                    <a:p>
                      <a:pPr marL="0" indent="0" algn="ctr" defTabSz="914400" rtl="0" eaLnBrk="1" fontAlgn="ctr" latinLnBrk="0" hangingPunct="1">
                        <a:lnSpc>
                          <a:spcPts val="1400"/>
                        </a:lnSpc>
                        <a:buFontTx/>
                        <a:buNone/>
                      </a:pPr>
                      <a:r>
                        <a:rPr lang="zh-CN" altLang="en-US" sz="1400" kern="1200" dirty="0" smtClean="0"/>
                        <a:t>第四节</a:t>
                      </a:r>
                      <a:endParaRPr lang="zh-CN" altLang="en-US" sz="1400" kern="1200" dirty="0">
                        <a:solidFill>
                          <a:schemeClr val="dk1"/>
                        </a:solidFill>
                        <a:latin typeface="+mn-lt"/>
                        <a:ea typeface="+mn-ea"/>
                        <a:cs typeface="+mn-cs"/>
                      </a:endParaRPr>
                    </a:p>
                  </a:txBody>
                  <a:tcPr marL="9525" marR="9525" marT="9525" marB="0" anchor="ctr"/>
                </a:tc>
                <a:tc>
                  <a:txBody>
                    <a:bodyPr/>
                    <a:lstStyle/>
                    <a:p>
                      <a:pPr marL="0" marR="0" lvl="0" indent="0" algn="l" defTabSz="914400" rtl="0" eaLnBrk="1" fontAlgn="ctr" latinLnBrk="0" hangingPunct="1">
                        <a:lnSpc>
                          <a:spcPts val="1400"/>
                        </a:lnSpc>
                        <a:spcBef>
                          <a:spcPts val="0"/>
                        </a:spcBef>
                        <a:spcAft>
                          <a:spcPts val="0"/>
                        </a:spcAft>
                        <a:buClrTx/>
                        <a:buSzTx/>
                        <a:buFontTx/>
                        <a:buNone/>
                        <a:defRPr/>
                      </a:pPr>
                      <a:r>
                        <a:rPr lang="zh-CN" altLang="en-US" sz="1400" kern="1200" dirty="0" smtClean="0"/>
                        <a:t>组件开发技术</a:t>
                      </a:r>
                      <a:endParaRPr lang="zh-CN" altLang="en-US" sz="1400" kern="1200" dirty="0" smtClean="0">
                        <a:solidFill>
                          <a:schemeClr val="dk1"/>
                        </a:solidFill>
                        <a:latin typeface="+mn-lt"/>
                        <a:ea typeface="+mn-ea"/>
                        <a:cs typeface="+mn-cs"/>
                      </a:endParaRPr>
                    </a:p>
                  </a:txBody>
                  <a:tcPr marL="9525" marR="9525" marT="9525" marB="0" anchor="ctr"/>
                </a:tc>
                <a:tc>
                  <a:txBody>
                    <a:bodyPr/>
                    <a:lstStyle/>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环境配置</a:t>
                      </a:r>
                      <a:endParaRPr lang="en-US" altLang="zh-CN"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数据库连接配置</a:t>
                      </a:r>
                      <a:endParaRPr lang="en-US" altLang="zh-CN"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学习查看组件</a:t>
                      </a:r>
                      <a:endParaRPr lang="zh-CN" altLang="en-US"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创建组件</a:t>
                      </a:r>
                      <a:endParaRPr lang="en-US" altLang="zh-CN" sz="1400" u="none" strike="noStrike" kern="1200" dirty="0" smtClean="0">
                        <a:effectLst/>
                      </a:endParaRPr>
                    </a:p>
                    <a:p>
                      <a:pPr marL="300355" indent="-228600" algn="l" defTabSz="914400" rtl="0" eaLnBrk="1" fontAlgn="b" latinLnBrk="0" hangingPunct="1">
                        <a:lnSpc>
                          <a:spcPts val="1600"/>
                        </a:lnSpc>
                        <a:buFont typeface="+mj-lt"/>
                        <a:buAutoNum type="arabicPeriod"/>
                      </a:pPr>
                      <a:r>
                        <a:rPr lang="zh-CN" altLang="en-US" sz="1400" u="none" strike="noStrike" kern="1200" dirty="0" smtClean="0">
                          <a:effectLst/>
                        </a:rPr>
                        <a:t>组件查询程序的调用和实现</a:t>
                      </a:r>
                      <a:endParaRPr lang="zh-CN" altLang="en-US" sz="1400" u="none" strike="noStrike" kern="1200" dirty="0">
                        <a:solidFill>
                          <a:schemeClr val="dk1"/>
                        </a:solidFill>
                        <a:effectLst/>
                        <a:latin typeface="+mn-lt"/>
                        <a:ea typeface="+mn-ea"/>
                        <a:cs typeface="+mn-cs"/>
                      </a:endParaRPr>
                    </a:p>
                  </a:txBody>
                  <a:tcPr marL="9525" marR="952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a:sym typeface="微软雅黑" panose="020B0503020204020204" pitchFamily="34" charset="-122"/>
              </a:rPr>
              <a:t>|</a:t>
            </a:r>
            <a:r>
              <a:rPr lang="zh-CN" altLang="en-US" dirty="0">
                <a:sym typeface="微软雅黑" panose="020B0503020204020204" pitchFamily="34" charset="-122"/>
              </a:rPr>
              <a:t>  第一节  </a:t>
            </a:r>
            <a:r>
              <a:rPr lang="en-US" altLang="zh-CN" dirty="0" err="1"/>
              <a:t>Caché</a:t>
            </a:r>
            <a:r>
              <a:rPr lang="en-US" altLang="zh-CN" dirty="0" err="1" smtClean="0"/>
              <a:t>简介</a:t>
            </a:r>
            <a:endParaRPr lang="zh-CN" altLang="en-US" dirty="0"/>
          </a:p>
        </p:txBody>
      </p:sp>
      <p:grpSp>
        <p:nvGrpSpPr>
          <p:cNvPr id="9" name="组合 8"/>
          <p:cNvGrpSpPr/>
          <p:nvPr/>
        </p:nvGrpSpPr>
        <p:grpSpPr>
          <a:xfrm>
            <a:off x="1184408" y="894883"/>
            <a:ext cx="10320020" cy="1738738"/>
            <a:chOff x="380308" y="2999917"/>
            <a:chExt cx="2116926" cy="1738738"/>
          </a:xfrm>
        </p:grpSpPr>
        <p:sp>
          <p:nvSpPr>
            <p:cNvPr id="10" name="文本框 34"/>
            <p:cNvSpPr txBox="1">
              <a:spLocks noChangeArrowheads="1"/>
            </p:cNvSpPr>
            <p:nvPr/>
          </p:nvSpPr>
          <p:spPr bwMode="auto">
            <a:xfrm>
              <a:off x="380308" y="2999917"/>
              <a:ext cx="141245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pPr eaLnBrk="1" hangingPunct="1"/>
              <a:r>
                <a:rPr lang="en-US" altLang="zh-CN" b="1" dirty="0" err="1" smtClean="0">
                  <a:solidFill>
                    <a:schemeClr val="accent1">
                      <a:lumMod val="50000"/>
                    </a:schemeClr>
                  </a:solidFill>
                  <a:latin typeface="Arial" panose="020B0604020202020204" pitchFamily="34" charset="0"/>
                  <a:cs typeface="Arial" panose="020B0604020202020204" pitchFamily="34" charset="0"/>
                </a:rPr>
                <a:t>Caché</a:t>
              </a:r>
              <a:r>
                <a:rPr lang="zh-CN" altLang="en-US" b="1" dirty="0">
                  <a:solidFill>
                    <a:schemeClr val="accent1">
                      <a:lumMod val="50000"/>
                    </a:schemeClr>
                  </a:solidFill>
                  <a:latin typeface="Arial" panose="020B0604020202020204" pitchFamily="34" charset="0"/>
                  <a:cs typeface="Arial" panose="020B0604020202020204" pitchFamily="34" charset="0"/>
                </a:rPr>
                <a:t>数据库是</a:t>
              </a:r>
              <a:r>
                <a:rPr lang="en-US" altLang="zh-CN" b="1" dirty="0" err="1">
                  <a:solidFill>
                    <a:schemeClr val="accent1">
                      <a:lumMod val="50000"/>
                    </a:schemeClr>
                  </a:solidFill>
                  <a:latin typeface="Arial" panose="020B0604020202020204" pitchFamily="34" charset="0"/>
                  <a:cs typeface="Arial" panose="020B0604020202020204" pitchFamily="34" charset="0"/>
                </a:rPr>
                <a:t>InterSystems</a:t>
              </a:r>
              <a:r>
                <a:rPr lang="en-US" altLang="zh-CN" b="1" dirty="0">
                  <a:solidFill>
                    <a:schemeClr val="accent1">
                      <a:lumMod val="50000"/>
                    </a:schemeClr>
                  </a:solidFill>
                  <a:latin typeface="Arial" panose="020B0604020202020204" pitchFamily="34" charset="0"/>
                  <a:cs typeface="Arial" panose="020B0604020202020204" pitchFamily="34" charset="0"/>
                </a:rPr>
                <a:t> </a:t>
              </a:r>
              <a:r>
                <a:rPr lang="zh-CN" altLang="en-US" b="1" dirty="0">
                  <a:solidFill>
                    <a:schemeClr val="accent1">
                      <a:lumMod val="50000"/>
                    </a:schemeClr>
                  </a:solidFill>
                  <a:latin typeface="Arial" panose="020B0604020202020204" pitchFamily="34" charset="0"/>
                  <a:cs typeface="Arial" panose="020B0604020202020204" pitchFamily="34" charset="0"/>
                </a:rPr>
                <a:t>公司的产品</a:t>
              </a:r>
              <a:endParaRPr lang="zh-CN" altLang="en-US" b="1" dirty="0">
                <a:solidFill>
                  <a:schemeClr val="accent1">
                    <a:lumMod val="50000"/>
                  </a:schemeClr>
                </a:solidFill>
                <a:latin typeface="Arial" panose="020B0604020202020204" pitchFamily="34" charset="0"/>
                <a:cs typeface="Arial" panose="020B0604020202020204" pitchFamily="34" charset="0"/>
              </a:endParaRPr>
            </a:p>
            <a:p>
              <a:pPr eaLnBrk="1" hangingPunct="1"/>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11" name="矩形 36"/>
            <p:cNvSpPr>
              <a:spLocks noChangeArrowheads="1"/>
            </p:cNvSpPr>
            <p:nvPr/>
          </p:nvSpPr>
          <p:spPr bwMode="auto">
            <a:xfrm>
              <a:off x="385160" y="3322883"/>
              <a:ext cx="2112074" cy="141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r>
                <a:rPr lang="zh-CN" altLang="en-US" sz="1600" dirty="0" smtClean="0">
                  <a:solidFill>
                    <a:schemeClr val="accent1">
                      <a:lumMod val="50000"/>
                    </a:schemeClr>
                  </a:solidFill>
                  <a:latin typeface="Arial" panose="020B0604020202020204" pitchFamily="34" charset="0"/>
                </a:rPr>
                <a:t>为</a:t>
              </a:r>
              <a:r>
                <a:rPr lang="zh-CN" altLang="en-US" sz="1600" dirty="0">
                  <a:solidFill>
                    <a:schemeClr val="accent1">
                      <a:lumMod val="50000"/>
                    </a:schemeClr>
                  </a:solidFill>
                  <a:latin typeface="Arial" panose="020B0604020202020204" pitchFamily="34" charset="0"/>
                </a:rPr>
                <a:t>适应</a:t>
              </a:r>
              <a:r>
                <a:rPr lang="en-US" altLang="zh-CN" sz="1600" dirty="0">
                  <a:solidFill>
                    <a:schemeClr val="accent1">
                      <a:lumMod val="50000"/>
                    </a:schemeClr>
                  </a:solidFill>
                  <a:latin typeface="Arial" panose="020B0604020202020204" pitchFamily="34" charset="0"/>
                </a:rPr>
                <a:t>Internet </a:t>
              </a:r>
              <a:r>
                <a:rPr lang="zh-CN" altLang="en-US" sz="1600" dirty="0">
                  <a:solidFill>
                    <a:schemeClr val="accent1">
                      <a:lumMod val="50000"/>
                    </a:schemeClr>
                  </a:solidFill>
                  <a:latin typeface="Arial" panose="020B0604020202020204" pitchFamily="34" charset="0"/>
                </a:rPr>
                <a:t>迅猛发展对数据库信息技术的需求，</a:t>
              </a:r>
              <a:r>
                <a:rPr lang="en-US" altLang="zh-CN" sz="1600" dirty="0" err="1">
                  <a:solidFill>
                    <a:schemeClr val="accent1">
                      <a:lumMod val="50000"/>
                    </a:schemeClr>
                  </a:solidFill>
                  <a:latin typeface="Arial" panose="020B0604020202020204" pitchFamily="34" charset="0"/>
                </a:rPr>
                <a:t>InterSystems</a:t>
              </a:r>
              <a:r>
                <a:rPr lang="en-US" altLang="zh-CN" sz="1600" dirty="0">
                  <a:solidFill>
                    <a:schemeClr val="accent1">
                      <a:lumMod val="50000"/>
                    </a:schemeClr>
                  </a:solidFill>
                  <a:latin typeface="Arial" panose="020B0604020202020204" pitchFamily="34" charset="0"/>
                </a:rPr>
                <a:t> </a:t>
              </a:r>
              <a:r>
                <a:rPr lang="zh-CN" altLang="en-US" sz="1600" dirty="0">
                  <a:solidFill>
                    <a:schemeClr val="accent1">
                      <a:lumMod val="50000"/>
                    </a:schemeClr>
                  </a:solidFill>
                  <a:latin typeface="Arial" panose="020B0604020202020204" pitchFamily="34" charset="0"/>
                </a:rPr>
                <a:t>公司在多年来已得到国际上公认的以</a:t>
              </a:r>
              <a:r>
                <a:rPr lang="en-US" altLang="zh-CN" sz="1600" dirty="0">
                  <a:solidFill>
                    <a:schemeClr val="accent1">
                      <a:lumMod val="50000"/>
                    </a:schemeClr>
                  </a:solidFill>
                  <a:latin typeface="Arial" panose="020B0604020202020204" pitchFamily="34" charset="0"/>
                </a:rPr>
                <a:t>M</a:t>
              </a:r>
              <a:r>
                <a:rPr lang="zh-CN" altLang="en-US" sz="1600" dirty="0">
                  <a:solidFill>
                    <a:schemeClr val="accent1">
                      <a:lumMod val="50000"/>
                    </a:schemeClr>
                  </a:solidFill>
                  <a:latin typeface="Arial" panose="020B0604020202020204" pitchFamily="34" charset="0"/>
                </a:rPr>
                <a:t>技术开发和运行大型应用系统所积累的可靠经验的基上，经过积极的开发和演变，推出了举世无双的</a:t>
              </a:r>
              <a:r>
                <a:rPr lang="en-US" altLang="zh-CN" sz="1600" dirty="0" err="1">
                  <a:solidFill>
                    <a:schemeClr val="accent1">
                      <a:lumMod val="50000"/>
                    </a:schemeClr>
                  </a:solidFill>
                  <a:latin typeface="Arial" panose="020B0604020202020204" pitchFamily="34" charset="0"/>
                </a:rPr>
                <a:t>Caché</a:t>
              </a:r>
              <a:r>
                <a:rPr lang="zh-CN" altLang="en-US" sz="1600" dirty="0">
                  <a:solidFill>
                    <a:schemeClr val="accent1">
                      <a:lumMod val="50000"/>
                    </a:schemeClr>
                  </a:solidFill>
                  <a:latin typeface="Arial" panose="020B0604020202020204" pitchFamily="34" charset="0"/>
                </a:rPr>
                <a:t>的数据库管理系统产品。</a:t>
              </a:r>
              <a:endParaRPr lang="en-US" altLang="zh-CN" sz="1600" dirty="0">
                <a:solidFill>
                  <a:schemeClr val="accent1">
                    <a:lumMod val="50000"/>
                  </a:schemeClr>
                </a:solidFill>
                <a:latin typeface="Arial" panose="020B0604020202020204" pitchFamily="34" charset="0"/>
              </a:endParaRPr>
            </a:p>
            <a:p>
              <a:pPr algn="ctr"/>
              <a:endParaRPr lang="zh-CN" altLang="en-US" sz="1400" dirty="0">
                <a:solidFill>
                  <a:schemeClr val="accent1">
                    <a:lumMod val="50000"/>
                  </a:schemeClr>
                </a:solidFill>
                <a:latin typeface="Arial" panose="020B0604020202020204" pitchFamily="34" charset="0"/>
              </a:endParaRPr>
            </a:p>
          </p:txBody>
        </p:sp>
      </p:grpSp>
      <p:sp>
        <p:nvSpPr>
          <p:cNvPr id="12" name="椭圆 11"/>
          <p:cNvSpPr/>
          <p:nvPr/>
        </p:nvSpPr>
        <p:spPr>
          <a:xfrm>
            <a:off x="643670" y="861032"/>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1</a:t>
            </a:r>
            <a:endParaRPr lang="zh-CN" altLang="en-US" sz="2400" dirty="0">
              <a:solidFill>
                <a:schemeClr val="tx1">
                  <a:lumMod val="65000"/>
                  <a:lumOff val="35000"/>
                </a:schemeClr>
              </a:solidFill>
            </a:endParaRPr>
          </a:p>
        </p:txBody>
      </p:sp>
      <p:sp>
        <p:nvSpPr>
          <p:cNvPr id="13" name="椭圆 12"/>
          <p:cNvSpPr/>
          <p:nvPr/>
        </p:nvSpPr>
        <p:spPr>
          <a:xfrm>
            <a:off x="646592" y="2679193"/>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2</a:t>
            </a:r>
            <a:endParaRPr lang="zh-CN" altLang="en-US" sz="2400" dirty="0">
              <a:solidFill>
                <a:schemeClr val="tx1">
                  <a:lumMod val="65000"/>
                  <a:lumOff val="35000"/>
                </a:schemeClr>
              </a:solidFill>
            </a:endParaRPr>
          </a:p>
        </p:txBody>
      </p:sp>
      <p:grpSp>
        <p:nvGrpSpPr>
          <p:cNvPr id="15" name="组合 14"/>
          <p:cNvGrpSpPr/>
          <p:nvPr/>
        </p:nvGrpSpPr>
        <p:grpSpPr>
          <a:xfrm>
            <a:off x="1187946" y="2737869"/>
            <a:ext cx="10320020" cy="2108070"/>
            <a:chOff x="380308" y="2999917"/>
            <a:chExt cx="2116926" cy="2108070"/>
          </a:xfrm>
        </p:grpSpPr>
        <p:sp>
          <p:nvSpPr>
            <p:cNvPr id="16" name="文本框 34"/>
            <p:cNvSpPr txBox="1">
              <a:spLocks noChangeArrowheads="1"/>
            </p:cNvSpPr>
            <p:nvPr/>
          </p:nvSpPr>
          <p:spPr bwMode="auto">
            <a:xfrm>
              <a:off x="380308" y="2999917"/>
              <a:ext cx="141245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en-US" altLang="zh-CN" b="1" dirty="0" err="1" smtClean="0">
                  <a:solidFill>
                    <a:schemeClr val="accent1">
                      <a:lumMod val="50000"/>
                    </a:schemeClr>
                  </a:solidFill>
                  <a:latin typeface="Arial" panose="020B0604020202020204" pitchFamily="34" charset="0"/>
                  <a:cs typeface="Arial" panose="020B0604020202020204" pitchFamily="34" charset="0"/>
                </a:rPr>
                <a:t>Caché</a:t>
              </a:r>
              <a:r>
                <a:rPr lang="en-US" altLang="zh-CN" b="1" dirty="0" smtClean="0">
                  <a:solidFill>
                    <a:schemeClr val="accent1">
                      <a:lumMod val="50000"/>
                    </a:schemeClr>
                  </a:solidFill>
                  <a:latin typeface="Arial" panose="020B0604020202020204" pitchFamily="34" charset="0"/>
                  <a:cs typeface="Arial" panose="020B0604020202020204" pitchFamily="34" charset="0"/>
                </a:rPr>
                <a:t> </a:t>
              </a:r>
              <a:r>
                <a:rPr lang="zh-CN" altLang="en-US" b="1" dirty="0">
                  <a:solidFill>
                    <a:schemeClr val="accent1">
                      <a:lumMod val="50000"/>
                    </a:schemeClr>
                  </a:solidFill>
                  <a:latin typeface="Arial" panose="020B0604020202020204" pitchFamily="34" charset="0"/>
                  <a:cs typeface="Arial" panose="020B0604020202020204" pitchFamily="34" charset="0"/>
                </a:rPr>
                <a:t>被誉为创新的“后关系型”数据库 </a:t>
              </a:r>
              <a:endParaRPr lang="zh-CN" altLang="en-US" b="1" dirty="0">
                <a:solidFill>
                  <a:schemeClr val="accent1">
                    <a:lumMod val="50000"/>
                  </a:schemeClr>
                </a:solidFill>
                <a:latin typeface="Arial" panose="020B0604020202020204" pitchFamily="34" charset="0"/>
                <a:cs typeface="Arial" panose="020B0604020202020204" pitchFamily="34" charset="0"/>
              </a:endParaRPr>
            </a:p>
            <a:p>
              <a:pPr eaLnBrk="1" hangingPunct="1"/>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17" name="矩形 36"/>
            <p:cNvSpPr>
              <a:spLocks noChangeArrowheads="1"/>
            </p:cNvSpPr>
            <p:nvPr/>
          </p:nvSpPr>
          <p:spPr bwMode="auto">
            <a:xfrm>
              <a:off x="385160" y="3322883"/>
              <a:ext cx="2112074"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r>
                <a:rPr lang="en-US" altLang="zh-CN" sz="1600" dirty="0" err="1" smtClean="0">
                  <a:solidFill>
                    <a:schemeClr val="accent1">
                      <a:lumMod val="50000"/>
                    </a:schemeClr>
                  </a:solidFill>
                  <a:latin typeface="Arial" panose="020B0604020202020204" pitchFamily="34" charset="0"/>
                </a:rPr>
                <a:t>Caché</a:t>
              </a:r>
              <a:r>
                <a:rPr lang="en-US" altLang="zh-CN" sz="1600" dirty="0" smtClean="0">
                  <a:solidFill>
                    <a:schemeClr val="accent1">
                      <a:lumMod val="50000"/>
                    </a:schemeClr>
                  </a:solidFill>
                  <a:latin typeface="Arial" panose="020B0604020202020204" pitchFamily="34" charset="0"/>
                </a:rPr>
                <a:t> </a:t>
              </a:r>
              <a:r>
                <a:rPr lang="zh-CN" altLang="en-US" sz="1600" dirty="0">
                  <a:solidFill>
                    <a:schemeClr val="accent1">
                      <a:lumMod val="50000"/>
                    </a:schemeClr>
                  </a:solidFill>
                  <a:latin typeface="Arial" panose="020B0604020202020204" pitchFamily="34" charset="0"/>
                </a:rPr>
                <a:t>是新一代高性能数据库技术，被誉为创新的“后关系型”数据库</a:t>
              </a:r>
              <a:r>
                <a:rPr lang="en-US" altLang="zh-CN" sz="1600" dirty="0">
                  <a:solidFill>
                    <a:schemeClr val="accent1">
                      <a:lumMod val="50000"/>
                    </a:schemeClr>
                  </a:solidFill>
                  <a:latin typeface="Arial" panose="020B0604020202020204" pitchFamily="34" charset="0"/>
                </a:rPr>
                <a:t>(</a:t>
              </a:r>
              <a:r>
                <a:rPr lang="en-US" altLang="zh-CN" sz="1600" dirty="0" err="1">
                  <a:solidFill>
                    <a:schemeClr val="accent1">
                      <a:lumMod val="50000"/>
                    </a:schemeClr>
                  </a:solidFill>
                  <a:latin typeface="Arial" panose="020B0604020202020204" pitchFamily="34" charset="0"/>
                </a:rPr>
                <a:t>PostrelationalDatabase</a:t>
              </a:r>
              <a:r>
                <a:rPr lang="en-US" altLang="zh-CN" sz="1600" dirty="0">
                  <a:solidFill>
                    <a:schemeClr val="accent1">
                      <a:lumMod val="50000"/>
                    </a:schemeClr>
                  </a:solidFill>
                  <a:latin typeface="Arial" panose="020B0604020202020204" pitchFamily="34" charset="0"/>
                </a:rPr>
                <a:t>)</a:t>
              </a:r>
              <a:r>
                <a:rPr lang="zh-CN" altLang="en-US" sz="1600" dirty="0">
                  <a:solidFill>
                    <a:schemeClr val="accent1">
                      <a:lumMod val="50000"/>
                    </a:schemeClr>
                  </a:solidFill>
                  <a:latin typeface="Arial" panose="020B0604020202020204" pitchFamily="34" charset="0"/>
                </a:rPr>
                <a:t>作为后关系型数据库，它整合了</a:t>
              </a:r>
              <a:r>
                <a:rPr lang="zh-CN" altLang="en-US" sz="1600" b="1" dirty="0">
                  <a:solidFill>
                    <a:srgbClr val="FF6565"/>
                  </a:solidFill>
                  <a:latin typeface="Arial" panose="020B0604020202020204" pitchFamily="34" charset="0"/>
                </a:rPr>
                <a:t>对象数据库访问</a:t>
              </a:r>
              <a:r>
                <a:rPr lang="zh-CN" altLang="en-US" sz="1600" dirty="0">
                  <a:solidFill>
                    <a:schemeClr val="accent1">
                      <a:lumMod val="50000"/>
                    </a:schemeClr>
                  </a:solidFill>
                  <a:latin typeface="Arial" panose="020B0604020202020204" pitchFamily="34" charset="0"/>
                </a:rPr>
                <a:t>、高性能的</a:t>
              </a:r>
              <a:r>
                <a:rPr lang="en-US" altLang="zh-CN" sz="1600" b="1" dirty="0">
                  <a:solidFill>
                    <a:srgbClr val="FF6565"/>
                  </a:solidFill>
                  <a:latin typeface="Arial" panose="020B0604020202020204" pitchFamily="34" charset="0"/>
                </a:rPr>
                <a:t>SQL </a:t>
              </a:r>
              <a:r>
                <a:rPr lang="zh-CN" altLang="en-US" sz="1600" b="1" dirty="0">
                  <a:solidFill>
                    <a:srgbClr val="FF6565"/>
                  </a:solidFill>
                  <a:latin typeface="Arial" panose="020B0604020202020204" pitchFamily="34" charset="0"/>
                </a:rPr>
                <a:t>访问</a:t>
              </a:r>
              <a:r>
                <a:rPr lang="zh-CN" altLang="en-US" sz="1600" dirty="0">
                  <a:solidFill>
                    <a:schemeClr val="accent1">
                      <a:lumMod val="50000"/>
                    </a:schemeClr>
                  </a:solidFill>
                  <a:latin typeface="Arial" panose="020B0604020202020204" pitchFamily="34" charset="0"/>
                </a:rPr>
                <a:t>、强大的</a:t>
              </a:r>
              <a:r>
                <a:rPr lang="zh-CN" altLang="en-US" sz="1600" b="1" dirty="0">
                  <a:solidFill>
                    <a:srgbClr val="FF6565"/>
                  </a:solidFill>
                  <a:latin typeface="Arial" panose="020B0604020202020204" pitchFamily="34" charset="0"/>
                </a:rPr>
                <a:t>多维数据访问</a:t>
              </a:r>
              <a:r>
                <a:rPr lang="en-US" altLang="zh-CN" sz="1600" dirty="0">
                  <a:solidFill>
                    <a:schemeClr val="accent1">
                      <a:lumMod val="50000"/>
                    </a:schemeClr>
                  </a:solidFill>
                  <a:latin typeface="Arial" panose="020B0604020202020204" pitchFamily="34" charset="0"/>
                </a:rPr>
                <a:t>——</a:t>
              </a:r>
              <a:r>
                <a:rPr lang="zh-CN" altLang="en-US" sz="1600" dirty="0">
                  <a:solidFill>
                    <a:schemeClr val="accent1">
                      <a:lumMod val="50000"/>
                    </a:schemeClr>
                  </a:solidFill>
                  <a:latin typeface="Arial" panose="020B0604020202020204" pitchFamily="34" charset="0"/>
                </a:rPr>
                <a:t>这三种方法能够天衣无缝地同时访问相同的数据。</a:t>
              </a:r>
              <a:endParaRPr lang="zh-CN" altLang="en-US" sz="1600" dirty="0">
                <a:solidFill>
                  <a:schemeClr val="accent1">
                    <a:lumMod val="50000"/>
                  </a:schemeClr>
                </a:solidFill>
                <a:latin typeface="Arial" panose="020B0604020202020204" pitchFamily="34" charset="0"/>
              </a:endParaRPr>
            </a:p>
            <a:p>
              <a:pPr>
                <a:lnSpc>
                  <a:spcPct val="150000"/>
                </a:lnSpc>
              </a:pPr>
              <a:endParaRPr lang="en-US" altLang="zh-CN" sz="1600" dirty="0">
                <a:solidFill>
                  <a:schemeClr val="accent1">
                    <a:lumMod val="50000"/>
                  </a:schemeClr>
                </a:solidFill>
                <a:latin typeface="Arial" panose="020B0604020202020204" pitchFamily="34" charset="0"/>
              </a:endParaRPr>
            </a:p>
            <a:p>
              <a:pPr algn="ctr"/>
              <a:endParaRPr lang="zh-CN" altLang="en-US" sz="1400" dirty="0">
                <a:solidFill>
                  <a:schemeClr val="accent1">
                    <a:lumMod val="50000"/>
                  </a:schemeClr>
                </a:solidFill>
                <a:latin typeface="Arial" panose="020B0604020202020204" pitchFamily="34" charset="0"/>
              </a:endParaRPr>
            </a:p>
          </p:txBody>
        </p:sp>
      </p:grpSp>
      <p:sp>
        <p:nvSpPr>
          <p:cNvPr id="18" name="文本框 17"/>
          <p:cNvSpPr txBox="1"/>
          <p:nvPr/>
        </p:nvSpPr>
        <p:spPr>
          <a:xfrm>
            <a:off x="1245458" y="4968850"/>
            <a:ext cx="3238387" cy="400110"/>
          </a:xfrm>
          <a:prstGeom prst="rect">
            <a:avLst/>
          </a:prstGeom>
          <a:noFill/>
        </p:spPr>
        <p:txBody>
          <a:bodyPr wrap="none" rtlCol="0">
            <a:spAutoFit/>
          </a:bodyPr>
          <a:lstStyle/>
          <a:p>
            <a:pPr marL="342900" indent="-342900">
              <a:buFont typeface="Wingdings" panose="05000000000000000000" pitchFamily="2" charset="2"/>
              <a:buChar char="Ø"/>
            </a:pPr>
            <a:r>
              <a:rPr lang="zh-CN" altLang="en-US" sz="2000" dirty="0" smtClean="0">
                <a:solidFill>
                  <a:schemeClr val="tx1">
                    <a:lumMod val="65000"/>
                    <a:lumOff val="35000"/>
                  </a:schemeClr>
                </a:solidFill>
              </a:rPr>
              <a:t>示例</a:t>
            </a:r>
            <a:r>
              <a:rPr lang="en-US" altLang="zh-CN" sz="2000" dirty="0" smtClean="0">
                <a:solidFill>
                  <a:schemeClr val="tx1">
                    <a:lumMod val="65000"/>
                    <a:lumOff val="35000"/>
                  </a:schemeClr>
                </a:solidFill>
              </a:rPr>
              <a:t>1</a:t>
            </a:r>
            <a:r>
              <a:rPr lang="zh-CN" altLang="en-US" sz="2000" dirty="0" smtClean="0">
                <a:solidFill>
                  <a:schemeClr val="tx1">
                    <a:lumMod val="65000"/>
                    <a:lumOff val="35000"/>
                  </a:schemeClr>
                </a:solidFill>
              </a:rPr>
              <a:t>、对象数据库访问</a:t>
            </a:r>
            <a:endParaRPr lang="zh-CN" altLang="en-US" sz="2000" dirty="0">
              <a:solidFill>
                <a:schemeClr val="tx1">
                  <a:lumMod val="65000"/>
                  <a:lumOff val="35000"/>
                </a:schemeClr>
              </a:solidFill>
            </a:endParaRPr>
          </a:p>
        </p:txBody>
      </p:sp>
      <p:pic>
        <p:nvPicPr>
          <p:cNvPr id="19" name="图片 18"/>
          <p:cNvPicPr>
            <a:picLocks noChangeAspect="1"/>
          </p:cNvPicPr>
          <p:nvPr/>
        </p:nvPicPr>
        <p:blipFill>
          <a:blip r:embed="rId1"/>
          <a:stretch>
            <a:fillRect/>
          </a:stretch>
        </p:blipFill>
        <p:spPr>
          <a:xfrm>
            <a:off x="4598145" y="3891691"/>
            <a:ext cx="5452310" cy="2862400"/>
          </a:xfrm>
          <a:prstGeom prst="rect">
            <a:avLst/>
          </a:prstGeom>
          <a:ln>
            <a:solidFill>
              <a:schemeClr val="tx1">
                <a:lumMod val="50000"/>
                <a:lumOff val="50000"/>
              </a:schemeClr>
            </a:solidFill>
          </a:ln>
        </p:spPr>
      </p:pic>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a:sym typeface="微软雅黑" panose="020B0503020204020204" pitchFamily="34" charset="-122"/>
              </a:rPr>
              <a:t>|</a:t>
            </a:r>
            <a:r>
              <a:rPr lang="zh-CN" altLang="en-US" dirty="0">
                <a:sym typeface="微软雅黑" panose="020B0503020204020204" pitchFamily="34" charset="-122"/>
              </a:rPr>
              <a:t>  第一节  </a:t>
            </a:r>
            <a:r>
              <a:rPr lang="en-US" altLang="zh-CN" dirty="0" err="1"/>
              <a:t>Caché</a:t>
            </a:r>
            <a:r>
              <a:rPr lang="en-US" altLang="zh-CN" dirty="0" err="1" smtClean="0"/>
              <a:t>简介</a:t>
            </a:r>
            <a:endParaRPr lang="zh-CN" altLang="en-US" dirty="0"/>
          </a:p>
        </p:txBody>
      </p:sp>
      <p:sp>
        <p:nvSpPr>
          <p:cNvPr id="18" name="文本框 17"/>
          <p:cNvSpPr txBox="1"/>
          <p:nvPr/>
        </p:nvSpPr>
        <p:spPr>
          <a:xfrm>
            <a:off x="237709" y="1747676"/>
            <a:ext cx="2981907" cy="400110"/>
          </a:xfrm>
          <a:prstGeom prst="rect">
            <a:avLst/>
          </a:prstGeom>
          <a:noFill/>
        </p:spPr>
        <p:txBody>
          <a:bodyPr wrap="none" rtlCol="0">
            <a:spAutoFit/>
          </a:bodyPr>
          <a:lstStyle/>
          <a:p>
            <a:pPr marL="342900" indent="-342900">
              <a:buFont typeface="Wingdings" panose="05000000000000000000" pitchFamily="2" charset="2"/>
              <a:buChar char="Ø"/>
            </a:pPr>
            <a:r>
              <a:rPr lang="zh-CN" altLang="en-US" sz="2000" dirty="0" smtClean="0">
                <a:solidFill>
                  <a:schemeClr val="tx1">
                    <a:lumMod val="65000"/>
                    <a:lumOff val="35000"/>
                  </a:schemeClr>
                </a:solidFill>
              </a:rPr>
              <a:t>示例</a:t>
            </a:r>
            <a:r>
              <a:rPr lang="en-US" altLang="zh-CN" sz="2000" dirty="0" smtClean="0">
                <a:solidFill>
                  <a:schemeClr val="tx1">
                    <a:lumMod val="65000"/>
                    <a:lumOff val="35000"/>
                  </a:schemeClr>
                </a:solidFill>
              </a:rPr>
              <a:t>2</a:t>
            </a:r>
            <a:r>
              <a:rPr lang="zh-CN" altLang="en-US" sz="2000" dirty="0" smtClean="0">
                <a:solidFill>
                  <a:schemeClr val="tx1">
                    <a:lumMod val="65000"/>
                    <a:lumOff val="35000"/>
                  </a:schemeClr>
                </a:solidFill>
              </a:rPr>
              <a:t>、</a:t>
            </a:r>
            <a:r>
              <a:rPr lang="zh-CN" altLang="en-US" sz="2000" dirty="0" smtClean="0"/>
              <a:t>多维</a:t>
            </a:r>
            <a:r>
              <a:rPr lang="zh-CN" altLang="en-US" sz="2000" dirty="0"/>
              <a:t>数据</a:t>
            </a:r>
            <a:r>
              <a:rPr lang="zh-CN" altLang="en-US" sz="2000" dirty="0" smtClean="0"/>
              <a:t>访问</a:t>
            </a:r>
            <a:endParaRPr lang="zh-CN" altLang="en-US" sz="2000" dirty="0"/>
          </a:p>
        </p:txBody>
      </p:sp>
      <p:sp>
        <p:nvSpPr>
          <p:cNvPr id="14" name="文本框 13"/>
          <p:cNvSpPr txBox="1"/>
          <p:nvPr/>
        </p:nvSpPr>
        <p:spPr>
          <a:xfrm>
            <a:off x="468542" y="4805232"/>
            <a:ext cx="2468946" cy="400110"/>
          </a:xfrm>
          <a:prstGeom prst="rect">
            <a:avLst/>
          </a:prstGeom>
          <a:noFill/>
        </p:spPr>
        <p:txBody>
          <a:bodyPr wrap="none" rtlCol="0">
            <a:spAutoFit/>
          </a:bodyPr>
          <a:lstStyle/>
          <a:p>
            <a:pPr marL="342900" indent="-342900">
              <a:buFont typeface="Wingdings" panose="05000000000000000000" pitchFamily="2" charset="2"/>
              <a:buChar char="Ø"/>
            </a:pPr>
            <a:r>
              <a:rPr lang="zh-CN" altLang="en-US" sz="2000" dirty="0" smtClean="0">
                <a:solidFill>
                  <a:schemeClr val="tx1">
                    <a:lumMod val="65000"/>
                    <a:lumOff val="35000"/>
                  </a:schemeClr>
                </a:solidFill>
              </a:rPr>
              <a:t>示例</a:t>
            </a:r>
            <a:r>
              <a:rPr lang="en-US" altLang="zh-CN" sz="2000" dirty="0" smtClean="0">
                <a:solidFill>
                  <a:schemeClr val="tx1">
                    <a:lumMod val="65000"/>
                    <a:lumOff val="35000"/>
                  </a:schemeClr>
                </a:solidFill>
              </a:rPr>
              <a:t>3</a:t>
            </a:r>
            <a:r>
              <a:rPr lang="zh-CN" altLang="en-US" sz="2000" dirty="0" smtClean="0">
                <a:solidFill>
                  <a:schemeClr val="tx1">
                    <a:lumMod val="65000"/>
                    <a:lumOff val="35000"/>
                  </a:schemeClr>
                </a:solidFill>
              </a:rPr>
              <a:t>、</a:t>
            </a:r>
            <a:r>
              <a:rPr lang="en-US" altLang="zh-CN" sz="2000" dirty="0" smtClean="0"/>
              <a:t>SQL</a:t>
            </a:r>
            <a:r>
              <a:rPr lang="zh-CN" altLang="en-US" sz="2000" dirty="0" smtClean="0"/>
              <a:t>访问</a:t>
            </a:r>
            <a:endParaRPr lang="zh-CN" altLang="en-US" sz="2000" dirty="0"/>
          </a:p>
        </p:txBody>
      </p:sp>
      <p:pic>
        <p:nvPicPr>
          <p:cNvPr id="29" name="图片 28"/>
          <p:cNvPicPr>
            <a:picLocks noChangeAspect="1"/>
          </p:cNvPicPr>
          <p:nvPr/>
        </p:nvPicPr>
        <p:blipFill>
          <a:blip r:embed="rId1"/>
          <a:stretch>
            <a:fillRect/>
          </a:stretch>
        </p:blipFill>
        <p:spPr>
          <a:xfrm>
            <a:off x="3484137" y="853396"/>
            <a:ext cx="7509192" cy="2679513"/>
          </a:xfrm>
          <a:prstGeom prst="rect">
            <a:avLst/>
          </a:prstGeom>
          <a:ln>
            <a:solidFill>
              <a:schemeClr val="tx1">
                <a:lumMod val="50000"/>
                <a:lumOff val="50000"/>
              </a:schemeClr>
            </a:solidFill>
          </a:ln>
        </p:spPr>
      </p:pic>
      <p:pic>
        <p:nvPicPr>
          <p:cNvPr id="30" name="图片 29"/>
          <p:cNvPicPr>
            <a:picLocks noChangeAspect="1"/>
          </p:cNvPicPr>
          <p:nvPr/>
        </p:nvPicPr>
        <p:blipFill>
          <a:blip r:embed="rId2"/>
          <a:stretch>
            <a:fillRect/>
          </a:stretch>
        </p:blipFill>
        <p:spPr>
          <a:xfrm>
            <a:off x="3484137" y="3657822"/>
            <a:ext cx="7451264" cy="3179396"/>
          </a:xfrm>
          <a:prstGeom prst="rect">
            <a:avLst/>
          </a:prstGeom>
          <a:ln>
            <a:solidFill>
              <a:schemeClr val="tx1">
                <a:lumMod val="50000"/>
                <a:lumOff val="50000"/>
              </a:schemeClr>
            </a:solidFill>
          </a:ln>
        </p:spPr>
      </p:pic>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a:sym typeface="微软雅黑" panose="020B0503020204020204" pitchFamily="34" charset="-122"/>
              </a:rPr>
              <a:t>|</a:t>
            </a:r>
            <a:r>
              <a:rPr lang="zh-CN" altLang="en-US" dirty="0">
                <a:sym typeface="微软雅黑" panose="020B0503020204020204" pitchFamily="34" charset="-122"/>
              </a:rPr>
              <a:t>  第一节  </a:t>
            </a:r>
            <a:r>
              <a:rPr lang="en-US" altLang="zh-CN" dirty="0" err="1"/>
              <a:t>Caché</a:t>
            </a:r>
            <a:r>
              <a:rPr lang="en-US" altLang="zh-CN" dirty="0" err="1" smtClean="0"/>
              <a:t>简介</a:t>
            </a:r>
            <a:endParaRPr lang="zh-CN" altLang="en-US" dirty="0"/>
          </a:p>
        </p:txBody>
      </p:sp>
      <p:grpSp>
        <p:nvGrpSpPr>
          <p:cNvPr id="9" name="组合 8"/>
          <p:cNvGrpSpPr/>
          <p:nvPr/>
        </p:nvGrpSpPr>
        <p:grpSpPr>
          <a:xfrm>
            <a:off x="1184409" y="1258568"/>
            <a:ext cx="5351474" cy="2745591"/>
            <a:chOff x="380308" y="2999917"/>
            <a:chExt cx="1453693" cy="2745591"/>
          </a:xfrm>
        </p:grpSpPr>
        <p:sp>
          <p:nvSpPr>
            <p:cNvPr id="10" name="文本框 34"/>
            <p:cNvSpPr txBox="1">
              <a:spLocks noChangeArrowheads="1"/>
            </p:cNvSpPr>
            <p:nvPr/>
          </p:nvSpPr>
          <p:spPr bwMode="auto">
            <a:xfrm>
              <a:off x="380308" y="2999917"/>
              <a:ext cx="1412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en-US" altLang="zh-CN" b="1" dirty="0" err="1" smtClean="0">
                  <a:solidFill>
                    <a:schemeClr val="accent1">
                      <a:lumMod val="50000"/>
                    </a:schemeClr>
                  </a:solidFill>
                  <a:latin typeface="Arial" panose="020B0604020202020204" pitchFamily="34" charset="0"/>
                  <a:cs typeface="Arial" panose="020B0604020202020204" pitchFamily="34" charset="0"/>
                </a:rPr>
                <a:t>Caché</a:t>
              </a:r>
              <a:r>
                <a:rPr lang="zh-CN" altLang="en-US" b="1" dirty="0">
                  <a:solidFill>
                    <a:schemeClr val="accent1">
                      <a:lumMod val="50000"/>
                    </a:schemeClr>
                  </a:solidFill>
                  <a:latin typeface="Arial" panose="020B0604020202020204" pitchFamily="34" charset="0"/>
                  <a:cs typeface="Arial" panose="020B0604020202020204" pitchFamily="34" charset="0"/>
                </a:rPr>
                <a:t>包括应用服务器</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11" name="矩形 36"/>
            <p:cNvSpPr>
              <a:spLocks noChangeArrowheads="1"/>
            </p:cNvSpPr>
            <p:nvPr/>
          </p:nvSpPr>
          <p:spPr bwMode="auto">
            <a:xfrm>
              <a:off x="385160" y="3437184"/>
              <a:ext cx="1448841"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marL="285750" indent="-285750">
                <a:lnSpc>
                  <a:spcPct val="150000"/>
                </a:lnSpc>
                <a:buFont typeface="Wingdings" panose="05000000000000000000" pitchFamily="2" charset="2"/>
                <a:buChar char="u"/>
              </a:pPr>
              <a:r>
                <a:rPr lang="en-US" altLang="zh-CN" sz="1600" dirty="0" err="1" smtClean="0">
                  <a:solidFill>
                    <a:schemeClr val="accent1">
                      <a:lumMod val="50000"/>
                    </a:schemeClr>
                  </a:solidFill>
                  <a:latin typeface="Arial" panose="020B0604020202020204" pitchFamily="34" charset="0"/>
                </a:rPr>
                <a:t>Caché</a:t>
              </a:r>
              <a:r>
                <a:rPr lang="en-US" altLang="zh-CN" sz="1600" dirty="0" smtClean="0">
                  <a:solidFill>
                    <a:schemeClr val="accent1">
                      <a:lumMod val="50000"/>
                    </a:schemeClr>
                  </a:solidFill>
                  <a:latin typeface="Arial" panose="020B0604020202020204" pitchFamily="34" charset="0"/>
                </a:rPr>
                <a:t> </a:t>
              </a:r>
              <a:r>
                <a:rPr lang="zh-CN" altLang="en-US" sz="1600" dirty="0" smtClean="0">
                  <a:solidFill>
                    <a:schemeClr val="accent1">
                      <a:lumMod val="50000"/>
                    </a:schemeClr>
                  </a:solidFill>
                  <a:latin typeface="Arial" panose="020B0604020202020204" pitchFamily="34" charset="0"/>
                </a:rPr>
                <a:t>提供不仅是一种单纯的数据库技术。在 </a:t>
              </a:r>
              <a:r>
                <a:rPr lang="en-US" altLang="zh-CN" sz="1600" dirty="0" err="1" smtClean="0">
                  <a:solidFill>
                    <a:schemeClr val="accent1">
                      <a:lumMod val="50000"/>
                    </a:schemeClr>
                  </a:solidFill>
                  <a:latin typeface="Arial" panose="020B0604020202020204" pitchFamily="34" charset="0"/>
                </a:rPr>
                <a:t>Caché</a:t>
              </a:r>
              <a:r>
                <a:rPr lang="en-US" altLang="zh-CN" sz="1600" dirty="0" smtClean="0">
                  <a:solidFill>
                    <a:schemeClr val="accent1">
                      <a:lumMod val="50000"/>
                    </a:schemeClr>
                  </a:solidFill>
                  <a:latin typeface="Arial" panose="020B0604020202020204" pitchFamily="34" charset="0"/>
                </a:rPr>
                <a:t> </a:t>
              </a:r>
              <a:r>
                <a:rPr lang="zh-CN" altLang="en-US" sz="1600" dirty="0" smtClean="0">
                  <a:solidFill>
                    <a:schemeClr val="accent1">
                      <a:lumMod val="50000"/>
                    </a:schemeClr>
                  </a:solidFill>
                  <a:latin typeface="Arial" panose="020B0604020202020204" pitchFamily="34" charset="0"/>
                </a:rPr>
                <a:t>中包括一个应用服务器，这个服务器提供高级对象编程，并且可以很容易地与很多技术集成。</a:t>
              </a:r>
              <a:endParaRPr lang="en-US" altLang="zh-CN" sz="1600" dirty="0" smtClean="0">
                <a:solidFill>
                  <a:schemeClr val="accent1">
                    <a:lumMod val="50000"/>
                  </a:schemeClr>
                </a:solidFill>
                <a:latin typeface="Arial" panose="020B0604020202020204" pitchFamily="34" charset="0"/>
              </a:endParaRPr>
            </a:p>
            <a:p>
              <a:pPr marL="285750" indent="-285750">
                <a:lnSpc>
                  <a:spcPct val="150000"/>
                </a:lnSpc>
                <a:spcBef>
                  <a:spcPts val="1200"/>
                </a:spcBef>
                <a:buFont typeface="Wingdings" panose="05000000000000000000" pitchFamily="2" charset="2"/>
                <a:buChar char="u"/>
              </a:pPr>
              <a:r>
                <a:rPr lang="en-US" altLang="zh-CN" sz="1600" dirty="0" err="1" smtClean="0">
                  <a:solidFill>
                    <a:schemeClr val="accent1">
                      <a:lumMod val="50000"/>
                    </a:schemeClr>
                  </a:solidFill>
                  <a:latin typeface="Arial" panose="020B0604020202020204" pitchFamily="34" charset="0"/>
                </a:rPr>
                <a:t>Caché</a:t>
              </a:r>
              <a:r>
                <a:rPr lang="en-US" altLang="zh-CN" sz="1600" dirty="0" smtClean="0">
                  <a:solidFill>
                    <a:schemeClr val="accent1">
                      <a:lumMod val="50000"/>
                    </a:schemeClr>
                  </a:solidFill>
                  <a:latin typeface="Arial" panose="020B0604020202020204" pitchFamily="34" charset="0"/>
                </a:rPr>
                <a:t> </a:t>
              </a:r>
              <a:r>
                <a:rPr lang="zh-CN" altLang="en-US" sz="1600" dirty="0" smtClean="0">
                  <a:solidFill>
                    <a:schemeClr val="accent1">
                      <a:lumMod val="50000"/>
                    </a:schemeClr>
                  </a:solidFill>
                  <a:latin typeface="Arial" panose="020B0604020202020204" pitchFamily="34" charset="0"/>
                </a:rPr>
                <a:t>还提供高性能的运行环境，这一运行环境采用了独特的分布式数据缓存协议技术。</a:t>
              </a:r>
              <a:endParaRPr lang="en-US" altLang="zh-CN" sz="1600" dirty="0" smtClean="0">
                <a:solidFill>
                  <a:schemeClr val="accent1">
                    <a:lumMod val="50000"/>
                  </a:schemeClr>
                </a:solidFill>
                <a:latin typeface="Arial" panose="020B0604020202020204" pitchFamily="34" charset="0"/>
              </a:endParaRPr>
            </a:p>
            <a:p>
              <a:pPr algn="ctr"/>
              <a:endParaRPr lang="zh-CN" altLang="en-US" sz="1400" dirty="0">
                <a:solidFill>
                  <a:schemeClr val="accent1">
                    <a:lumMod val="50000"/>
                  </a:schemeClr>
                </a:solidFill>
                <a:latin typeface="Arial" panose="020B0604020202020204" pitchFamily="34" charset="0"/>
              </a:endParaRPr>
            </a:p>
          </p:txBody>
        </p:sp>
      </p:grpSp>
      <p:sp>
        <p:nvSpPr>
          <p:cNvPr id="12" name="椭圆 11"/>
          <p:cNvSpPr/>
          <p:nvPr/>
        </p:nvSpPr>
        <p:spPr>
          <a:xfrm>
            <a:off x="643670" y="1224717"/>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lumMod val="65000"/>
                    <a:lumOff val="35000"/>
                  </a:schemeClr>
                </a:solidFill>
              </a:rPr>
              <a:t>3</a:t>
            </a:r>
            <a:endParaRPr lang="zh-CN" altLang="en-US" sz="2400" dirty="0">
              <a:solidFill>
                <a:schemeClr val="tx1">
                  <a:lumMod val="65000"/>
                  <a:lumOff val="35000"/>
                </a:schemeClr>
              </a:solidFill>
            </a:endParaRPr>
          </a:p>
        </p:txBody>
      </p:sp>
      <p:pic>
        <p:nvPicPr>
          <p:cNvPr id="19" name="Picture 3" descr="04architec"/>
          <p:cNvPicPr>
            <a:picLocks noChangeAspect="1" noChangeArrowheads="1"/>
          </p:cNvPicPr>
          <p:nvPr/>
        </p:nvPicPr>
        <p:blipFill>
          <a:blip r:embed="rId1"/>
          <a:srcRect/>
          <a:stretch>
            <a:fillRect/>
          </a:stretch>
        </p:blipFill>
        <p:spPr>
          <a:xfrm>
            <a:off x="6782903" y="861032"/>
            <a:ext cx="5167941" cy="3669531"/>
          </a:xfrm>
          <a:prstGeom prst="rect">
            <a:avLst/>
          </a:prstGeom>
          <a:noFill/>
        </p:spPr>
      </p:pic>
      <p:grpSp>
        <p:nvGrpSpPr>
          <p:cNvPr id="21" name="组合 20"/>
          <p:cNvGrpSpPr/>
          <p:nvPr/>
        </p:nvGrpSpPr>
        <p:grpSpPr>
          <a:xfrm>
            <a:off x="1184408" y="4536048"/>
            <a:ext cx="10479506" cy="1523295"/>
            <a:chOff x="380308" y="2999917"/>
            <a:chExt cx="2149641" cy="1523295"/>
          </a:xfrm>
        </p:grpSpPr>
        <p:sp>
          <p:nvSpPr>
            <p:cNvPr id="22" name="文本框 34"/>
            <p:cNvSpPr txBox="1">
              <a:spLocks noChangeArrowheads="1"/>
            </p:cNvSpPr>
            <p:nvPr/>
          </p:nvSpPr>
          <p:spPr bwMode="auto">
            <a:xfrm>
              <a:off x="380308" y="2999917"/>
              <a:ext cx="141245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en-US" altLang="zh-CN" b="1" dirty="0" err="1" smtClean="0">
                  <a:solidFill>
                    <a:schemeClr val="accent1">
                      <a:lumMod val="50000"/>
                    </a:schemeClr>
                  </a:solidFill>
                  <a:latin typeface="Arial" panose="020B0604020202020204" pitchFamily="34" charset="0"/>
                  <a:cs typeface="Arial" panose="020B0604020202020204" pitchFamily="34" charset="0"/>
                </a:rPr>
                <a:t>Caché</a:t>
              </a:r>
              <a:r>
                <a:rPr lang="en-US" altLang="zh-CN" b="1" dirty="0" smtClean="0">
                  <a:solidFill>
                    <a:schemeClr val="accent1">
                      <a:lumMod val="50000"/>
                    </a:schemeClr>
                  </a:solidFill>
                  <a:latin typeface="Arial" panose="020B0604020202020204" pitchFamily="34" charset="0"/>
                  <a:cs typeface="Arial" panose="020B0604020202020204" pitchFamily="34" charset="0"/>
                </a:rPr>
                <a:t> </a:t>
              </a:r>
              <a:r>
                <a:rPr lang="zh-CN" altLang="en-US" b="1" dirty="0">
                  <a:solidFill>
                    <a:schemeClr val="accent1">
                      <a:lumMod val="50000"/>
                    </a:schemeClr>
                  </a:solidFill>
                  <a:latin typeface="Arial" panose="020B0604020202020204" pitchFamily="34" charset="0"/>
                  <a:cs typeface="Arial" panose="020B0604020202020204" pitchFamily="34" charset="0"/>
                </a:rPr>
                <a:t>的编程技术</a:t>
              </a:r>
              <a:r>
                <a:rPr lang="en-US" altLang="zh-CN" b="1" dirty="0">
                  <a:solidFill>
                    <a:schemeClr val="accent1">
                      <a:lumMod val="50000"/>
                    </a:schemeClr>
                  </a:solidFill>
                  <a:latin typeface="Arial" panose="020B0604020202020204" pitchFamily="34" charset="0"/>
                  <a:cs typeface="Arial" panose="020B0604020202020204" pitchFamily="34" charset="0"/>
                </a:rPr>
                <a:t>--M</a:t>
              </a:r>
              <a:r>
                <a:rPr lang="zh-CN" altLang="en-US" b="1" dirty="0">
                  <a:solidFill>
                    <a:schemeClr val="accent1">
                      <a:lumMod val="50000"/>
                    </a:schemeClr>
                  </a:solidFill>
                  <a:latin typeface="Arial" panose="020B0604020202020204" pitchFamily="34" charset="0"/>
                  <a:cs typeface="Arial" panose="020B0604020202020204" pitchFamily="34" charset="0"/>
                </a:rPr>
                <a:t>语言</a:t>
              </a:r>
              <a:endParaRPr lang="zh-CN" altLang="en-US" b="1" dirty="0">
                <a:solidFill>
                  <a:schemeClr val="accent1">
                    <a:lumMod val="50000"/>
                  </a:schemeClr>
                </a:solidFill>
                <a:latin typeface="Arial" panose="020B0604020202020204" pitchFamily="34" charset="0"/>
                <a:cs typeface="Arial" panose="020B0604020202020204" pitchFamily="34" charset="0"/>
              </a:endParaRPr>
            </a:p>
            <a:p>
              <a:pPr eaLnBrk="1" hangingPunct="1"/>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23" name="矩形 36"/>
            <p:cNvSpPr>
              <a:spLocks noChangeArrowheads="1"/>
            </p:cNvSpPr>
            <p:nvPr/>
          </p:nvSpPr>
          <p:spPr bwMode="auto">
            <a:xfrm>
              <a:off x="385160" y="3322883"/>
              <a:ext cx="214478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r>
                <a:rPr lang="en-US" altLang="zh-CN" sz="1600" dirty="0" err="1">
                  <a:solidFill>
                    <a:schemeClr val="accent1">
                      <a:lumMod val="50000"/>
                    </a:schemeClr>
                  </a:solidFill>
                  <a:latin typeface="Arial" panose="020B0604020202020204" pitchFamily="34" charset="0"/>
                </a:rPr>
                <a:t>Caché</a:t>
              </a:r>
              <a:r>
                <a:rPr lang="zh-CN" altLang="en-US" sz="1600" dirty="0">
                  <a:solidFill>
                    <a:schemeClr val="accent1">
                      <a:lumMod val="50000"/>
                    </a:schemeClr>
                  </a:solidFill>
                  <a:latin typeface="Arial" panose="020B0604020202020204" pitchFamily="34" charset="0"/>
                </a:rPr>
                <a:t>提供了可以用多种技术编写数据库和业务逻辑的能力。</a:t>
              </a:r>
              <a:r>
                <a:rPr lang="en-US" altLang="zh-CN" sz="1600" dirty="0" err="1">
                  <a:solidFill>
                    <a:schemeClr val="accent1">
                      <a:lumMod val="50000"/>
                    </a:schemeClr>
                  </a:solidFill>
                  <a:latin typeface="Arial" panose="020B0604020202020204" pitchFamily="34" charset="0"/>
                </a:rPr>
                <a:t>Caché</a:t>
              </a:r>
              <a:r>
                <a:rPr lang="zh-CN" altLang="en-US" sz="1600" dirty="0">
                  <a:solidFill>
                    <a:schemeClr val="accent1">
                      <a:lumMod val="50000"/>
                    </a:schemeClr>
                  </a:solidFill>
                  <a:latin typeface="Arial" panose="020B0604020202020204" pitchFamily="34" charset="0"/>
                </a:rPr>
                <a:t>的</a:t>
              </a:r>
              <a:r>
                <a:rPr lang="en-US" altLang="zh-CN" sz="1600" dirty="0" err="1">
                  <a:solidFill>
                    <a:schemeClr val="accent1">
                      <a:lumMod val="50000"/>
                    </a:schemeClr>
                  </a:solidFill>
                  <a:latin typeface="Arial" panose="020B0604020202020204" pitchFamily="34" charset="0"/>
                </a:rPr>
                <a:t>ObjectScript</a:t>
              </a:r>
              <a:r>
                <a:rPr lang="zh-CN" altLang="en-US" sz="1600" dirty="0">
                  <a:solidFill>
                    <a:schemeClr val="accent1">
                      <a:lumMod val="50000"/>
                    </a:schemeClr>
                  </a:solidFill>
                  <a:latin typeface="Arial" panose="020B0604020202020204" pitchFamily="34" charset="0"/>
                </a:rPr>
                <a:t>支持所有数据存取方法：对象、</a:t>
              </a:r>
              <a:r>
                <a:rPr lang="en-US" altLang="zh-CN" sz="1600" dirty="0">
                  <a:solidFill>
                    <a:schemeClr val="accent1">
                      <a:lumMod val="50000"/>
                    </a:schemeClr>
                  </a:solidFill>
                  <a:latin typeface="Arial" panose="020B0604020202020204" pitchFamily="34" charset="0"/>
                </a:rPr>
                <a:t>SQL</a:t>
              </a:r>
              <a:r>
                <a:rPr lang="zh-CN" altLang="en-US" sz="1600" dirty="0">
                  <a:solidFill>
                    <a:schemeClr val="accent1">
                      <a:lumMod val="50000"/>
                    </a:schemeClr>
                  </a:solidFill>
                  <a:latin typeface="Arial" panose="020B0604020202020204" pitchFamily="34" charset="0"/>
                </a:rPr>
                <a:t>、多维和嵌入式 </a:t>
              </a:r>
              <a:r>
                <a:rPr lang="en-US" altLang="zh-CN" sz="1600" dirty="0">
                  <a:solidFill>
                    <a:schemeClr val="accent1">
                      <a:lumMod val="50000"/>
                    </a:schemeClr>
                  </a:solidFill>
                  <a:latin typeface="Arial" panose="020B0604020202020204" pitchFamily="34" charset="0"/>
                </a:rPr>
                <a:t>HTML </a:t>
              </a:r>
              <a:r>
                <a:rPr lang="zh-CN" altLang="en-US" sz="1600" dirty="0">
                  <a:solidFill>
                    <a:schemeClr val="accent1">
                      <a:lumMod val="50000"/>
                    </a:schemeClr>
                  </a:solidFill>
                  <a:latin typeface="Arial" panose="020B0604020202020204" pitchFamily="34" charset="0"/>
                </a:rPr>
                <a:t>。</a:t>
              </a:r>
              <a:r>
                <a:rPr lang="en-US" altLang="zh-CN" sz="1600" dirty="0" err="1">
                  <a:solidFill>
                    <a:schemeClr val="accent1">
                      <a:lumMod val="50000"/>
                    </a:schemeClr>
                  </a:solidFill>
                  <a:latin typeface="Arial" panose="020B0604020202020204" pitchFamily="34" charset="0"/>
                </a:rPr>
                <a:t>Caché</a:t>
              </a:r>
              <a:r>
                <a:rPr lang="en-US" altLang="zh-CN" sz="1600" dirty="0">
                  <a:solidFill>
                    <a:schemeClr val="accent1">
                      <a:lumMod val="50000"/>
                    </a:schemeClr>
                  </a:solidFill>
                  <a:latin typeface="Arial" panose="020B0604020202020204" pitchFamily="34" charset="0"/>
                </a:rPr>
                <a:t> Basic </a:t>
              </a:r>
              <a:r>
                <a:rPr lang="zh-CN" altLang="en-US" sz="1600" dirty="0">
                  <a:solidFill>
                    <a:schemeClr val="accent1">
                      <a:lumMod val="50000"/>
                    </a:schemeClr>
                  </a:solidFill>
                  <a:latin typeface="Arial" panose="020B0604020202020204" pitchFamily="34" charset="0"/>
                </a:rPr>
                <a:t>与 </a:t>
              </a:r>
              <a:r>
                <a:rPr lang="en-US" altLang="zh-CN" sz="1600" dirty="0">
                  <a:solidFill>
                    <a:schemeClr val="accent1">
                      <a:lumMod val="50000"/>
                    </a:schemeClr>
                  </a:solidFill>
                  <a:latin typeface="Arial" panose="020B0604020202020204" pitchFamily="34" charset="0"/>
                </a:rPr>
                <a:t>Visual Basic </a:t>
              </a:r>
              <a:r>
                <a:rPr lang="zh-CN" altLang="en-US" sz="1600" dirty="0">
                  <a:solidFill>
                    <a:schemeClr val="accent1">
                      <a:lumMod val="50000"/>
                    </a:schemeClr>
                  </a:solidFill>
                  <a:latin typeface="Arial" panose="020B0604020202020204" pitchFamily="34" charset="0"/>
                </a:rPr>
                <a:t>非常相似，只是做了很少的调整扩展，以便利用 </a:t>
              </a:r>
              <a:r>
                <a:rPr lang="en-US" altLang="zh-CN" sz="1600" dirty="0" err="1">
                  <a:solidFill>
                    <a:schemeClr val="accent1">
                      <a:lumMod val="50000"/>
                    </a:schemeClr>
                  </a:solidFill>
                  <a:latin typeface="Arial" panose="020B0604020202020204" pitchFamily="34" charset="0"/>
                </a:rPr>
                <a:t>Caché</a:t>
              </a:r>
              <a:r>
                <a:rPr lang="zh-CN" altLang="en-US" sz="1600" dirty="0">
                  <a:solidFill>
                    <a:schemeClr val="accent1">
                      <a:lumMod val="50000"/>
                    </a:schemeClr>
                  </a:solidFill>
                  <a:latin typeface="Arial" panose="020B0604020202020204" pitchFamily="34" charset="0"/>
                </a:rPr>
                <a:t>独特的性能。</a:t>
              </a:r>
              <a:endParaRPr lang="zh-CN" altLang="en-US" sz="1400" dirty="0">
                <a:solidFill>
                  <a:schemeClr val="accent1">
                    <a:lumMod val="50000"/>
                  </a:schemeClr>
                </a:solidFill>
                <a:latin typeface="Arial" panose="020B0604020202020204" pitchFamily="34" charset="0"/>
              </a:endParaRPr>
            </a:p>
          </p:txBody>
        </p:sp>
      </p:grpSp>
      <p:sp>
        <p:nvSpPr>
          <p:cNvPr id="24" name="椭圆 23"/>
          <p:cNvSpPr/>
          <p:nvPr/>
        </p:nvSpPr>
        <p:spPr>
          <a:xfrm>
            <a:off x="643670" y="4502197"/>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lumMod val="65000"/>
                    <a:lumOff val="35000"/>
                  </a:schemeClr>
                </a:solidFill>
              </a:rPr>
              <a:t>4</a:t>
            </a:r>
            <a:endParaRPr lang="zh-CN" altLang="en-US" sz="2400" dirty="0">
              <a:solidFill>
                <a:schemeClr val="tx1">
                  <a:lumMod val="65000"/>
                  <a:lumOff val="3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a:sym typeface="微软雅黑" panose="020B0503020204020204" pitchFamily="34" charset="-122"/>
              </a:rPr>
              <a:t>|</a:t>
            </a:r>
            <a:r>
              <a:rPr lang="zh-CN" altLang="en-US" dirty="0">
                <a:sym typeface="微软雅黑" panose="020B0503020204020204" pitchFamily="34" charset="-122"/>
              </a:rPr>
              <a:t>  第一节  </a:t>
            </a:r>
            <a:r>
              <a:rPr lang="en-US" altLang="zh-CN" dirty="0" err="1"/>
              <a:t>Caché</a:t>
            </a:r>
            <a:r>
              <a:rPr lang="en-US" altLang="zh-CN" dirty="0" err="1" smtClean="0"/>
              <a:t>简介</a:t>
            </a:r>
            <a:endParaRPr lang="zh-CN" altLang="en-US" dirty="0"/>
          </a:p>
        </p:txBody>
      </p:sp>
      <p:grpSp>
        <p:nvGrpSpPr>
          <p:cNvPr id="3" name="组合 2"/>
          <p:cNvGrpSpPr/>
          <p:nvPr/>
        </p:nvGrpSpPr>
        <p:grpSpPr>
          <a:xfrm>
            <a:off x="1548089" y="1254734"/>
            <a:ext cx="7753083" cy="1523295"/>
            <a:chOff x="380308" y="2999917"/>
            <a:chExt cx="1590375" cy="1523295"/>
          </a:xfrm>
        </p:grpSpPr>
        <p:sp>
          <p:nvSpPr>
            <p:cNvPr id="4" name="文本框 34"/>
            <p:cNvSpPr txBox="1">
              <a:spLocks noChangeArrowheads="1"/>
            </p:cNvSpPr>
            <p:nvPr/>
          </p:nvSpPr>
          <p:spPr bwMode="auto">
            <a:xfrm>
              <a:off x="380308" y="2999917"/>
              <a:ext cx="141245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en-US" altLang="zh-CN" b="1" dirty="0" err="1" smtClean="0">
                  <a:solidFill>
                    <a:schemeClr val="accent1">
                      <a:lumMod val="50000"/>
                    </a:schemeClr>
                  </a:solidFill>
                  <a:latin typeface="Arial" panose="020B0604020202020204" pitchFamily="34" charset="0"/>
                  <a:cs typeface="Arial" panose="020B0604020202020204" pitchFamily="34" charset="0"/>
                </a:rPr>
                <a:t>Caché</a:t>
              </a:r>
              <a:r>
                <a:rPr lang="en-US" altLang="zh-CN" b="1" dirty="0" smtClean="0">
                  <a:solidFill>
                    <a:schemeClr val="accent1">
                      <a:lumMod val="50000"/>
                    </a:schemeClr>
                  </a:solidFill>
                  <a:latin typeface="Arial" panose="020B0604020202020204" pitchFamily="34" charset="0"/>
                  <a:cs typeface="Arial" panose="020B0604020202020204" pitchFamily="34" charset="0"/>
                </a:rPr>
                <a:t> </a:t>
              </a:r>
              <a:r>
                <a:rPr lang="zh-CN" altLang="en-US" b="1" dirty="0">
                  <a:solidFill>
                    <a:schemeClr val="accent1">
                      <a:lumMod val="50000"/>
                    </a:schemeClr>
                  </a:solidFill>
                  <a:latin typeface="Arial" panose="020B0604020202020204" pitchFamily="34" charset="0"/>
                  <a:cs typeface="Arial" panose="020B0604020202020204" pitchFamily="34" charset="0"/>
                </a:rPr>
                <a:t>的</a:t>
              </a:r>
              <a:r>
                <a:rPr lang="en-US" altLang="zh-CN" b="1" dirty="0">
                  <a:solidFill>
                    <a:schemeClr val="accent1">
                      <a:lumMod val="50000"/>
                    </a:schemeClr>
                  </a:solidFill>
                  <a:latin typeface="Arial" panose="020B0604020202020204" pitchFamily="34" charset="0"/>
                  <a:cs typeface="Arial" panose="020B0604020202020204" pitchFamily="34" charset="0"/>
                </a:rPr>
                <a:t>CSP</a:t>
              </a:r>
              <a:r>
                <a:rPr lang="zh-CN" altLang="en-US" b="1" dirty="0">
                  <a:solidFill>
                    <a:schemeClr val="accent1">
                      <a:lumMod val="50000"/>
                    </a:schemeClr>
                  </a:solidFill>
                  <a:latin typeface="Arial" panose="020B0604020202020204" pitchFamily="34" charset="0"/>
                  <a:cs typeface="Arial" panose="020B0604020202020204" pitchFamily="34" charset="0"/>
                </a:rPr>
                <a:t>技术</a:t>
              </a:r>
              <a:endParaRPr lang="zh-CN" altLang="en-US" b="1" dirty="0">
                <a:solidFill>
                  <a:schemeClr val="accent1">
                    <a:lumMod val="50000"/>
                  </a:schemeClr>
                </a:solidFill>
                <a:latin typeface="Arial" panose="020B0604020202020204" pitchFamily="34" charset="0"/>
                <a:cs typeface="Arial" panose="020B0604020202020204" pitchFamily="34" charset="0"/>
              </a:endParaRPr>
            </a:p>
            <a:p>
              <a:pPr eaLnBrk="1" hangingPunct="1"/>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5" name="矩形 36"/>
            <p:cNvSpPr>
              <a:spLocks noChangeArrowheads="1"/>
            </p:cNvSpPr>
            <p:nvPr/>
          </p:nvSpPr>
          <p:spPr bwMode="auto">
            <a:xfrm>
              <a:off x="385160" y="3322883"/>
              <a:ext cx="158552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r>
                <a:rPr lang="en-US" altLang="zh-CN" sz="1600" dirty="0" err="1" smtClean="0">
                  <a:solidFill>
                    <a:schemeClr val="accent1">
                      <a:lumMod val="50000"/>
                    </a:schemeClr>
                  </a:solidFill>
                  <a:latin typeface="Arial" panose="020B0604020202020204" pitchFamily="34" charset="0"/>
                </a:rPr>
                <a:t>Caché</a:t>
              </a:r>
              <a:r>
                <a:rPr lang="zh-CN" altLang="en-US" sz="1600" dirty="0">
                  <a:solidFill>
                    <a:schemeClr val="accent1">
                      <a:lumMod val="50000"/>
                    </a:schemeClr>
                  </a:solidFill>
                  <a:latin typeface="Arial" panose="020B0604020202020204" pitchFamily="34" charset="0"/>
                </a:rPr>
                <a:t>为开发复杂的、基于网页应用程序提供了丰富的集成开发环境。</a:t>
              </a:r>
              <a:r>
                <a:rPr lang="en-US" altLang="zh-CN" sz="1600" dirty="0" err="1">
                  <a:solidFill>
                    <a:schemeClr val="accent1">
                      <a:lumMod val="50000"/>
                    </a:schemeClr>
                  </a:solidFill>
                  <a:latin typeface="Arial" panose="020B0604020202020204" pitchFamily="34" charset="0"/>
                </a:rPr>
                <a:t>Caché</a:t>
              </a:r>
              <a:r>
                <a:rPr lang="en-US" altLang="zh-CN" sz="1600" dirty="0">
                  <a:solidFill>
                    <a:schemeClr val="accent1">
                      <a:lumMod val="50000"/>
                    </a:schemeClr>
                  </a:solidFill>
                  <a:latin typeface="Arial" panose="020B0604020202020204" pitchFamily="34" charset="0"/>
                </a:rPr>
                <a:t> Service Page</a:t>
              </a:r>
              <a:r>
                <a:rPr lang="zh-CN" altLang="en-US" sz="1600" dirty="0">
                  <a:solidFill>
                    <a:schemeClr val="accent1">
                      <a:lumMod val="50000"/>
                    </a:schemeClr>
                  </a:solidFill>
                  <a:latin typeface="Arial" panose="020B0604020202020204" pitchFamily="34" charset="0"/>
                </a:rPr>
                <a:t>（</a:t>
              </a:r>
              <a:r>
                <a:rPr lang="en-US" altLang="zh-CN" sz="1600" dirty="0">
                  <a:solidFill>
                    <a:schemeClr val="accent1">
                      <a:lumMod val="50000"/>
                    </a:schemeClr>
                  </a:solidFill>
                  <a:latin typeface="Arial" panose="020B0604020202020204" pitchFamily="34" charset="0"/>
                </a:rPr>
                <a:t>CSP</a:t>
              </a:r>
              <a:r>
                <a:rPr lang="zh-CN" altLang="en-US" sz="1600" dirty="0">
                  <a:solidFill>
                    <a:schemeClr val="accent1">
                      <a:lumMod val="50000"/>
                    </a:schemeClr>
                  </a:solidFill>
                  <a:latin typeface="Arial" panose="020B0604020202020204" pitchFamily="34" charset="0"/>
                </a:rPr>
                <a:t>）技术可以进行快速开发，动态产生。上千个用户甚至在在比较差的硬件条件下也可以同时访问数据上的应用程序。</a:t>
              </a:r>
              <a:endParaRPr lang="zh-CN" altLang="en-US" sz="1400" dirty="0">
                <a:solidFill>
                  <a:schemeClr val="accent1">
                    <a:lumMod val="50000"/>
                  </a:schemeClr>
                </a:solidFill>
                <a:latin typeface="Arial" panose="020B0604020202020204" pitchFamily="34" charset="0"/>
              </a:endParaRPr>
            </a:p>
          </p:txBody>
        </p:sp>
      </p:grpSp>
      <p:sp>
        <p:nvSpPr>
          <p:cNvPr id="6" name="椭圆 5"/>
          <p:cNvSpPr/>
          <p:nvPr/>
        </p:nvSpPr>
        <p:spPr>
          <a:xfrm>
            <a:off x="989545" y="1140666"/>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lumMod val="65000"/>
                    <a:lumOff val="35000"/>
                  </a:schemeClr>
                </a:solidFill>
              </a:rPr>
              <a:t>5</a:t>
            </a:r>
            <a:endParaRPr lang="zh-CN" altLang="en-US" sz="2400" dirty="0">
              <a:solidFill>
                <a:schemeClr val="tx1">
                  <a:lumMod val="65000"/>
                  <a:lumOff val="35000"/>
                </a:schemeClr>
              </a:solidFill>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72997" y="3327725"/>
            <a:ext cx="4464496" cy="1978371"/>
          </a:xfrm>
          <a:prstGeom prst="rect">
            <a:avLst/>
          </a:prstGeom>
          <a:ln>
            <a:solidFill>
              <a:srgbClr val="1F4E79"/>
            </a:solidFill>
          </a:ln>
        </p:spPr>
      </p:pic>
      <p:sp>
        <p:nvSpPr>
          <p:cNvPr id="8" name="文本框 7"/>
          <p:cNvSpPr txBox="1"/>
          <p:nvPr/>
        </p:nvSpPr>
        <p:spPr>
          <a:xfrm>
            <a:off x="1208062" y="3354525"/>
            <a:ext cx="2981907" cy="400110"/>
          </a:xfrm>
          <a:prstGeom prst="rect">
            <a:avLst/>
          </a:prstGeom>
          <a:noFill/>
        </p:spPr>
        <p:txBody>
          <a:bodyPr wrap="none" rtlCol="0">
            <a:spAutoFit/>
          </a:bodyPr>
          <a:lstStyle/>
          <a:p>
            <a:pPr marL="342900" indent="-342900">
              <a:buFont typeface="Wingdings" panose="05000000000000000000" pitchFamily="2" charset="2"/>
              <a:buChar char="Ø"/>
            </a:pPr>
            <a:r>
              <a:rPr lang="zh-CN" altLang="en-US" sz="2000" dirty="0" smtClean="0">
                <a:solidFill>
                  <a:schemeClr val="tx1">
                    <a:lumMod val="65000"/>
                    <a:lumOff val="35000"/>
                  </a:schemeClr>
                </a:solidFill>
              </a:rPr>
              <a:t>示例</a:t>
            </a:r>
            <a:r>
              <a:rPr lang="en-US" altLang="zh-CN" sz="2000" dirty="0" smtClean="0">
                <a:solidFill>
                  <a:schemeClr val="tx1">
                    <a:lumMod val="65000"/>
                    <a:lumOff val="35000"/>
                  </a:schemeClr>
                </a:solidFill>
              </a:rPr>
              <a:t>1</a:t>
            </a:r>
            <a:r>
              <a:rPr lang="zh-CN" altLang="en-US" sz="2000" dirty="0" smtClean="0">
                <a:solidFill>
                  <a:schemeClr val="tx1">
                    <a:lumMod val="65000"/>
                    <a:lumOff val="35000"/>
                  </a:schemeClr>
                </a:solidFill>
              </a:rPr>
              <a:t>、</a:t>
            </a:r>
            <a:r>
              <a:rPr lang="zh-CN" altLang="en-US" sz="2000" dirty="0"/>
              <a:t>生成默认</a:t>
            </a:r>
            <a:r>
              <a:rPr lang="en-US" altLang="zh-CN" sz="2000" dirty="0"/>
              <a:t>CSP</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a:sym typeface="微软雅黑" panose="020B0503020204020204" pitchFamily="34" charset="-122"/>
              </a:rPr>
              <a:t>|</a:t>
            </a:r>
            <a:r>
              <a:rPr lang="zh-CN" altLang="en-US" dirty="0">
                <a:sym typeface="微软雅黑" panose="020B0503020204020204" pitchFamily="34" charset="-122"/>
              </a:rPr>
              <a:t>  第一节  </a:t>
            </a:r>
            <a:r>
              <a:rPr lang="en-US" altLang="zh-CN" dirty="0" err="1"/>
              <a:t>Caché</a:t>
            </a:r>
            <a:r>
              <a:rPr lang="en-US" altLang="zh-CN" dirty="0" err="1" smtClean="0"/>
              <a:t>简介</a:t>
            </a:r>
            <a:endParaRPr lang="zh-CN" altLang="en-US" dirty="0"/>
          </a:p>
        </p:txBody>
      </p:sp>
      <p:sp>
        <p:nvSpPr>
          <p:cNvPr id="9" name="文本框 8"/>
          <p:cNvSpPr txBox="1"/>
          <p:nvPr/>
        </p:nvSpPr>
        <p:spPr>
          <a:xfrm>
            <a:off x="984935" y="826588"/>
            <a:ext cx="4280339" cy="400110"/>
          </a:xfrm>
          <a:prstGeom prst="rect">
            <a:avLst/>
          </a:prstGeom>
          <a:noFill/>
        </p:spPr>
        <p:txBody>
          <a:bodyPr wrap="none" rtlCol="0">
            <a:spAutoFit/>
          </a:bodyPr>
          <a:lstStyle/>
          <a:p>
            <a:pPr marL="342900" indent="-342900">
              <a:buFont typeface="Wingdings" panose="05000000000000000000" pitchFamily="2" charset="2"/>
              <a:buChar char="Ø"/>
            </a:pPr>
            <a:r>
              <a:rPr lang="zh-CN" altLang="en-US" sz="2000" dirty="0" smtClean="0">
                <a:solidFill>
                  <a:schemeClr val="tx1">
                    <a:lumMod val="65000"/>
                    <a:lumOff val="35000"/>
                  </a:schemeClr>
                </a:solidFill>
              </a:rPr>
              <a:t>示例</a:t>
            </a:r>
            <a:r>
              <a:rPr lang="en-US" altLang="zh-CN" sz="2000" dirty="0" smtClean="0">
                <a:solidFill>
                  <a:schemeClr val="tx1">
                    <a:lumMod val="65000"/>
                    <a:lumOff val="35000"/>
                  </a:schemeClr>
                </a:solidFill>
              </a:rPr>
              <a:t>2</a:t>
            </a:r>
            <a:r>
              <a:rPr lang="zh-CN" altLang="en-US" sz="2000" dirty="0" smtClean="0">
                <a:solidFill>
                  <a:schemeClr val="tx1">
                    <a:lumMod val="65000"/>
                    <a:lumOff val="35000"/>
                  </a:schemeClr>
                </a:solidFill>
              </a:rPr>
              <a:t>、</a:t>
            </a:r>
            <a:r>
              <a:rPr lang="zh-CN" altLang="en-US" sz="2000" dirty="0"/>
              <a:t>通过</a:t>
            </a:r>
            <a:r>
              <a:rPr lang="en-US" altLang="zh-CN" sz="2000" dirty="0"/>
              <a:t>CSP</a:t>
            </a:r>
            <a:r>
              <a:rPr lang="zh-CN" altLang="en-US" sz="2000" dirty="0"/>
              <a:t>实现前后端交互</a:t>
            </a:r>
            <a:endParaRPr lang="zh-CN" altLang="en-US" sz="2000" dirty="0"/>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63508" y="1321447"/>
            <a:ext cx="9746684" cy="5089743"/>
          </a:xfrm>
          <a:prstGeom prst="rect">
            <a:avLst/>
          </a:prstGeom>
          <a:ln>
            <a:solidFill>
              <a:schemeClr val="accent1"/>
            </a:solidFill>
          </a:ln>
        </p:spPr>
      </p:pic>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a:sym typeface="微软雅黑" panose="020B0503020204020204" pitchFamily="34" charset="-122"/>
              </a:rPr>
              <a:t>|</a:t>
            </a:r>
            <a:r>
              <a:rPr lang="zh-CN" altLang="en-US" dirty="0">
                <a:sym typeface="微软雅黑" panose="020B0503020204020204" pitchFamily="34" charset="-122"/>
              </a:rPr>
              <a:t>  第一节  </a:t>
            </a:r>
            <a:r>
              <a:rPr lang="en-US" altLang="zh-CN" dirty="0" err="1"/>
              <a:t>Caché</a:t>
            </a:r>
            <a:r>
              <a:rPr lang="en-US" altLang="zh-CN" dirty="0" err="1" smtClean="0"/>
              <a:t>简介</a:t>
            </a:r>
            <a:endParaRPr lang="zh-CN" altLang="en-US" dirty="0"/>
          </a:p>
        </p:txBody>
      </p:sp>
      <p:grpSp>
        <p:nvGrpSpPr>
          <p:cNvPr id="3" name="组合 2"/>
          <p:cNvGrpSpPr/>
          <p:nvPr/>
        </p:nvGrpSpPr>
        <p:grpSpPr>
          <a:xfrm>
            <a:off x="1060583" y="3858503"/>
            <a:ext cx="10479506" cy="1152911"/>
            <a:chOff x="380308" y="2999917"/>
            <a:chExt cx="2149641" cy="1152911"/>
          </a:xfrm>
        </p:grpSpPr>
        <p:sp>
          <p:nvSpPr>
            <p:cNvPr id="4" name="文本框 34"/>
            <p:cNvSpPr txBox="1">
              <a:spLocks noChangeArrowheads="1"/>
            </p:cNvSpPr>
            <p:nvPr/>
          </p:nvSpPr>
          <p:spPr bwMode="auto">
            <a:xfrm>
              <a:off x="380308" y="2999917"/>
              <a:ext cx="1412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en-US" altLang="zh-CN" b="1" dirty="0" err="1">
                  <a:solidFill>
                    <a:schemeClr val="accent1">
                      <a:lumMod val="50000"/>
                    </a:schemeClr>
                  </a:solidFill>
                  <a:latin typeface="Arial" panose="020B0604020202020204" pitchFamily="34" charset="0"/>
                  <a:cs typeface="Arial" panose="020B0604020202020204" pitchFamily="34" charset="0"/>
                </a:rPr>
                <a:t>Caché</a:t>
              </a:r>
              <a:r>
                <a:rPr lang="en-US" altLang="zh-CN" b="1" dirty="0">
                  <a:solidFill>
                    <a:schemeClr val="accent1">
                      <a:lumMod val="50000"/>
                    </a:schemeClr>
                  </a:solidFill>
                  <a:latin typeface="Arial" panose="020B0604020202020204" pitchFamily="34" charset="0"/>
                  <a:cs typeface="Arial" panose="020B0604020202020204" pitchFamily="34" charset="0"/>
                </a:rPr>
                <a:t> </a:t>
              </a:r>
              <a:r>
                <a:rPr lang="zh-CN" altLang="en-US" b="1" dirty="0">
                  <a:solidFill>
                    <a:schemeClr val="accent1">
                      <a:lumMod val="50000"/>
                    </a:schemeClr>
                  </a:solidFill>
                  <a:latin typeface="Arial" panose="020B0604020202020204" pitchFamily="34" charset="0"/>
                  <a:cs typeface="Arial" panose="020B0604020202020204" pitchFamily="34" charset="0"/>
                </a:rPr>
                <a:t>的不同版本介绍</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5" name="矩形 36"/>
            <p:cNvSpPr>
              <a:spLocks noChangeArrowheads="1"/>
            </p:cNvSpPr>
            <p:nvPr/>
          </p:nvSpPr>
          <p:spPr bwMode="auto">
            <a:xfrm>
              <a:off x="385160" y="3322883"/>
              <a:ext cx="2144789"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r>
                <a:rPr lang="en-US" altLang="zh-CN" sz="1600" dirty="0">
                  <a:solidFill>
                    <a:schemeClr val="accent1">
                      <a:lumMod val="50000"/>
                    </a:schemeClr>
                  </a:solidFill>
                  <a:latin typeface="Arial" panose="020B0604020202020204" pitchFamily="34" charset="0"/>
                </a:rPr>
                <a:t>508 (</a:t>
              </a:r>
              <a:r>
                <a:rPr lang="zh-CN" altLang="en-US" sz="1600" dirty="0">
                  <a:solidFill>
                    <a:schemeClr val="accent1">
                      <a:lumMod val="50000"/>
                    </a:schemeClr>
                  </a:solidFill>
                  <a:latin typeface="Arial" panose="020B0604020202020204" pitchFamily="34" charset="0"/>
                </a:rPr>
                <a:t>项目少</a:t>
              </a:r>
              <a:r>
                <a:rPr lang="en-US" altLang="zh-CN" sz="1600" dirty="0">
                  <a:solidFill>
                    <a:schemeClr val="accent1">
                      <a:lumMod val="50000"/>
                    </a:schemeClr>
                  </a:solidFill>
                  <a:latin typeface="Arial" panose="020B0604020202020204" pitchFamily="34" charset="0"/>
                </a:rPr>
                <a:t>)</a:t>
              </a:r>
              <a:r>
                <a:rPr lang="zh-CN" altLang="en-US" sz="1600" dirty="0">
                  <a:solidFill>
                    <a:schemeClr val="accent1">
                      <a:lumMod val="50000"/>
                    </a:schemeClr>
                  </a:solidFill>
                  <a:latin typeface="Arial" panose="020B0604020202020204" pitchFamily="34" charset="0"/>
                </a:rPr>
                <a:t>，</a:t>
              </a:r>
              <a:r>
                <a:rPr lang="en-US" altLang="zh-CN" sz="1600" dirty="0">
                  <a:solidFill>
                    <a:schemeClr val="accent1">
                      <a:lumMod val="50000"/>
                    </a:schemeClr>
                  </a:solidFill>
                  <a:latin typeface="Arial" panose="020B0604020202020204" pitchFamily="34" charset="0"/>
                </a:rPr>
                <a:t>5015 </a:t>
              </a:r>
              <a:r>
                <a:rPr lang="zh-CN" altLang="en-US" sz="1600" dirty="0">
                  <a:solidFill>
                    <a:schemeClr val="accent1">
                      <a:lumMod val="50000"/>
                    </a:schemeClr>
                  </a:solidFill>
                  <a:latin typeface="Arial" panose="020B0604020202020204" pitchFamily="34" charset="0"/>
                </a:rPr>
                <a:t>， </a:t>
              </a:r>
              <a:r>
                <a:rPr lang="en-US" altLang="zh-CN" sz="1600" dirty="0">
                  <a:solidFill>
                    <a:schemeClr val="accent1">
                      <a:lumMod val="50000"/>
                    </a:schemeClr>
                  </a:solidFill>
                  <a:latin typeface="Arial" panose="020B0604020202020204" pitchFamily="34" charset="0"/>
                </a:rPr>
                <a:t>524 </a:t>
              </a:r>
              <a:r>
                <a:rPr lang="zh-CN" altLang="en-US" sz="1600" dirty="0">
                  <a:solidFill>
                    <a:schemeClr val="accent1">
                      <a:lumMod val="50000"/>
                    </a:schemeClr>
                  </a:solidFill>
                  <a:latin typeface="Arial" panose="020B0604020202020204" pitchFamily="34" charset="0"/>
                </a:rPr>
                <a:t>，</a:t>
              </a:r>
              <a:r>
                <a:rPr lang="en-US" altLang="zh-CN" sz="1600" dirty="0">
                  <a:solidFill>
                    <a:schemeClr val="accent1">
                      <a:lumMod val="50000"/>
                    </a:schemeClr>
                  </a:solidFill>
                  <a:latin typeface="Arial" panose="020B0604020202020204" pitchFamily="34" charset="0"/>
                </a:rPr>
                <a:t>2010.2.8, cache2016, IRIS</a:t>
              </a:r>
              <a:endParaRPr lang="en-US" altLang="zh-CN" sz="1600" dirty="0">
                <a:solidFill>
                  <a:schemeClr val="accent1">
                    <a:lumMod val="50000"/>
                  </a:schemeClr>
                </a:solidFill>
                <a:latin typeface="Arial" panose="020B0604020202020204" pitchFamily="34" charset="0"/>
              </a:endParaRPr>
            </a:p>
            <a:p>
              <a:pPr>
                <a:lnSpc>
                  <a:spcPct val="150000"/>
                </a:lnSpc>
              </a:pPr>
              <a:r>
                <a:rPr lang="en-US" altLang="zh-CN" sz="1600">
                  <a:sym typeface="+mn-ea"/>
                </a:rPr>
                <a:t> </a:t>
              </a:r>
              <a:r>
                <a:rPr lang="en-US" altLang="zh-CN" sz="1600" dirty="0">
                  <a:solidFill>
                    <a:schemeClr val="accent1">
                      <a:lumMod val="50000"/>
                    </a:schemeClr>
                  </a:solidFill>
                  <a:latin typeface="Arial" panose="020B0604020202020204" pitchFamily="34" charset="0"/>
                </a:rPr>
                <a:t> </a:t>
              </a:r>
              <a:endParaRPr lang="en-US" altLang="zh-CN" sz="1600" dirty="0">
                <a:solidFill>
                  <a:schemeClr val="accent1">
                    <a:lumMod val="50000"/>
                  </a:schemeClr>
                </a:solidFill>
                <a:latin typeface="Arial" panose="020B0604020202020204" pitchFamily="34" charset="0"/>
              </a:endParaRPr>
            </a:p>
          </p:txBody>
        </p:sp>
      </p:grpSp>
      <p:sp>
        <p:nvSpPr>
          <p:cNvPr id="6" name="椭圆 5"/>
          <p:cNvSpPr/>
          <p:nvPr/>
        </p:nvSpPr>
        <p:spPr>
          <a:xfrm>
            <a:off x="559435" y="3858260"/>
            <a:ext cx="448945" cy="436880"/>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7</a:t>
            </a:r>
            <a:endParaRPr lang="zh-CN" altLang="en-US" sz="2400" dirty="0">
              <a:solidFill>
                <a:schemeClr val="tx1">
                  <a:lumMod val="65000"/>
                  <a:lumOff val="35000"/>
                </a:schemeClr>
              </a:solidFill>
            </a:endParaRPr>
          </a:p>
        </p:txBody>
      </p:sp>
      <p:grpSp>
        <p:nvGrpSpPr>
          <p:cNvPr id="7" name="组合 6"/>
          <p:cNvGrpSpPr/>
          <p:nvPr/>
        </p:nvGrpSpPr>
        <p:grpSpPr>
          <a:xfrm>
            <a:off x="1187946" y="1647528"/>
            <a:ext cx="10479506" cy="2261958"/>
            <a:chOff x="380308" y="2999917"/>
            <a:chExt cx="2149641" cy="2261958"/>
          </a:xfrm>
        </p:grpSpPr>
        <p:sp>
          <p:nvSpPr>
            <p:cNvPr id="8" name="文本框 34"/>
            <p:cNvSpPr txBox="1">
              <a:spLocks noChangeArrowheads="1"/>
            </p:cNvSpPr>
            <p:nvPr/>
          </p:nvSpPr>
          <p:spPr bwMode="auto">
            <a:xfrm>
              <a:off x="380308" y="2999917"/>
              <a:ext cx="1412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en-US" altLang="zh-CN" b="1" dirty="0" err="1">
                  <a:solidFill>
                    <a:schemeClr val="accent1">
                      <a:lumMod val="50000"/>
                    </a:schemeClr>
                  </a:solidFill>
                  <a:latin typeface="Arial" panose="020B0604020202020204" pitchFamily="34" charset="0"/>
                  <a:cs typeface="Arial" panose="020B0604020202020204" pitchFamily="34" charset="0"/>
                </a:rPr>
                <a:t>Caché</a:t>
              </a:r>
              <a:r>
                <a:rPr lang="en-US" altLang="zh-CN" b="1" dirty="0">
                  <a:solidFill>
                    <a:schemeClr val="accent1">
                      <a:lumMod val="50000"/>
                    </a:schemeClr>
                  </a:solidFill>
                  <a:latin typeface="Arial" panose="020B0604020202020204" pitchFamily="34" charset="0"/>
                  <a:cs typeface="Arial" panose="020B0604020202020204" pitchFamily="34" charset="0"/>
                </a:rPr>
                <a:t> </a:t>
              </a:r>
              <a:r>
                <a:rPr lang="zh-CN" altLang="en-US" b="1" dirty="0">
                  <a:solidFill>
                    <a:schemeClr val="accent1">
                      <a:lumMod val="50000"/>
                    </a:schemeClr>
                  </a:solidFill>
                  <a:latin typeface="Arial" panose="020B0604020202020204" pitchFamily="34" charset="0"/>
                  <a:cs typeface="Arial" panose="020B0604020202020204" pitchFamily="34" charset="0"/>
                </a:rPr>
                <a:t>的优势</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9" name="矩形 36"/>
            <p:cNvSpPr>
              <a:spLocks noChangeArrowheads="1"/>
            </p:cNvSpPr>
            <p:nvPr/>
          </p:nvSpPr>
          <p:spPr bwMode="auto">
            <a:xfrm>
              <a:off x="385160" y="3322883"/>
              <a:ext cx="2144789"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r>
                <a:rPr lang="en-US" altLang="zh-CN" sz="1600" dirty="0" smtClean="0">
                  <a:solidFill>
                    <a:schemeClr val="accent1">
                      <a:lumMod val="50000"/>
                    </a:schemeClr>
                  </a:solidFill>
                  <a:latin typeface="Arial" panose="020B0604020202020204" pitchFamily="34" charset="0"/>
                </a:rPr>
                <a:t>   </a:t>
              </a:r>
              <a:r>
                <a:rPr lang="en-US" altLang="zh-CN" sz="1600" dirty="0" err="1" smtClean="0">
                  <a:solidFill>
                    <a:schemeClr val="accent1">
                      <a:lumMod val="50000"/>
                    </a:schemeClr>
                  </a:solidFill>
                  <a:latin typeface="Arial" panose="020B0604020202020204" pitchFamily="34" charset="0"/>
                </a:rPr>
                <a:t>Caché</a:t>
              </a:r>
              <a:r>
                <a:rPr lang="zh-CN" altLang="en-US" sz="1600" dirty="0">
                  <a:solidFill>
                    <a:schemeClr val="accent1">
                      <a:lumMod val="50000"/>
                    </a:schemeClr>
                  </a:solidFill>
                  <a:latin typeface="Arial" panose="020B0604020202020204" pitchFamily="34" charset="0"/>
                </a:rPr>
                <a:t>完全面向对象，可进行直观的数据建模</a:t>
              </a:r>
              <a:endParaRPr lang="zh-CN" altLang="en-US" sz="1600" dirty="0">
                <a:solidFill>
                  <a:schemeClr val="accent1">
                    <a:lumMod val="50000"/>
                  </a:schemeClr>
                </a:solidFill>
                <a:latin typeface="Arial" panose="020B0604020202020204" pitchFamily="34" charset="0"/>
              </a:endParaRPr>
            </a:p>
            <a:p>
              <a:pPr>
                <a:lnSpc>
                  <a:spcPct val="150000"/>
                </a:lnSpc>
              </a:pPr>
              <a:r>
                <a:rPr lang="zh-CN" altLang="en-US" sz="1600" dirty="0">
                  <a:solidFill>
                    <a:schemeClr val="accent1">
                      <a:lumMod val="50000"/>
                    </a:schemeClr>
                  </a:solidFill>
                  <a:latin typeface="Arial" panose="020B0604020202020204" pitchFamily="34" charset="0"/>
                </a:rPr>
                <a:t>   灵活性：</a:t>
              </a:r>
              <a:r>
                <a:rPr lang="en-US" altLang="zh-CN" sz="1600" dirty="0" err="1">
                  <a:solidFill>
                    <a:schemeClr val="accent1">
                      <a:lumMod val="50000"/>
                    </a:schemeClr>
                  </a:solidFill>
                  <a:latin typeface="Arial" panose="020B0604020202020204" pitchFamily="34" charset="0"/>
                </a:rPr>
                <a:t>Caché</a:t>
              </a:r>
              <a:r>
                <a:rPr lang="zh-CN" altLang="en-US" sz="1600" dirty="0">
                  <a:solidFill>
                    <a:schemeClr val="accent1">
                      <a:lumMod val="50000"/>
                    </a:schemeClr>
                  </a:solidFill>
                  <a:latin typeface="Arial" panose="020B0604020202020204" pitchFamily="34" charset="0"/>
                </a:rPr>
                <a:t>的三种访问模式</a:t>
              </a:r>
              <a:r>
                <a:rPr lang="en-US" altLang="zh-CN" sz="1600" dirty="0">
                  <a:solidFill>
                    <a:schemeClr val="accent1">
                      <a:lumMod val="50000"/>
                    </a:schemeClr>
                  </a:solidFill>
                  <a:latin typeface="Arial" panose="020B0604020202020204" pitchFamily="34" charset="0"/>
                </a:rPr>
                <a:t>—</a:t>
              </a:r>
              <a:r>
                <a:rPr lang="zh-CN" altLang="en-US" sz="1600" dirty="0">
                  <a:solidFill>
                    <a:schemeClr val="accent1">
                      <a:lumMod val="50000"/>
                    </a:schemeClr>
                  </a:solidFill>
                  <a:latin typeface="Arial" panose="020B0604020202020204" pitchFamily="34" charset="0"/>
                </a:rPr>
                <a:t>对象，</a:t>
              </a:r>
              <a:r>
                <a:rPr lang="en-US" altLang="zh-CN" sz="1600" dirty="0">
                  <a:solidFill>
                    <a:schemeClr val="accent1">
                      <a:lumMod val="50000"/>
                    </a:schemeClr>
                  </a:solidFill>
                  <a:latin typeface="Arial" panose="020B0604020202020204" pitchFamily="34" charset="0"/>
                </a:rPr>
                <a:t>SQL</a:t>
              </a:r>
              <a:r>
                <a:rPr lang="zh-CN" altLang="en-US" sz="1600" dirty="0">
                  <a:solidFill>
                    <a:schemeClr val="accent1">
                      <a:lumMod val="50000"/>
                    </a:schemeClr>
                  </a:solidFill>
                  <a:latin typeface="Arial" panose="020B0604020202020204" pitchFamily="34" charset="0"/>
                </a:rPr>
                <a:t>，直接访问多维数据结构</a:t>
              </a:r>
              <a:endParaRPr lang="zh-CN" altLang="en-US" sz="1600" dirty="0">
                <a:solidFill>
                  <a:schemeClr val="accent1">
                    <a:lumMod val="50000"/>
                  </a:schemeClr>
                </a:solidFill>
                <a:latin typeface="Arial" panose="020B0604020202020204" pitchFamily="34" charset="0"/>
              </a:endParaRPr>
            </a:p>
            <a:p>
              <a:pPr>
                <a:lnSpc>
                  <a:spcPct val="150000"/>
                </a:lnSpc>
              </a:pPr>
              <a:r>
                <a:rPr lang="zh-CN" altLang="en-US" sz="1600" dirty="0">
                  <a:solidFill>
                    <a:schemeClr val="accent1">
                      <a:lumMod val="50000"/>
                    </a:schemeClr>
                  </a:solidFill>
                  <a:latin typeface="Arial" panose="020B0604020202020204" pitchFamily="34" charset="0"/>
                </a:rPr>
                <a:t>   快速应用开发</a:t>
              </a:r>
              <a:endParaRPr lang="zh-CN" altLang="en-US" sz="1600" dirty="0">
                <a:solidFill>
                  <a:schemeClr val="accent1">
                    <a:lumMod val="50000"/>
                  </a:schemeClr>
                </a:solidFill>
                <a:latin typeface="Arial" panose="020B0604020202020204" pitchFamily="34" charset="0"/>
              </a:endParaRPr>
            </a:p>
            <a:p>
              <a:pPr>
                <a:lnSpc>
                  <a:spcPct val="150000"/>
                </a:lnSpc>
              </a:pPr>
              <a:r>
                <a:rPr lang="zh-CN" altLang="en-US" sz="1600" dirty="0">
                  <a:solidFill>
                    <a:schemeClr val="accent1">
                      <a:lumMod val="50000"/>
                    </a:schemeClr>
                  </a:solidFill>
                  <a:latin typeface="Arial" panose="020B0604020202020204" pitchFamily="34" charset="0"/>
                </a:rPr>
                <a:t>   使用高效多维数据模型</a:t>
              </a:r>
              <a:endParaRPr lang="zh-CN" altLang="en-US" sz="1600" dirty="0">
                <a:solidFill>
                  <a:schemeClr val="accent1">
                    <a:lumMod val="50000"/>
                  </a:schemeClr>
                </a:solidFill>
                <a:latin typeface="Arial" panose="020B0604020202020204" pitchFamily="34" charset="0"/>
              </a:endParaRPr>
            </a:p>
            <a:p>
              <a:pPr>
                <a:lnSpc>
                  <a:spcPct val="150000"/>
                </a:lnSpc>
              </a:pPr>
              <a:r>
                <a:rPr lang="zh-CN" altLang="en-US" sz="1600" dirty="0">
                  <a:solidFill>
                    <a:schemeClr val="accent1">
                      <a:lumMod val="50000"/>
                    </a:schemeClr>
                  </a:solidFill>
                  <a:latin typeface="Arial" panose="020B0604020202020204" pitchFamily="34" charset="0"/>
                </a:rPr>
                <a:t>   </a:t>
              </a:r>
              <a:r>
                <a:rPr lang="en-US" altLang="zh-CN" sz="1600" dirty="0">
                  <a:solidFill>
                    <a:schemeClr val="accent1">
                      <a:lumMod val="50000"/>
                    </a:schemeClr>
                  </a:solidFill>
                  <a:latin typeface="Arial" panose="020B0604020202020204" pitchFamily="34" charset="0"/>
                </a:rPr>
                <a:t>……</a:t>
              </a:r>
              <a:endParaRPr lang="zh-CN" altLang="en-US" sz="1400" dirty="0">
                <a:solidFill>
                  <a:schemeClr val="accent1">
                    <a:lumMod val="50000"/>
                  </a:schemeClr>
                </a:solidFill>
                <a:latin typeface="Arial" panose="020B0604020202020204" pitchFamily="34" charset="0"/>
              </a:endParaRPr>
            </a:p>
          </p:txBody>
        </p:sp>
      </p:grpSp>
      <p:sp>
        <p:nvSpPr>
          <p:cNvPr id="10" name="椭圆 9"/>
          <p:cNvSpPr/>
          <p:nvPr/>
        </p:nvSpPr>
        <p:spPr>
          <a:xfrm>
            <a:off x="647208" y="1613677"/>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6</a:t>
            </a:r>
            <a:endParaRPr lang="zh-CN" altLang="en-US" sz="2400" dirty="0">
              <a:solidFill>
                <a:schemeClr val="tx1">
                  <a:lumMod val="65000"/>
                  <a:lumOff val="3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551815" y="1029335"/>
            <a:ext cx="11311255" cy="5219700"/>
          </a:xfrm>
        </p:spPr>
        <p:txBody>
          <a:bodyPr>
            <a:normAutofit lnSpcReduction="20000"/>
          </a:bodyPr>
          <a:p>
            <a:pPr algn="l"/>
            <a:r>
              <a:rPr lang="en-US" altLang="zh-CN" sz="1600">
                <a:sym typeface="+mn-ea"/>
              </a:rPr>
              <a:t>Cache和IRIS 主要的区别：</a:t>
            </a:r>
            <a:endParaRPr lang="en-US" altLang="zh-CN" sz="1600" dirty="0" err="1">
              <a:solidFill>
                <a:schemeClr val="accent1">
                  <a:lumMod val="50000"/>
                </a:schemeClr>
              </a:solidFill>
              <a:latin typeface="Arial" panose="020B0604020202020204" pitchFamily="34" charset="0"/>
            </a:endParaRPr>
          </a:p>
        </p:txBody>
      </p:sp>
      <p:sp>
        <p:nvSpPr>
          <p:cNvPr id="4" name="文本占位符 3"/>
          <p:cNvSpPr>
            <a:spLocks noGrp="1"/>
          </p:cNvSpPr>
          <p:nvPr>
            <p:ph type="body" sz="quarter" idx="13"/>
          </p:nvPr>
        </p:nvSpPr>
        <p:spPr>
          <a:xfrm>
            <a:off x="267970" y="205105"/>
            <a:ext cx="9332595" cy="404495"/>
          </a:xfrm>
        </p:spPr>
        <p:txBody>
          <a:bodyPr/>
          <a:p>
            <a:endParaRPr lang="zh-CN" altLang="en-US"/>
          </a:p>
        </p:txBody>
      </p:sp>
      <p:sp>
        <p:nvSpPr>
          <p:cNvPr id="6" name="文本框 5"/>
          <p:cNvSpPr txBox="1"/>
          <p:nvPr/>
        </p:nvSpPr>
        <p:spPr>
          <a:xfrm>
            <a:off x="551815" y="1448435"/>
            <a:ext cx="10331450" cy="479996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dirty="0" err="1">
                <a:solidFill>
                  <a:schemeClr val="accent1">
                    <a:lumMod val="50000"/>
                  </a:schemeClr>
                </a:solidFill>
                <a:latin typeface="Arial" panose="020B0604020202020204" pitchFamily="34" charset="0"/>
                <a:sym typeface="+mn-ea"/>
              </a:rPr>
              <a:t>1. Iris 提供了比 Caché 更多的性能改进和新功能。</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  Iris 支持大数据分析,Iris 有一个数据库内核，能够提供更好的事务性能。</a:t>
            </a:r>
            <a:endParaRPr lang="en-US" altLang="zh-CN" dirty="0" err="1">
              <a:solidFill>
                <a:schemeClr val="accent1">
                  <a:lumMod val="50000"/>
                </a:schemeClr>
              </a:solidFill>
              <a:latin typeface="Arial" panose="020B0604020202020204" pitchFamily="34" charset="0"/>
              <a:sym typeface="+mn-ea"/>
            </a:endParaRPr>
          </a:p>
          <a:p>
            <a:pPr algn="l"/>
            <a:endParaRPr lang="en-US" altLang="zh-CN" dirty="0" err="1">
              <a:solidFill>
                <a:schemeClr val="accent1">
                  <a:lumMod val="50000"/>
                </a:schemeClr>
              </a:solidFill>
              <a:latin typeface="Arial" panose="020B0604020202020204" pitchFamily="34" charset="0"/>
            </a:endParaRPr>
          </a:p>
          <a:p>
            <a:pPr marL="0" lvl="0" indent="0">
              <a:buNone/>
            </a:pPr>
            <a:r>
              <a:rPr lang="en-US" altLang="zh-CN" dirty="0" err="1">
                <a:solidFill>
                  <a:schemeClr val="accent1">
                    <a:lumMod val="50000"/>
                  </a:schemeClr>
                </a:solidFill>
                <a:latin typeface="Arial" panose="020B0604020202020204" pitchFamily="34" charset="0"/>
                <a:sym typeface="+mn-ea"/>
              </a:rPr>
              <a:t>2. Iris 提供了更强大的云集成。它可以更轻松地进行容器化部署。而 Caché 主要针对传统的服务器环境。</a:t>
            </a:r>
            <a:endParaRPr lang="en-US" altLang="zh-CN" dirty="0" err="1">
              <a:solidFill>
                <a:schemeClr val="accent1">
                  <a:lumMod val="50000"/>
                </a:schemeClr>
              </a:solidFill>
              <a:latin typeface="Arial" panose="020B0604020202020204" pitchFamily="34" charset="0"/>
              <a:sym typeface="+mn-ea"/>
            </a:endParaRPr>
          </a:p>
          <a:p>
            <a:pPr marL="0" lvl="0" indent="0">
              <a:buNone/>
            </a:pPr>
            <a:endParaRPr lang="en-US" altLang="zh-CN" dirty="0" err="1">
              <a:solidFill>
                <a:schemeClr val="accent1">
                  <a:lumMod val="50000"/>
                </a:schemeClr>
              </a:solidFill>
              <a:latin typeface="Arial" panose="020B0604020202020204" pitchFamily="34" charset="0"/>
            </a:endParaRPr>
          </a:p>
          <a:p>
            <a:pPr algn="l"/>
            <a:r>
              <a:rPr lang="en-US" altLang="zh-CN" dirty="0" err="1">
                <a:solidFill>
                  <a:schemeClr val="accent1">
                    <a:lumMod val="50000"/>
                  </a:schemeClr>
                </a:solidFill>
                <a:latin typeface="Arial" panose="020B0604020202020204" pitchFamily="34" charset="0"/>
                <a:sym typeface="+mn-ea"/>
              </a:rPr>
              <a:t>3. Iris 的定位更广泛，是一个完整的数据平台。除了高性能数据库，还包括应用开发工具、互操作性、实时分析等功能。而 Caché 更侧重于作为一个嵌入式数据库系统。</a:t>
            </a:r>
            <a:endParaRPr lang="en-US" altLang="zh-CN" dirty="0" err="1">
              <a:solidFill>
                <a:schemeClr val="accent1">
                  <a:lumMod val="50000"/>
                </a:schemeClr>
              </a:solidFill>
              <a:latin typeface="Arial" panose="020B0604020202020204" pitchFamily="34" charset="0"/>
              <a:sym typeface="+mn-ea"/>
            </a:endParaRPr>
          </a:p>
          <a:p>
            <a:pPr algn="l"/>
            <a:endParaRPr lang="en-US" altLang="zh-CN" dirty="0" err="1">
              <a:solidFill>
                <a:schemeClr val="accent1">
                  <a:lumMod val="50000"/>
                </a:schemeClr>
              </a:solidFill>
              <a:latin typeface="Arial" panose="020B0604020202020204" pitchFamily="34" charset="0"/>
            </a:endParaRPr>
          </a:p>
          <a:p>
            <a:pPr marL="0" lvl="0" indent="0">
              <a:buNone/>
            </a:pPr>
            <a:r>
              <a:rPr lang="en-US" altLang="zh-CN" dirty="0" err="1">
                <a:solidFill>
                  <a:schemeClr val="accent1">
                    <a:lumMod val="50000"/>
                  </a:schemeClr>
                </a:solidFill>
                <a:latin typeface="Arial" panose="020B0604020202020204" pitchFamily="34" charset="0"/>
                <a:sym typeface="+mn-ea"/>
              </a:rPr>
              <a:t>4. Caché 主要用于医疗保健、金融服务等批处理密集型应用,而 Iris 对更广泛的实时、互动系统进行了优化。</a:t>
            </a:r>
            <a:endParaRPr lang="en-US" altLang="zh-CN" dirty="0" err="1">
              <a:solidFill>
                <a:schemeClr val="accent1">
                  <a:lumMod val="50000"/>
                </a:schemeClr>
              </a:solidFill>
              <a:latin typeface="Arial" panose="020B0604020202020204" pitchFamily="34" charset="0"/>
              <a:sym typeface="+mn-ea"/>
            </a:endParaRPr>
          </a:p>
          <a:p>
            <a:pPr marL="0" lvl="0" indent="0">
              <a:buNone/>
            </a:pPr>
            <a:endParaRPr lang="en-US" altLang="zh-CN" dirty="0" err="1">
              <a:solidFill>
                <a:schemeClr val="accent1">
                  <a:lumMod val="50000"/>
                </a:schemeClr>
              </a:solidFill>
              <a:latin typeface="Arial" panose="020B0604020202020204" pitchFamily="34" charset="0"/>
            </a:endParaRPr>
          </a:p>
          <a:p>
            <a:pPr algn="l"/>
            <a:r>
              <a:rPr lang="en-US" altLang="zh-CN" dirty="0" err="1">
                <a:solidFill>
                  <a:schemeClr val="accent1">
                    <a:lumMod val="50000"/>
                  </a:schemeClr>
                </a:solidFill>
                <a:latin typeface="Arial" panose="020B0604020202020204" pitchFamily="34" charset="0"/>
                <a:sym typeface="+mn-ea"/>
              </a:rPr>
              <a:t>5. Caché 在产品生命周期上也已经走到了后期，InterSystems也已经公开声称未来的核心研发将放在 InterSystems IRIS上，而Cache的更新将更多的是维护性质的。</a:t>
            </a:r>
            <a:endParaRPr lang="en-US" altLang="zh-CN" dirty="0" err="1">
              <a:solidFill>
                <a:schemeClr val="accent1">
                  <a:lumMod val="50000"/>
                </a:schemeClr>
              </a:solidFill>
              <a:latin typeface="Arial" panose="020B0604020202020204" pitchFamily="34" charset="0"/>
              <a:sym typeface="+mn-ea"/>
            </a:endParaRPr>
          </a:p>
          <a:p>
            <a:pPr algn="l"/>
            <a:endParaRPr lang="en-US" altLang="zh-CN" dirty="0" err="1">
              <a:solidFill>
                <a:schemeClr val="accent1">
                  <a:lumMod val="50000"/>
                </a:schemeClr>
              </a:solidFill>
              <a:latin typeface="Arial" panose="020B0604020202020204" pitchFamily="34" charset="0"/>
            </a:endParaRPr>
          </a:p>
          <a:p>
            <a:pPr algn="l"/>
            <a:r>
              <a:rPr lang="en-US" altLang="zh-CN" dirty="0" err="1">
                <a:solidFill>
                  <a:schemeClr val="accent1">
                    <a:lumMod val="50000"/>
                  </a:schemeClr>
                </a:solidFill>
                <a:latin typeface="Arial" panose="020B0604020202020204" pitchFamily="34" charset="0"/>
                <a:sym typeface="+mn-ea"/>
              </a:rPr>
              <a:t>总的来说，InterSystems IRIS是 InterSystems Caché的后继产品，拥有更多的新功能和改进性能。</a:t>
            </a:r>
            <a:endParaRPr lang="en-US" altLang="zh-CN" dirty="0" err="1">
              <a:solidFill>
                <a:schemeClr val="accent1">
                  <a:lumMod val="50000"/>
                </a:schemeClr>
              </a:solidFill>
              <a:latin typeface="Arial" panose="020B0604020202020204" pitchFamily="34" charset="0"/>
            </a:endParaRPr>
          </a:p>
          <a:p>
            <a:pPr algn="l"/>
            <a:endParaRPr lang="zh-CN" altLang="en-US" sz="1800">
              <a:latin typeface="Arial" panose="020B0604020202020204" pitchFamily="34"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551815" y="1029335"/>
            <a:ext cx="11311255" cy="5219700"/>
          </a:xfrm>
        </p:spPr>
        <p:txBody>
          <a:bodyPr>
            <a:normAutofit lnSpcReduction="20000"/>
          </a:bodyPr>
          <a:p>
            <a:pPr algn="l"/>
            <a:r>
              <a:rPr lang="en-US" sz="1600">
                <a:sym typeface="+mn-ea"/>
              </a:rPr>
              <a:t> </a:t>
            </a:r>
            <a:endParaRPr lang="en-US" sz="1600" dirty="0" err="1">
              <a:solidFill>
                <a:schemeClr val="accent1">
                  <a:lumMod val="50000"/>
                </a:schemeClr>
              </a:solidFill>
              <a:latin typeface="Arial" panose="020B0604020202020204" pitchFamily="34" charset="0"/>
            </a:endParaRPr>
          </a:p>
        </p:txBody>
      </p:sp>
      <p:sp>
        <p:nvSpPr>
          <p:cNvPr id="4" name="文本占位符 3"/>
          <p:cNvSpPr>
            <a:spLocks noGrp="1"/>
          </p:cNvSpPr>
          <p:nvPr>
            <p:ph type="body" sz="quarter" idx="13"/>
          </p:nvPr>
        </p:nvSpPr>
        <p:spPr>
          <a:xfrm>
            <a:off x="267970" y="205105"/>
            <a:ext cx="9332595" cy="404495"/>
          </a:xfrm>
        </p:spPr>
        <p:txBody>
          <a:bodyPr/>
          <a:p>
            <a:endParaRPr lang="zh-CN" altLang="en-US"/>
          </a:p>
        </p:txBody>
      </p:sp>
      <p:sp>
        <p:nvSpPr>
          <p:cNvPr id="6" name="文本框 5"/>
          <p:cNvSpPr txBox="1"/>
          <p:nvPr/>
        </p:nvSpPr>
        <p:spPr>
          <a:xfrm>
            <a:off x="267335" y="906780"/>
            <a:ext cx="11595735" cy="5815965"/>
          </a:xfrm>
          <a:prstGeom prst="rect">
            <a:avLst/>
          </a:prstGeom>
        </p:spPr>
        <p:txBody>
          <a:bodyPr wrap="square">
            <a:noAutofit/>
            <a:extLst>
              <a:ext uri="{4A0BC546-FE56-4ADE-93B0-CB8AF2F6F144}">
                <wpsdc:textFrameExt xmlns:wpsdc="http://www.wps.cn/officeDocument/2022/drawingmlCustomData" type="text"/>
              </a:ext>
            </a:extLst>
          </a:bodyPr>
          <a:p>
            <a:pPr algn="l"/>
            <a:r>
              <a:rPr lang="en-US" altLang="zh-CN" dirty="0" err="1">
                <a:solidFill>
                  <a:schemeClr val="accent1">
                    <a:lumMod val="50000"/>
                  </a:schemeClr>
                </a:solidFill>
                <a:latin typeface="Arial" panose="020B0604020202020204" pitchFamily="34" charset="0"/>
                <a:sym typeface="+mn-ea"/>
              </a:rPr>
              <a:t>InterSystems IRIS是一个完整的数据平台，提供了许多超越原有Caché数据库的功能和优点。</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下面是一些主要的升级：</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1. 高级互操作性：InterSystems IRIS引入了服务总线技术，以支持快速和可靠的系统和应用间的互操作。</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2. 应用内分析：InterSystems IRIS使开发者能够在事务处理应用程序中嵌入实时的分析功能。</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3. 性能优化：InterSystems IRIS在处理大数据集时，性能更强，响应更快。</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4. 容器化部署：InterSystems IRIS支持Docker容器，可以快速和敏捷地进行应用部署。</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5. 多语言支持：除了Caché已经支持的MUMPS（或称为Caché ObjectScript）、Java、.NET、Python等，还增加了Node.js的支持。</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6. 对云环境的支持：InterSystems IRIS对于公有云和私有云更友好，更容易实现。</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7. 扩展的安全性：InterSystems IRIS提供更强大的安全工具和功能，更强大的审计功能、数据随机性等。</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8. 全新的数据库分片技术：IRIS引入了透明的并行化分布式数据</a:t>
            </a:r>
            <a:r>
              <a:rPr lang="zh-CN" altLang="en-US" dirty="0" err="1">
                <a:solidFill>
                  <a:schemeClr val="accent1">
                    <a:lumMod val="50000"/>
                  </a:schemeClr>
                </a:solidFill>
                <a:latin typeface="Arial" panose="020B0604020202020204" pitchFamily="34" charset="0"/>
                <a:sym typeface="+mn-ea"/>
              </a:rPr>
              <a:t>分片</a:t>
            </a:r>
            <a:r>
              <a:rPr lang="en-US" altLang="zh-CN" dirty="0" err="1">
                <a:solidFill>
                  <a:schemeClr val="accent1">
                    <a:lumMod val="50000"/>
                  </a:schemeClr>
                </a:solidFill>
                <a:latin typeface="Arial" panose="020B0604020202020204" pitchFamily="34" charset="0"/>
                <a:sym typeface="+mn-ea"/>
              </a:rPr>
              <a:t>技术，提供了高吞吐量和大规模的数据处理能力。</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9. 无缝备份：可以直接从容器创建备份并保存到云端，无需担心数据丢失。</a:t>
            </a:r>
            <a:endParaRPr lang="en-US" altLang="zh-CN" dirty="0" err="1">
              <a:solidFill>
                <a:schemeClr val="accent1">
                  <a:lumMod val="50000"/>
                </a:schemeClr>
              </a:solidFill>
              <a:latin typeface="Arial" panose="020B0604020202020204" pitchFamily="34" charset="0"/>
              <a:sym typeface="+mn-ea"/>
            </a:endParaRPr>
          </a:p>
          <a:p>
            <a:pPr algn="l"/>
            <a:r>
              <a:rPr lang="en-US" altLang="zh-CN" dirty="0" err="1">
                <a:solidFill>
                  <a:schemeClr val="accent1">
                    <a:lumMod val="50000"/>
                  </a:schemeClr>
                </a:solidFill>
                <a:latin typeface="Arial" panose="020B0604020202020204" pitchFamily="34" charset="0"/>
                <a:sym typeface="+mn-ea"/>
              </a:rPr>
              <a:t>这些都是InterSystems公司为了提供更好的数据处理能力，增强系统互操作性和增强系统保护性能而做的升级。</a:t>
            </a:r>
            <a:endParaRPr lang="en-US" altLang="zh-CN" dirty="0" err="1">
              <a:solidFill>
                <a:schemeClr val="accent1">
                  <a:lumMod val="50000"/>
                </a:schemeClr>
              </a:solidFill>
              <a:latin typeface="Arial" panose="020B0604020202020204" pitchFamily="34" charset="0"/>
              <a:sym typeface="+mn-ea"/>
            </a:endParaRPr>
          </a:p>
          <a:p>
            <a:pPr algn="l"/>
            <a:endParaRPr lang="zh-CN" altLang="en-US" sz="1800">
              <a:latin typeface="Arial" panose="020B0604020202020204" pitchFamily="34"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972185" y="910590"/>
            <a:ext cx="8072120" cy="70675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900">
                <a:solidFill>
                  <a:srgbClr val="004799"/>
                </a:solidFill>
                <a:latin typeface="微软雅黑" panose="020B0503020204020204" pitchFamily="34" charset="-122"/>
                <a:ea typeface="微软雅黑" panose="020B0503020204020204" pitchFamily="34" charset="-122"/>
              </a:rPr>
              <a:t>数据库版本</a:t>
            </a:r>
            <a:endParaRPr lang="zh-CN" altLang="en-US" sz="2900">
              <a:solidFill>
                <a:srgbClr val="004799"/>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056005" y="1617345"/>
            <a:ext cx="5102860" cy="2245360"/>
          </a:xfrm>
          <a:prstGeom prst="rect">
            <a:avLst/>
          </a:prstGeom>
          <a:solidFill>
            <a:schemeClr val="accent2">
              <a:lumMod val="40000"/>
              <a:lumOff val="60000"/>
            </a:schemeClr>
          </a:solidFill>
        </p:spPr>
        <p:txBody>
          <a:bodyPr wrap="square" rtlCol="0" anchor="t">
            <a:spAutoFit/>
          </a:bodyPr>
          <a:p>
            <a:pPr algn="l"/>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版本对于 Intersystem 技术支持是一非常重要的信息，用以</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 回答你的问题</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 诊断以及排错</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如何获取版本信息</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 Terminal</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 write $zv</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 系统管理界面</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 About 菜单</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 OS 命令行</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iris</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list</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056005" y="4171315"/>
            <a:ext cx="5090160" cy="1410970"/>
          </a:xfrm>
          <a:prstGeom prst="rect">
            <a:avLst/>
          </a:prstGeom>
        </p:spPr>
      </p:pic>
      <p:pic>
        <p:nvPicPr>
          <p:cNvPr id="6" name="图片 5"/>
          <p:cNvPicPr>
            <a:picLocks noChangeAspect="1"/>
          </p:cNvPicPr>
          <p:nvPr/>
        </p:nvPicPr>
        <p:blipFill>
          <a:blip r:embed="rId2"/>
          <a:stretch>
            <a:fillRect/>
          </a:stretch>
        </p:blipFill>
        <p:spPr>
          <a:xfrm>
            <a:off x="6276975" y="1308735"/>
            <a:ext cx="5435600" cy="2862580"/>
          </a:xfrm>
          <a:prstGeom prst="rect">
            <a:avLst/>
          </a:prstGeom>
        </p:spPr>
      </p:pic>
      <p:pic>
        <p:nvPicPr>
          <p:cNvPr id="7" name="图片 6"/>
          <p:cNvPicPr>
            <a:picLocks noChangeAspect="1"/>
          </p:cNvPicPr>
          <p:nvPr/>
        </p:nvPicPr>
        <p:blipFill>
          <a:blip r:embed="rId3"/>
          <a:stretch>
            <a:fillRect/>
          </a:stretch>
        </p:blipFill>
        <p:spPr>
          <a:xfrm>
            <a:off x="6276975" y="4286885"/>
            <a:ext cx="5434965" cy="20656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a:sym typeface="微软雅黑" panose="020B0503020204020204" pitchFamily="34" charset="-122"/>
              </a:rPr>
              <a:t>|</a:t>
            </a:r>
            <a:r>
              <a:rPr lang="zh-CN" altLang="en-US" dirty="0">
                <a:sym typeface="微软雅黑" panose="020B0503020204020204" pitchFamily="34" charset="-122"/>
              </a:rPr>
              <a:t>  </a:t>
            </a:r>
            <a:r>
              <a:rPr lang="zh-CN" altLang="en-US" dirty="0" smtClean="0">
                <a:sym typeface="微软雅黑" panose="020B0503020204020204" pitchFamily="34" charset="-122"/>
              </a:rPr>
              <a:t>第一节  </a:t>
            </a:r>
            <a:r>
              <a:rPr lang="en-US" altLang="zh-CN" dirty="0" err="1"/>
              <a:t>Caché</a:t>
            </a:r>
            <a:r>
              <a:rPr lang="en-US" altLang="zh-CN" dirty="0" err="1" smtClean="0"/>
              <a:t>简介</a:t>
            </a:r>
            <a:endParaRPr lang="zh-CN" altLang="en-US" dirty="0"/>
          </a:p>
        </p:txBody>
      </p:sp>
      <p:pic>
        <p:nvPicPr>
          <p:cNvPr id="6" name="图片 5"/>
          <p:cNvPicPr>
            <a:picLocks noChangeAspect="1"/>
          </p:cNvPicPr>
          <p:nvPr/>
        </p:nvPicPr>
        <p:blipFill>
          <a:blip r:embed="rId1"/>
          <a:stretch>
            <a:fillRect/>
          </a:stretch>
        </p:blipFill>
        <p:spPr>
          <a:xfrm>
            <a:off x="3717947" y="869772"/>
            <a:ext cx="4430803" cy="3924628"/>
          </a:xfrm>
          <a:prstGeom prst="rect">
            <a:avLst/>
          </a:prstGeom>
          <a:ln>
            <a:solidFill>
              <a:srgbClr val="1F4E79"/>
            </a:solidFill>
          </a:ln>
        </p:spPr>
      </p:pic>
      <p:pic>
        <p:nvPicPr>
          <p:cNvPr id="7" name="图片 6"/>
          <p:cNvPicPr>
            <a:picLocks noChangeAspect="1"/>
          </p:cNvPicPr>
          <p:nvPr/>
        </p:nvPicPr>
        <p:blipFill>
          <a:blip r:embed="rId2"/>
          <a:stretch>
            <a:fillRect/>
          </a:stretch>
        </p:blipFill>
        <p:spPr>
          <a:xfrm>
            <a:off x="8313875" y="848837"/>
            <a:ext cx="3650848" cy="3945563"/>
          </a:xfrm>
          <a:prstGeom prst="rect">
            <a:avLst/>
          </a:prstGeom>
          <a:ln>
            <a:solidFill>
              <a:srgbClr val="1F4E79"/>
            </a:solidFill>
          </a:ln>
        </p:spPr>
      </p:pic>
      <p:sp>
        <p:nvSpPr>
          <p:cNvPr id="9" name="矩形 8"/>
          <p:cNvSpPr/>
          <p:nvPr/>
        </p:nvSpPr>
        <p:spPr>
          <a:xfrm>
            <a:off x="286012" y="1855611"/>
            <a:ext cx="3246897" cy="554154"/>
          </a:xfrm>
          <a:prstGeom prst="rect">
            <a:avLst/>
          </a:prstGeom>
          <a:solidFill>
            <a:srgbClr val="EBF3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zh-CN" altLang="en-US" sz="2000" dirty="0" smtClean="0">
                <a:solidFill>
                  <a:srgbClr val="1F4E79"/>
                </a:solidFill>
              </a:rPr>
              <a:t>独立</a:t>
            </a:r>
            <a:r>
              <a:rPr lang="zh-CN" altLang="en-US" sz="2000" dirty="0">
                <a:solidFill>
                  <a:srgbClr val="1F4E79"/>
                </a:solidFill>
              </a:rPr>
              <a:t>使用</a:t>
            </a:r>
            <a:r>
              <a:rPr lang="en-US" altLang="zh-CN" sz="2000" dirty="0" smtClean="0">
                <a:solidFill>
                  <a:srgbClr val="1F4E79"/>
                </a:solidFill>
              </a:rPr>
              <a:t>Documentation</a:t>
            </a:r>
            <a:endParaRPr lang="zh-CN" altLang="en-US" sz="2000" dirty="0">
              <a:solidFill>
                <a:srgbClr val="1F4E79"/>
              </a:solidFill>
            </a:endParaRPr>
          </a:p>
        </p:txBody>
      </p:sp>
      <p:grpSp>
        <p:nvGrpSpPr>
          <p:cNvPr id="10" name="组合 9"/>
          <p:cNvGrpSpPr/>
          <p:nvPr/>
        </p:nvGrpSpPr>
        <p:grpSpPr>
          <a:xfrm>
            <a:off x="371799" y="4828004"/>
            <a:ext cx="7408428" cy="1655882"/>
            <a:chOff x="376972" y="4936104"/>
            <a:chExt cx="6608327" cy="1655882"/>
          </a:xfrm>
        </p:grpSpPr>
        <p:sp>
          <p:nvSpPr>
            <p:cNvPr id="11" name="矩形 57"/>
            <p:cNvSpPr>
              <a:spLocks noChangeArrowheads="1"/>
            </p:cNvSpPr>
            <p:nvPr/>
          </p:nvSpPr>
          <p:spPr bwMode="auto">
            <a:xfrm>
              <a:off x="750140" y="5514768"/>
              <a:ext cx="623515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smtClean="0">
                  <a:solidFill>
                    <a:schemeClr val="accent1">
                      <a:lumMod val="50000"/>
                    </a:schemeClr>
                  </a:solidFill>
                </a:rPr>
                <a:t>给</a:t>
              </a:r>
              <a:r>
                <a:rPr lang="zh-CN" altLang="en-US" sz="1600" dirty="0">
                  <a:solidFill>
                    <a:schemeClr val="accent1">
                      <a:lumMod val="50000"/>
                    </a:schemeClr>
                  </a:solidFill>
                </a:rPr>
                <a:t>大家</a:t>
              </a:r>
              <a:r>
                <a:rPr lang="en-US" altLang="zh-CN" sz="1600" dirty="0">
                  <a:solidFill>
                    <a:schemeClr val="accent1">
                      <a:lumMod val="50000"/>
                    </a:schemeClr>
                  </a:solidFill>
                </a:rPr>
                <a:t>20</a:t>
              </a:r>
              <a:r>
                <a:rPr lang="zh-CN" altLang="en-US" sz="1600" dirty="0">
                  <a:solidFill>
                    <a:schemeClr val="accent1">
                      <a:lumMod val="50000"/>
                    </a:schemeClr>
                  </a:solidFill>
                </a:rPr>
                <a:t>分钟的时间阅读</a:t>
              </a:r>
              <a:r>
                <a:rPr lang="en-US" altLang="zh-CN" sz="1600" dirty="0">
                  <a:solidFill>
                    <a:schemeClr val="accent1">
                      <a:lumMod val="50000"/>
                    </a:schemeClr>
                  </a:solidFill>
                </a:rPr>
                <a:t>Documentation</a:t>
              </a:r>
              <a:r>
                <a:rPr lang="zh-CN" altLang="en-US" sz="1600" dirty="0">
                  <a:solidFill>
                    <a:schemeClr val="accent1">
                      <a:lumMod val="50000"/>
                    </a:schemeClr>
                  </a:solidFill>
                </a:rPr>
                <a:t>，了解</a:t>
              </a:r>
              <a:r>
                <a:rPr lang="en-US" altLang="zh-CN" sz="1600" dirty="0" err="1">
                  <a:solidFill>
                    <a:schemeClr val="accent1">
                      <a:lumMod val="50000"/>
                    </a:schemeClr>
                  </a:solidFill>
                </a:rPr>
                <a:t>Caché</a:t>
              </a:r>
              <a:r>
                <a:rPr lang="zh-CN" altLang="en-US" sz="1600" dirty="0">
                  <a:solidFill>
                    <a:schemeClr val="accent1">
                      <a:lumMod val="50000"/>
                    </a:schemeClr>
                  </a:solidFill>
                </a:rPr>
                <a:t>的基础</a:t>
              </a:r>
              <a:r>
                <a:rPr lang="zh-CN" altLang="en-US" sz="1600" dirty="0" smtClean="0">
                  <a:solidFill>
                    <a:schemeClr val="accent1">
                      <a:lumMod val="50000"/>
                    </a:schemeClr>
                  </a:solidFill>
                </a:rPr>
                <a:t>知识</a:t>
              </a:r>
              <a:endParaRPr lang="en-US" altLang="zh-CN" sz="1600" dirty="0" smtClean="0">
                <a:solidFill>
                  <a:schemeClr val="accent1">
                    <a:lumMod val="50000"/>
                  </a:schemeClr>
                </a:solidFill>
              </a:endParaRPr>
            </a:p>
            <a:p>
              <a:pPr>
                <a:buFont typeface="Arial" panose="020B0604020202020204" pitchFamily="34" charset="0"/>
                <a:buNone/>
              </a:pPr>
              <a:endParaRPr lang="en-US" altLang="zh-CN" sz="1600" dirty="0" smtClean="0">
                <a:solidFill>
                  <a:schemeClr val="accent1">
                    <a:lumMod val="50000"/>
                  </a:schemeClr>
                </a:solidFill>
              </a:endParaRPr>
            </a:p>
            <a:p>
              <a:r>
                <a:rPr lang="zh-CN" altLang="en-US" sz="1600" dirty="0">
                  <a:solidFill>
                    <a:schemeClr val="accent1">
                      <a:lumMod val="50000"/>
                    </a:schemeClr>
                  </a:solidFill>
                </a:rPr>
                <a:t>参考</a:t>
              </a:r>
              <a:r>
                <a:rPr lang="en-US" altLang="zh-CN" sz="1600" dirty="0">
                  <a:solidFill>
                    <a:schemeClr val="accent1">
                      <a:lumMod val="50000"/>
                    </a:schemeClr>
                  </a:solidFill>
                </a:rPr>
                <a:t>:http://localhost:57772/</a:t>
              </a:r>
              <a:r>
                <a:rPr lang="en-US" altLang="zh-CN" sz="1600" dirty="0" err="1">
                  <a:solidFill>
                    <a:schemeClr val="accent1">
                      <a:lumMod val="50000"/>
                    </a:schemeClr>
                  </a:solidFill>
                </a:rPr>
                <a:t>csp</a:t>
              </a:r>
              <a:r>
                <a:rPr lang="en-US" altLang="zh-CN" sz="1600" dirty="0">
                  <a:solidFill>
                    <a:schemeClr val="accent1">
                      <a:lumMod val="50000"/>
                    </a:schemeClr>
                  </a:solidFill>
                </a:rPr>
                <a:t>/</a:t>
              </a:r>
              <a:r>
                <a:rPr lang="en-US" altLang="zh-CN" sz="1600" dirty="0" err="1">
                  <a:solidFill>
                    <a:schemeClr val="accent1">
                      <a:lumMod val="50000"/>
                    </a:schemeClr>
                  </a:solidFill>
                </a:rPr>
                <a:t>docbook</a:t>
              </a:r>
              <a:r>
                <a:rPr lang="en-US" altLang="zh-CN" sz="1600" dirty="0">
                  <a:solidFill>
                    <a:schemeClr val="accent1">
                      <a:lumMod val="50000"/>
                    </a:schemeClr>
                  </a:solidFill>
                </a:rPr>
                <a:t>/</a:t>
              </a:r>
              <a:r>
                <a:rPr lang="en-US" altLang="zh-CN" sz="1600" dirty="0" err="1">
                  <a:solidFill>
                    <a:schemeClr val="accent1">
                      <a:lumMod val="50000"/>
                    </a:schemeClr>
                  </a:solidFill>
                </a:rPr>
                <a:t>DocBook.UI.HomePageZen.cls</a:t>
              </a:r>
              <a:endParaRPr lang="zh-CN" altLang="en-US" sz="1600" dirty="0">
                <a:solidFill>
                  <a:schemeClr val="accent1">
                    <a:lumMod val="50000"/>
                  </a:schemeClr>
                </a:solidFill>
              </a:endParaRPr>
            </a:p>
            <a:p>
              <a:pPr>
                <a:buFont typeface="Arial" panose="020B0604020202020204" pitchFamily="34" charset="0"/>
                <a:buNone/>
              </a:pPr>
              <a:endParaRPr lang="en-US" altLang="zh-CN" sz="1600" dirty="0">
                <a:solidFill>
                  <a:schemeClr val="accent1">
                    <a:lumMod val="50000"/>
                  </a:schemeClr>
                </a:solidFill>
              </a:endParaRPr>
            </a:p>
          </p:txBody>
        </p:sp>
        <p:cxnSp>
          <p:nvCxnSpPr>
            <p:cNvPr id="12" name="直接连接符 11"/>
            <p:cNvCxnSpPr/>
            <p:nvPr/>
          </p:nvCxnSpPr>
          <p:spPr>
            <a:xfrm>
              <a:off x="750141" y="5345491"/>
              <a:ext cx="3561148"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376972" y="4936104"/>
              <a:ext cx="4204392" cy="461665"/>
              <a:chOff x="376972" y="4936104"/>
              <a:chExt cx="4204392" cy="461665"/>
            </a:xfrm>
          </p:grpSpPr>
          <p:sp>
            <p:nvSpPr>
              <p:cNvPr id="14" name="文本框 13"/>
              <p:cNvSpPr txBox="1"/>
              <p:nvPr/>
            </p:nvSpPr>
            <p:spPr>
              <a:xfrm>
                <a:off x="411705" y="4936104"/>
                <a:ext cx="4169659" cy="461665"/>
              </a:xfrm>
              <a:prstGeom prst="rect">
                <a:avLst/>
              </a:prstGeom>
              <a:noFill/>
            </p:spPr>
            <p:txBody>
              <a:bodyPr wrap="square" rtlCol="0">
                <a:spAutoFit/>
              </a:bodyPr>
              <a:lstStyle/>
              <a:p>
                <a:r>
                  <a:rPr lang="zh-CN" altLang="en-US" sz="2400" dirty="0" smtClean="0">
                    <a:solidFill>
                      <a:schemeClr val="tx1">
                        <a:lumMod val="65000"/>
                        <a:lumOff val="35000"/>
                      </a:schemeClr>
                    </a:solidFill>
                  </a:rPr>
                  <a:t>    练习 </a:t>
                </a:r>
                <a:r>
                  <a:rPr lang="en-US" altLang="zh-CN" sz="2400" dirty="0">
                    <a:solidFill>
                      <a:schemeClr val="tx1">
                        <a:lumMod val="65000"/>
                        <a:lumOff val="35000"/>
                      </a:schemeClr>
                    </a:solidFill>
                  </a:rPr>
                  <a:t>1</a:t>
                </a:r>
                <a:r>
                  <a:rPr lang="en-US" altLang="zh-CN" sz="2400" dirty="0" smtClean="0">
                    <a:solidFill>
                      <a:schemeClr val="tx1">
                        <a:lumMod val="65000"/>
                        <a:lumOff val="35000"/>
                      </a:schemeClr>
                    </a:solidFill>
                  </a:rPr>
                  <a:t> </a:t>
                </a:r>
                <a:endParaRPr lang="zh-CN" altLang="en-US" sz="2400" dirty="0">
                  <a:solidFill>
                    <a:schemeClr val="tx1">
                      <a:lumMod val="65000"/>
                      <a:lumOff val="35000"/>
                    </a:schemeClr>
                  </a:solidFill>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6972" y="5007841"/>
                <a:ext cx="373169" cy="371255"/>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a:sym typeface="微软雅黑" panose="020B0503020204020204" pitchFamily="34" charset="-122"/>
              </a:rPr>
              <a:t>|</a:t>
            </a:r>
            <a:r>
              <a:rPr lang="zh-CN" altLang="en-US" dirty="0">
                <a:sym typeface="微软雅黑" panose="020B0503020204020204" pitchFamily="34" charset="-122"/>
              </a:rPr>
              <a:t>  </a:t>
            </a:r>
            <a:r>
              <a:rPr lang="zh-CN" altLang="en-US" dirty="0" smtClean="0">
                <a:sym typeface="微软雅黑" panose="020B0503020204020204" pitchFamily="34" charset="-122"/>
              </a:rPr>
              <a:t>第二节  </a:t>
            </a:r>
            <a:r>
              <a:rPr lang="en-US" altLang="zh-CN" dirty="0" err="1" smtClean="0"/>
              <a:t>Caché</a:t>
            </a:r>
            <a:r>
              <a:rPr lang="zh-CN" altLang="en-US" dirty="0"/>
              <a:t>开发环境简单介绍</a:t>
            </a:r>
            <a:r>
              <a:rPr lang="en-US" altLang="zh-CN" dirty="0"/>
              <a:t>——</a:t>
            </a:r>
            <a:r>
              <a:rPr lang="en-US" altLang="zh-CN" dirty="0" err="1"/>
              <a:t>Caché</a:t>
            </a:r>
            <a:r>
              <a:rPr lang="zh-CN" altLang="en-US" dirty="0"/>
              <a:t>的菜单</a:t>
            </a:r>
            <a:endParaRPr lang="zh-CN" altLang="en-US" dirty="0"/>
          </a:p>
        </p:txBody>
      </p:sp>
      <p:sp>
        <p:nvSpPr>
          <p:cNvPr id="5" name="文本框 4"/>
          <p:cNvSpPr txBox="1"/>
          <p:nvPr/>
        </p:nvSpPr>
        <p:spPr>
          <a:xfrm>
            <a:off x="381572" y="948007"/>
            <a:ext cx="139653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smtClean="0">
                <a:solidFill>
                  <a:schemeClr val="accent1">
                    <a:lumMod val="50000"/>
                  </a:schemeClr>
                </a:solidFill>
                <a:latin typeface="Arial" panose="020B0604020202020204" pitchFamily="34" charset="0"/>
                <a:cs typeface="Arial" panose="020B0604020202020204" pitchFamily="34" charset="0"/>
              </a:rPr>
              <a:t>开发</a:t>
            </a:r>
            <a:r>
              <a:rPr lang="zh-CN" altLang="en-US" dirty="0">
                <a:solidFill>
                  <a:schemeClr val="accent1">
                    <a:lumMod val="50000"/>
                  </a:schemeClr>
                </a:solidFill>
                <a:latin typeface="Arial" panose="020B0604020202020204" pitchFamily="34" charset="0"/>
                <a:cs typeface="Arial" panose="020B0604020202020204" pitchFamily="34" charset="0"/>
              </a:rPr>
              <a:t>环境</a:t>
            </a:r>
            <a:endParaRPr lang="en-US" altLang="zh-CN" dirty="0">
              <a:solidFill>
                <a:schemeClr val="accent1">
                  <a:lumMod val="50000"/>
                </a:schemeClr>
              </a:solidFill>
              <a:latin typeface="Arial" panose="020B0604020202020204" pitchFamily="34" charset="0"/>
              <a:cs typeface="Arial" panose="020B0604020202020204" pitchFamily="34" charset="0"/>
            </a:endParaRPr>
          </a:p>
        </p:txBody>
      </p:sp>
      <p:sp>
        <p:nvSpPr>
          <p:cNvPr id="6" name="矩形 66"/>
          <p:cNvSpPr>
            <a:spLocks noChangeArrowheads="1"/>
          </p:cNvSpPr>
          <p:nvPr/>
        </p:nvSpPr>
        <p:spPr bwMode="auto">
          <a:xfrm>
            <a:off x="608469" y="1212795"/>
            <a:ext cx="5813517"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15340">
              <a:lnSpc>
                <a:spcPct val="150000"/>
              </a:lnSpc>
            </a:pPr>
            <a:r>
              <a:rPr lang="zh-CN" altLang="en-US" sz="1400" dirty="0" smtClean="0">
                <a:solidFill>
                  <a:schemeClr val="accent1">
                    <a:lumMod val="50000"/>
                  </a:schemeClr>
                </a:solidFill>
                <a:latin typeface="Arial" panose="020B0604020202020204" pitchFamily="34" charset="0"/>
              </a:rPr>
              <a:t>开发</a:t>
            </a:r>
            <a:r>
              <a:rPr lang="zh-CN" altLang="en-US" sz="1400" dirty="0">
                <a:solidFill>
                  <a:schemeClr val="accent1">
                    <a:lumMod val="50000"/>
                  </a:schemeClr>
                </a:solidFill>
                <a:latin typeface="Arial" panose="020B0604020202020204" pitchFamily="34" charset="0"/>
              </a:rPr>
              <a:t>环境：</a:t>
            </a:r>
            <a:r>
              <a:rPr lang="en-US" altLang="zh-CN" sz="1400" dirty="0">
                <a:solidFill>
                  <a:schemeClr val="accent1">
                    <a:lumMod val="50000"/>
                  </a:schemeClr>
                </a:solidFill>
                <a:latin typeface="Arial" panose="020B0604020202020204" pitchFamily="34" charset="0"/>
              </a:rPr>
              <a:t>B/S</a:t>
            </a:r>
            <a:r>
              <a:rPr lang="zh-CN" altLang="en-US" sz="1400" dirty="0">
                <a:solidFill>
                  <a:schemeClr val="accent1">
                    <a:lumMod val="50000"/>
                  </a:schemeClr>
                </a:solidFill>
                <a:latin typeface="Arial" panose="020B0604020202020204" pitchFamily="34" charset="0"/>
              </a:rPr>
              <a:t>架构 （</a:t>
            </a:r>
            <a:r>
              <a:rPr lang="en-US" altLang="zh-CN" sz="1400" dirty="0">
                <a:solidFill>
                  <a:schemeClr val="accent1">
                    <a:lumMod val="50000"/>
                  </a:schemeClr>
                </a:solidFill>
                <a:latin typeface="Arial" panose="020B0604020202020204" pitchFamily="34" charset="0"/>
              </a:rPr>
              <a:t>HIS</a:t>
            </a:r>
            <a:r>
              <a:rPr lang="zh-CN" altLang="en-US" sz="1400" dirty="0">
                <a:solidFill>
                  <a:schemeClr val="accent1">
                    <a:lumMod val="50000"/>
                  </a:schemeClr>
                </a:solidFill>
                <a:latin typeface="Arial" panose="020B0604020202020204" pitchFamily="34" charset="0"/>
              </a:rPr>
              <a:t>系统</a:t>
            </a:r>
            <a:r>
              <a:rPr lang="zh-CN" altLang="en-US" sz="1400" dirty="0">
                <a:solidFill>
                  <a:schemeClr val="accent1">
                    <a:lumMod val="50000"/>
                  </a:schemeClr>
                </a:solidFill>
                <a:latin typeface="Arial" panose="020B0604020202020204" pitchFamily="34" charset="0"/>
              </a:rPr>
              <a:t>）</a:t>
            </a:r>
            <a:endParaRPr lang="en-US" altLang="zh-CN" sz="1400" dirty="0">
              <a:solidFill>
                <a:schemeClr val="accent1">
                  <a:lumMod val="50000"/>
                </a:schemeClr>
              </a:solidFill>
              <a:latin typeface="Arial" panose="020B0604020202020204" pitchFamily="34" charset="0"/>
            </a:endParaRPr>
          </a:p>
          <a:p>
            <a:pPr defTabSz="815340">
              <a:lnSpc>
                <a:spcPct val="150000"/>
              </a:lnSpc>
            </a:pPr>
            <a:r>
              <a:rPr lang="en-US" altLang="zh-CN" sz="1400" dirty="0">
                <a:solidFill>
                  <a:schemeClr val="accent1">
                    <a:lumMod val="50000"/>
                  </a:schemeClr>
                </a:solidFill>
                <a:latin typeface="Arial" panose="020B0604020202020204" pitchFamily="34" charset="0"/>
              </a:rPr>
              <a:t>Web</a:t>
            </a:r>
            <a:r>
              <a:rPr lang="zh-CN" altLang="en-US" sz="1400" dirty="0">
                <a:solidFill>
                  <a:schemeClr val="accent1">
                    <a:lumMod val="50000"/>
                  </a:schemeClr>
                </a:solidFill>
                <a:latin typeface="Arial" panose="020B0604020202020204" pitchFamily="34" charset="0"/>
              </a:rPr>
              <a:t>容器 </a:t>
            </a:r>
            <a:r>
              <a:rPr lang="en-US" altLang="zh-CN" sz="1400" dirty="0">
                <a:solidFill>
                  <a:schemeClr val="accent1">
                    <a:lumMod val="50000"/>
                  </a:schemeClr>
                </a:solidFill>
                <a:latin typeface="Arial" panose="020B0604020202020204" pitchFamily="34" charset="0"/>
              </a:rPr>
              <a:t>: IIS</a:t>
            </a:r>
            <a:endParaRPr lang="en-US" altLang="zh-CN" sz="1400" dirty="0">
              <a:solidFill>
                <a:schemeClr val="accent1">
                  <a:lumMod val="50000"/>
                </a:schemeClr>
              </a:solidFill>
              <a:latin typeface="Arial" panose="020B0604020202020204" pitchFamily="34" charset="0"/>
            </a:endParaRPr>
          </a:p>
          <a:p>
            <a:pPr defTabSz="815340">
              <a:lnSpc>
                <a:spcPct val="150000"/>
              </a:lnSpc>
            </a:pPr>
            <a:r>
              <a:rPr lang="zh-CN" altLang="en-US" sz="1400" dirty="0">
                <a:solidFill>
                  <a:schemeClr val="accent1">
                    <a:lumMod val="50000"/>
                  </a:schemeClr>
                </a:solidFill>
                <a:latin typeface="Arial" panose="020B0604020202020204" pitchFamily="34" charset="0"/>
              </a:rPr>
              <a:t>开发语言</a:t>
            </a:r>
            <a:r>
              <a:rPr lang="en-US" altLang="zh-CN" sz="1400" dirty="0">
                <a:solidFill>
                  <a:schemeClr val="accent1">
                    <a:lumMod val="50000"/>
                  </a:schemeClr>
                </a:solidFill>
                <a:latin typeface="Arial" panose="020B0604020202020204" pitchFamily="34" charset="0"/>
              </a:rPr>
              <a:t>: M</a:t>
            </a:r>
            <a:r>
              <a:rPr lang="zh-CN" altLang="en-US" sz="1400" dirty="0">
                <a:solidFill>
                  <a:schemeClr val="accent1">
                    <a:lumMod val="50000"/>
                  </a:schemeClr>
                </a:solidFill>
                <a:latin typeface="Arial" panose="020B0604020202020204" pitchFamily="34" charset="0"/>
              </a:rPr>
              <a:t>语言</a:t>
            </a:r>
            <a:endParaRPr lang="en-US" altLang="zh-CN" sz="1400" dirty="0">
              <a:solidFill>
                <a:schemeClr val="accent1">
                  <a:lumMod val="50000"/>
                </a:schemeClr>
              </a:solidFill>
              <a:latin typeface="Arial" panose="020B0604020202020204" pitchFamily="34" charset="0"/>
            </a:endParaRPr>
          </a:p>
          <a:p>
            <a:pPr defTabSz="815340">
              <a:lnSpc>
                <a:spcPct val="150000"/>
              </a:lnSpc>
            </a:pPr>
            <a:r>
              <a:rPr lang="zh-CN" altLang="en-US" sz="1400" dirty="0">
                <a:solidFill>
                  <a:schemeClr val="accent1">
                    <a:lumMod val="50000"/>
                  </a:schemeClr>
                </a:solidFill>
                <a:latin typeface="Arial" panose="020B0604020202020204" pitchFamily="34" charset="0"/>
              </a:rPr>
              <a:t>数据库</a:t>
            </a:r>
            <a:r>
              <a:rPr lang="en-US" altLang="zh-CN" sz="1400" dirty="0">
                <a:solidFill>
                  <a:schemeClr val="accent1">
                    <a:lumMod val="50000"/>
                  </a:schemeClr>
                </a:solidFill>
                <a:latin typeface="Arial" panose="020B0604020202020204" pitchFamily="34" charset="0"/>
              </a:rPr>
              <a:t>:  </a:t>
            </a:r>
            <a:r>
              <a:rPr lang="en-US" altLang="zh-CN" sz="1400" dirty="0" err="1">
                <a:solidFill>
                  <a:schemeClr val="accent1">
                    <a:lumMod val="50000"/>
                  </a:schemeClr>
                </a:solidFill>
                <a:latin typeface="Arial" panose="020B0604020202020204" pitchFamily="34" charset="0"/>
              </a:rPr>
              <a:t>Caché</a:t>
            </a:r>
            <a:endParaRPr lang="en-US" altLang="zh-CN" sz="1400" dirty="0">
              <a:solidFill>
                <a:schemeClr val="accent1">
                  <a:lumMod val="50000"/>
                </a:schemeClr>
              </a:solidFill>
              <a:latin typeface="Arial" panose="020B0604020202020204" pitchFamily="34" charset="0"/>
            </a:endParaRPr>
          </a:p>
          <a:p>
            <a:pPr defTabSz="815340">
              <a:lnSpc>
                <a:spcPct val="150000"/>
              </a:lnSpc>
            </a:pPr>
            <a:r>
              <a:rPr lang="en-US" altLang="zh-CN" sz="1400" dirty="0">
                <a:solidFill>
                  <a:schemeClr val="accent1">
                    <a:lumMod val="50000"/>
                  </a:schemeClr>
                </a:solidFill>
                <a:latin typeface="Arial" panose="020B0604020202020204" pitchFamily="34" charset="0"/>
              </a:rPr>
              <a:t>IE</a:t>
            </a:r>
            <a:r>
              <a:rPr lang="en-US" altLang="zh-CN" sz="1400" dirty="0">
                <a:solidFill>
                  <a:schemeClr val="accent1">
                    <a:lumMod val="50000"/>
                  </a:schemeClr>
                </a:solidFill>
                <a:latin typeface="Arial" panose="020B0604020202020204" pitchFamily="34" charset="0"/>
                <a:sym typeface="Wingdings" panose="05000000000000000000" pitchFamily="2" charset="2"/>
              </a:rPr>
              <a:t>-&gt; IIS -&gt;CSP Gateway -&gt;</a:t>
            </a:r>
            <a:r>
              <a:rPr lang="en-US" altLang="zh-CN" sz="1400" dirty="0" err="1">
                <a:solidFill>
                  <a:schemeClr val="accent1">
                    <a:lumMod val="50000"/>
                  </a:schemeClr>
                </a:solidFill>
                <a:latin typeface="Arial" panose="020B0604020202020204" pitchFamily="34" charset="0"/>
              </a:rPr>
              <a:t>csp</a:t>
            </a:r>
            <a:r>
              <a:rPr lang="en-US" altLang="zh-CN" sz="1400" dirty="0">
                <a:solidFill>
                  <a:schemeClr val="accent1">
                    <a:lumMod val="50000"/>
                  </a:schemeClr>
                </a:solidFill>
                <a:latin typeface="Arial" panose="020B0604020202020204" pitchFamily="34" charset="0"/>
              </a:rPr>
              <a:t> application-&gt;</a:t>
            </a:r>
            <a:r>
              <a:rPr lang="en-US" altLang="zh-CN" sz="1400" dirty="0" err="1">
                <a:solidFill>
                  <a:schemeClr val="accent1">
                    <a:lumMod val="50000"/>
                  </a:schemeClr>
                </a:solidFill>
                <a:latin typeface="Arial" panose="020B0604020202020204" pitchFamily="34" charset="0"/>
              </a:rPr>
              <a:t>dhc.logon.csp </a:t>
            </a:r>
            <a:r>
              <a:rPr lang="zh-CN" altLang="en-US" sz="1400" dirty="0" err="1">
                <a:solidFill>
                  <a:schemeClr val="accent1">
                    <a:lumMod val="50000"/>
                  </a:schemeClr>
                </a:solidFill>
                <a:latin typeface="Arial" panose="020B0604020202020204" pitchFamily="34" charset="0"/>
              </a:rPr>
              <a:t>登录</a:t>
            </a:r>
            <a:r>
              <a:rPr lang="en-US" altLang="zh-CN" sz="1400" dirty="0">
                <a:solidFill>
                  <a:schemeClr val="accent1">
                    <a:lumMod val="50000"/>
                  </a:schemeClr>
                </a:solidFill>
                <a:latin typeface="Arial" panose="020B0604020202020204" pitchFamily="34" charset="0"/>
              </a:rPr>
              <a:t>--</a:t>
            </a:r>
            <a:r>
              <a:rPr lang="zh-CN" altLang="en-US" sz="1400" dirty="0">
                <a:solidFill>
                  <a:schemeClr val="accent1">
                    <a:lumMod val="50000"/>
                  </a:schemeClr>
                </a:solidFill>
                <a:latin typeface="Arial" panose="020B0604020202020204" pitchFamily="34" charset="0"/>
              </a:rPr>
              <a:t>反向操作</a:t>
            </a:r>
            <a:endParaRPr lang="en-US" altLang="zh-CN" sz="1400" dirty="0">
              <a:solidFill>
                <a:schemeClr val="accent1">
                  <a:lumMod val="50000"/>
                </a:schemeClr>
              </a:solidFill>
              <a:latin typeface="Arial" panose="020B0604020202020204" pitchFamily="34" charset="0"/>
            </a:endParaRPr>
          </a:p>
        </p:txBody>
      </p:sp>
      <p:sp>
        <p:nvSpPr>
          <p:cNvPr id="9" name="文本框 8"/>
          <p:cNvSpPr txBox="1"/>
          <p:nvPr/>
        </p:nvSpPr>
        <p:spPr>
          <a:xfrm>
            <a:off x="381464" y="3243137"/>
            <a:ext cx="347402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smtClean="0">
                <a:solidFill>
                  <a:schemeClr val="accent1">
                    <a:lumMod val="50000"/>
                  </a:schemeClr>
                </a:solidFill>
                <a:latin typeface="Arial" panose="020B0604020202020204" pitchFamily="34" charset="0"/>
                <a:cs typeface="Arial" panose="020B0604020202020204" pitchFamily="34" charset="0"/>
              </a:rPr>
              <a:t>命名</a:t>
            </a:r>
            <a:r>
              <a:rPr lang="zh-CN" altLang="en-US" dirty="0">
                <a:solidFill>
                  <a:schemeClr val="accent1">
                    <a:lumMod val="50000"/>
                  </a:schemeClr>
                </a:solidFill>
                <a:latin typeface="Arial" panose="020B0604020202020204" pitchFamily="34" charset="0"/>
                <a:cs typeface="Arial" panose="020B0604020202020204" pitchFamily="34" charset="0"/>
              </a:rPr>
              <a:t>空间与数据库的映射</a:t>
            </a:r>
            <a:r>
              <a:rPr lang="zh-CN" altLang="en-US" dirty="0" smtClean="0">
                <a:solidFill>
                  <a:schemeClr val="accent1">
                    <a:lumMod val="50000"/>
                  </a:schemeClr>
                </a:solidFill>
                <a:latin typeface="Arial" panose="020B0604020202020204" pitchFamily="34" charset="0"/>
                <a:cs typeface="Arial" panose="020B0604020202020204" pitchFamily="34" charset="0"/>
              </a:rPr>
              <a:t>关系</a:t>
            </a:r>
            <a:endParaRPr lang="zh-CN" altLang="en-US" dirty="0">
              <a:solidFill>
                <a:schemeClr val="accent1">
                  <a:lumMod val="50000"/>
                </a:schemeClr>
              </a:solidFill>
              <a:latin typeface="Arial" panose="020B0604020202020204" pitchFamily="34" charset="0"/>
              <a:cs typeface="Arial" panose="020B0604020202020204" pitchFamily="34" charset="0"/>
            </a:endParaRPr>
          </a:p>
        </p:txBody>
      </p:sp>
      <p:sp>
        <p:nvSpPr>
          <p:cNvPr id="11" name="矩形 66"/>
          <p:cNvSpPr>
            <a:spLocks noChangeArrowheads="1"/>
          </p:cNvSpPr>
          <p:nvPr/>
        </p:nvSpPr>
        <p:spPr bwMode="auto">
          <a:xfrm>
            <a:off x="608063" y="4925221"/>
            <a:ext cx="1089239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15340">
              <a:lnSpc>
                <a:spcPct val="150000"/>
              </a:lnSpc>
              <a:spcBef>
                <a:spcPts val="600"/>
              </a:spcBef>
              <a:spcAft>
                <a:spcPts val="600"/>
              </a:spcAft>
              <a:buFont typeface="Arial" panose="020B0604020202020204" pitchFamily="34" charset="0"/>
              <a:buNone/>
            </a:pPr>
            <a:r>
              <a:rPr lang="zh-CN" altLang="en-US" sz="1400" dirty="0">
                <a:solidFill>
                  <a:schemeClr val="accent1">
                    <a:lumMod val="50000"/>
                  </a:schemeClr>
                </a:solidFill>
                <a:latin typeface="Arial" panose="020B0604020202020204" pitchFamily="34" charset="0"/>
              </a:rPr>
              <a:t>应用程序通过</a:t>
            </a:r>
            <a:r>
              <a:rPr lang="zh-CN" altLang="en-US" sz="1400" dirty="0">
                <a:solidFill>
                  <a:srgbClr val="FF0000"/>
                </a:solidFill>
                <a:latin typeface="Arial" panose="020B0604020202020204" pitchFamily="34" charset="0"/>
              </a:rPr>
              <a:t>命名空间</a:t>
            </a:r>
            <a:r>
              <a:rPr lang="zh-CN" altLang="en-US" sz="1400" dirty="0">
                <a:solidFill>
                  <a:schemeClr val="accent1">
                    <a:lumMod val="50000"/>
                  </a:schemeClr>
                </a:solidFill>
                <a:latin typeface="Arial" panose="020B0604020202020204" pitchFamily="34" charset="0"/>
              </a:rPr>
              <a:t>访问数据库里的数据和程序，因此</a:t>
            </a:r>
            <a:r>
              <a:rPr lang="en-US" altLang="zh-CN" sz="1400" dirty="0">
                <a:solidFill>
                  <a:schemeClr val="accent1">
                    <a:lumMod val="50000"/>
                  </a:schemeClr>
                </a:solidFill>
                <a:latin typeface="Arial" panose="020B0604020202020204" pitchFamily="34" charset="0"/>
              </a:rPr>
              <a:t>, </a:t>
            </a:r>
            <a:r>
              <a:rPr lang="zh-CN" altLang="en-US" sz="1400" dirty="0">
                <a:solidFill>
                  <a:srgbClr val="FF0000"/>
                </a:solidFill>
                <a:latin typeface="Arial" panose="020B0604020202020204" pitchFamily="34" charset="0"/>
              </a:rPr>
              <a:t>命名空间和数据库之间要建立映射</a:t>
            </a:r>
            <a:r>
              <a:rPr lang="zh-CN" altLang="en-US" sz="1400" dirty="0">
                <a:solidFill>
                  <a:schemeClr val="accent1">
                    <a:lumMod val="50000"/>
                  </a:schemeClr>
                </a:solidFill>
                <a:latin typeface="Arial" panose="020B0604020202020204" pitchFamily="34" charset="0"/>
              </a:rPr>
              <a:t>。命名空间和数据库之间的映射不一定是一对一的。一个数据库可以被多个命名空间访问；相反，一个命名空间可以访问多个数据库里的数据。</a:t>
            </a:r>
            <a:r>
              <a:rPr lang="zh-CN" altLang="en-US" sz="1400" dirty="0">
                <a:solidFill>
                  <a:srgbClr val="FF0000"/>
                </a:solidFill>
                <a:latin typeface="Arial" panose="020B0604020202020204" pitchFamily="34" charset="0"/>
              </a:rPr>
              <a:t>建立命名空间的主要工作就是建立与数据库的映射</a:t>
            </a:r>
            <a:r>
              <a:rPr lang="zh-CN" altLang="en-US" sz="1400" dirty="0">
                <a:solidFill>
                  <a:schemeClr val="accent1">
                    <a:lumMod val="50000"/>
                  </a:schemeClr>
                </a:solidFill>
                <a:latin typeface="Arial" panose="020B0604020202020204" pitchFamily="34" charset="0"/>
              </a:rPr>
              <a:t>，这样做可以将程序逻辑与物理存在的数据独立开来，便于开发人员专注于系统功能设计，不需要为未来实施时不同的系统架构而作出额外的工序，系统架构也因为这样变得更灵活。</a:t>
            </a:r>
            <a:endParaRPr lang="en-US" altLang="zh-CN" sz="1400" dirty="0">
              <a:solidFill>
                <a:schemeClr val="accent1">
                  <a:lumMod val="50000"/>
                </a:schemeClr>
              </a:solidFill>
              <a:latin typeface="Arial" panose="020B0604020202020204" pitchFamily="34" charset="0"/>
            </a:endParaRPr>
          </a:p>
        </p:txBody>
      </p:sp>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25405" y="1496292"/>
            <a:ext cx="5865533" cy="2912040"/>
          </a:xfrm>
          <a:prstGeom prst="rect">
            <a:avLst/>
          </a:prstGeom>
          <a:ln>
            <a:solidFill>
              <a:schemeClr val="tx1">
                <a:lumMod val="50000"/>
                <a:lumOff val="50000"/>
              </a:schemeClr>
            </a:solidFill>
          </a:ln>
        </p:spPr>
      </p:pic>
      <p:sp>
        <p:nvSpPr>
          <p:cNvPr id="100" name="文本框 99"/>
          <p:cNvSpPr txBox="1"/>
          <p:nvPr/>
        </p:nvSpPr>
        <p:spPr>
          <a:xfrm>
            <a:off x="608330" y="3832225"/>
            <a:ext cx="5608955" cy="737235"/>
          </a:xfrm>
          <a:prstGeom prst="rect">
            <a:avLst/>
          </a:prstGeom>
          <a:noFill/>
          <a:ln w="9525">
            <a:noFill/>
          </a:ln>
        </p:spPr>
        <p:txBody>
          <a:bodyPr wrap="square">
            <a:spAutoFit/>
          </a:bodyPr>
          <a:p>
            <a:pPr indent="0"/>
            <a:r>
              <a:rPr lang="en-US" altLang="zh-CN" sz="1400" dirty="0">
                <a:solidFill>
                  <a:schemeClr val="accent1">
                    <a:lumMod val="50000"/>
                  </a:schemeClr>
                </a:solidFill>
                <a:latin typeface="Arial" panose="020B0604020202020204" pitchFamily="34" charset="0"/>
              </a:rPr>
              <a:t>在Caché 里，命名空间(Namespace),也称名字空间，是Caché 中资源的逻辑表示方式。它是一个虚拟的、逻辑的工作空间。系统管理员可以在一个命名空间中定义不同的小组或个人所需的各项数据资源。</a:t>
            </a:r>
            <a:endParaRPr lang="en-US" altLang="zh-CN" sz="1400" dirty="0">
              <a:solidFill>
                <a:schemeClr val="accent1">
                  <a:lumMod val="50000"/>
                </a:schemeClr>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up)">
                                      <p:cBhvr>
                                        <p:cTn id="8" dur="500"/>
                                        <p:tgtEl>
                                          <p:spTgt spid="6"/>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ppt_y</p:attrName>
                                        </p:attrNameLst>
                                      </p:cBhvr>
                                      <p:tavLst>
                                        <p:tav tm="0">
                                          <p:val>
                                            <p:strVal val="#ppt_y+#ppt_h*1.125000"/>
                                          </p:val>
                                        </p:tav>
                                        <p:tav tm="100000">
                                          <p:val>
                                            <p:strVal val="#ppt_y"/>
                                          </p:val>
                                        </p:tav>
                                      </p:tavLst>
                                    </p:anim>
                                    <p:animEffect transition="in" filter="wipe(up)">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1"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a:sym typeface="微软雅黑" panose="020B0503020204020204" pitchFamily="34" charset="-122"/>
              </a:rPr>
              <a:t>|</a:t>
            </a:r>
            <a:r>
              <a:rPr lang="zh-CN" altLang="en-US" dirty="0">
                <a:sym typeface="微软雅黑" panose="020B0503020204020204" pitchFamily="34" charset="-122"/>
              </a:rPr>
              <a:t>  </a:t>
            </a:r>
            <a:r>
              <a:rPr lang="zh-CN" altLang="en-US" dirty="0" smtClean="0">
                <a:sym typeface="微软雅黑" panose="020B0503020204020204" pitchFamily="34" charset="-122"/>
              </a:rPr>
              <a:t>第二节  </a:t>
            </a:r>
            <a:r>
              <a:rPr lang="en-US" altLang="zh-CN" dirty="0" err="1" smtClean="0"/>
              <a:t>Caché</a:t>
            </a:r>
            <a:r>
              <a:rPr lang="zh-CN" altLang="en-US" dirty="0"/>
              <a:t>开发环境简单介绍</a:t>
            </a:r>
            <a:r>
              <a:rPr lang="en-US" altLang="zh-CN" dirty="0"/>
              <a:t>——</a:t>
            </a:r>
            <a:r>
              <a:rPr lang="en-US" altLang="zh-CN" dirty="0" err="1"/>
              <a:t>Caché</a:t>
            </a:r>
            <a:r>
              <a:rPr lang="zh-CN" altLang="en-US" dirty="0"/>
              <a:t>的菜单</a:t>
            </a:r>
            <a:endParaRPr lang="zh-CN" altLang="en-US" dirty="0"/>
          </a:p>
        </p:txBody>
      </p:sp>
      <p:graphicFrame>
        <p:nvGraphicFramePr>
          <p:cNvPr id="3" name="表格 2"/>
          <p:cNvGraphicFramePr>
            <a:graphicFrameLocks noGrp="1"/>
          </p:cNvGraphicFramePr>
          <p:nvPr/>
        </p:nvGraphicFramePr>
        <p:xfrm>
          <a:off x="502147" y="1371209"/>
          <a:ext cx="11260362" cy="5202936"/>
        </p:xfrm>
        <a:graphic>
          <a:graphicData uri="http://schemas.openxmlformats.org/drawingml/2006/table">
            <a:tbl>
              <a:tblPr firstRow="1" bandRow="1">
                <a:tableStyleId>{F5AB1C69-6EDB-4FF4-983F-18BD219EF322}</a:tableStyleId>
              </a:tblPr>
              <a:tblGrid>
                <a:gridCol w="1876727"/>
                <a:gridCol w="1435144"/>
                <a:gridCol w="7948491"/>
              </a:tblGrid>
              <a:tr h="0">
                <a:tc>
                  <a:txBody>
                    <a:bodyPr/>
                    <a:lstStyle/>
                    <a:p>
                      <a:pPr algn="ctr"/>
                      <a:r>
                        <a:rPr lang="zh-CN" altLang="en-US" sz="1400" dirty="0" smtClean="0"/>
                        <a:t>菜单项</a:t>
                      </a:r>
                      <a:endParaRPr lang="zh-CN" altLang="en-US" sz="1400" dirty="0"/>
                    </a:p>
                  </a:txBody>
                  <a:tcPr/>
                </a:tc>
                <a:tc>
                  <a:txBody>
                    <a:bodyPr/>
                    <a:lstStyle/>
                    <a:p>
                      <a:pPr algn="ctr"/>
                      <a:r>
                        <a:rPr lang="zh-CN" altLang="en-US" sz="1400" dirty="0" smtClean="0"/>
                        <a:t>中文名称</a:t>
                      </a:r>
                      <a:endParaRPr lang="zh-CN" altLang="en-US" sz="1400" dirty="0"/>
                    </a:p>
                  </a:txBody>
                  <a:tcPr/>
                </a:tc>
                <a:tc>
                  <a:txBody>
                    <a:bodyPr/>
                    <a:lstStyle/>
                    <a:p>
                      <a:pPr algn="ctr"/>
                      <a:r>
                        <a:rPr lang="zh-CN" altLang="en-US" sz="1400" dirty="0" smtClean="0"/>
                        <a:t>功能</a:t>
                      </a:r>
                      <a:endParaRPr lang="zh-CN" altLang="en-US" sz="1400" dirty="0"/>
                    </a:p>
                  </a:txBody>
                  <a:tcPr/>
                </a:tc>
              </a:tr>
              <a:tr h="370840">
                <a:tc>
                  <a:txBody>
                    <a:bodyPr/>
                    <a:lstStyle/>
                    <a:p>
                      <a:pPr algn="l"/>
                      <a:r>
                        <a:rPr lang="en-US" altLang="zh-CN" sz="1400" dirty="0" smtClean="0"/>
                        <a:t>Getting Started</a:t>
                      </a:r>
                      <a:endParaRPr lang="zh-CN" altLang="en-US" sz="1400" dirty="0"/>
                    </a:p>
                  </a:txBody>
                  <a:tcPr anchor="ctr"/>
                </a:tc>
                <a:tc>
                  <a:txBody>
                    <a:bodyPr/>
                    <a:lstStyle/>
                    <a:p>
                      <a:pPr algn="l"/>
                      <a:r>
                        <a:rPr lang="zh-CN" altLang="en-US" sz="1400" dirty="0" smtClean="0"/>
                        <a:t>入门文档</a:t>
                      </a:r>
                      <a:endParaRPr lang="zh-CN" altLang="en-US" sz="1400" dirty="0"/>
                    </a:p>
                  </a:txBody>
                  <a:tcPr anchor="ctr"/>
                </a:tc>
                <a:tc>
                  <a:txBody>
                    <a:bodyPr/>
                    <a:lstStyle/>
                    <a:p>
                      <a:pPr algn="l"/>
                      <a:r>
                        <a:rPr lang="zh-CN" altLang="en-US" sz="1400" dirty="0" smtClean="0"/>
                        <a:t>初学者可从中获取必要的信息</a:t>
                      </a:r>
                      <a:endParaRPr lang="zh-CN" altLang="en-US" sz="1400" dirty="0"/>
                    </a:p>
                  </a:txBody>
                  <a:tcPr anchor="ctr"/>
                </a:tc>
              </a:tr>
              <a:tr h="370840">
                <a:tc>
                  <a:txBody>
                    <a:bodyPr/>
                    <a:lstStyle/>
                    <a:p>
                      <a:pPr algn="l"/>
                      <a:r>
                        <a:rPr lang="en-US" altLang="zh-CN" sz="1400" dirty="0" smtClean="0"/>
                        <a:t>Start </a:t>
                      </a:r>
                      <a:r>
                        <a:rPr lang="en-US" altLang="zh-CN" sz="1400" dirty="0" err="1" smtClean="0"/>
                        <a:t>Caché</a:t>
                      </a:r>
                      <a:r>
                        <a:rPr lang="en-US" altLang="zh-CN" sz="1400" dirty="0" smtClean="0"/>
                        <a:t> [xxx]</a:t>
                      </a:r>
                      <a:endParaRPr lang="zh-CN" altLang="en-US" sz="1400" dirty="0"/>
                    </a:p>
                  </a:txBody>
                  <a:tcPr anchor="ctr"/>
                </a:tc>
                <a:tc>
                  <a:txBody>
                    <a:bodyPr/>
                    <a:lstStyle/>
                    <a:p>
                      <a:pPr algn="l"/>
                      <a:r>
                        <a:rPr lang="zh-CN" altLang="en-US" sz="1400" dirty="0" smtClean="0"/>
                        <a:t>启动</a:t>
                      </a:r>
                      <a:r>
                        <a:rPr lang="en-US" altLang="zh-CN" sz="1400" dirty="0" err="1" smtClean="0"/>
                        <a:t>Caché</a:t>
                      </a:r>
                      <a:endParaRPr lang="zh-CN" altLang="en-US" sz="1400" dirty="0"/>
                    </a:p>
                  </a:txBody>
                  <a:tcPr anchor="ctr"/>
                </a:tc>
                <a:tc>
                  <a:txBody>
                    <a:bodyPr/>
                    <a:lstStyle/>
                    <a:p>
                      <a:pPr algn="l"/>
                      <a:r>
                        <a:rPr lang="zh-CN" altLang="en-US" sz="1400" dirty="0" smtClean="0"/>
                        <a:t>启动</a:t>
                      </a:r>
                      <a:r>
                        <a:rPr lang="en-US" altLang="zh-CN" sz="1400" dirty="0" err="1" smtClean="0"/>
                        <a:t>Caché</a:t>
                      </a:r>
                      <a:r>
                        <a:rPr lang="zh-CN" altLang="en-US" sz="1400" dirty="0" smtClean="0"/>
                        <a:t>服务</a:t>
                      </a:r>
                      <a:endParaRPr lang="zh-CN" altLang="en-US" sz="1400" dirty="0"/>
                    </a:p>
                  </a:txBody>
                  <a:tcPr anchor="ctr"/>
                </a:tc>
              </a:tr>
              <a:tr h="370840">
                <a:tc>
                  <a:txBody>
                    <a:bodyPr/>
                    <a:lstStyle/>
                    <a:p>
                      <a:pPr algn="l"/>
                      <a:r>
                        <a:rPr lang="en-US" altLang="zh-CN" sz="1400" dirty="0" smtClean="0"/>
                        <a:t>Stop </a:t>
                      </a:r>
                      <a:r>
                        <a:rPr lang="en-US" altLang="zh-CN" sz="1400" dirty="0" err="1" smtClean="0"/>
                        <a:t>Caché</a:t>
                      </a:r>
                      <a:endParaRPr lang="zh-CN" altLang="en-US" sz="1400" dirty="0"/>
                    </a:p>
                  </a:txBody>
                  <a:tcPr anchor="ctr"/>
                </a:tc>
                <a:tc>
                  <a:txBody>
                    <a:bodyPr/>
                    <a:lstStyle/>
                    <a:p>
                      <a:pPr algn="l"/>
                      <a:r>
                        <a:rPr lang="zh-CN" altLang="en-US" sz="1400" dirty="0" smtClean="0"/>
                        <a:t>关闭</a:t>
                      </a:r>
                      <a:r>
                        <a:rPr lang="en-US" altLang="zh-CN" sz="1400" dirty="0" err="1" smtClean="0"/>
                        <a:t>Caché</a:t>
                      </a:r>
                      <a:endParaRPr lang="zh-CN" altLang="en-US" sz="1400" dirty="0"/>
                    </a:p>
                  </a:txBody>
                  <a:tcPr anchor="ctr"/>
                </a:tc>
                <a:tc>
                  <a:txBody>
                    <a:bodyPr/>
                    <a:lstStyle/>
                    <a:p>
                      <a:pPr algn="l"/>
                      <a:r>
                        <a:rPr lang="zh-CN" altLang="en-US" sz="1400" dirty="0" smtClean="0"/>
                        <a:t>关闭</a:t>
                      </a:r>
                      <a:r>
                        <a:rPr lang="en-US" altLang="zh-CN" sz="1400" dirty="0" err="1" smtClean="0"/>
                        <a:t>Caché</a:t>
                      </a:r>
                      <a:r>
                        <a:rPr lang="zh-CN" altLang="en-US" sz="1400" dirty="0" smtClean="0"/>
                        <a:t>服务。点击后选择是要关闭还是要重新启动</a:t>
                      </a:r>
                      <a:r>
                        <a:rPr lang="en-US" altLang="zh-CN" sz="1400" dirty="0" err="1" smtClean="0"/>
                        <a:t>Caché</a:t>
                      </a:r>
                      <a:endParaRPr lang="zh-CN" altLang="en-US" sz="1400" dirty="0"/>
                    </a:p>
                  </a:txBody>
                  <a:tcPr anchor="ctr"/>
                </a:tc>
              </a:tr>
              <a:tr h="1709504">
                <a:tc>
                  <a:txBody>
                    <a:bodyPr/>
                    <a:lstStyle/>
                    <a:p>
                      <a:pPr algn="l"/>
                      <a:r>
                        <a:rPr lang="en-US" altLang="zh-CN" sz="1400" dirty="0" smtClean="0"/>
                        <a:t>Studio</a:t>
                      </a:r>
                      <a:endParaRPr lang="zh-CN" altLang="en-US" sz="1400" b="1" dirty="0">
                        <a:solidFill>
                          <a:srgbClr val="FF0000"/>
                        </a:solidFill>
                      </a:endParaRPr>
                    </a:p>
                  </a:txBody>
                  <a:tcPr anchor="ctr"/>
                </a:tc>
                <a:tc>
                  <a:txBody>
                    <a:bodyPr/>
                    <a:lstStyle/>
                    <a:p>
                      <a:pPr algn="l"/>
                      <a:r>
                        <a:rPr lang="zh-CN" altLang="en-US" sz="1400" dirty="0" smtClean="0"/>
                        <a:t>工作室</a:t>
                      </a:r>
                      <a:endParaRPr lang="zh-CN" altLang="en-US" sz="1400" dirty="0"/>
                    </a:p>
                  </a:txBody>
                  <a:tcPr anchor="ctr"/>
                </a:tc>
                <a:tc>
                  <a:txBody>
                    <a:bodyPr/>
                    <a:lstStyle/>
                    <a:p>
                      <a:pPr marL="0" indent="0" algn="l">
                        <a:lnSpc>
                          <a:spcPct val="130000"/>
                        </a:lnSpc>
                        <a:spcBef>
                          <a:spcPts val="600"/>
                        </a:spcBef>
                        <a:spcAft>
                          <a:spcPts val="600"/>
                        </a:spcAft>
                        <a:buNone/>
                      </a:pPr>
                      <a:r>
                        <a:rPr lang="en-US" altLang="zh-CN" sz="1400" dirty="0" err="1" smtClean="0"/>
                        <a:t>Caché</a:t>
                      </a:r>
                      <a:r>
                        <a:rPr lang="en-US" altLang="zh-CN" sz="1400" dirty="0" smtClean="0"/>
                        <a:t> Studio</a:t>
                      </a:r>
                      <a:r>
                        <a:rPr lang="zh-CN" altLang="en-US" sz="1400" dirty="0" smtClean="0"/>
                        <a:t>是</a:t>
                      </a:r>
                      <a:r>
                        <a:rPr lang="en-US" altLang="zh-CN" sz="1400" dirty="0" err="1" smtClean="0"/>
                        <a:t>Caché</a:t>
                      </a:r>
                      <a:r>
                        <a:rPr lang="zh-CN" altLang="en-US" sz="1400" dirty="0" smtClean="0"/>
                        <a:t>主要的开发环境，它是一个集成的可视化的开发环境。它提供了许多高性能的特性，帮助用户进行快速开发。这些特性主要包括如下的几部分：</a:t>
                      </a:r>
                      <a:endParaRPr lang="zh-CN" altLang="en-US" sz="1400" dirty="0" smtClean="0"/>
                    </a:p>
                    <a:p>
                      <a:pPr marL="264795" lvl="0" indent="-228600" algn="l">
                        <a:lnSpc>
                          <a:spcPct val="130000"/>
                        </a:lnSpc>
                        <a:spcBef>
                          <a:spcPts val="0"/>
                        </a:spcBef>
                        <a:buFont typeface="+mj-ea"/>
                        <a:buAutoNum type="circleNumDbPlain"/>
                      </a:pPr>
                      <a:r>
                        <a:rPr lang="zh-CN" altLang="en-US" sz="1400" dirty="0" smtClean="0"/>
                        <a:t>可以在这一个单独的集成环境中定义</a:t>
                      </a:r>
                      <a:r>
                        <a:rPr lang="en-US" altLang="zh-CN" sz="1400" dirty="0" smtClean="0"/>
                        <a:t>Class</a:t>
                      </a:r>
                      <a:r>
                        <a:rPr lang="zh-CN" altLang="en-US" sz="1400" dirty="0" smtClean="0"/>
                        <a:t>、</a:t>
                      </a:r>
                      <a:r>
                        <a:rPr lang="en-US" altLang="zh-CN" sz="1400" dirty="0" smtClean="0"/>
                        <a:t>Routine</a:t>
                      </a:r>
                      <a:r>
                        <a:rPr lang="zh-CN" altLang="en-US" sz="1400" dirty="0" smtClean="0"/>
                        <a:t>，生成</a:t>
                      </a:r>
                      <a:r>
                        <a:rPr lang="en-US" altLang="zh-CN" sz="1400" dirty="0" smtClean="0"/>
                        <a:t>CSP</a:t>
                      </a:r>
                      <a:r>
                        <a:rPr lang="zh-CN" altLang="en-US" sz="1400" dirty="0" smtClean="0"/>
                        <a:t>文件。</a:t>
                      </a:r>
                      <a:r>
                        <a:rPr lang="en-US" altLang="zh-CN" sz="1400" dirty="0" smtClean="0"/>
                        <a:t>  </a:t>
                      </a:r>
                      <a:endParaRPr lang="zh-CN" altLang="en-US" sz="1400" dirty="0" smtClean="0"/>
                    </a:p>
                    <a:p>
                      <a:pPr marL="264795" lvl="0" indent="-228600" algn="l">
                        <a:lnSpc>
                          <a:spcPct val="130000"/>
                        </a:lnSpc>
                        <a:spcBef>
                          <a:spcPts val="0"/>
                        </a:spcBef>
                        <a:buFont typeface="+mj-ea"/>
                        <a:buAutoNum type="circleNumDbPlain"/>
                      </a:pPr>
                      <a:r>
                        <a:rPr lang="zh-CN" altLang="en-US" sz="1400" dirty="0" smtClean="0"/>
                        <a:t>功能强大的文字编辑功能，并对各种通用语言进行语法检查。 </a:t>
                      </a:r>
                      <a:endParaRPr lang="zh-CN" altLang="en-US" sz="1400" dirty="0" smtClean="0"/>
                    </a:p>
                    <a:p>
                      <a:pPr marL="264795" lvl="0" indent="-228600" algn="l">
                        <a:lnSpc>
                          <a:spcPct val="130000"/>
                        </a:lnSpc>
                        <a:spcBef>
                          <a:spcPts val="0"/>
                        </a:spcBef>
                        <a:buFont typeface="+mj-ea"/>
                        <a:buAutoNum type="circleNumDbPlain"/>
                      </a:pPr>
                      <a:r>
                        <a:rPr lang="zh-CN" altLang="en-US" sz="1400" dirty="0" smtClean="0"/>
                        <a:t>支持团队协同开发。 </a:t>
                      </a:r>
                      <a:endParaRPr lang="zh-CN" altLang="en-US" sz="1400" dirty="0" smtClean="0"/>
                    </a:p>
                    <a:p>
                      <a:pPr marL="264795" lvl="0" indent="-228600" algn="l">
                        <a:lnSpc>
                          <a:spcPct val="130000"/>
                        </a:lnSpc>
                        <a:spcBef>
                          <a:spcPts val="0"/>
                        </a:spcBef>
                        <a:buFont typeface="+mj-ea"/>
                        <a:buAutoNum type="circleNumDbPlain"/>
                      </a:pPr>
                      <a:r>
                        <a:rPr lang="zh-CN" altLang="en-US" sz="1400" dirty="0" smtClean="0"/>
                        <a:t>图形化的代码级调试器。 </a:t>
                      </a:r>
                      <a:endParaRPr lang="zh-CN" altLang="en-US" sz="1400" dirty="0" smtClean="0"/>
                    </a:p>
                    <a:p>
                      <a:pPr marL="264795" lvl="0" indent="-228600" algn="l">
                        <a:lnSpc>
                          <a:spcPct val="130000"/>
                        </a:lnSpc>
                        <a:spcBef>
                          <a:spcPts val="0"/>
                        </a:spcBef>
                        <a:buFont typeface="+mj-ea"/>
                        <a:buAutoNum type="circleNumDbPlain"/>
                      </a:pPr>
                      <a:r>
                        <a:rPr lang="zh-CN" altLang="en-US" sz="1400" dirty="0" smtClean="0"/>
                        <a:t>可以在工程中布置应用程序代码。 </a:t>
                      </a:r>
                      <a:endParaRPr lang="en-US" altLang="zh-CN" sz="1400" dirty="0" smtClean="0">
                        <a:latin typeface="宋体" panose="02010600030101010101" pitchFamily="2" charset="-122"/>
                        <a:ea typeface="+mn-ea"/>
                      </a:endParaRPr>
                    </a:p>
                  </a:txBody>
                  <a:tcPr anchor="ctr"/>
                </a:tc>
              </a:tr>
              <a:tr h="304800">
                <a:tc>
                  <a:txBody>
                    <a:bodyPr/>
                    <a:lstStyle/>
                    <a:p>
                      <a:pPr algn="l"/>
                      <a:r>
                        <a:rPr lang="en-US" altLang="zh-CN" sz="1400" dirty="0" smtClean="0"/>
                        <a:t>Terminal</a:t>
                      </a:r>
                      <a:endParaRPr lang="zh-CN" altLang="en-US" sz="1400" b="1" dirty="0">
                        <a:solidFill>
                          <a:srgbClr val="FF0000"/>
                        </a:solidFill>
                      </a:endParaRPr>
                    </a:p>
                  </a:txBody>
                  <a:tcPr anchor="ctr"/>
                </a:tc>
                <a:tc>
                  <a:txBody>
                    <a:bodyPr/>
                    <a:lstStyle/>
                    <a:p>
                      <a:pPr algn="l"/>
                      <a:r>
                        <a:rPr lang="zh-CN" altLang="en-US" sz="1400" dirty="0" smtClean="0"/>
                        <a:t>终端</a:t>
                      </a:r>
                      <a:endParaRPr lang="zh-CN" altLang="en-US" sz="1400" dirty="0"/>
                    </a:p>
                  </a:txBody>
                  <a:tcPr anchor="ctr"/>
                </a:tc>
                <a:tc>
                  <a:txBody>
                    <a:bodyPr/>
                    <a:lstStyle/>
                    <a:p>
                      <a:pPr algn="l"/>
                      <a:r>
                        <a:rPr lang="zh-CN" altLang="en-US" sz="1400" dirty="0" smtClean="0"/>
                        <a:t>终端调试平台，通过类似于</a:t>
                      </a:r>
                      <a:r>
                        <a:rPr lang="en-US" altLang="zh-CN" sz="1400" dirty="0" smtClean="0"/>
                        <a:t>DOS</a:t>
                      </a:r>
                      <a:r>
                        <a:rPr lang="zh-CN" altLang="en-US" sz="1400" dirty="0" smtClean="0"/>
                        <a:t>的终端界面访问</a:t>
                      </a:r>
                      <a:r>
                        <a:rPr lang="en-US" altLang="zh-CN" sz="1400" dirty="0" err="1" smtClean="0"/>
                        <a:t>Caché</a:t>
                      </a:r>
                      <a:endParaRPr lang="zh-CN" altLang="en-US" sz="1400" dirty="0"/>
                    </a:p>
                  </a:txBody>
                  <a:tcPr anchor="ctr"/>
                </a:tc>
              </a:tr>
              <a:tr h="200152">
                <a:tc>
                  <a:txBody>
                    <a:bodyPr/>
                    <a:lstStyle/>
                    <a:p>
                      <a:pPr>
                        <a:lnSpc>
                          <a:spcPct val="150000"/>
                        </a:lnSpc>
                      </a:pPr>
                      <a:r>
                        <a:rPr lang="en-US" altLang="zh-CN" sz="1400" dirty="0" smtClean="0"/>
                        <a:t>Management Portal</a:t>
                      </a:r>
                      <a:endParaRPr lang="zh-CN" altLang="en-US" sz="1400" b="1" dirty="0">
                        <a:solidFill>
                          <a:srgbClr val="FF0000"/>
                        </a:solidFill>
                      </a:endParaRPr>
                    </a:p>
                  </a:txBody>
                  <a:tcPr/>
                </a:tc>
                <a:tc>
                  <a:txBody>
                    <a:bodyPr/>
                    <a:lstStyle/>
                    <a:p>
                      <a:pPr>
                        <a:lnSpc>
                          <a:spcPct val="150000"/>
                        </a:lnSpc>
                      </a:pPr>
                      <a:r>
                        <a:rPr lang="zh-CN" altLang="en-US" sz="1400" dirty="0" smtClean="0"/>
                        <a:t>管理门户</a:t>
                      </a:r>
                      <a:endParaRPr lang="zh-CN" altLang="en-US" sz="1400" dirty="0"/>
                    </a:p>
                  </a:txBody>
                  <a:tcPr/>
                </a:tc>
                <a:tc>
                  <a:txBody>
                    <a:bodyPr/>
                    <a:lstStyle/>
                    <a:p>
                      <a:pPr marL="264795" indent="-228600">
                        <a:lnSpc>
                          <a:spcPct val="150000"/>
                        </a:lnSpc>
                        <a:spcBef>
                          <a:spcPts val="0"/>
                        </a:spcBef>
                        <a:buFont typeface="+mj-ea"/>
                        <a:buAutoNum type="circleNumDbPlain"/>
                      </a:pPr>
                      <a:r>
                        <a:rPr lang="en-US" altLang="zh-CN" sz="1400" dirty="0" smtClean="0"/>
                        <a:t>[</a:t>
                      </a:r>
                      <a:r>
                        <a:rPr lang="en-US" altLang="zh-CN" sz="1400" dirty="0" smtClean="0">
                          <a:hlinkClick r:id="rId1"/>
                        </a:rPr>
                        <a:t>Home</a:t>
                      </a:r>
                      <a:r>
                        <a:rPr lang="en-US" altLang="zh-CN" sz="1400" dirty="0" smtClean="0"/>
                        <a:t>]&gt;[</a:t>
                      </a:r>
                      <a:r>
                        <a:rPr lang="en-US" altLang="zh-CN" sz="1400" dirty="0" smtClean="0">
                          <a:hlinkClick r:id="rId2"/>
                        </a:rPr>
                        <a:t>Configuration</a:t>
                      </a:r>
                      <a:r>
                        <a:rPr lang="en-US" altLang="zh-CN" sz="1400" dirty="0" smtClean="0"/>
                        <a:t>]&gt;[</a:t>
                      </a:r>
                      <a:r>
                        <a:rPr lang="en-US" altLang="zh-CN" sz="1400" dirty="0" smtClean="0">
                          <a:hlinkClick r:id="rId3"/>
                        </a:rPr>
                        <a:t>Local Databases</a:t>
                      </a:r>
                      <a:r>
                        <a:rPr lang="en-US" altLang="zh-CN" sz="1400" dirty="0" smtClean="0"/>
                        <a:t>]</a:t>
                      </a:r>
                      <a:r>
                        <a:rPr lang="zh-CN" altLang="en-US" sz="1400" dirty="0" smtClean="0"/>
                        <a:t>：数据库路径配置</a:t>
                      </a:r>
                      <a:endParaRPr lang="zh-CN" altLang="en-US" sz="1400" dirty="0" smtClean="0"/>
                    </a:p>
                    <a:p>
                      <a:pPr marL="264795" indent="-228600">
                        <a:lnSpc>
                          <a:spcPct val="150000"/>
                        </a:lnSpc>
                        <a:spcBef>
                          <a:spcPts val="0"/>
                        </a:spcBef>
                        <a:buFont typeface="+mj-ea"/>
                        <a:buAutoNum type="circleNumDbPlain"/>
                      </a:pPr>
                      <a:r>
                        <a:rPr lang="en-US" altLang="zh-CN" sz="1400" dirty="0" smtClean="0"/>
                        <a:t>[</a:t>
                      </a:r>
                      <a:r>
                        <a:rPr lang="en-US" altLang="zh-CN" sz="1400" dirty="0" smtClean="0">
                          <a:hlinkClick r:id="rId4"/>
                        </a:rPr>
                        <a:t>Home</a:t>
                      </a:r>
                      <a:r>
                        <a:rPr lang="en-US" altLang="zh-CN" sz="1400" dirty="0" smtClean="0"/>
                        <a:t>]&gt;[</a:t>
                      </a:r>
                      <a:r>
                        <a:rPr lang="en-US" altLang="zh-CN" sz="1400" dirty="0" smtClean="0">
                          <a:hlinkClick r:id="rId5"/>
                        </a:rPr>
                        <a:t>SQL</a:t>
                      </a:r>
                      <a:r>
                        <a:rPr lang="en-US" altLang="zh-CN" sz="1400" dirty="0" smtClean="0"/>
                        <a:t>]&gt;[</a:t>
                      </a:r>
                      <a:r>
                        <a:rPr lang="en-US" altLang="zh-CN" sz="1400" dirty="0" smtClean="0">
                          <a:hlinkClick r:id="rId6"/>
                        </a:rPr>
                        <a:t>Execute SQL Query</a:t>
                      </a:r>
                      <a:r>
                        <a:rPr lang="en-US" altLang="zh-CN" sz="1400" dirty="0" smtClean="0"/>
                        <a:t>]</a:t>
                      </a:r>
                      <a:r>
                        <a:rPr lang="zh-CN" altLang="en-US" sz="1400" dirty="0" smtClean="0"/>
                        <a:t>：通过关系型方式访问</a:t>
                      </a:r>
                      <a:r>
                        <a:rPr lang="en-US" altLang="zh-CN" sz="1400" dirty="0" err="1" smtClean="0"/>
                        <a:t>Caché</a:t>
                      </a:r>
                      <a:endParaRPr lang="en-US" altLang="zh-CN" sz="1400" dirty="0" smtClean="0"/>
                    </a:p>
                    <a:p>
                      <a:pPr marL="264795" indent="-228600">
                        <a:lnSpc>
                          <a:spcPct val="150000"/>
                        </a:lnSpc>
                        <a:spcBef>
                          <a:spcPts val="0"/>
                        </a:spcBef>
                        <a:buFont typeface="+mj-ea"/>
                        <a:buAutoNum type="circleNumDbPlain"/>
                      </a:pPr>
                      <a:r>
                        <a:rPr lang="en-US" altLang="zh-CN" sz="1400" dirty="0" smtClean="0"/>
                        <a:t>[</a:t>
                      </a:r>
                      <a:r>
                        <a:rPr lang="en-US" altLang="zh-CN" sz="1400" dirty="0" smtClean="0">
                          <a:hlinkClick r:id="rId7"/>
                        </a:rPr>
                        <a:t>Home</a:t>
                      </a:r>
                      <a:r>
                        <a:rPr lang="en-US" altLang="zh-CN" sz="1400" dirty="0" smtClean="0"/>
                        <a:t>]&gt;[</a:t>
                      </a:r>
                      <a:r>
                        <a:rPr lang="en-US" altLang="zh-CN" sz="1400" dirty="0" err="1" smtClean="0">
                          <a:hlinkClick r:id="rId8"/>
                        </a:rPr>
                        <a:t>Globals</a:t>
                      </a:r>
                      <a:r>
                        <a:rPr lang="en-US" altLang="zh-CN" sz="1400" dirty="0" smtClean="0"/>
                        <a:t>]</a:t>
                      </a:r>
                      <a:r>
                        <a:rPr lang="zh-CN" altLang="en-US" sz="1400" dirty="0" smtClean="0"/>
                        <a:t>：查看</a:t>
                      </a:r>
                      <a:r>
                        <a:rPr lang="en-US" altLang="zh-CN" sz="1400" dirty="0" err="1" smtClean="0"/>
                        <a:t>Caché</a:t>
                      </a:r>
                      <a:r>
                        <a:rPr lang="en-US" altLang="zh-CN" sz="1400" dirty="0" smtClean="0"/>
                        <a:t> </a:t>
                      </a:r>
                      <a:r>
                        <a:rPr lang="zh-CN" altLang="en-US" sz="1400" dirty="0" smtClean="0"/>
                        <a:t>中的数据资源，包括多维数组、类和例程</a:t>
                      </a:r>
                      <a:endParaRPr lang="zh-CN" altLang="en-US" sz="1400" dirty="0" smtClean="0"/>
                    </a:p>
                    <a:p>
                      <a:pPr marL="264795" indent="-228600">
                        <a:lnSpc>
                          <a:spcPct val="150000"/>
                        </a:lnSpc>
                        <a:spcBef>
                          <a:spcPts val="0"/>
                        </a:spcBef>
                        <a:buFont typeface="+mj-ea"/>
                        <a:buAutoNum type="circleNumDbPlain"/>
                      </a:pPr>
                      <a:r>
                        <a:rPr lang="en-US" altLang="zh-CN" sz="1400" dirty="0" smtClean="0"/>
                        <a:t>[</a:t>
                      </a:r>
                      <a:r>
                        <a:rPr lang="en-US" altLang="zh-CN" sz="1400" dirty="0" smtClean="0">
                          <a:hlinkClick r:id="rId7"/>
                        </a:rPr>
                        <a:t>Home</a:t>
                      </a:r>
                      <a:r>
                        <a:rPr lang="en-US" altLang="zh-CN" sz="1400" dirty="0" smtClean="0"/>
                        <a:t>]&gt;[</a:t>
                      </a:r>
                      <a:r>
                        <a:rPr lang="en-US" altLang="zh-CN" sz="1400" dirty="0" smtClean="0">
                          <a:hlinkClick r:id="rId9"/>
                        </a:rPr>
                        <a:t>Processes</a:t>
                      </a:r>
                      <a:r>
                        <a:rPr lang="en-US" altLang="zh-CN" sz="1400" dirty="0" smtClean="0"/>
                        <a:t>]</a:t>
                      </a:r>
                      <a:r>
                        <a:rPr lang="zh-CN" altLang="en-US" sz="1400" dirty="0" smtClean="0"/>
                        <a:t>：查看</a:t>
                      </a:r>
                      <a:r>
                        <a:rPr lang="en-US" altLang="zh-CN" sz="1400" dirty="0" err="1" smtClean="0"/>
                        <a:t>Caché</a:t>
                      </a:r>
                      <a:r>
                        <a:rPr lang="zh-CN" altLang="en-US" sz="1400" dirty="0" smtClean="0"/>
                        <a:t>当前进程</a:t>
                      </a:r>
                      <a:endParaRPr lang="zh-CN" altLang="en-US" sz="1400" dirty="0" smtClean="0">
                        <a:latin typeface="宋体" panose="02010600030101010101" pitchFamily="2" charset="-122"/>
                        <a:ea typeface="+mn-ea"/>
                      </a:endParaRPr>
                    </a:p>
                  </a:txBody>
                  <a:tcPr/>
                </a:tc>
              </a:tr>
            </a:tbl>
          </a:graphicData>
        </a:graphic>
      </p:graphicFrame>
      <p:pic>
        <p:nvPicPr>
          <p:cNvPr id="5" name="图片 4"/>
          <p:cNvPicPr>
            <a:picLocks noChangeAspect="1"/>
          </p:cNvPicPr>
          <p:nvPr/>
        </p:nvPicPr>
        <p:blipFill>
          <a:blip r:embed="rId10"/>
          <a:stretch>
            <a:fillRect/>
          </a:stretch>
        </p:blipFill>
        <p:spPr>
          <a:xfrm>
            <a:off x="4861871" y="902550"/>
            <a:ext cx="4257143" cy="380952"/>
          </a:xfrm>
          <a:prstGeom prst="rect">
            <a:avLst/>
          </a:prstGeom>
        </p:spPr>
      </p:pic>
      <p:sp>
        <p:nvSpPr>
          <p:cNvPr id="6" name="文本框 34"/>
          <p:cNvSpPr txBox="1">
            <a:spLocks noChangeArrowheads="1"/>
          </p:cNvSpPr>
          <p:nvPr/>
        </p:nvSpPr>
        <p:spPr bwMode="auto">
          <a:xfrm>
            <a:off x="356673" y="908360"/>
            <a:ext cx="68857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en-US" altLang="zh-CN" b="1" dirty="0" err="1" smtClean="0">
                <a:solidFill>
                  <a:schemeClr val="accent1">
                    <a:lumMod val="50000"/>
                  </a:schemeClr>
                </a:solidFill>
                <a:latin typeface="Arial" panose="020B0604020202020204" pitchFamily="34" charset="0"/>
                <a:cs typeface="Arial" panose="020B0604020202020204" pitchFamily="34" charset="0"/>
              </a:rPr>
              <a:t>Caché</a:t>
            </a:r>
            <a:r>
              <a:rPr lang="zh-CN" altLang="en-US" b="1" dirty="0">
                <a:solidFill>
                  <a:schemeClr val="accent1">
                    <a:lumMod val="50000"/>
                  </a:schemeClr>
                </a:solidFill>
                <a:latin typeface="Arial" panose="020B0604020202020204" pitchFamily="34" charset="0"/>
                <a:cs typeface="Arial" panose="020B0604020202020204" pitchFamily="34" charset="0"/>
              </a:rPr>
              <a:t>菜单中包含如下项目</a:t>
            </a:r>
            <a:r>
              <a:rPr lang="zh-CN" altLang="en-US" b="1" dirty="0" smtClean="0">
                <a:solidFill>
                  <a:schemeClr val="accent1">
                    <a:lumMod val="50000"/>
                  </a:schemeClr>
                </a:solidFill>
                <a:latin typeface="Arial" panose="020B0604020202020204" pitchFamily="34" charset="0"/>
                <a:cs typeface="Arial" panose="020B0604020202020204" pitchFamily="34" charset="0"/>
              </a:rPr>
              <a:t>：</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a:sym typeface="微软雅黑" panose="020B0503020204020204" pitchFamily="34" charset="-122"/>
              </a:rPr>
              <a:t>|</a:t>
            </a:r>
            <a:r>
              <a:rPr lang="zh-CN" altLang="en-US" dirty="0">
                <a:sym typeface="微软雅黑" panose="020B0503020204020204" pitchFamily="34" charset="-122"/>
              </a:rPr>
              <a:t>  </a:t>
            </a:r>
            <a:r>
              <a:rPr lang="zh-CN" altLang="en-US" dirty="0" smtClean="0">
                <a:sym typeface="微软雅黑" panose="020B0503020204020204" pitchFamily="34" charset="-122"/>
              </a:rPr>
              <a:t>第二节  </a:t>
            </a:r>
            <a:r>
              <a:rPr lang="en-US" altLang="zh-CN" dirty="0" err="1" smtClean="0"/>
              <a:t>Caché</a:t>
            </a:r>
            <a:r>
              <a:rPr lang="zh-CN" altLang="en-US" dirty="0"/>
              <a:t>开发环境简单介绍</a:t>
            </a:r>
            <a:r>
              <a:rPr lang="en-US" altLang="zh-CN" dirty="0"/>
              <a:t>——</a:t>
            </a:r>
            <a:r>
              <a:rPr lang="en-US" altLang="zh-CN" dirty="0" err="1"/>
              <a:t>Caché</a:t>
            </a:r>
            <a:r>
              <a:rPr lang="zh-CN" altLang="en-US" dirty="0"/>
              <a:t>的菜单</a:t>
            </a:r>
            <a:endParaRPr lang="zh-CN" altLang="en-US" dirty="0"/>
          </a:p>
        </p:txBody>
      </p:sp>
      <p:graphicFrame>
        <p:nvGraphicFramePr>
          <p:cNvPr id="3" name="表格 2"/>
          <p:cNvGraphicFramePr>
            <a:graphicFrameLocks noGrp="1"/>
          </p:cNvGraphicFramePr>
          <p:nvPr/>
        </p:nvGraphicFramePr>
        <p:xfrm>
          <a:off x="443127" y="1124112"/>
          <a:ext cx="11184300" cy="3528937"/>
        </p:xfrm>
        <a:graphic>
          <a:graphicData uri="http://schemas.openxmlformats.org/drawingml/2006/table">
            <a:tbl>
              <a:tblPr firstRow="1" bandRow="1">
                <a:tableStyleId>{F5AB1C69-6EDB-4FF4-983F-18BD219EF322}</a:tableStyleId>
              </a:tblPr>
              <a:tblGrid>
                <a:gridCol w="2358470"/>
                <a:gridCol w="2013839"/>
                <a:gridCol w="6811991"/>
              </a:tblGrid>
              <a:tr h="370840">
                <a:tc>
                  <a:txBody>
                    <a:bodyPr/>
                    <a:lstStyle/>
                    <a:p>
                      <a:pPr algn="ctr"/>
                      <a:r>
                        <a:rPr lang="zh-CN" altLang="en-US" sz="1400" dirty="0" smtClean="0"/>
                        <a:t>菜单项</a:t>
                      </a:r>
                      <a:endParaRPr lang="zh-CN" altLang="en-US" sz="1400" dirty="0"/>
                    </a:p>
                  </a:txBody>
                  <a:tcPr/>
                </a:tc>
                <a:tc>
                  <a:txBody>
                    <a:bodyPr/>
                    <a:lstStyle/>
                    <a:p>
                      <a:pPr algn="ctr"/>
                      <a:r>
                        <a:rPr lang="zh-CN" altLang="en-US" sz="1400" dirty="0" smtClean="0"/>
                        <a:t>中文名称</a:t>
                      </a:r>
                      <a:endParaRPr lang="zh-CN" altLang="en-US" sz="1400" dirty="0"/>
                    </a:p>
                  </a:txBody>
                  <a:tcPr/>
                </a:tc>
                <a:tc>
                  <a:txBody>
                    <a:bodyPr/>
                    <a:lstStyle/>
                    <a:p>
                      <a:pPr algn="ctr"/>
                      <a:r>
                        <a:rPr lang="zh-CN" altLang="en-US" sz="1400" dirty="0" smtClean="0"/>
                        <a:t>功能</a:t>
                      </a:r>
                      <a:endParaRPr lang="zh-CN" altLang="en-US" sz="1400" dirty="0"/>
                    </a:p>
                  </a:txBody>
                  <a:tcPr/>
                </a:tc>
              </a:tr>
              <a:tr h="552057">
                <a:tc>
                  <a:txBody>
                    <a:bodyPr/>
                    <a:lstStyle/>
                    <a:p>
                      <a:pPr>
                        <a:lnSpc>
                          <a:spcPct val="150000"/>
                        </a:lnSpc>
                      </a:pPr>
                      <a:r>
                        <a:rPr lang="en-US" altLang="zh-CN" sz="1400" dirty="0" smtClean="0"/>
                        <a:t>Documentation</a:t>
                      </a:r>
                      <a:endParaRPr lang="zh-CN" altLang="en-US" sz="1400" dirty="0"/>
                    </a:p>
                  </a:txBody>
                  <a:tcPr/>
                </a:tc>
                <a:tc>
                  <a:txBody>
                    <a:bodyPr/>
                    <a:lstStyle/>
                    <a:p>
                      <a:pPr>
                        <a:lnSpc>
                          <a:spcPct val="150000"/>
                        </a:lnSpc>
                      </a:pPr>
                      <a:r>
                        <a:rPr lang="zh-CN" altLang="en-US" sz="1400" dirty="0" smtClean="0"/>
                        <a:t>联机文档</a:t>
                      </a:r>
                      <a:endParaRPr lang="zh-CN" altLang="en-US" sz="1400" dirty="0"/>
                    </a:p>
                  </a:txBody>
                  <a:tcPr/>
                </a:tc>
                <a:tc>
                  <a:txBody>
                    <a:bodyPr/>
                    <a:lstStyle/>
                    <a:p>
                      <a:pPr>
                        <a:lnSpc>
                          <a:spcPct val="150000"/>
                        </a:lnSpc>
                      </a:pPr>
                      <a:r>
                        <a:rPr lang="zh-CN" altLang="en-US" sz="1400" dirty="0" smtClean="0"/>
                        <a:t>只有启动</a:t>
                      </a:r>
                      <a:r>
                        <a:rPr lang="en-US" altLang="zh-CN" sz="1400" dirty="0" err="1" smtClean="0"/>
                        <a:t>Caché</a:t>
                      </a:r>
                      <a:r>
                        <a:rPr lang="zh-CN" altLang="en-US" sz="1400" dirty="0" smtClean="0"/>
                        <a:t>后才可以阅读全部文档信息</a:t>
                      </a:r>
                      <a:endParaRPr lang="zh-CN" altLang="en-US" sz="1400" dirty="0"/>
                    </a:p>
                  </a:txBody>
                  <a:tcPr/>
                </a:tc>
              </a:tr>
              <a:tr h="1051560">
                <a:tc>
                  <a:txBody>
                    <a:bodyPr/>
                    <a:lstStyle/>
                    <a:p>
                      <a:pPr>
                        <a:lnSpc>
                          <a:spcPct val="150000"/>
                        </a:lnSpc>
                      </a:pPr>
                      <a:r>
                        <a:rPr lang="en-US" altLang="zh-CN" sz="1400" dirty="0" smtClean="0"/>
                        <a:t>Remote System Access&gt;</a:t>
                      </a:r>
                      <a:endParaRPr lang="zh-CN" altLang="en-US" sz="1400" dirty="0"/>
                    </a:p>
                  </a:txBody>
                  <a:tcPr/>
                </a:tc>
                <a:tc>
                  <a:txBody>
                    <a:bodyPr/>
                    <a:lstStyle/>
                    <a:p>
                      <a:pPr>
                        <a:lnSpc>
                          <a:spcPct val="150000"/>
                        </a:lnSpc>
                      </a:pPr>
                      <a:r>
                        <a:rPr lang="zh-CN" altLang="en-US" sz="1400" dirty="0" smtClean="0"/>
                        <a:t>远程系统访问</a:t>
                      </a:r>
                      <a:endParaRPr lang="zh-CN" altLang="en-US" sz="1400" dirty="0"/>
                    </a:p>
                  </a:txBody>
                  <a:tcPr/>
                </a:tc>
                <a:tc>
                  <a:txBody>
                    <a:bodyPr/>
                    <a:lstStyle/>
                    <a:p>
                      <a:pPr>
                        <a:lnSpc>
                          <a:spcPct val="150000"/>
                        </a:lnSpc>
                      </a:pPr>
                      <a:r>
                        <a:rPr lang="zh-CN" altLang="en-US" sz="1400" dirty="0" smtClean="0"/>
                        <a:t>在本地控制远端的</a:t>
                      </a:r>
                      <a:r>
                        <a:rPr lang="en-US" altLang="zh-CN" sz="1400" dirty="0" err="1" smtClean="0"/>
                        <a:t>Caché</a:t>
                      </a:r>
                      <a:r>
                        <a:rPr lang="zh-CN" altLang="en-US" sz="1400" dirty="0" smtClean="0"/>
                        <a:t>服务器</a:t>
                      </a:r>
                      <a:r>
                        <a:rPr lang="en-US" altLang="zh-CN" sz="1400" dirty="0" smtClean="0"/>
                        <a:t>(</a:t>
                      </a:r>
                      <a:r>
                        <a:rPr lang="zh-CN" altLang="en-US" sz="1400" dirty="0" smtClean="0"/>
                        <a:t>任意平台</a:t>
                      </a:r>
                      <a:r>
                        <a:rPr lang="en-US" altLang="zh-CN" sz="1400" dirty="0" smtClean="0"/>
                        <a:t>)</a:t>
                      </a:r>
                      <a:r>
                        <a:rPr lang="zh-CN" altLang="en-US" sz="1400" dirty="0" smtClean="0"/>
                        <a:t>。</a:t>
                      </a:r>
                      <a:r>
                        <a:rPr lang="en-US" altLang="zh-CN" sz="1400" dirty="0" smtClean="0"/>
                        <a:t>UNIX</a:t>
                      </a:r>
                      <a:r>
                        <a:rPr lang="zh-CN" altLang="en-US" sz="1400" dirty="0" smtClean="0"/>
                        <a:t>系统的管理要通过这种方式实现。自菜单中同样包含了工作室，终端，资源管理器，</a:t>
                      </a:r>
                      <a:r>
                        <a:rPr lang="en-US" altLang="zh-CN" sz="1400" dirty="0" smtClean="0"/>
                        <a:t>SQL</a:t>
                      </a:r>
                      <a:r>
                        <a:rPr lang="zh-CN" altLang="en-US" sz="1400" dirty="0" smtClean="0"/>
                        <a:t>管理器，控制面板，配置管理器，联机文档等菜单项</a:t>
                      </a:r>
                      <a:endParaRPr lang="zh-CN" altLang="en-US" sz="1400" dirty="0"/>
                    </a:p>
                  </a:txBody>
                  <a:tcPr/>
                </a:tc>
              </a:tr>
              <a:tr h="182880">
                <a:tc>
                  <a:txBody>
                    <a:bodyPr/>
                    <a:lstStyle/>
                    <a:p>
                      <a:pPr>
                        <a:lnSpc>
                          <a:spcPct val="150000"/>
                        </a:lnSpc>
                      </a:pPr>
                      <a:r>
                        <a:rPr lang="en-US" altLang="zh-CN" sz="1400" dirty="0" smtClean="0"/>
                        <a:t>Preferred Server[xxx]&gt;</a:t>
                      </a:r>
                      <a:endParaRPr lang="zh-CN" altLang="en-US" sz="1400" dirty="0"/>
                    </a:p>
                  </a:txBody>
                  <a:tcPr/>
                </a:tc>
                <a:tc>
                  <a:txBody>
                    <a:bodyPr/>
                    <a:lstStyle/>
                    <a:p>
                      <a:pPr>
                        <a:lnSpc>
                          <a:spcPct val="150000"/>
                        </a:lnSpc>
                      </a:pPr>
                      <a:r>
                        <a:rPr lang="zh-CN" altLang="en-US" sz="1400" dirty="0" smtClean="0"/>
                        <a:t>当前使用的</a:t>
                      </a:r>
                      <a:r>
                        <a:rPr lang="en-US" altLang="zh-CN" sz="1400" dirty="0" err="1" smtClean="0"/>
                        <a:t>Caché</a:t>
                      </a:r>
                      <a:r>
                        <a:rPr lang="zh-CN" altLang="en-US" sz="1400" dirty="0" smtClean="0"/>
                        <a:t>服务器</a:t>
                      </a:r>
                      <a:endParaRPr lang="zh-CN" altLang="en-US" sz="1400" dirty="0"/>
                    </a:p>
                  </a:txBody>
                  <a:tcPr/>
                </a:tc>
                <a:tc>
                  <a:txBody>
                    <a:bodyPr/>
                    <a:lstStyle/>
                    <a:p>
                      <a:pPr>
                        <a:lnSpc>
                          <a:spcPct val="150000"/>
                        </a:lnSpc>
                      </a:pPr>
                      <a:r>
                        <a:rPr lang="zh-CN" altLang="en-US" sz="1400" dirty="0" smtClean="0"/>
                        <a:t>子菜单中可以编辑</a:t>
                      </a:r>
                      <a:r>
                        <a:rPr lang="en-US" altLang="zh-CN" sz="1400" dirty="0" err="1" smtClean="0"/>
                        <a:t>Caché</a:t>
                      </a:r>
                      <a:r>
                        <a:rPr lang="zh-CN" altLang="en-US" sz="1400" dirty="0" smtClean="0"/>
                        <a:t>服务器列表。在这里配置远程服务器。我们可以在一台</a:t>
                      </a:r>
                      <a:r>
                        <a:rPr lang="en-US" altLang="zh-CN" sz="1400" dirty="0" smtClean="0"/>
                        <a:t>Windows</a:t>
                      </a:r>
                      <a:r>
                        <a:rPr lang="zh-CN" altLang="en-US" sz="1400" dirty="0" smtClean="0"/>
                        <a:t>平台的计算机上管理网络中所有的各种平台的</a:t>
                      </a:r>
                      <a:r>
                        <a:rPr lang="en-US" altLang="zh-CN" sz="1400" dirty="0" err="1" smtClean="0"/>
                        <a:t>Caché</a:t>
                      </a:r>
                      <a:r>
                        <a:rPr lang="zh-CN" altLang="en-US" sz="1400" dirty="0" smtClean="0"/>
                        <a:t>服务器</a:t>
                      </a:r>
                      <a:endParaRPr lang="zh-CN" altLang="en-US" sz="1400" dirty="0"/>
                    </a:p>
                  </a:txBody>
                  <a:tcPr/>
                </a:tc>
              </a:tr>
              <a:tr h="121920">
                <a:tc>
                  <a:txBody>
                    <a:bodyPr/>
                    <a:lstStyle/>
                    <a:p>
                      <a:pPr>
                        <a:lnSpc>
                          <a:spcPct val="150000"/>
                        </a:lnSpc>
                      </a:pPr>
                      <a:r>
                        <a:rPr lang="en-US" altLang="zh-CN" sz="1400" dirty="0" smtClean="0"/>
                        <a:t>About</a:t>
                      </a:r>
                      <a:endParaRPr lang="zh-CN" altLang="en-US" sz="1400" dirty="0"/>
                    </a:p>
                  </a:txBody>
                  <a:tcPr/>
                </a:tc>
                <a:tc>
                  <a:txBody>
                    <a:bodyPr/>
                    <a:lstStyle/>
                    <a:p>
                      <a:pPr>
                        <a:lnSpc>
                          <a:spcPct val="150000"/>
                        </a:lnSpc>
                      </a:pPr>
                      <a:r>
                        <a:rPr lang="zh-CN" altLang="en-US" sz="1400" dirty="0" smtClean="0"/>
                        <a:t>关于</a:t>
                      </a:r>
                      <a:endParaRPr lang="zh-CN" altLang="en-US" sz="1400" dirty="0"/>
                    </a:p>
                  </a:txBody>
                  <a:tcPr/>
                </a:tc>
                <a:tc>
                  <a:txBody>
                    <a:bodyPr/>
                    <a:lstStyle/>
                    <a:p>
                      <a:pPr>
                        <a:lnSpc>
                          <a:spcPct val="150000"/>
                        </a:lnSpc>
                      </a:pPr>
                      <a:r>
                        <a:rPr lang="zh-CN" altLang="en-US" sz="1400" dirty="0" smtClean="0"/>
                        <a:t>查看版本</a:t>
                      </a:r>
                      <a:endParaRPr lang="zh-CN" altLang="en-US" sz="1400" dirty="0"/>
                    </a:p>
                  </a:txBody>
                  <a:tcPr/>
                </a:tc>
              </a:tr>
              <a:tr h="185420">
                <a:tc>
                  <a:txBody>
                    <a:bodyPr/>
                    <a:lstStyle/>
                    <a:p>
                      <a:pPr>
                        <a:lnSpc>
                          <a:spcPct val="150000"/>
                        </a:lnSpc>
                      </a:pPr>
                      <a:r>
                        <a:rPr lang="en-US" altLang="zh-CN" sz="1400" dirty="0" smtClean="0"/>
                        <a:t>Exit</a:t>
                      </a:r>
                      <a:endParaRPr lang="zh-CN" altLang="en-US" sz="1400" dirty="0"/>
                    </a:p>
                  </a:txBody>
                  <a:tcPr/>
                </a:tc>
                <a:tc>
                  <a:txBody>
                    <a:bodyPr/>
                    <a:lstStyle/>
                    <a:p>
                      <a:pPr>
                        <a:lnSpc>
                          <a:spcPct val="150000"/>
                        </a:lnSpc>
                      </a:pPr>
                      <a:r>
                        <a:rPr lang="zh-CN" altLang="en-US" sz="1400" dirty="0" smtClean="0"/>
                        <a:t>退出</a:t>
                      </a:r>
                      <a:endParaRPr lang="zh-CN" altLang="en-US" sz="1400" dirty="0"/>
                    </a:p>
                  </a:txBody>
                  <a:tcPr/>
                </a:tc>
                <a:tc>
                  <a:txBody>
                    <a:bodyPr/>
                    <a:lstStyle/>
                    <a:p>
                      <a:pPr>
                        <a:lnSpc>
                          <a:spcPct val="150000"/>
                        </a:lnSpc>
                      </a:pPr>
                      <a:r>
                        <a:rPr lang="zh-CN" altLang="en-US" sz="1400" dirty="0" smtClean="0"/>
                        <a:t>关闭任务栏中的</a:t>
                      </a:r>
                      <a:r>
                        <a:rPr lang="en-US" altLang="zh-CN" sz="1400" dirty="0" err="1" smtClean="0"/>
                        <a:t>Caché</a:t>
                      </a:r>
                      <a:r>
                        <a:rPr lang="zh-CN" altLang="en-US" sz="1400" dirty="0" smtClean="0"/>
                        <a:t>立方体</a:t>
                      </a:r>
                      <a:endParaRPr lang="zh-CN" altLang="en-US" sz="1400" dirty="0"/>
                    </a:p>
                  </a:txBody>
                  <a:tcPr/>
                </a:tc>
              </a:tr>
            </a:tbl>
          </a:graphicData>
        </a:graphic>
      </p:graphicFrame>
      <p:grpSp>
        <p:nvGrpSpPr>
          <p:cNvPr id="9" name="组合 8"/>
          <p:cNvGrpSpPr/>
          <p:nvPr/>
        </p:nvGrpSpPr>
        <p:grpSpPr>
          <a:xfrm>
            <a:off x="443127" y="5045323"/>
            <a:ext cx="4409497" cy="1163439"/>
            <a:chOff x="376972" y="4936104"/>
            <a:chExt cx="4409497" cy="1163439"/>
          </a:xfrm>
        </p:grpSpPr>
        <p:sp>
          <p:nvSpPr>
            <p:cNvPr id="4" name="矩形 57"/>
            <p:cNvSpPr>
              <a:spLocks noChangeArrowheads="1"/>
            </p:cNvSpPr>
            <p:nvPr/>
          </p:nvSpPr>
          <p:spPr bwMode="auto">
            <a:xfrm>
              <a:off x="750141" y="5514768"/>
              <a:ext cx="403632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altLang="zh-CN" sz="1600" dirty="0" smtClean="0">
                  <a:solidFill>
                    <a:schemeClr val="accent1">
                      <a:lumMod val="50000"/>
                    </a:schemeClr>
                  </a:solidFill>
                  <a:latin typeface="Arial" panose="020B0604020202020204" pitchFamily="34" charset="0"/>
                </a:rPr>
                <a:t>1</a:t>
              </a:r>
              <a:r>
                <a:rPr lang="zh-CN" altLang="en-US" sz="1600" dirty="0">
                  <a:solidFill>
                    <a:schemeClr val="accent1">
                      <a:lumMod val="50000"/>
                    </a:schemeClr>
                  </a:solidFill>
                  <a:latin typeface="Arial" panose="020B0604020202020204" pitchFamily="34" charset="0"/>
                </a:rPr>
                <a:t>、自己动手安装并配置</a:t>
              </a:r>
              <a:r>
                <a:rPr lang="en-US" altLang="zh-CN" sz="1600" dirty="0" err="1">
                  <a:solidFill>
                    <a:schemeClr val="accent1">
                      <a:lumMod val="50000"/>
                    </a:schemeClr>
                  </a:solidFill>
                  <a:latin typeface="Arial" panose="020B0604020202020204" pitchFamily="34" charset="0"/>
                </a:rPr>
                <a:t>Caché</a:t>
              </a:r>
              <a:r>
                <a:rPr lang="zh-CN" altLang="en-US" sz="1600" dirty="0">
                  <a:solidFill>
                    <a:schemeClr val="accent1">
                      <a:lumMod val="50000"/>
                    </a:schemeClr>
                  </a:solidFill>
                  <a:latin typeface="Arial" panose="020B0604020202020204" pitchFamily="34" charset="0"/>
                </a:rPr>
                <a:t>数据库</a:t>
              </a:r>
              <a:endParaRPr lang="zh-CN" altLang="en-US" sz="1600" dirty="0">
                <a:solidFill>
                  <a:schemeClr val="accent1">
                    <a:lumMod val="50000"/>
                  </a:schemeClr>
                </a:solidFill>
                <a:latin typeface="Arial" panose="020B0604020202020204" pitchFamily="34" charset="0"/>
              </a:endParaRPr>
            </a:p>
            <a:p>
              <a:pPr algn="just"/>
              <a:r>
                <a:rPr lang="en-US" altLang="zh-CN" sz="1600" dirty="0">
                  <a:solidFill>
                    <a:schemeClr val="accent1">
                      <a:lumMod val="50000"/>
                    </a:schemeClr>
                  </a:solidFill>
                  <a:latin typeface="Arial" panose="020B0604020202020204" pitchFamily="34" charset="0"/>
                </a:rPr>
                <a:t>2</a:t>
              </a:r>
              <a:r>
                <a:rPr lang="zh-CN" altLang="en-US" sz="1600" dirty="0">
                  <a:solidFill>
                    <a:schemeClr val="accent1">
                      <a:lumMod val="50000"/>
                    </a:schemeClr>
                  </a:solidFill>
                  <a:latin typeface="Arial" panose="020B0604020202020204" pitchFamily="34" charset="0"/>
                </a:rPr>
                <a:t>、熟悉开发环境</a:t>
              </a:r>
              <a:endParaRPr lang="zh-CN" altLang="en-US" sz="1600" dirty="0">
                <a:solidFill>
                  <a:schemeClr val="accent1">
                    <a:lumMod val="50000"/>
                  </a:schemeClr>
                </a:solidFill>
                <a:latin typeface="Arial" panose="020B0604020202020204" pitchFamily="34" charset="0"/>
              </a:endParaRPr>
            </a:p>
          </p:txBody>
        </p:sp>
        <p:cxnSp>
          <p:nvCxnSpPr>
            <p:cNvPr id="6" name="直接连接符 5"/>
            <p:cNvCxnSpPr/>
            <p:nvPr/>
          </p:nvCxnSpPr>
          <p:spPr>
            <a:xfrm>
              <a:off x="750141" y="5345491"/>
              <a:ext cx="3561148"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376972" y="4936104"/>
              <a:ext cx="4204392" cy="461665"/>
              <a:chOff x="376972" y="4936104"/>
              <a:chExt cx="4204392" cy="461665"/>
            </a:xfrm>
          </p:grpSpPr>
          <p:sp>
            <p:nvSpPr>
              <p:cNvPr id="5" name="文本框 4"/>
              <p:cNvSpPr txBox="1"/>
              <p:nvPr/>
            </p:nvSpPr>
            <p:spPr>
              <a:xfrm>
                <a:off x="411705" y="4936104"/>
                <a:ext cx="4169659" cy="461665"/>
              </a:xfrm>
              <a:prstGeom prst="rect">
                <a:avLst/>
              </a:prstGeom>
              <a:noFill/>
            </p:spPr>
            <p:txBody>
              <a:bodyPr wrap="square" rtlCol="0">
                <a:spAutoFit/>
              </a:bodyPr>
              <a:lstStyle/>
              <a:p>
                <a:r>
                  <a:rPr lang="zh-CN" altLang="en-US" sz="2400" dirty="0" smtClean="0">
                    <a:solidFill>
                      <a:schemeClr val="tx1">
                        <a:lumMod val="65000"/>
                        <a:lumOff val="35000"/>
                      </a:schemeClr>
                    </a:solidFill>
                  </a:rPr>
                  <a:t>    练习 </a:t>
                </a:r>
                <a:r>
                  <a:rPr lang="en-US" altLang="zh-CN" sz="2400" dirty="0">
                    <a:solidFill>
                      <a:schemeClr val="tx1">
                        <a:lumMod val="65000"/>
                        <a:lumOff val="35000"/>
                      </a:schemeClr>
                    </a:solidFill>
                  </a:rPr>
                  <a:t>2</a:t>
                </a:r>
                <a:r>
                  <a:rPr lang="en-US" altLang="zh-CN" sz="2400" dirty="0" smtClean="0">
                    <a:solidFill>
                      <a:schemeClr val="tx1">
                        <a:lumMod val="65000"/>
                        <a:lumOff val="35000"/>
                      </a:schemeClr>
                    </a:solidFill>
                  </a:rPr>
                  <a:t> </a:t>
                </a:r>
                <a:endParaRPr lang="zh-CN" altLang="en-US" sz="2400" dirty="0">
                  <a:solidFill>
                    <a:schemeClr val="tx1">
                      <a:lumMod val="65000"/>
                      <a:lumOff val="35000"/>
                    </a:schemeClr>
                  </a:solidFill>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6972" y="5007841"/>
                <a:ext cx="373169" cy="371255"/>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2915816" y="2067694"/>
            <a:ext cx="1656185" cy="1224136"/>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4" name="椭圆 3"/>
          <p:cNvSpPr/>
          <p:nvPr/>
        </p:nvSpPr>
        <p:spPr>
          <a:xfrm>
            <a:off x="4139952" y="1779662"/>
            <a:ext cx="1584176" cy="1143988"/>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2000" dirty="0" smtClean="0"/>
              <a:t>课间</a:t>
            </a:r>
            <a:endParaRPr lang="en-US" altLang="zh-CN" sz="2000" dirty="0" smtClean="0"/>
          </a:p>
          <a:p>
            <a:pPr algn="ctr"/>
            <a:r>
              <a:rPr lang="zh-CN" altLang="en-US" sz="2000" dirty="0" smtClean="0"/>
              <a:t>休息</a:t>
            </a:r>
            <a:endParaRPr lang="zh-CN" altLang="en-US" sz="2000" dirty="0"/>
          </a:p>
        </p:txBody>
      </p:sp>
      <p:sp>
        <p:nvSpPr>
          <p:cNvPr id="5" name="椭圆 4"/>
          <p:cNvSpPr/>
          <p:nvPr/>
        </p:nvSpPr>
        <p:spPr>
          <a:xfrm>
            <a:off x="5700125" y="1563638"/>
            <a:ext cx="360041" cy="288032"/>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6" name="椭圆 5"/>
          <p:cNvSpPr/>
          <p:nvPr/>
        </p:nvSpPr>
        <p:spPr>
          <a:xfrm>
            <a:off x="6348197" y="1419622"/>
            <a:ext cx="168019" cy="166172"/>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7" name="文本框 6"/>
          <p:cNvSpPr txBox="1"/>
          <p:nvPr/>
        </p:nvSpPr>
        <p:spPr>
          <a:xfrm>
            <a:off x="3097150" y="2196019"/>
            <a:ext cx="1293516" cy="1015663"/>
          </a:xfrm>
          <a:prstGeom prst="rect">
            <a:avLst/>
          </a:prstGeom>
          <a:noFill/>
        </p:spPr>
        <p:txBody>
          <a:bodyPr wrap="square" rtlCol="0">
            <a:spAutoFit/>
          </a:bodyPr>
          <a:lstStyle/>
          <a:p>
            <a:pPr algn="ctr"/>
            <a:r>
              <a:rPr lang="zh-CN" altLang="en-US" sz="2000" b="1" dirty="0" smtClean="0">
                <a:solidFill>
                  <a:srgbClr val="FF0000"/>
                </a:solidFill>
              </a:rPr>
              <a:t>上午</a:t>
            </a:r>
            <a:endParaRPr lang="en-US" altLang="zh-CN" sz="2000" b="1" dirty="0" smtClean="0">
              <a:solidFill>
                <a:srgbClr val="FF0000"/>
              </a:solidFill>
            </a:endParaRPr>
          </a:p>
          <a:p>
            <a:pPr algn="ctr"/>
            <a:r>
              <a:rPr lang="zh-CN" altLang="en-US" sz="2000" dirty="0" smtClean="0">
                <a:solidFill>
                  <a:schemeClr val="lt1"/>
                </a:solidFill>
              </a:rPr>
              <a:t>第一节课</a:t>
            </a:r>
            <a:endParaRPr lang="en-US" altLang="zh-CN" sz="2000" dirty="0" smtClean="0">
              <a:solidFill>
                <a:schemeClr val="lt1"/>
              </a:solidFill>
            </a:endParaRPr>
          </a:p>
          <a:p>
            <a:pPr algn="ctr"/>
            <a:r>
              <a:rPr lang="zh-CN" altLang="en-US" sz="2000" b="1" dirty="0" smtClean="0">
                <a:solidFill>
                  <a:schemeClr val="accent1">
                    <a:lumMod val="75000"/>
                  </a:schemeClr>
                </a:solidFill>
              </a:rPr>
              <a:t>完</a:t>
            </a:r>
            <a:endParaRPr lang="en-US" altLang="zh-CN" sz="2000" b="1" dirty="0">
              <a:solidFill>
                <a:schemeClr val="accent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第三</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的多维存储结构</a:t>
            </a:r>
            <a:endParaRPr lang="zh-CN" altLang="en-US" dirty="0"/>
          </a:p>
        </p:txBody>
      </p:sp>
      <p:grpSp>
        <p:nvGrpSpPr>
          <p:cNvPr id="21" name="组合 20"/>
          <p:cNvGrpSpPr/>
          <p:nvPr/>
        </p:nvGrpSpPr>
        <p:grpSpPr>
          <a:xfrm>
            <a:off x="847808" y="1129781"/>
            <a:ext cx="6611574" cy="2389460"/>
            <a:chOff x="1502432" y="1650162"/>
            <a:chExt cx="6611574" cy="2389460"/>
          </a:xfrm>
        </p:grpSpPr>
        <p:sp>
          <p:nvSpPr>
            <p:cNvPr id="15" name="矩形 57"/>
            <p:cNvSpPr>
              <a:spLocks noChangeArrowheads="1"/>
            </p:cNvSpPr>
            <p:nvPr/>
          </p:nvSpPr>
          <p:spPr bwMode="auto">
            <a:xfrm>
              <a:off x="2641893" y="2285296"/>
              <a:ext cx="547211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zh-CN" dirty="0" smtClean="0">
                  <a:solidFill>
                    <a:schemeClr val="accent1">
                      <a:lumMod val="75000"/>
                    </a:schemeClr>
                  </a:solidFill>
                  <a:latin typeface="Arial" panose="020B0604020202020204" pitchFamily="34" charset="0"/>
                </a:rPr>
                <a:t>1</a:t>
              </a:r>
              <a:r>
                <a:rPr lang="zh-CN" altLang="en-US" dirty="0" smtClean="0">
                  <a:solidFill>
                    <a:schemeClr val="accent1">
                      <a:lumMod val="75000"/>
                    </a:schemeClr>
                  </a:solidFill>
                  <a:latin typeface="Arial" panose="020B0604020202020204" pitchFamily="34" charset="0"/>
                </a:rPr>
                <a:t>、多维</a:t>
              </a:r>
              <a:r>
                <a:rPr lang="zh-CN" altLang="en-US" dirty="0">
                  <a:solidFill>
                    <a:schemeClr val="accent1">
                      <a:lumMod val="75000"/>
                    </a:schemeClr>
                  </a:solidFill>
                  <a:latin typeface="Arial" panose="020B0604020202020204" pitchFamily="34" charset="0"/>
                </a:rPr>
                <a:t>存储结构介绍</a:t>
              </a:r>
              <a:endParaRPr lang="zh-CN" altLang="en-US" dirty="0">
                <a:solidFill>
                  <a:schemeClr val="accent1">
                    <a:lumMod val="75000"/>
                  </a:schemeClr>
                </a:solidFill>
                <a:latin typeface="Arial" panose="020B0604020202020204" pitchFamily="34" charset="0"/>
              </a:endParaRPr>
            </a:p>
            <a:p>
              <a:pPr algn="just"/>
              <a:r>
                <a:rPr lang="en-US" altLang="zh-CN" dirty="0" smtClean="0">
                  <a:solidFill>
                    <a:schemeClr val="accent1">
                      <a:lumMod val="75000"/>
                    </a:schemeClr>
                  </a:solidFill>
                  <a:latin typeface="Arial" panose="020B0604020202020204" pitchFamily="34" charset="0"/>
                </a:rPr>
                <a:t>2</a:t>
              </a:r>
              <a:r>
                <a:rPr lang="zh-CN" altLang="en-US" dirty="0" smtClean="0">
                  <a:solidFill>
                    <a:schemeClr val="accent1">
                      <a:lumMod val="75000"/>
                    </a:schemeClr>
                  </a:solidFill>
                  <a:latin typeface="Arial" panose="020B0604020202020204" pitchFamily="34" charset="0"/>
                </a:rPr>
                <a:t>、变量</a:t>
              </a:r>
              <a:r>
                <a:rPr lang="zh-CN" altLang="en-US" dirty="0">
                  <a:solidFill>
                    <a:schemeClr val="accent1">
                      <a:lumMod val="75000"/>
                    </a:schemeClr>
                  </a:solidFill>
                  <a:latin typeface="Arial" panose="020B0604020202020204" pitchFamily="34" charset="0"/>
                </a:rPr>
                <a:t>、数组、</a:t>
              </a:r>
              <a:r>
                <a:rPr lang="en-US" altLang="zh-CN" dirty="0">
                  <a:solidFill>
                    <a:schemeClr val="accent1">
                      <a:lumMod val="75000"/>
                    </a:schemeClr>
                  </a:solidFill>
                  <a:latin typeface="Arial" panose="020B0604020202020204" pitchFamily="34" charset="0"/>
                </a:rPr>
                <a:t>Global</a:t>
              </a:r>
              <a:r>
                <a:rPr lang="zh-CN" altLang="en-US" dirty="0">
                  <a:solidFill>
                    <a:schemeClr val="accent1">
                      <a:lumMod val="75000"/>
                    </a:schemeClr>
                  </a:solidFill>
                  <a:latin typeface="Arial" panose="020B0604020202020204" pitchFamily="34" charset="0"/>
                </a:rPr>
                <a:t>、进程</a:t>
              </a:r>
              <a:r>
                <a:rPr lang="en-US" altLang="zh-CN" dirty="0">
                  <a:solidFill>
                    <a:schemeClr val="accent1">
                      <a:lumMod val="75000"/>
                    </a:schemeClr>
                  </a:solidFill>
                  <a:latin typeface="Arial" panose="020B0604020202020204" pitchFamily="34" charset="0"/>
                </a:rPr>
                <a:t>Global</a:t>
              </a:r>
              <a:r>
                <a:rPr lang="zh-CN" altLang="en-US" dirty="0">
                  <a:solidFill>
                    <a:schemeClr val="accent1">
                      <a:lumMod val="75000"/>
                    </a:schemeClr>
                  </a:solidFill>
                  <a:latin typeface="Arial" panose="020B0604020202020204" pitchFamily="34" charset="0"/>
                </a:rPr>
                <a:t>的使用与</a:t>
              </a:r>
              <a:r>
                <a:rPr lang="zh-CN" altLang="en-US" dirty="0" smtClean="0">
                  <a:solidFill>
                    <a:schemeClr val="accent1">
                      <a:lumMod val="75000"/>
                    </a:schemeClr>
                  </a:solidFill>
                  <a:latin typeface="Arial" panose="020B0604020202020204" pitchFamily="34" charset="0"/>
                </a:rPr>
                <a:t>区别</a:t>
              </a:r>
              <a:endParaRPr lang="en-US" altLang="zh-CN" dirty="0" smtClean="0">
                <a:solidFill>
                  <a:schemeClr val="accent1">
                    <a:lumMod val="75000"/>
                  </a:schemeClr>
                </a:solidFill>
                <a:latin typeface="Arial" panose="020B0604020202020204" pitchFamily="34" charset="0"/>
              </a:endParaRPr>
            </a:p>
            <a:p>
              <a:pPr algn="just"/>
              <a:r>
                <a:rPr lang="en-US" altLang="zh-CN" dirty="0" smtClean="0">
                  <a:solidFill>
                    <a:schemeClr val="accent1">
                      <a:lumMod val="75000"/>
                    </a:schemeClr>
                  </a:solidFill>
                  <a:latin typeface="Arial" panose="020B0604020202020204" pitchFamily="34" charset="0"/>
                </a:rPr>
                <a:t>3</a:t>
              </a:r>
              <a:r>
                <a:rPr lang="zh-CN" altLang="en-US" dirty="0" smtClean="0">
                  <a:solidFill>
                    <a:schemeClr val="accent1">
                      <a:lumMod val="75000"/>
                    </a:schemeClr>
                  </a:solidFill>
                  <a:latin typeface="Arial" panose="020B0604020202020204" pitchFamily="34" charset="0"/>
                </a:rPr>
                <a:t>、基本语法一览表</a:t>
              </a:r>
              <a:r>
                <a:rPr lang="en-US" altLang="zh-CN" dirty="0" smtClean="0">
                  <a:solidFill>
                    <a:schemeClr val="accent1">
                      <a:lumMod val="75000"/>
                    </a:schemeClr>
                  </a:solidFill>
                  <a:latin typeface="Arial" panose="020B0604020202020204" pitchFamily="34" charset="0"/>
                </a:rPr>
                <a:t>(</a:t>
              </a:r>
              <a:r>
                <a:rPr lang="zh-CN" altLang="en-US" dirty="0" smtClean="0">
                  <a:solidFill>
                    <a:schemeClr val="accent1">
                      <a:lumMod val="75000"/>
                    </a:schemeClr>
                  </a:solidFill>
                  <a:latin typeface="Arial" panose="020B0604020202020204" pitchFamily="34" charset="0"/>
                </a:rPr>
                <a:t>常用</a:t>
              </a:r>
              <a:r>
                <a:rPr lang="en-US" altLang="zh-CN" dirty="0" smtClean="0">
                  <a:solidFill>
                    <a:schemeClr val="accent1">
                      <a:lumMod val="75000"/>
                    </a:schemeClr>
                  </a:solidFill>
                  <a:latin typeface="Arial" panose="020B0604020202020204" pitchFamily="34" charset="0"/>
                </a:rPr>
                <a:t>)</a:t>
              </a:r>
              <a:endParaRPr lang="zh-CN" altLang="en-US" dirty="0">
                <a:solidFill>
                  <a:schemeClr val="accent1">
                    <a:lumMod val="75000"/>
                  </a:schemeClr>
                </a:solidFill>
                <a:latin typeface="Arial" panose="020B0604020202020204" pitchFamily="34" charset="0"/>
              </a:endParaRPr>
            </a:p>
            <a:p>
              <a:pPr algn="just"/>
              <a:r>
                <a:rPr lang="en-US" altLang="zh-CN" dirty="0" smtClean="0">
                  <a:solidFill>
                    <a:schemeClr val="accent1">
                      <a:lumMod val="75000"/>
                    </a:schemeClr>
                  </a:solidFill>
                  <a:latin typeface="Arial" panose="020B0604020202020204" pitchFamily="34" charset="0"/>
                </a:rPr>
                <a:t>4</a:t>
              </a:r>
              <a:r>
                <a:rPr lang="zh-CN" altLang="en-US" dirty="0" smtClean="0">
                  <a:solidFill>
                    <a:schemeClr val="accent1">
                      <a:lumMod val="75000"/>
                    </a:schemeClr>
                  </a:solidFill>
                  <a:latin typeface="Arial" panose="020B0604020202020204" pitchFamily="34" charset="0"/>
                </a:rPr>
                <a:t>、</a:t>
              </a:r>
              <a:r>
                <a:rPr lang="en-US" altLang="zh-CN" dirty="0" smtClean="0">
                  <a:solidFill>
                    <a:schemeClr val="accent1">
                      <a:lumMod val="75000"/>
                    </a:schemeClr>
                  </a:solidFill>
                  <a:latin typeface="Arial" panose="020B0604020202020204" pitchFamily="34" charset="0"/>
                </a:rPr>
                <a:t>Global</a:t>
              </a:r>
              <a:r>
                <a:rPr lang="zh-CN" altLang="en-US" dirty="0">
                  <a:solidFill>
                    <a:schemeClr val="accent1">
                      <a:lumMod val="75000"/>
                    </a:schemeClr>
                  </a:solidFill>
                  <a:latin typeface="Arial" panose="020B0604020202020204" pitchFamily="34" charset="0"/>
                </a:rPr>
                <a:t>的存储位置</a:t>
              </a:r>
              <a:r>
                <a:rPr lang="en-US" altLang="zh-CN" dirty="0">
                  <a:solidFill>
                    <a:schemeClr val="accent1">
                      <a:lumMod val="75000"/>
                    </a:schemeClr>
                  </a:solidFill>
                  <a:latin typeface="Arial" panose="020B0604020202020204" pitchFamily="34" charset="0"/>
                </a:rPr>
                <a:t>(</a:t>
              </a:r>
              <a:r>
                <a:rPr lang="zh-CN" altLang="en-US" dirty="0">
                  <a:solidFill>
                    <a:schemeClr val="accent1">
                      <a:lumMod val="75000"/>
                    </a:schemeClr>
                  </a:solidFill>
                  <a:latin typeface="Arial" panose="020B0604020202020204" pitchFamily="34" charset="0"/>
                </a:rPr>
                <a:t>节点</a:t>
              </a:r>
              <a:r>
                <a:rPr lang="en-US" altLang="zh-CN" dirty="0" smtClean="0">
                  <a:solidFill>
                    <a:schemeClr val="accent1">
                      <a:lumMod val="75000"/>
                    </a:schemeClr>
                  </a:solidFill>
                  <a:latin typeface="Arial" panose="020B0604020202020204" pitchFamily="34" charset="0"/>
                </a:rPr>
                <a:t>)</a:t>
              </a:r>
              <a:endParaRPr lang="zh-CN" altLang="en-US" dirty="0">
                <a:solidFill>
                  <a:schemeClr val="accent1">
                    <a:lumMod val="75000"/>
                  </a:schemeClr>
                </a:solidFill>
                <a:latin typeface="Arial" panose="020B0604020202020204" pitchFamily="34" charset="0"/>
              </a:endParaRPr>
            </a:p>
            <a:p>
              <a:pPr algn="just"/>
              <a:r>
                <a:rPr lang="en-US" altLang="zh-CN" dirty="0" smtClean="0">
                  <a:solidFill>
                    <a:schemeClr val="accent1">
                      <a:lumMod val="75000"/>
                    </a:schemeClr>
                  </a:solidFill>
                  <a:latin typeface="Arial" panose="020B0604020202020204" pitchFamily="34" charset="0"/>
                </a:rPr>
                <a:t>5</a:t>
              </a:r>
              <a:r>
                <a:rPr lang="zh-CN" altLang="en-US" dirty="0" smtClean="0">
                  <a:solidFill>
                    <a:schemeClr val="accent1">
                      <a:lumMod val="75000"/>
                    </a:schemeClr>
                  </a:solidFill>
                  <a:latin typeface="Arial" panose="020B0604020202020204" pitchFamily="34" charset="0"/>
                </a:rPr>
                <a:t>、画</a:t>
              </a:r>
              <a:r>
                <a:rPr lang="en-US" altLang="zh-CN" dirty="0">
                  <a:solidFill>
                    <a:schemeClr val="accent1">
                      <a:lumMod val="75000"/>
                    </a:schemeClr>
                  </a:solidFill>
                  <a:latin typeface="Arial" panose="020B0604020202020204" pitchFamily="34" charset="0"/>
                </a:rPr>
                <a:t>Global</a:t>
              </a:r>
              <a:r>
                <a:rPr lang="zh-CN" altLang="en-US" dirty="0">
                  <a:solidFill>
                    <a:schemeClr val="accent1">
                      <a:lumMod val="75000"/>
                    </a:schemeClr>
                  </a:solidFill>
                  <a:latin typeface="Arial" panose="020B0604020202020204" pitchFamily="34" charset="0"/>
                </a:rPr>
                <a:t>的树状结构</a:t>
              </a:r>
              <a:endParaRPr lang="zh-CN" altLang="en-US" dirty="0">
                <a:solidFill>
                  <a:schemeClr val="accent1">
                    <a:lumMod val="75000"/>
                  </a:schemeClr>
                </a:solidFill>
                <a:latin typeface="Arial" panose="020B0604020202020204" pitchFamily="34" charset="0"/>
              </a:endParaRPr>
            </a:p>
            <a:p>
              <a:pPr algn="just"/>
              <a:r>
                <a:rPr lang="en-US" altLang="zh-CN" dirty="0" smtClean="0">
                  <a:solidFill>
                    <a:schemeClr val="accent1">
                      <a:lumMod val="75000"/>
                    </a:schemeClr>
                  </a:solidFill>
                  <a:latin typeface="Arial" panose="020B0604020202020204" pitchFamily="34" charset="0"/>
                </a:rPr>
                <a:t>6</a:t>
              </a:r>
              <a:r>
                <a:rPr lang="zh-CN" altLang="en-US" dirty="0" smtClean="0">
                  <a:solidFill>
                    <a:schemeClr val="accent1">
                      <a:lumMod val="75000"/>
                    </a:schemeClr>
                  </a:solidFill>
                  <a:latin typeface="Arial" panose="020B0604020202020204" pitchFamily="34" charset="0"/>
                </a:rPr>
                <a:t>、查看</a:t>
              </a:r>
              <a:r>
                <a:rPr lang="en-US" altLang="zh-CN" dirty="0">
                  <a:solidFill>
                    <a:schemeClr val="accent1">
                      <a:lumMod val="75000"/>
                    </a:schemeClr>
                  </a:solidFill>
                  <a:latin typeface="Arial" panose="020B0604020202020204" pitchFamily="34" charset="0"/>
                </a:rPr>
                <a:t>Global</a:t>
              </a:r>
              <a:r>
                <a:rPr lang="zh-CN" altLang="en-US" dirty="0">
                  <a:solidFill>
                    <a:schemeClr val="accent1">
                      <a:lumMod val="75000"/>
                    </a:schemeClr>
                  </a:solidFill>
                  <a:latin typeface="Arial" panose="020B0604020202020204" pitchFamily="34" charset="0"/>
                </a:rPr>
                <a:t>的数据</a:t>
              </a:r>
              <a:endParaRPr lang="zh-CN" altLang="en-US" dirty="0">
                <a:solidFill>
                  <a:schemeClr val="accent1">
                    <a:lumMod val="75000"/>
                  </a:schemeClr>
                </a:solidFill>
                <a:latin typeface="Arial" panose="020B0604020202020204" pitchFamily="34" charset="0"/>
              </a:endParaRPr>
            </a:p>
          </p:txBody>
        </p:sp>
        <p:sp>
          <p:nvSpPr>
            <p:cNvPr id="16" name="文本框 15"/>
            <p:cNvSpPr txBox="1"/>
            <p:nvPr/>
          </p:nvSpPr>
          <p:spPr>
            <a:xfrm>
              <a:off x="2608119" y="1650162"/>
              <a:ext cx="2339102" cy="523220"/>
            </a:xfrm>
            <a:prstGeom prst="rect">
              <a:avLst/>
            </a:prstGeom>
            <a:noFill/>
          </p:spPr>
          <p:txBody>
            <a:bodyPr wrap="none" rtlCol="0">
              <a:spAutoFit/>
            </a:bodyPr>
            <a:lstStyle/>
            <a:p>
              <a:r>
                <a:rPr lang="zh-CN" altLang="en-US" sz="2800" dirty="0" smtClean="0">
                  <a:solidFill>
                    <a:schemeClr val="tx1">
                      <a:lumMod val="75000"/>
                      <a:lumOff val="25000"/>
                    </a:schemeClr>
                  </a:solidFill>
                </a:rPr>
                <a:t>多维存储结构</a:t>
              </a:r>
              <a:endParaRPr lang="zh-CN" altLang="en-US" sz="2800" dirty="0">
                <a:solidFill>
                  <a:schemeClr val="tx1">
                    <a:lumMod val="75000"/>
                    <a:lumOff val="25000"/>
                  </a:schemeClr>
                </a:solidFill>
              </a:endParaRPr>
            </a:p>
          </p:txBody>
        </p:sp>
        <p:grpSp>
          <p:nvGrpSpPr>
            <p:cNvPr id="17" name="组合 73"/>
            <p:cNvGrpSpPr/>
            <p:nvPr/>
          </p:nvGrpSpPr>
          <p:grpSpPr bwMode="auto">
            <a:xfrm>
              <a:off x="1502432" y="1722899"/>
              <a:ext cx="1105687" cy="1052310"/>
              <a:chOff x="498342" y="103823"/>
              <a:chExt cx="1104763" cy="1051430"/>
            </a:xfrm>
            <a:solidFill>
              <a:schemeClr val="accent1">
                <a:lumMod val="50000"/>
              </a:schemeClr>
            </a:solidFill>
          </p:grpSpPr>
          <p:sp>
            <p:nvSpPr>
              <p:cNvPr id="18" name="椭圆 55"/>
              <p:cNvSpPr>
                <a:spLocks noChangeArrowheads="1"/>
              </p:cNvSpPr>
              <p:nvPr/>
            </p:nvSpPr>
            <p:spPr bwMode="auto">
              <a:xfrm>
                <a:off x="498342" y="103823"/>
                <a:ext cx="1104763" cy="105143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eaLnBrk="1" hangingPunct="1"/>
                <a:endParaRPr lang="zh-CN" altLang="en-US">
                  <a:solidFill>
                    <a:schemeClr val="bg1"/>
                  </a:solidFill>
                </a:endParaRPr>
              </a:p>
            </p:txBody>
          </p:sp>
          <p:sp>
            <p:nvSpPr>
              <p:cNvPr id="19" name="文本框 60"/>
              <p:cNvSpPr txBox="1">
                <a:spLocks noChangeArrowheads="1"/>
              </p:cNvSpPr>
              <p:nvPr/>
            </p:nvSpPr>
            <p:spPr bwMode="auto">
              <a:xfrm>
                <a:off x="679098" y="280483"/>
                <a:ext cx="762844" cy="7072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ctr" eaLnBrk="1" hangingPunct="1"/>
                <a:r>
                  <a:rPr lang="zh-CN" altLang="en-US" sz="2000" dirty="0" smtClean="0">
                    <a:solidFill>
                      <a:schemeClr val="bg1"/>
                    </a:solidFill>
                    <a:latin typeface="华文细黑" panose="02010600040101010101" pitchFamily="2" charset="-122"/>
                    <a:ea typeface="华文细黑" panose="02010600040101010101" pitchFamily="2" charset="-122"/>
                  </a:rPr>
                  <a:t>学习思路</a:t>
                </a:r>
                <a:endParaRPr lang="zh-CN" altLang="en-US" sz="2000" dirty="0">
                  <a:solidFill>
                    <a:schemeClr val="bg1"/>
                  </a:solidFill>
                  <a:latin typeface="华文细黑" panose="02010600040101010101" pitchFamily="2" charset="-122"/>
                  <a:ea typeface="华文细黑" panose="02010600040101010101" pitchFamily="2" charset="-122"/>
                </a:endParaRPr>
              </a:p>
            </p:txBody>
          </p:sp>
        </p:grpSp>
        <p:cxnSp>
          <p:nvCxnSpPr>
            <p:cNvPr id="20" name="直接连接符 19"/>
            <p:cNvCxnSpPr/>
            <p:nvPr/>
          </p:nvCxnSpPr>
          <p:spPr>
            <a:xfrm>
              <a:off x="2671816" y="2225790"/>
              <a:ext cx="5004000"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751790" y="4296766"/>
            <a:ext cx="10892880" cy="852998"/>
            <a:chOff x="751790" y="4296766"/>
            <a:chExt cx="10892880" cy="852998"/>
          </a:xfrm>
        </p:grpSpPr>
        <p:grpSp>
          <p:nvGrpSpPr>
            <p:cNvPr id="5" name="组合 4"/>
            <p:cNvGrpSpPr/>
            <p:nvPr/>
          </p:nvGrpSpPr>
          <p:grpSpPr>
            <a:xfrm>
              <a:off x="1188818" y="4315228"/>
              <a:ext cx="10455852" cy="834536"/>
              <a:chOff x="384769" y="2922773"/>
              <a:chExt cx="2144789" cy="834536"/>
            </a:xfrm>
          </p:grpSpPr>
          <p:sp>
            <p:nvSpPr>
              <p:cNvPr id="6" name="文本框 34"/>
              <p:cNvSpPr txBox="1">
                <a:spLocks noChangeArrowheads="1"/>
              </p:cNvSpPr>
              <p:nvPr/>
            </p:nvSpPr>
            <p:spPr bwMode="auto">
              <a:xfrm>
                <a:off x="385160" y="2922773"/>
                <a:ext cx="14124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zh-CN" altLang="en-US" b="1" dirty="0">
                    <a:solidFill>
                      <a:schemeClr val="accent1">
                        <a:lumMod val="50000"/>
                      </a:schemeClr>
                    </a:solidFill>
                    <a:latin typeface="Arial" panose="020B0604020202020204" pitchFamily="34" charset="0"/>
                    <a:cs typeface="Arial" panose="020B0604020202020204" pitchFamily="34" charset="0"/>
                  </a:rPr>
                  <a:t>多维</a:t>
                </a:r>
                <a:r>
                  <a:rPr lang="zh-CN" altLang="en-US" sz="2000" b="1" dirty="0">
                    <a:solidFill>
                      <a:schemeClr val="accent1">
                        <a:lumMod val="50000"/>
                      </a:schemeClr>
                    </a:solidFill>
                    <a:latin typeface="Arial" panose="020B0604020202020204" pitchFamily="34" charset="0"/>
                    <a:cs typeface="Arial" panose="020B0604020202020204" pitchFamily="34" charset="0"/>
                  </a:rPr>
                  <a:t>存储</a:t>
                </a:r>
                <a:r>
                  <a:rPr lang="zh-CN" altLang="en-US" b="1" dirty="0" smtClean="0">
                    <a:solidFill>
                      <a:schemeClr val="accent1">
                        <a:lumMod val="50000"/>
                      </a:schemeClr>
                    </a:solidFill>
                    <a:latin typeface="Arial" panose="020B0604020202020204" pitchFamily="34" charset="0"/>
                    <a:cs typeface="Arial" panose="020B0604020202020204" pitchFamily="34" charset="0"/>
                  </a:rPr>
                  <a:t>结构介绍</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7" name="矩形 36"/>
              <p:cNvSpPr>
                <a:spLocks noChangeArrowheads="1"/>
              </p:cNvSpPr>
              <p:nvPr/>
            </p:nvSpPr>
            <p:spPr bwMode="auto">
              <a:xfrm>
                <a:off x="384769" y="3341298"/>
                <a:ext cx="2144789" cy="416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r>
                  <a:rPr lang="en-US" altLang="zh-CN" sz="1600" dirty="0">
                    <a:solidFill>
                      <a:schemeClr val="accent1">
                        <a:lumMod val="50000"/>
                      </a:schemeClr>
                    </a:solidFill>
                    <a:latin typeface="Arial" panose="020B0604020202020204" pitchFamily="34" charset="0"/>
                  </a:rPr>
                  <a:t>   </a:t>
                </a:r>
                <a:r>
                  <a:rPr lang="en-US" altLang="zh-CN" sz="1600" dirty="0" err="1">
                    <a:solidFill>
                      <a:schemeClr val="accent1">
                        <a:lumMod val="50000"/>
                      </a:schemeClr>
                    </a:solidFill>
                    <a:latin typeface="Arial" panose="020B0604020202020204" pitchFamily="34" charset="0"/>
                  </a:rPr>
                  <a:t>Caché</a:t>
                </a:r>
                <a:r>
                  <a:rPr lang="en-US" altLang="zh-CN" sz="1600" dirty="0">
                    <a:solidFill>
                      <a:schemeClr val="accent1">
                        <a:lumMod val="50000"/>
                      </a:schemeClr>
                    </a:solidFill>
                    <a:latin typeface="Arial" panose="020B0604020202020204" pitchFamily="34" charset="0"/>
                  </a:rPr>
                  <a:t> </a:t>
                </a:r>
                <a:r>
                  <a:rPr lang="zh-CN" altLang="en-US" sz="1600" dirty="0">
                    <a:solidFill>
                      <a:schemeClr val="accent1">
                        <a:lumMod val="50000"/>
                      </a:schemeClr>
                    </a:solidFill>
                    <a:latin typeface="Arial" panose="020B0604020202020204" pitchFamily="34" charset="0"/>
                  </a:rPr>
                  <a:t>以</a:t>
                </a:r>
                <a:r>
                  <a:rPr lang="zh-CN" altLang="en-US" sz="1600" dirty="0">
                    <a:solidFill>
                      <a:srgbClr val="FF0000"/>
                    </a:solidFill>
                    <a:latin typeface="Arial" panose="020B0604020202020204" pitchFamily="34" charset="0"/>
                  </a:rPr>
                  <a:t>多维数组</a:t>
                </a:r>
                <a:r>
                  <a:rPr lang="zh-CN" altLang="en-US" sz="1600" dirty="0">
                    <a:solidFill>
                      <a:schemeClr val="accent1">
                        <a:lumMod val="50000"/>
                      </a:schemeClr>
                    </a:solidFill>
                    <a:latin typeface="Arial" panose="020B0604020202020204" pitchFamily="34" charset="0"/>
                  </a:rPr>
                  <a:t>存储数据，</a:t>
                </a:r>
                <a:r>
                  <a:rPr lang="zh-CN" altLang="en-US" sz="1600" dirty="0">
                    <a:solidFill>
                      <a:srgbClr val="FF0000"/>
                    </a:solidFill>
                    <a:latin typeface="Arial" panose="020B0604020202020204" pitchFamily="34" charset="0"/>
                  </a:rPr>
                  <a:t>所有数据都是保存</a:t>
                </a:r>
                <a:r>
                  <a:rPr lang="en-US" altLang="zh-CN" sz="1600" dirty="0">
                    <a:solidFill>
                      <a:srgbClr val="FF0000"/>
                    </a:solidFill>
                    <a:latin typeface="Arial" panose="020B0604020202020204" pitchFamily="34" charset="0"/>
                  </a:rPr>
                  <a:t>Global</a:t>
                </a:r>
                <a:r>
                  <a:rPr lang="zh-CN" altLang="en-US" sz="1600" dirty="0">
                    <a:solidFill>
                      <a:srgbClr val="FF0000"/>
                    </a:solidFill>
                    <a:latin typeface="Arial" panose="020B0604020202020204" pitchFamily="34" charset="0"/>
                  </a:rPr>
                  <a:t>中</a:t>
                </a:r>
                <a:r>
                  <a:rPr lang="zh-CN" altLang="en-US" sz="1600" dirty="0">
                    <a:solidFill>
                      <a:schemeClr val="accent1">
                        <a:lumMod val="50000"/>
                      </a:schemeClr>
                    </a:solidFill>
                    <a:latin typeface="Arial" panose="020B0604020202020204" pitchFamily="34" charset="0"/>
                  </a:rPr>
                  <a:t>。</a:t>
                </a:r>
                <a:endParaRPr lang="zh-CN" altLang="en-US" sz="1400" dirty="0">
                  <a:solidFill>
                    <a:schemeClr val="accent1">
                      <a:lumMod val="50000"/>
                    </a:schemeClr>
                  </a:solidFill>
                  <a:latin typeface="Arial" panose="020B0604020202020204" pitchFamily="34" charset="0"/>
                </a:endParaRPr>
              </a:p>
            </p:txBody>
          </p:sp>
        </p:grpSp>
        <p:sp>
          <p:nvSpPr>
            <p:cNvPr id="22" name="椭圆 21"/>
            <p:cNvSpPr/>
            <p:nvPr/>
          </p:nvSpPr>
          <p:spPr>
            <a:xfrm>
              <a:off x="751790" y="4296766"/>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1</a:t>
              </a:r>
              <a:endParaRPr lang="zh-CN" altLang="en-US" sz="2400" dirty="0">
                <a:solidFill>
                  <a:schemeClr val="tx1">
                    <a:lumMod val="65000"/>
                    <a:lumOff val="35000"/>
                  </a:schemeClr>
                </a:solidFill>
              </a:endParaRPr>
            </a:p>
          </p:txBody>
        </p:sp>
      </p:grpSp>
      <p:pic>
        <p:nvPicPr>
          <p:cNvPr id="23" name="Picture 3" descr="01Cache数据存储体系"/>
          <p:cNvPicPr>
            <a:picLocks noChangeAspect="1" noChangeArrowheads="1"/>
          </p:cNvPicPr>
          <p:nvPr/>
        </p:nvPicPr>
        <p:blipFill>
          <a:blip r:embed="rId1"/>
          <a:srcRect/>
          <a:stretch>
            <a:fillRect/>
          </a:stretch>
        </p:blipFill>
        <p:spPr>
          <a:xfrm>
            <a:off x="6752398" y="3608359"/>
            <a:ext cx="5333112" cy="2709314"/>
          </a:xfrm>
          <a:prstGeom prst="rect">
            <a:avLst/>
          </a:prstGeom>
          <a:ln>
            <a:solidFill>
              <a:srgbClr val="1F4E79"/>
            </a:solidFill>
          </a:ln>
        </p:spPr>
      </p:pic>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第三</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的多维存储结构</a:t>
            </a:r>
            <a:endParaRPr lang="zh-CN" altLang="en-US" dirty="0"/>
          </a:p>
        </p:txBody>
      </p:sp>
      <p:sp>
        <p:nvSpPr>
          <p:cNvPr id="8" name="文本框 7"/>
          <p:cNvSpPr txBox="1"/>
          <p:nvPr/>
        </p:nvSpPr>
        <p:spPr>
          <a:xfrm>
            <a:off x="1682464" y="1635195"/>
            <a:ext cx="2274982" cy="369332"/>
          </a:xfrm>
          <a:prstGeom prst="rect">
            <a:avLst/>
          </a:prstGeom>
          <a:noFill/>
        </p:spPr>
        <p:txBody>
          <a:bodyPr wrap="none" rtlCol="0">
            <a:spAutoFit/>
          </a:bodyPr>
          <a:lstStyle/>
          <a:p>
            <a:pPr marL="342900" indent="-342900">
              <a:buFont typeface="Wingdings" panose="05000000000000000000" pitchFamily="2" charset="2"/>
              <a:buChar char="Ø"/>
            </a:pPr>
            <a:r>
              <a:rPr lang="zh-CN" altLang="en-US" dirty="0" smtClean="0">
                <a:solidFill>
                  <a:schemeClr val="tx1">
                    <a:lumMod val="65000"/>
                    <a:lumOff val="35000"/>
                  </a:schemeClr>
                </a:solidFill>
              </a:rPr>
              <a:t>示例</a:t>
            </a:r>
            <a:r>
              <a:rPr lang="en-US" altLang="zh-CN" dirty="0" smtClean="0">
                <a:solidFill>
                  <a:schemeClr val="tx1">
                    <a:lumMod val="65000"/>
                    <a:lumOff val="35000"/>
                  </a:schemeClr>
                </a:solidFill>
              </a:rPr>
              <a:t>1</a:t>
            </a:r>
            <a:r>
              <a:rPr lang="zh-CN" altLang="en-US" dirty="0" smtClean="0">
                <a:solidFill>
                  <a:schemeClr val="tx1">
                    <a:lumMod val="65000"/>
                    <a:lumOff val="35000"/>
                  </a:schemeClr>
                </a:solidFill>
              </a:rPr>
              <a:t>、对象方式</a:t>
            </a:r>
            <a:endParaRPr lang="zh-CN" altLang="en-US" dirty="0"/>
          </a:p>
        </p:txBody>
      </p:sp>
      <p:sp>
        <p:nvSpPr>
          <p:cNvPr id="13" name="文本框 12"/>
          <p:cNvSpPr txBox="1"/>
          <p:nvPr/>
        </p:nvSpPr>
        <p:spPr>
          <a:xfrm>
            <a:off x="1682464" y="4623239"/>
            <a:ext cx="2274982" cy="369332"/>
          </a:xfrm>
          <a:prstGeom prst="rect">
            <a:avLst/>
          </a:prstGeom>
          <a:noFill/>
        </p:spPr>
        <p:txBody>
          <a:bodyPr wrap="none" rtlCol="0">
            <a:spAutoFit/>
          </a:bodyPr>
          <a:lstStyle/>
          <a:p>
            <a:pPr marL="342900" indent="-342900">
              <a:buFont typeface="Wingdings" panose="05000000000000000000" pitchFamily="2" charset="2"/>
              <a:buChar char="Ø"/>
            </a:pPr>
            <a:r>
              <a:rPr lang="zh-CN" altLang="en-US" dirty="0" smtClean="0">
                <a:solidFill>
                  <a:schemeClr val="tx1">
                    <a:lumMod val="65000"/>
                    <a:lumOff val="35000"/>
                  </a:schemeClr>
                </a:solidFill>
              </a:rPr>
              <a:t>示例</a:t>
            </a:r>
            <a:r>
              <a:rPr lang="en-US" altLang="zh-CN" dirty="0">
                <a:solidFill>
                  <a:schemeClr val="tx1">
                    <a:lumMod val="65000"/>
                    <a:lumOff val="35000"/>
                  </a:schemeClr>
                </a:solidFill>
              </a:rPr>
              <a:t>2</a:t>
            </a:r>
            <a:r>
              <a:rPr lang="zh-CN" altLang="en-US" dirty="0" smtClean="0">
                <a:solidFill>
                  <a:schemeClr val="tx1">
                    <a:lumMod val="65000"/>
                    <a:lumOff val="35000"/>
                  </a:schemeClr>
                </a:solidFill>
              </a:rPr>
              <a:t>、</a:t>
            </a:r>
            <a:r>
              <a:rPr lang="en-US" altLang="zh-CN" dirty="0" smtClean="0"/>
              <a:t>SQL</a:t>
            </a:r>
            <a:r>
              <a:rPr lang="zh-CN" altLang="en-US" dirty="0" smtClean="0"/>
              <a:t>方式</a:t>
            </a:r>
            <a:endParaRPr lang="zh-CN" altLang="en-US" dirty="0"/>
          </a:p>
        </p:txBody>
      </p:sp>
      <p:pic>
        <p:nvPicPr>
          <p:cNvPr id="15" name="图片 14"/>
          <p:cNvPicPr>
            <a:picLocks noChangeAspect="1"/>
          </p:cNvPicPr>
          <p:nvPr/>
        </p:nvPicPr>
        <p:blipFill>
          <a:blip r:embed="rId1"/>
          <a:stretch>
            <a:fillRect/>
          </a:stretch>
        </p:blipFill>
        <p:spPr>
          <a:xfrm>
            <a:off x="4416308" y="773250"/>
            <a:ext cx="5184755" cy="2721503"/>
          </a:xfrm>
          <a:prstGeom prst="rect">
            <a:avLst/>
          </a:prstGeom>
          <a:ln>
            <a:solidFill>
              <a:schemeClr val="tx1">
                <a:lumMod val="50000"/>
                <a:lumOff val="50000"/>
              </a:schemeClr>
            </a:solidFill>
          </a:ln>
        </p:spPr>
      </p:pic>
      <p:pic>
        <p:nvPicPr>
          <p:cNvPr id="16" name="图片 15"/>
          <p:cNvPicPr>
            <a:picLocks noChangeAspect="1"/>
          </p:cNvPicPr>
          <p:nvPr/>
        </p:nvPicPr>
        <p:blipFill>
          <a:blip r:embed="rId2"/>
          <a:stretch>
            <a:fillRect/>
          </a:stretch>
        </p:blipFill>
        <p:spPr>
          <a:xfrm>
            <a:off x="4416308" y="3557084"/>
            <a:ext cx="5183150" cy="474588"/>
          </a:xfrm>
          <a:prstGeom prst="rect">
            <a:avLst/>
          </a:prstGeom>
          <a:ln>
            <a:solidFill>
              <a:schemeClr val="tx1">
                <a:lumMod val="50000"/>
                <a:lumOff val="50000"/>
              </a:schemeClr>
            </a:solidFill>
          </a:ln>
        </p:spPr>
      </p:pic>
      <p:pic>
        <p:nvPicPr>
          <p:cNvPr id="17" name="图片 16"/>
          <p:cNvPicPr>
            <a:picLocks noChangeAspect="1"/>
          </p:cNvPicPr>
          <p:nvPr/>
        </p:nvPicPr>
        <p:blipFill>
          <a:blip r:embed="rId3"/>
          <a:stretch>
            <a:fillRect/>
          </a:stretch>
        </p:blipFill>
        <p:spPr>
          <a:xfrm>
            <a:off x="4416309" y="4156348"/>
            <a:ext cx="5183150" cy="2224288"/>
          </a:xfrm>
          <a:prstGeom prst="rect">
            <a:avLst/>
          </a:prstGeom>
          <a:ln>
            <a:solidFill>
              <a:schemeClr val="tx1">
                <a:lumMod val="50000"/>
                <a:lumOff val="50000"/>
              </a:schemeClr>
            </a:solidFill>
          </a:ln>
        </p:spPr>
      </p:pic>
      <p:pic>
        <p:nvPicPr>
          <p:cNvPr id="18" name="图片 17"/>
          <p:cNvPicPr>
            <a:picLocks noChangeAspect="1"/>
          </p:cNvPicPr>
          <p:nvPr/>
        </p:nvPicPr>
        <p:blipFill>
          <a:blip r:embed="rId4"/>
          <a:stretch>
            <a:fillRect/>
          </a:stretch>
        </p:blipFill>
        <p:spPr>
          <a:xfrm>
            <a:off x="4416307" y="6432591"/>
            <a:ext cx="5219775" cy="363064"/>
          </a:xfrm>
          <a:prstGeom prst="rect">
            <a:avLst/>
          </a:prstGeom>
          <a:ln>
            <a:solidFill>
              <a:schemeClr val="tx1">
                <a:lumMod val="50000"/>
                <a:lumOff val="50000"/>
              </a:schemeClr>
            </a:solidFill>
          </a:ln>
        </p:spPr>
      </p:pic>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第三</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的多维存储结构</a:t>
            </a:r>
            <a:endParaRPr lang="zh-CN" altLang="en-US" dirty="0"/>
          </a:p>
        </p:txBody>
      </p:sp>
      <p:sp>
        <p:nvSpPr>
          <p:cNvPr id="3" name="内容占位符 2"/>
          <p:cNvSpPr txBox="1"/>
          <p:nvPr/>
        </p:nvSpPr>
        <p:spPr>
          <a:xfrm>
            <a:off x="1493658" y="4515966"/>
            <a:ext cx="3015913" cy="432048"/>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n-US" sz="1650" dirty="0"/>
          </a:p>
        </p:txBody>
      </p:sp>
      <p:pic>
        <p:nvPicPr>
          <p:cNvPr id="5" name="图片 4"/>
          <p:cNvPicPr>
            <a:picLocks noChangeAspect="1"/>
          </p:cNvPicPr>
          <p:nvPr/>
        </p:nvPicPr>
        <p:blipFill>
          <a:blip r:embed="rId1"/>
          <a:stretch>
            <a:fillRect/>
          </a:stretch>
        </p:blipFill>
        <p:spPr>
          <a:xfrm>
            <a:off x="901806" y="1420739"/>
            <a:ext cx="4982333" cy="2168712"/>
          </a:xfrm>
          <a:prstGeom prst="rect">
            <a:avLst/>
          </a:prstGeom>
          <a:ln>
            <a:solidFill>
              <a:srgbClr val="1F4E79"/>
            </a:solidFill>
          </a:ln>
        </p:spPr>
      </p:pic>
      <p:grpSp>
        <p:nvGrpSpPr>
          <p:cNvPr id="11" name="组合 10"/>
          <p:cNvGrpSpPr/>
          <p:nvPr/>
        </p:nvGrpSpPr>
        <p:grpSpPr>
          <a:xfrm>
            <a:off x="385741" y="880276"/>
            <a:ext cx="10894786" cy="834583"/>
            <a:chOff x="751790" y="4296766"/>
            <a:chExt cx="10894786" cy="834583"/>
          </a:xfrm>
        </p:grpSpPr>
        <p:grpSp>
          <p:nvGrpSpPr>
            <p:cNvPr id="12" name="组合 11"/>
            <p:cNvGrpSpPr/>
            <p:nvPr/>
          </p:nvGrpSpPr>
          <p:grpSpPr>
            <a:xfrm>
              <a:off x="1190724" y="4315228"/>
              <a:ext cx="10455852" cy="816121"/>
              <a:chOff x="385160" y="2922773"/>
              <a:chExt cx="2144789" cy="816121"/>
            </a:xfrm>
          </p:grpSpPr>
          <p:sp>
            <p:nvSpPr>
              <p:cNvPr id="14" name="文本框 34"/>
              <p:cNvSpPr txBox="1">
                <a:spLocks noChangeArrowheads="1"/>
              </p:cNvSpPr>
              <p:nvPr/>
            </p:nvSpPr>
            <p:spPr bwMode="auto">
              <a:xfrm>
                <a:off x="385160" y="2922773"/>
                <a:ext cx="1412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zh-CN" altLang="en-US" b="1" dirty="0" smtClean="0">
                    <a:solidFill>
                      <a:schemeClr val="accent1">
                        <a:lumMod val="50000"/>
                      </a:schemeClr>
                    </a:solidFill>
                    <a:latin typeface="Arial" panose="020B0604020202020204" pitchFamily="34" charset="0"/>
                    <a:cs typeface="Arial" panose="020B0604020202020204" pitchFamily="34" charset="0"/>
                  </a:rPr>
                  <a:t>变量</a:t>
                </a:r>
                <a:r>
                  <a:rPr lang="zh-CN" altLang="en-US" b="1" dirty="0">
                    <a:solidFill>
                      <a:schemeClr val="accent1">
                        <a:lumMod val="50000"/>
                      </a:schemeClr>
                    </a:solidFill>
                    <a:latin typeface="Arial" panose="020B0604020202020204" pitchFamily="34" charset="0"/>
                    <a:cs typeface="Arial" panose="020B0604020202020204" pitchFamily="34" charset="0"/>
                  </a:rPr>
                  <a:t>、</a:t>
                </a:r>
                <a:r>
                  <a:rPr lang="en-US" altLang="zh-CN" b="1" dirty="0">
                    <a:solidFill>
                      <a:schemeClr val="accent1">
                        <a:lumMod val="50000"/>
                      </a:schemeClr>
                    </a:solidFill>
                    <a:latin typeface="Arial" panose="020B0604020202020204" pitchFamily="34" charset="0"/>
                    <a:cs typeface="Arial" panose="020B0604020202020204" pitchFamily="34" charset="0"/>
                  </a:rPr>
                  <a:t>Global</a:t>
                </a:r>
                <a:r>
                  <a:rPr lang="zh-CN" altLang="en-US" b="1" dirty="0">
                    <a:solidFill>
                      <a:schemeClr val="accent1">
                        <a:lumMod val="50000"/>
                      </a:schemeClr>
                    </a:solidFill>
                    <a:latin typeface="Arial" panose="020B0604020202020204" pitchFamily="34" charset="0"/>
                    <a:cs typeface="Arial" panose="020B0604020202020204" pitchFamily="34" charset="0"/>
                  </a:rPr>
                  <a:t>、进程</a:t>
                </a:r>
                <a:r>
                  <a:rPr lang="en-US" altLang="zh-CN" b="1" dirty="0" smtClean="0">
                    <a:solidFill>
                      <a:schemeClr val="accent1">
                        <a:lumMod val="50000"/>
                      </a:schemeClr>
                    </a:solidFill>
                    <a:latin typeface="Arial" panose="020B0604020202020204" pitchFamily="34" charset="0"/>
                    <a:cs typeface="Arial" panose="020B0604020202020204" pitchFamily="34" charset="0"/>
                  </a:rPr>
                  <a:t>Global </a:t>
                </a:r>
                <a:r>
                  <a:rPr lang="zh-CN" altLang="en-US" b="1" dirty="0" smtClean="0">
                    <a:solidFill>
                      <a:schemeClr val="accent1">
                        <a:lumMod val="50000"/>
                      </a:schemeClr>
                    </a:solidFill>
                    <a:latin typeface="Arial" panose="020B0604020202020204" pitchFamily="34" charset="0"/>
                    <a:cs typeface="Arial" panose="020B0604020202020204" pitchFamily="34" charset="0"/>
                  </a:rPr>
                  <a:t>的使用</a:t>
                </a:r>
                <a:r>
                  <a:rPr lang="zh-CN" altLang="en-US" b="1" dirty="0">
                    <a:solidFill>
                      <a:schemeClr val="accent1">
                        <a:lumMod val="50000"/>
                      </a:schemeClr>
                    </a:solidFill>
                    <a:latin typeface="Arial" panose="020B0604020202020204" pitchFamily="34" charset="0"/>
                    <a:cs typeface="Arial" panose="020B0604020202020204" pitchFamily="34" charset="0"/>
                  </a:rPr>
                  <a:t>与区别</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15" name="矩形 36"/>
              <p:cNvSpPr>
                <a:spLocks noChangeArrowheads="1"/>
              </p:cNvSpPr>
              <p:nvPr/>
            </p:nvSpPr>
            <p:spPr bwMode="auto">
              <a:xfrm>
                <a:off x="385160" y="3322883"/>
                <a:ext cx="2144789" cy="416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r>
                  <a:rPr lang="en-US" altLang="zh-CN" sz="1600" dirty="0">
                    <a:solidFill>
                      <a:schemeClr val="accent1">
                        <a:lumMod val="50000"/>
                      </a:schemeClr>
                    </a:solidFill>
                    <a:latin typeface="Arial" panose="020B0604020202020204" pitchFamily="34" charset="0"/>
                  </a:rPr>
                  <a:t>   </a:t>
                </a:r>
                <a:endParaRPr lang="en-US" altLang="zh-CN" sz="1600" dirty="0" smtClean="0">
                  <a:solidFill>
                    <a:srgbClr val="00B0F0"/>
                  </a:solidFill>
                  <a:latin typeface="Arial" panose="020B0604020202020204" pitchFamily="34" charset="0"/>
                </a:endParaRPr>
              </a:p>
            </p:txBody>
          </p:sp>
        </p:grpSp>
        <p:sp>
          <p:nvSpPr>
            <p:cNvPr id="13" name="椭圆 12"/>
            <p:cNvSpPr/>
            <p:nvPr/>
          </p:nvSpPr>
          <p:spPr>
            <a:xfrm>
              <a:off x="751790" y="4296766"/>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2</a:t>
              </a:r>
              <a:endParaRPr lang="zh-CN" altLang="en-US" sz="2400" dirty="0">
                <a:solidFill>
                  <a:schemeClr val="tx1">
                    <a:lumMod val="65000"/>
                    <a:lumOff val="35000"/>
                  </a:schemeClr>
                </a:solidFill>
              </a:endParaRPr>
            </a:p>
          </p:txBody>
        </p:sp>
      </p:grpSp>
      <p:sp>
        <p:nvSpPr>
          <p:cNvPr id="16" name="矩形 36"/>
          <p:cNvSpPr>
            <a:spLocks noChangeArrowheads="1"/>
          </p:cNvSpPr>
          <p:nvPr/>
        </p:nvSpPr>
        <p:spPr bwMode="auto">
          <a:xfrm>
            <a:off x="822775" y="3712552"/>
            <a:ext cx="11116380"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marL="285750" indent="-285750">
              <a:lnSpc>
                <a:spcPct val="150000"/>
              </a:lnSpc>
              <a:buFont typeface="Wingdings" panose="05000000000000000000" pitchFamily="2" charset="2"/>
              <a:buChar char="u"/>
            </a:pPr>
            <a:r>
              <a:rPr lang="zh-CN" altLang="en-US" sz="1600" b="1" dirty="0" smtClean="0">
                <a:solidFill>
                  <a:srgbClr val="FF6565"/>
                </a:solidFill>
                <a:latin typeface="Arial" panose="020B0604020202020204" pitchFamily="34" charset="0"/>
              </a:rPr>
              <a:t>变量</a:t>
            </a:r>
            <a:r>
              <a:rPr lang="en-US" altLang="zh-CN" sz="1600" dirty="0">
                <a:solidFill>
                  <a:schemeClr val="accent1">
                    <a:lumMod val="50000"/>
                  </a:schemeClr>
                </a:solidFill>
                <a:latin typeface="Arial" panose="020B0604020202020204" pitchFamily="34" charset="0"/>
              </a:rPr>
              <a:t>(A local variable )</a:t>
            </a:r>
            <a:r>
              <a:rPr lang="zh-CN" altLang="en-US" sz="1600" dirty="0">
                <a:solidFill>
                  <a:schemeClr val="accent1">
                    <a:lumMod val="50000"/>
                  </a:schemeClr>
                </a:solidFill>
                <a:latin typeface="Arial" panose="020B0604020202020204" pitchFamily="34" charset="0"/>
              </a:rPr>
              <a:t>：当前进程内有效的变量。</a:t>
            </a:r>
            <a:endParaRPr lang="zh-CN" altLang="en-US" sz="1600" dirty="0">
              <a:solidFill>
                <a:schemeClr val="accent1">
                  <a:lumMod val="50000"/>
                </a:schemeClr>
              </a:solidFill>
              <a:latin typeface="Arial" panose="020B0604020202020204" pitchFamily="34" charset="0"/>
            </a:endParaRPr>
          </a:p>
          <a:p>
            <a:pPr>
              <a:lnSpc>
                <a:spcPct val="150000"/>
              </a:lnSpc>
            </a:pPr>
            <a:r>
              <a:rPr lang="en-US" altLang="zh-CN" sz="1400" dirty="0">
                <a:solidFill>
                  <a:schemeClr val="accent1">
                    <a:lumMod val="50000"/>
                  </a:schemeClr>
                </a:solidFill>
                <a:latin typeface="Arial" panose="020B0604020202020204" pitchFamily="34" charset="0"/>
              </a:rPr>
              <a:t>A local variable is a variable that is stored within the current </a:t>
            </a:r>
            <a:r>
              <a:rPr lang="en-US" altLang="zh-CN" sz="1400" dirty="0" err="1">
                <a:solidFill>
                  <a:schemeClr val="accent1">
                    <a:lumMod val="50000"/>
                  </a:schemeClr>
                </a:solidFill>
                <a:latin typeface="Arial" panose="020B0604020202020204" pitchFamily="34" charset="0"/>
              </a:rPr>
              <a:t>Caché</a:t>
            </a:r>
            <a:r>
              <a:rPr lang="en-US" altLang="zh-CN" sz="1400" dirty="0">
                <a:solidFill>
                  <a:schemeClr val="accent1">
                    <a:lumMod val="50000"/>
                  </a:schemeClr>
                </a:solidFill>
                <a:latin typeface="Arial" panose="020B0604020202020204" pitchFamily="34" charset="0"/>
              </a:rPr>
              <a:t> process.</a:t>
            </a:r>
            <a:endParaRPr lang="en-US" altLang="zh-CN" sz="1400" dirty="0">
              <a:solidFill>
                <a:schemeClr val="accent1">
                  <a:lumMod val="50000"/>
                </a:schemeClr>
              </a:solidFill>
              <a:latin typeface="Arial" panose="020B0604020202020204" pitchFamily="34" charset="0"/>
            </a:endParaRPr>
          </a:p>
          <a:p>
            <a:pPr marL="285750" indent="-285750">
              <a:lnSpc>
                <a:spcPct val="150000"/>
              </a:lnSpc>
              <a:buFont typeface="Wingdings" panose="05000000000000000000" pitchFamily="2" charset="2"/>
              <a:buChar char="u"/>
            </a:pPr>
            <a:r>
              <a:rPr lang="en-US" altLang="zh-CN" sz="1600" b="1" dirty="0">
                <a:solidFill>
                  <a:srgbClr val="FF6565"/>
                </a:solidFill>
                <a:latin typeface="Arial" panose="020B0604020202020204" pitchFamily="34" charset="0"/>
              </a:rPr>
              <a:t>Global</a:t>
            </a:r>
            <a:r>
              <a:rPr lang="en-US" altLang="zh-CN" sz="1600" dirty="0" smtClean="0">
                <a:solidFill>
                  <a:schemeClr val="accent1">
                    <a:lumMod val="50000"/>
                  </a:schemeClr>
                </a:solidFill>
                <a:latin typeface="Arial" panose="020B0604020202020204" pitchFamily="34" charset="0"/>
              </a:rPr>
              <a:t>(Global </a:t>
            </a:r>
            <a:r>
              <a:rPr lang="en-US" altLang="zh-CN" sz="1600" dirty="0">
                <a:solidFill>
                  <a:schemeClr val="accent1">
                    <a:lumMod val="50000"/>
                  </a:schemeClr>
                </a:solidFill>
                <a:latin typeface="Arial" panose="020B0604020202020204" pitchFamily="34" charset="0"/>
              </a:rPr>
              <a:t>variables)</a:t>
            </a:r>
            <a:r>
              <a:rPr lang="zh-CN" altLang="en-US" sz="1600" dirty="0">
                <a:solidFill>
                  <a:schemeClr val="accent1">
                    <a:lumMod val="50000"/>
                  </a:schemeClr>
                </a:solidFill>
                <a:latin typeface="Arial" panose="020B0604020202020204" pitchFamily="34" charset="0"/>
              </a:rPr>
              <a:t>：</a:t>
            </a:r>
            <a:r>
              <a:rPr lang="en-US" altLang="zh-CN" sz="1600" dirty="0">
                <a:solidFill>
                  <a:schemeClr val="accent1">
                    <a:lumMod val="50000"/>
                  </a:schemeClr>
                </a:solidFill>
                <a:latin typeface="Arial" panose="020B0604020202020204" pitchFamily="34" charset="0"/>
              </a:rPr>
              <a:t>Global</a:t>
            </a:r>
            <a:r>
              <a:rPr lang="zh-CN" altLang="en-US" sz="1600" dirty="0">
                <a:solidFill>
                  <a:schemeClr val="accent1">
                    <a:lumMod val="50000"/>
                  </a:schemeClr>
                </a:solidFill>
                <a:latin typeface="Arial" panose="020B0604020202020204" pitchFamily="34" charset="0"/>
              </a:rPr>
              <a:t>是特殊的变量，以</a:t>
            </a:r>
            <a:r>
              <a:rPr lang="en-US" altLang="zh-CN" sz="1600" dirty="0">
                <a:solidFill>
                  <a:schemeClr val="accent1">
                    <a:lumMod val="50000"/>
                  </a:schemeClr>
                </a:solidFill>
                <a:latin typeface="Arial" panose="020B0604020202020204" pitchFamily="34" charset="0"/>
              </a:rPr>
              <a:t>^</a:t>
            </a:r>
            <a:r>
              <a:rPr lang="zh-CN" altLang="en-US" sz="1600" dirty="0">
                <a:solidFill>
                  <a:schemeClr val="accent1">
                    <a:lumMod val="50000"/>
                  </a:schemeClr>
                </a:solidFill>
                <a:latin typeface="Arial" panose="020B0604020202020204" pitchFamily="34" charset="0"/>
              </a:rPr>
              <a:t>开头，自动创建且存储在</a:t>
            </a:r>
            <a:r>
              <a:rPr lang="en-US" altLang="zh-CN" sz="1600" dirty="0">
                <a:solidFill>
                  <a:schemeClr val="accent1">
                    <a:lumMod val="50000"/>
                  </a:schemeClr>
                </a:solidFill>
                <a:latin typeface="Arial" panose="020B0604020202020204" pitchFamily="34" charset="0"/>
              </a:rPr>
              <a:t>Cache</a:t>
            </a:r>
            <a:r>
              <a:rPr lang="zh-CN" altLang="en-US" sz="1600" dirty="0">
                <a:solidFill>
                  <a:schemeClr val="accent1">
                    <a:lumMod val="50000"/>
                  </a:schemeClr>
                </a:solidFill>
                <a:latin typeface="Arial" panose="020B0604020202020204" pitchFamily="34" charset="0"/>
              </a:rPr>
              <a:t>数据库中 。</a:t>
            </a:r>
            <a:endParaRPr lang="zh-CN" altLang="en-US" sz="1600" dirty="0">
              <a:solidFill>
                <a:schemeClr val="accent1">
                  <a:lumMod val="50000"/>
                </a:schemeClr>
              </a:solidFill>
              <a:latin typeface="Arial" panose="020B0604020202020204" pitchFamily="34" charset="0"/>
            </a:endParaRPr>
          </a:p>
          <a:p>
            <a:pPr>
              <a:lnSpc>
                <a:spcPct val="150000"/>
              </a:lnSpc>
            </a:pPr>
            <a:r>
              <a:rPr lang="en-US" altLang="zh-CN" sz="1400" dirty="0">
                <a:solidFill>
                  <a:schemeClr val="accent1">
                    <a:lumMod val="50000"/>
                  </a:schemeClr>
                </a:solidFill>
                <a:latin typeface="Arial" panose="020B0604020202020204" pitchFamily="34" charset="0"/>
              </a:rPr>
              <a:t>A global is a special kind of variable that is automatically stored within the </a:t>
            </a:r>
            <a:r>
              <a:rPr lang="en-US" altLang="zh-CN" sz="1400" dirty="0" err="1">
                <a:solidFill>
                  <a:schemeClr val="accent1">
                    <a:lumMod val="50000"/>
                  </a:schemeClr>
                </a:solidFill>
                <a:latin typeface="Arial" panose="020B0604020202020204" pitchFamily="34" charset="0"/>
              </a:rPr>
              <a:t>Caché</a:t>
            </a:r>
            <a:r>
              <a:rPr lang="en-US" altLang="zh-CN" sz="1400" dirty="0">
                <a:solidFill>
                  <a:schemeClr val="accent1">
                    <a:lumMod val="50000"/>
                  </a:schemeClr>
                </a:solidFill>
                <a:latin typeface="Arial" panose="020B0604020202020204" pitchFamily="34" charset="0"/>
              </a:rPr>
              <a:t> database. </a:t>
            </a:r>
            <a:endParaRPr lang="en-US" altLang="zh-CN" sz="1400" dirty="0">
              <a:solidFill>
                <a:schemeClr val="accent1">
                  <a:lumMod val="50000"/>
                </a:schemeClr>
              </a:solidFill>
              <a:latin typeface="Arial" panose="020B0604020202020204" pitchFamily="34" charset="0"/>
            </a:endParaRPr>
          </a:p>
          <a:p>
            <a:pPr marL="285750" indent="-285750">
              <a:lnSpc>
                <a:spcPct val="150000"/>
              </a:lnSpc>
              <a:buFont typeface="Wingdings" panose="05000000000000000000" pitchFamily="2" charset="2"/>
              <a:buChar char="u"/>
            </a:pPr>
            <a:r>
              <a:rPr lang="zh-CN" altLang="en-US" sz="1600" b="1" dirty="0">
                <a:solidFill>
                  <a:srgbClr val="FF6565"/>
                </a:solidFill>
                <a:latin typeface="Arial" panose="020B0604020202020204" pitchFamily="34" charset="0"/>
              </a:rPr>
              <a:t>进程</a:t>
            </a:r>
            <a:r>
              <a:rPr lang="en-US" altLang="zh-CN" sz="1600" b="1" dirty="0">
                <a:solidFill>
                  <a:srgbClr val="FF6565"/>
                </a:solidFill>
                <a:latin typeface="Arial" panose="020B0604020202020204" pitchFamily="34" charset="0"/>
              </a:rPr>
              <a:t>Global </a:t>
            </a:r>
            <a:r>
              <a:rPr lang="en-US" altLang="zh-CN" sz="1600" dirty="0">
                <a:solidFill>
                  <a:schemeClr val="accent1">
                    <a:lumMod val="50000"/>
                  </a:schemeClr>
                </a:solidFill>
                <a:latin typeface="Arial" panose="020B0604020202020204" pitchFamily="34" charset="0"/>
              </a:rPr>
              <a:t>(Process-private Global variables)</a:t>
            </a:r>
            <a:r>
              <a:rPr lang="zh-CN" altLang="en-US" sz="1600" dirty="0" smtClean="0">
                <a:solidFill>
                  <a:schemeClr val="accent1">
                    <a:lumMod val="50000"/>
                  </a:schemeClr>
                </a:solidFill>
                <a:latin typeface="Arial" panose="020B0604020202020204" pitchFamily="34" charset="0"/>
              </a:rPr>
              <a:t>：</a:t>
            </a:r>
            <a:endParaRPr lang="en-US" altLang="zh-CN" sz="1600" dirty="0" smtClean="0">
              <a:solidFill>
                <a:schemeClr val="accent1">
                  <a:lumMod val="50000"/>
                </a:schemeClr>
              </a:solidFill>
              <a:latin typeface="Arial" panose="020B0604020202020204" pitchFamily="34" charset="0"/>
            </a:endParaRPr>
          </a:p>
          <a:p>
            <a:pPr>
              <a:lnSpc>
                <a:spcPct val="150000"/>
              </a:lnSpc>
            </a:pPr>
            <a:r>
              <a:rPr lang="zh-CN" altLang="en-US" sz="1600" dirty="0" smtClean="0">
                <a:solidFill>
                  <a:schemeClr val="accent1">
                    <a:lumMod val="50000"/>
                  </a:schemeClr>
                </a:solidFill>
                <a:latin typeface="Arial" panose="020B0604020202020204" pitchFamily="34" charset="0"/>
              </a:rPr>
              <a:t>进程</a:t>
            </a:r>
            <a:r>
              <a:rPr lang="zh-CN" altLang="en-US" sz="1600" dirty="0">
                <a:solidFill>
                  <a:schemeClr val="accent1">
                    <a:lumMod val="50000"/>
                  </a:schemeClr>
                </a:solidFill>
                <a:latin typeface="Arial" panose="020B0604020202020204" pitchFamily="34" charset="0"/>
              </a:rPr>
              <a:t>私有</a:t>
            </a:r>
            <a:r>
              <a:rPr lang="en-US" altLang="zh-CN" sz="1600" dirty="0">
                <a:solidFill>
                  <a:schemeClr val="accent1">
                    <a:lumMod val="50000"/>
                  </a:schemeClr>
                </a:solidFill>
                <a:latin typeface="Arial" panose="020B0604020202020204" pitchFamily="34" charset="0"/>
              </a:rPr>
              <a:t>Global</a:t>
            </a:r>
            <a:r>
              <a:rPr lang="zh-CN" altLang="en-US" sz="1600" dirty="0">
                <a:solidFill>
                  <a:schemeClr val="accent1">
                    <a:lumMod val="50000"/>
                  </a:schemeClr>
                </a:solidFill>
                <a:latin typeface="Arial" panose="020B0604020202020204" pitchFamily="34" charset="0"/>
              </a:rPr>
              <a:t>是当前进程中创建的，所有命名空间可访问，进程结束时，进程私有</a:t>
            </a:r>
            <a:r>
              <a:rPr lang="en-US" altLang="zh-CN" sz="1600" dirty="0">
                <a:solidFill>
                  <a:schemeClr val="accent1">
                    <a:lumMod val="50000"/>
                  </a:schemeClr>
                </a:solidFill>
                <a:latin typeface="Arial" panose="020B0604020202020204" pitchFamily="34" charset="0"/>
              </a:rPr>
              <a:t>Global</a:t>
            </a:r>
            <a:r>
              <a:rPr lang="zh-CN" altLang="en-US" sz="1600" dirty="0">
                <a:solidFill>
                  <a:schemeClr val="accent1">
                    <a:lumMod val="50000"/>
                  </a:schemeClr>
                </a:solidFill>
                <a:latin typeface="Arial" panose="020B0604020202020204" pitchFamily="34" charset="0"/>
              </a:rPr>
              <a:t>也被清除 </a:t>
            </a:r>
            <a:br>
              <a:rPr lang="zh-CN" altLang="en-US" sz="1400" dirty="0">
                <a:solidFill>
                  <a:schemeClr val="accent1">
                    <a:lumMod val="50000"/>
                  </a:schemeClr>
                </a:solidFill>
                <a:latin typeface="Arial" panose="020B0604020202020204" pitchFamily="34" charset="0"/>
              </a:rPr>
            </a:br>
            <a:r>
              <a:rPr lang="en-US" altLang="zh-CN" sz="1400" dirty="0">
                <a:solidFill>
                  <a:schemeClr val="accent1">
                    <a:lumMod val="50000"/>
                  </a:schemeClr>
                </a:solidFill>
                <a:latin typeface="Arial" panose="020B0604020202020204" pitchFamily="34" charset="0"/>
              </a:rPr>
              <a:t>A process-private global is a variable that is only accessible by the process that created it. </a:t>
            </a:r>
            <a:endParaRPr lang="en-US" altLang="zh-CN" sz="1400" dirty="0">
              <a:solidFill>
                <a:schemeClr val="accent1">
                  <a:lumMod val="50000"/>
                </a:schemeClr>
              </a:solidFill>
              <a:latin typeface="Arial" panose="020B0604020202020204" pitchFamily="34" charset="0"/>
            </a:endParaRPr>
          </a:p>
          <a:p>
            <a:pPr>
              <a:lnSpc>
                <a:spcPct val="150000"/>
              </a:lnSpc>
            </a:pPr>
            <a:r>
              <a:rPr lang="en-US" altLang="zh-CN" sz="1400" dirty="0">
                <a:solidFill>
                  <a:schemeClr val="accent1">
                    <a:lumMod val="50000"/>
                  </a:schemeClr>
                </a:solidFill>
                <a:latin typeface="Arial" panose="020B0604020202020204" pitchFamily="34" charset="0"/>
              </a:rPr>
              <a:t>It is mapped to be accessible from all namespaces. When the process ends, all of its process-private </a:t>
            </a:r>
            <a:r>
              <a:rPr lang="en-US" altLang="zh-CN" sz="1400" dirty="0" err="1">
                <a:solidFill>
                  <a:schemeClr val="accent1">
                    <a:lumMod val="50000"/>
                  </a:schemeClr>
                </a:solidFill>
                <a:latin typeface="Arial" panose="020B0604020202020204" pitchFamily="34" charset="0"/>
              </a:rPr>
              <a:t>globals</a:t>
            </a:r>
            <a:r>
              <a:rPr lang="en-US" altLang="zh-CN" sz="1400" dirty="0">
                <a:solidFill>
                  <a:schemeClr val="accent1">
                    <a:lumMod val="50000"/>
                  </a:schemeClr>
                </a:solidFill>
                <a:latin typeface="Arial" panose="020B0604020202020204" pitchFamily="34" charset="0"/>
              </a:rPr>
              <a:t> are deleted. </a:t>
            </a:r>
            <a:endParaRPr lang="en-US" altLang="zh-CN" sz="1400" dirty="0">
              <a:solidFill>
                <a:schemeClr val="accent1">
                  <a:lumMod val="50000"/>
                </a:schemeClr>
              </a:solidFill>
              <a:latin typeface="Arial" panose="020B0604020202020204" pitchFamily="34" charset="0"/>
            </a:endParaRPr>
          </a:p>
        </p:txBody>
      </p:sp>
      <p:sp>
        <p:nvSpPr>
          <p:cNvPr id="17" name="矩形 16"/>
          <p:cNvSpPr/>
          <p:nvPr/>
        </p:nvSpPr>
        <p:spPr>
          <a:xfrm>
            <a:off x="6052601" y="2074813"/>
            <a:ext cx="5430981" cy="830997"/>
          </a:xfrm>
          <a:prstGeom prst="rect">
            <a:avLst/>
          </a:prstGeom>
        </p:spPr>
        <p:txBody>
          <a:bodyPr wrap="square">
            <a:spAutoFit/>
          </a:bodyPr>
          <a:lstStyle/>
          <a:p>
            <a:pPr>
              <a:lnSpc>
                <a:spcPct val="150000"/>
              </a:lnSpc>
            </a:pPr>
            <a:r>
              <a:rPr lang="en-US" altLang="zh-CN" sz="1600" dirty="0">
                <a:solidFill>
                  <a:srgbClr val="00B0F0"/>
                </a:solidFill>
                <a:latin typeface="Arial" panose="020B0604020202020204" pitchFamily="34" charset="0"/>
              </a:rPr>
              <a:t>http://localhost:57772/csp/docbook/DocBook.UI.Page.cls?KEY=GCOS_variables#GCOS_variables_local</a:t>
            </a:r>
            <a:endParaRPr lang="en-US" altLang="zh-CN" sz="1600" dirty="0">
              <a:solidFill>
                <a:srgbClr val="00B0F0"/>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第三</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的多维存储结构</a:t>
            </a:r>
            <a:endParaRPr lang="zh-CN" altLang="en-US" dirty="0"/>
          </a:p>
        </p:txBody>
      </p:sp>
      <p:sp>
        <p:nvSpPr>
          <p:cNvPr id="4" name="内容占位符 2"/>
          <p:cNvSpPr txBox="1"/>
          <p:nvPr/>
        </p:nvSpPr>
        <p:spPr>
          <a:xfrm>
            <a:off x="1493658" y="4515966"/>
            <a:ext cx="3015913" cy="432048"/>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n-US" sz="1650" dirty="0"/>
          </a:p>
        </p:txBody>
      </p:sp>
      <p:pic>
        <p:nvPicPr>
          <p:cNvPr id="5" name="图片 4"/>
          <p:cNvPicPr>
            <a:picLocks noChangeAspect="1"/>
          </p:cNvPicPr>
          <p:nvPr/>
        </p:nvPicPr>
        <p:blipFill>
          <a:blip r:embed="rId1"/>
          <a:stretch>
            <a:fillRect/>
          </a:stretch>
        </p:blipFill>
        <p:spPr>
          <a:xfrm>
            <a:off x="2527956" y="4479868"/>
            <a:ext cx="244270" cy="402547"/>
          </a:xfrm>
          <a:prstGeom prst="rect">
            <a:avLst/>
          </a:prstGeom>
        </p:spPr>
      </p:pic>
      <p:pic>
        <p:nvPicPr>
          <p:cNvPr id="6" name="图片 5"/>
          <p:cNvPicPr>
            <a:picLocks noChangeAspect="1"/>
          </p:cNvPicPr>
          <p:nvPr/>
        </p:nvPicPr>
        <p:blipFill>
          <a:blip r:embed="rId1"/>
          <a:stretch>
            <a:fillRect/>
          </a:stretch>
        </p:blipFill>
        <p:spPr>
          <a:xfrm>
            <a:off x="2545680" y="5699718"/>
            <a:ext cx="244270" cy="402547"/>
          </a:xfrm>
          <a:prstGeom prst="rect">
            <a:avLst/>
          </a:prstGeom>
        </p:spPr>
      </p:pic>
      <p:sp>
        <p:nvSpPr>
          <p:cNvPr id="11" name="矩形 10"/>
          <p:cNvSpPr/>
          <p:nvPr/>
        </p:nvSpPr>
        <p:spPr>
          <a:xfrm>
            <a:off x="2789950" y="1183572"/>
            <a:ext cx="7414437" cy="504753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en-US" altLang="zh-CN" sz="1600" dirty="0">
                <a:solidFill>
                  <a:schemeClr val="accent1">
                    <a:lumMod val="50000"/>
                  </a:schemeClr>
                </a:solidFill>
                <a:latin typeface="Arial" panose="020B0604020202020204" pitchFamily="34" charset="0"/>
              </a:rPr>
              <a:t>Terminal:</a:t>
            </a:r>
            <a:endParaRPr lang="en-US" altLang="zh-CN" sz="1600" dirty="0">
              <a:solidFill>
                <a:schemeClr val="accent1">
                  <a:lumMod val="50000"/>
                </a:schemeClr>
              </a:solidFill>
              <a:latin typeface="Arial" panose="020B0604020202020204" pitchFamily="34" charset="0"/>
            </a:endParaRPr>
          </a:p>
          <a:p>
            <a:pPr marL="360045" indent="0">
              <a:lnSpc>
                <a:spcPct val="150000"/>
              </a:lnSpc>
              <a:buFont typeface="Arial" panose="020B0604020202020204" pitchFamily="34" charset="0"/>
              <a:buNone/>
            </a:pPr>
            <a:r>
              <a:rPr lang="en-US" altLang="zh-CN" sz="1600" dirty="0" err="1">
                <a:solidFill>
                  <a:schemeClr val="accent1">
                    <a:lumMod val="50000"/>
                  </a:schemeClr>
                </a:solidFill>
                <a:latin typeface="Arial" panose="020B0604020202020204" pitchFamily="34" charset="0"/>
              </a:rPr>
              <a:t>zn</a:t>
            </a:r>
            <a:r>
              <a:rPr lang="en-US" altLang="zh-CN" sz="1600" dirty="0">
                <a:solidFill>
                  <a:schemeClr val="accent1">
                    <a:lumMod val="50000"/>
                  </a:schemeClr>
                </a:solidFill>
                <a:latin typeface="Arial" panose="020B0604020202020204" pitchFamily="34" charset="0"/>
              </a:rPr>
              <a:t> "</a:t>
            </a:r>
            <a:r>
              <a:rPr lang="en-US" altLang="zh-CN" sz="1600" dirty="0" err="1">
                <a:solidFill>
                  <a:schemeClr val="accent1">
                    <a:lumMod val="50000"/>
                  </a:schemeClr>
                </a:solidFill>
                <a:latin typeface="Arial" panose="020B0604020202020204" pitchFamily="34" charset="0"/>
              </a:rPr>
              <a:t>dhc</a:t>
            </a:r>
            <a:r>
              <a:rPr lang="en-US" altLang="zh-CN" sz="1600" dirty="0">
                <a:solidFill>
                  <a:schemeClr val="accent1">
                    <a:lumMod val="50000"/>
                  </a:schemeClr>
                </a:solidFill>
                <a:latin typeface="Arial" panose="020B0604020202020204" pitchFamily="34" charset="0"/>
              </a:rPr>
              <a:t>-app"</a:t>
            </a:r>
            <a:endParaRPr lang="en-US" altLang="zh-CN" sz="1600" dirty="0">
              <a:solidFill>
                <a:schemeClr val="accent1">
                  <a:lumMod val="50000"/>
                </a:schemeClr>
              </a:solidFill>
              <a:latin typeface="Arial" panose="020B0604020202020204" pitchFamily="34" charset="0"/>
            </a:endParaRPr>
          </a:p>
          <a:p>
            <a:pPr marL="360045" indent="0">
              <a:lnSpc>
                <a:spcPct val="150000"/>
              </a:lnSpc>
              <a:buFont typeface="Arial" panose="020B0604020202020204" pitchFamily="34" charset="0"/>
              <a:buNone/>
            </a:pPr>
            <a:r>
              <a:rPr lang="en-US" altLang="zh-CN" sz="1600" dirty="0" smtClean="0">
                <a:solidFill>
                  <a:schemeClr val="accent1">
                    <a:lumMod val="50000"/>
                  </a:schemeClr>
                </a:solidFill>
                <a:latin typeface="Arial" panose="020B0604020202020204" pitchFamily="34" charset="0"/>
              </a:rPr>
              <a:t>set </a:t>
            </a:r>
            <a:r>
              <a:rPr lang="en-US" altLang="zh-CN" sz="1600" dirty="0" err="1">
                <a:solidFill>
                  <a:schemeClr val="accent1">
                    <a:lumMod val="50000"/>
                  </a:schemeClr>
                </a:solidFill>
                <a:latin typeface="Arial" panose="020B0604020202020204" pitchFamily="34" charset="0"/>
              </a:rPr>
              <a:t>mylocal</a:t>
            </a:r>
            <a:r>
              <a:rPr lang="en-US" altLang="zh-CN" sz="1600" dirty="0">
                <a:solidFill>
                  <a:schemeClr val="accent1">
                    <a:lumMod val="50000"/>
                  </a:schemeClr>
                </a:solidFill>
                <a:latin typeface="Arial" panose="020B0604020202020204" pitchFamily="34" charset="0"/>
              </a:rPr>
              <a:t> = "This is a local variable " </a:t>
            </a:r>
            <a:endParaRPr lang="en-US" altLang="zh-CN" sz="1600" dirty="0">
              <a:solidFill>
                <a:schemeClr val="accent1">
                  <a:lumMod val="50000"/>
                </a:schemeClr>
              </a:solidFill>
              <a:latin typeface="Arial" panose="020B0604020202020204" pitchFamily="34" charset="0"/>
            </a:endParaRPr>
          </a:p>
          <a:p>
            <a:pPr marL="360045" indent="0">
              <a:lnSpc>
                <a:spcPct val="150000"/>
              </a:lnSpc>
              <a:buFont typeface="Arial" panose="020B0604020202020204" pitchFamily="34" charset="0"/>
              <a:buNone/>
            </a:pPr>
            <a:r>
              <a:rPr lang="en-US" altLang="zh-CN" sz="1600" dirty="0" smtClean="0">
                <a:solidFill>
                  <a:schemeClr val="accent1">
                    <a:lumMod val="50000"/>
                  </a:schemeClr>
                </a:solidFill>
                <a:latin typeface="Arial" panose="020B0604020202020204" pitchFamily="34" charset="0"/>
              </a:rPr>
              <a:t>set </a:t>
            </a:r>
            <a:r>
              <a:rPr lang="en-US" altLang="zh-CN" sz="1600" dirty="0" err="1">
                <a:solidFill>
                  <a:schemeClr val="accent1">
                    <a:lumMod val="50000"/>
                  </a:schemeClr>
                </a:solidFill>
                <a:latin typeface="Arial" panose="020B0604020202020204" pitchFamily="34" charset="0"/>
              </a:rPr>
              <a:t>str</a:t>
            </a:r>
            <a:r>
              <a:rPr lang="en-US" altLang="zh-CN" sz="1600" dirty="0">
                <a:solidFill>
                  <a:schemeClr val="accent1">
                    <a:lumMod val="50000"/>
                  </a:schemeClr>
                </a:solidFill>
                <a:latin typeface="Arial" panose="020B0604020202020204" pitchFamily="34" charset="0"/>
              </a:rPr>
              <a:t> = "This is a String "     </a:t>
            </a:r>
            <a:endParaRPr lang="en-US" altLang="zh-CN" sz="1600" dirty="0">
              <a:solidFill>
                <a:schemeClr val="accent1">
                  <a:lumMod val="50000"/>
                </a:schemeClr>
              </a:solidFill>
              <a:latin typeface="Arial" panose="020B0604020202020204" pitchFamily="34" charset="0"/>
            </a:endParaRPr>
          </a:p>
          <a:p>
            <a:pPr marL="360045" indent="0">
              <a:lnSpc>
                <a:spcPct val="150000"/>
              </a:lnSpc>
              <a:buFont typeface="Arial" panose="020B0604020202020204" pitchFamily="34" charset="0"/>
              <a:buNone/>
            </a:pPr>
            <a:r>
              <a:rPr lang="en-US" altLang="zh-CN" sz="1600" dirty="0" smtClean="0">
                <a:solidFill>
                  <a:schemeClr val="accent1">
                    <a:lumMod val="50000"/>
                  </a:schemeClr>
                </a:solidFill>
                <a:latin typeface="Arial" panose="020B0604020202020204" pitchFamily="34" charset="0"/>
              </a:rPr>
              <a:t>set </a:t>
            </a:r>
            <a:r>
              <a:rPr lang="en-US" altLang="zh-CN" sz="1600" dirty="0">
                <a:solidFill>
                  <a:schemeClr val="accent1">
                    <a:lumMod val="50000"/>
                  </a:schemeClr>
                </a:solidFill>
                <a:latin typeface="Arial" panose="020B0604020202020204" pitchFamily="34" charset="0"/>
              </a:rPr>
              <a:t>^</a:t>
            </a:r>
            <a:r>
              <a:rPr lang="en-US" altLang="zh-CN" sz="1600" dirty="0" err="1">
                <a:solidFill>
                  <a:schemeClr val="accent1">
                    <a:lumMod val="50000"/>
                  </a:schemeClr>
                </a:solidFill>
                <a:latin typeface="Arial" panose="020B0604020202020204" pitchFamily="34" charset="0"/>
              </a:rPr>
              <a:t>myglobal</a:t>
            </a:r>
            <a:r>
              <a:rPr lang="en-US" altLang="zh-CN" sz="1600" dirty="0">
                <a:solidFill>
                  <a:schemeClr val="accent1">
                    <a:lumMod val="50000"/>
                  </a:schemeClr>
                </a:solidFill>
                <a:latin typeface="Arial" panose="020B0604020202020204" pitchFamily="34" charset="0"/>
              </a:rPr>
              <a:t> = "This is a local variable" </a:t>
            </a:r>
            <a:endParaRPr lang="en-US" altLang="zh-CN" sz="1600" dirty="0">
              <a:solidFill>
                <a:schemeClr val="accent1">
                  <a:lumMod val="50000"/>
                </a:schemeClr>
              </a:solidFill>
              <a:latin typeface="Arial" panose="020B0604020202020204" pitchFamily="34" charset="0"/>
            </a:endParaRPr>
          </a:p>
          <a:p>
            <a:pPr marL="360045" indent="0">
              <a:lnSpc>
                <a:spcPct val="150000"/>
              </a:lnSpc>
              <a:buFont typeface="Arial" panose="020B0604020202020204" pitchFamily="34" charset="0"/>
              <a:buNone/>
            </a:pPr>
            <a:r>
              <a:rPr lang="en-US" altLang="zh-CN" sz="1600" dirty="0">
                <a:solidFill>
                  <a:schemeClr val="accent1">
                    <a:lumMod val="50000"/>
                  </a:schemeClr>
                </a:solidFill>
                <a:latin typeface="Arial" panose="020B0604020202020204" pitchFamily="34" charset="0"/>
              </a:rPr>
              <a:t>write    </a:t>
            </a:r>
            <a:endParaRPr lang="en-US" altLang="zh-CN" sz="1600" dirty="0">
              <a:solidFill>
                <a:schemeClr val="accent1">
                  <a:lumMod val="50000"/>
                </a:schemeClr>
              </a:solidFill>
              <a:latin typeface="Arial" panose="020B0604020202020204" pitchFamily="34" charset="0"/>
            </a:endParaRPr>
          </a:p>
          <a:p>
            <a:pPr>
              <a:lnSpc>
                <a:spcPct val="150000"/>
              </a:lnSpc>
            </a:pPr>
            <a:endParaRPr lang="en-US" altLang="zh-CN" sz="1600" dirty="0">
              <a:solidFill>
                <a:schemeClr val="accent1">
                  <a:lumMod val="50000"/>
                </a:schemeClr>
              </a:solidFill>
              <a:latin typeface="Arial" panose="020B0604020202020204" pitchFamily="34" charset="0"/>
            </a:endParaRPr>
          </a:p>
          <a:p>
            <a:pPr>
              <a:lnSpc>
                <a:spcPct val="150000"/>
              </a:lnSpc>
            </a:pPr>
            <a:r>
              <a:rPr lang="en-US" altLang="zh-CN" sz="1600" dirty="0" smtClean="0">
                <a:solidFill>
                  <a:schemeClr val="accent1">
                    <a:lumMod val="50000"/>
                  </a:schemeClr>
                </a:solidFill>
                <a:latin typeface="Arial" panose="020B0604020202020204" pitchFamily="34" charset="0"/>
              </a:rPr>
              <a:t>set </a:t>
            </a:r>
            <a:r>
              <a:rPr lang="en-US" altLang="zh-CN" sz="1600" dirty="0">
                <a:solidFill>
                  <a:schemeClr val="accent1">
                    <a:lumMod val="50000"/>
                  </a:schemeClr>
                </a:solidFill>
                <a:latin typeface="Arial" panose="020B0604020202020204" pitchFamily="34" charset="0"/>
              </a:rPr>
              <a:t>^</a:t>
            </a:r>
            <a:r>
              <a:rPr lang="en-US" altLang="zh-CN" sz="1600" dirty="0" err="1">
                <a:solidFill>
                  <a:schemeClr val="accent1">
                    <a:lumMod val="50000"/>
                  </a:schemeClr>
                </a:solidFill>
                <a:latin typeface="Arial" panose="020B0604020202020204" pitchFamily="34" charset="0"/>
              </a:rPr>
              <a:t>myglobal</a:t>
            </a:r>
            <a:r>
              <a:rPr lang="en-US" altLang="zh-CN" sz="1600" dirty="0">
                <a:solidFill>
                  <a:schemeClr val="accent1">
                    <a:lumMod val="50000"/>
                  </a:schemeClr>
                </a:solidFill>
                <a:latin typeface="Arial" panose="020B0604020202020204" pitchFamily="34" charset="0"/>
              </a:rPr>
              <a:t> = "This is a global stored in the current namespace" </a:t>
            </a:r>
            <a:endParaRPr lang="en-US" altLang="zh-CN" sz="1600" dirty="0">
              <a:solidFill>
                <a:schemeClr val="accent1">
                  <a:lumMod val="50000"/>
                </a:schemeClr>
              </a:solidFill>
              <a:latin typeface="Arial" panose="020B0604020202020204" pitchFamily="34" charset="0"/>
            </a:endParaRPr>
          </a:p>
          <a:p>
            <a:pPr>
              <a:lnSpc>
                <a:spcPct val="150000"/>
              </a:lnSpc>
            </a:pPr>
            <a:endParaRPr lang="en-US" altLang="zh-CN" sz="1600" dirty="0">
              <a:solidFill>
                <a:schemeClr val="accent1">
                  <a:lumMod val="50000"/>
                </a:schemeClr>
              </a:solidFill>
              <a:latin typeface="Arial" panose="020B0604020202020204" pitchFamily="34" charset="0"/>
            </a:endParaRPr>
          </a:p>
          <a:p>
            <a:pPr>
              <a:lnSpc>
                <a:spcPct val="150000"/>
              </a:lnSpc>
              <a:spcAft>
                <a:spcPts val="1200"/>
              </a:spcAft>
            </a:pPr>
            <a:r>
              <a:rPr lang="en-US" altLang="zh-CN" sz="1600" dirty="0" smtClean="0">
                <a:solidFill>
                  <a:schemeClr val="accent1">
                    <a:lumMod val="50000"/>
                  </a:schemeClr>
                </a:solidFill>
                <a:latin typeface="Arial" panose="020B0604020202020204" pitchFamily="34" charset="0"/>
              </a:rPr>
              <a:t> </a:t>
            </a:r>
            <a:r>
              <a:rPr lang="en-US" altLang="zh-CN" sz="1600" dirty="0">
                <a:solidFill>
                  <a:schemeClr val="accent1">
                    <a:lumMod val="50000"/>
                  </a:schemeClr>
                </a:solidFill>
                <a:latin typeface="Arial" panose="020B0604020202020204" pitchFamily="34" charset="0"/>
              </a:rPr>
              <a:t>^</a:t>
            </a:r>
            <a:r>
              <a:rPr lang="zh-CN" altLang="en-US" sz="1600" dirty="0">
                <a:solidFill>
                  <a:schemeClr val="accent1">
                    <a:lumMod val="50000"/>
                  </a:schemeClr>
                </a:solidFill>
                <a:latin typeface="Arial" panose="020B0604020202020204" pitchFamily="34" charset="0"/>
              </a:rPr>
              <a:t>开头的变量都是持久化的吗 </a:t>
            </a:r>
            <a:r>
              <a:rPr lang="en-US" altLang="zh-CN" sz="1600" dirty="0">
                <a:solidFill>
                  <a:schemeClr val="accent1">
                    <a:lumMod val="50000"/>
                  </a:schemeClr>
                </a:solidFill>
                <a:latin typeface="Arial" panose="020B0604020202020204" pitchFamily="34" charset="0"/>
              </a:rPr>
              <a:t>?  </a:t>
            </a:r>
            <a:endParaRPr lang="en-US" altLang="zh-CN" sz="1600" dirty="0">
              <a:solidFill>
                <a:schemeClr val="accent1">
                  <a:lumMod val="50000"/>
                </a:schemeClr>
              </a:solidFill>
              <a:latin typeface="Arial" panose="020B0604020202020204" pitchFamily="34" charset="0"/>
            </a:endParaRPr>
          </a:p>
          <a:p>
            <a:pPr>
              <a:lnSpc>
                <a:spcPct val="150000"/>
              </a:lnSpc>
            </a:pPr>
            <a:r>
              <a:rPr lang="en-US" altLang="zh-CN" sz="1600" dirty="0" smtClean="0">
                <a:solidFill>
                  <a:schemeClr val="accent1">
                    <a:lumMod val="50000"/>
                  </a:schemeClr>
                </a:solidFill>
                <a:latin typeface="Arial" panose="020B0604020202020204" pitchFamily="34" charset="0"/>
              </a:rPr>
              <a:t>   set  ^||</a:t>
            </a:r>
            <a:r>
              <a:rPr lang="en-US" altLang="zh-CN" sz="1600" dirty="0">
                <a:solidFill>
                  <a:schemeClr val="accent1">
                    <a:lumMod val="50000"/>
                  </a:schemeClr>
                </a:solidFill>
                <a:latin typeface="Arial" panose="020B0604020202020204" pitchFamily="34" charset="0"/>
              </a:rPr>
              <a:t>a(1) = "A process-private global array" </a:t>
            </a:r>
            <a:endParaRPr lang="en-US" altLang="zh-CN" sz="1600" dirty="0">
              <a:solidFill>
                <a:schemeClr val="accent1">
                  <a:lumMod val="50000"/>
                </a:schemeClr>
              </a:solidFill>
              <a:latin typeface="Arial" panose="020B0604020202020204" pitchFamily="34" charset="0"/>
            </a:endParaRPr>
          </a:p>
          <a:p>
            <a:pPr>
              <a:lnSpc>
                <a:spcPct val="150000"/>
              </a:lnSpc>
            </a:pPr>
            <a:endParaRPr lang="en-US" altLang="zh-CN" sz="1600" dirty="0">
              <a:solidFill>
                <a:schemeClr val="accent1">
                  <a:lumMod val="50000"/>
                </a:schemeClr>
              </a:solidFill>
              <a:latin typeface="Arial" panose="020B0604020202020204" pitchFamily="34" charset="0"/>
            </a:endParaRPr>
          </a:p>
          <a:p>
            <a:pPr>
              <a:lnSpc>
                <a:spcPct val="150000"/>
              </a:lnSpc>
            </a:pPr>
            <a:r>
              <a:rPr lang="en-US" altLang="zh-CN" sz="1600" dirty="0" smtClean="0">
                <a:solidFill>
                  <a:schemeClr val="accent1">
                    <a:lumMod val="50000"/>
                  </a:schemeClr>
                </a:solidFill>
                <a:latin typeface="Arial" panose="020B0604020202020204" pitchFamily="34" charset="0"/>
              </a:rPr>
              <a:t> </a:t>
            </a:r>
            <a:r>
              <a:rPr lang="en-US" altLang="zh-CN" sz="1600" dirty="0">
                <a:solidFill>
                  <a:schemeClr val="accent1">
                    <a:lumMod val="50000"/>
                  </a:schemeClr>
                </a:solidFill>
                <a:latin typeface="Arial" panose="020B0604020202020204" pitchFamily="34" charset="0"/>
              </a:rPr>
              <a:t>^</a:t>
            </a:r>
            <a:r>
              <a:rPr lang="zh-CN" altLang="en-US" sz="1600" dirty="0">
                <a:solidFill>
                  <a:schemeClr val="accent1">
                    <a:lumMod val="50000"/>
                  </a:schemeClr>
                </a:solidFill>
                <a:latin typeface="Arial" panose="020B0604020202020204" pitchFamily="34" charset="0"/>
              </a:rPr>
              <a:t>开头的变量有什么不一样</a:t>
            </a:r>
            <a:r>
              <a:rPr lang="en-US" altLang="zh-CN" sz="1600" dirty="0">
                <a:solidFill>
                  <a:schemeClr val="accent1">
                    <a:lumMod val="50000"/>
                  </a:schemeClr>
                </a:solidFill>
                <a:latin typeface="Arial" panose="020B0604020202020204" pitchFamily="34" charset="0"/>
              </a:rPr>
              <a:t>?               (</a:t>
            </a:r>
            <a:r>
              <a:rPr lang="zh-CN" altLang="en-US" sz="1600" dirty="0">
                <a:solidFill>
                  <a:schemeClr val="accent1">
                    <a:lumMod val="50000"/>
                  </a:schemeClr>
                </a:solidFill>
                <a:latin typeface="Arial" panose="020B0604020202020204" pitchFamily="34" charset="0"/>
              </a:rPr>
              <a:t>日志</a:t>
            </a:r>
            <a:r>
              <a:rPr lang="en-US" altLang="zh-CN" sz="1600" dirty="0">
                <a:solidFill>
                  <a:schemeClr val="accent1">
                    <a:lumMod val="50000"/>
                  </a:schemeClr>
                </a:solidFill>
                <a:latin typeface="Arial" panose="020B0604020202020204" pitchFamily="34" charset="0"/>
              </a:rPr>
              <a:t>,  </a:t>
            </a:r>
            <a:r>
              <a:rPr lang="zh-CN" altLang="en-US" sz="1600" dirty="0">
                <a:solidFill>
                  <a:schemeClr val="accent1">
                    <a:lumMod val="50000"/>
                  </a:schemeClr>
                </a:solidFill>
                <a:latin typeface="Arial" panose="020B0604020202020204" pitchFamily="34" charset="0"/>
              </a:rPr>
              <a:t>事务回滚</a:t>
            </a:r>
            <a:r>
              <a:rPr lang="en-US" altLang="zh-CN" sz="1600" dirty="0">
                <a:solidFill>
                  <a:schemeClr val="accent1">
                    <a:lumMod val="50000"/>
                  </a:schemeClr>
                </a:solidFill>
                <a:latin typeface="Arial" panose="020B0604020202020204" pitchFamily="34" charset="0"/>
              </a:rPr>
              <a:t>)   </a:t>
            </a:r>
            <a:endParaRPr lang="en-US" altLang="zh-CN" sz="1600" dirty="0">
              <a:solidFill>
                <a:schemeClr val="accent1">
                  <a:lumMod val="50000"/>
                </a:schemeClr>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第三</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的多维存储结构</a:t>
            </a:r>
            <a:endParaRPr lang="zh-CN" altLang="en-US" dirty="0"/>
          </a:p>
        </p:txBody>
      </p:sp>
      <p:sp>
        <p:nvSpPr>
          <p:cNvPr id="5" name="内容占位符 2"/>
          <p:cNvSpPr txBox="1"/>
          <p:nvPr/>
        </p:nvSpPr>
        <p:spPr>
          <a:xfrm>
            <a:off x="7442214" y="1446092"/>
            <a:ext cx="4479213" cy="49390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400" dirty="0"/>
              <a:t>4</a:t>
            </a:r>
            <a:r>
              <a:rPr lang="en-US" altLang="zh-CN" sz="1400" dirty="0"/>
              <a:t>.</a:t>
            </a:r>
            <a:r>
              <a:rPr lang="zh-CN" altLang="en-US" sz="1400" dirty="0"/>
              <a:t> </a:t>
            </a:r>
            <a:r>
              <a:rPr lang="en-US" altLang="zh-CN" sz="1400" b="1" dirty="0">
                <a:solidFill>
                  <a:srgbClr val="FF6565"/>
                </a:solidFill>
              </a:rPr>
              <a:t>W</a:t>
            </a:r>
            <a:r>
              <a:rPr lang="zh-CN" altLang="en-US" sz="1400" b="1" dirty="0">
                <a:solidFill>
                  <a:srgbClr val="FF6565"/>
                </a:solidFill>
              </a:rPr>
              <a:t>rite</a:t>
            </a:r>
            <a:r>
              <a:rPr lang="zh-CN" altLang="en-US" sz="1400" dirty="0"/>
              <a:t>：简写  w    输出变量或表达式的值</a:t>
            </a:r>
            <a:endParaRPr lang="zh-CN" altLang="en-US" sz="1400" dirty="0"/>
          </a:p>
          <a:p>
            <a:pPr marL="360045"/>
            <a:r>
              <a:rPr lang="zh-CN" altLang="en-US" sz="1400" dirty="0"/>
              <a:t>    用法：</a:t>
            </a:r>
            <a:endParaRPr lang="zh-CN" altLang="en-US" sz="1400" dirty="0"/>
          </a:p>
          <a:p>
            <a:pPr marL="360045"/>
            <a:r>
              <a:rPr lang="zh-CN" altLang="en-US" sz="1400" dirty="0">
                <a:sym typeface="+mn-ea"/>
              </a:rPr>
              <a:t> </a:t>
            </a:r>
            <a:r>
              <a:rPr lang="en-US" altLang="zh-CN" sz="1400" dirty="0">
                <a:sym typeface="+mn-ea"/>
              </a:rPr>
              <a:t>   </a:t>
            </a:r>
            <a:r>
              <a:rPr lang="zh-CN" altLang="en-US" sz="1400" dirty="0">
                <a:sym typeface="+mn-ea"/>
              </a:rPr>
              <a:t>s str="this is a str"</a:t>
            </a:r>
            <a:endParaRPr lang="zh-CN" altLang="en-US" sz="1400" dirty="0"/>
          </a:p>
          <a:p>
            <a:pPr marL="360045"/>
            <a:r>
              <a:rPr lang="zh-CN" altLang="en-US" sz="1400" dirty="0">
                <a:sym typeface="+mn-ea"/>
              </a:rPr>
              <a:t>    w str  // 输出 str的</a:t>
            </a:r>
            <a:r>
              <a:rPr lang="zh-CN" altLang="en-US" sz="1400" dirty="0" smtClean="0">
                <a:sym typeface="+mn-ea"/>
              </a:rPr>
              <a:t>值</a:t>
            </a:r>
            <a:endParaRPr lang="en-US" altLang="zh-CN" sz="1400" dirty="0" smtClean="0">
              <a:sym typeface="+mn-ea"/>
            </a:endParaRPr>
          </a:p>
          <a:p>
            <a:pPr marL="360045"/>
            <a:r>
              <a:rPr lang="zh-CN" altLang="en-US" sz="1400" dirty="0" smtClean="0"/>
              <a:t>    </a:t>
            </a:r>
            <a:r>
              <a:rPr lang="en-US" altLang="zh-CN" sz="1400" dirty="0" smtClean="0"/>
              <a:t>w !,str  //</a:t>
            </a:r>
            <a:r>
              <a:rPr lang="zh-CN" altLang="en-US" sz="1400" dirty="0" smtClean="0"/>
              <a:t>换行输出</a:t>
            </a:r>
            <a:endParaRPr lang="zh-CN" altLang="en-US" sz="1400" dirty="0" smtClean="0"/>
          </a:p>
          <a:p>
            <a:r>
              <a:rPr lang="en-US" altLang="zh-CN" sz="1400" dirty="0" smtClean="0">
                <a:sym typeface="+mn-ea"/>
              </a:rPr>
              <a:t>5.</a:t>
            </a:r>
            <a:r>
              <a:rPr lang="en-US" altLang="zh-CN" sz="1400" b="1" dirty="0">
                <a:solidFill>
                  <a:srgbClr val="FF6565"/>
                </a:solidFill>
                <a:sym typeface="+mn-ea"/>
              </a:rPr>
              <a:t> Z</a:t>
            </a:r>
            <a:r>
              <a:rPr lang="zh-CN" altLang="en-US" sz="1400" b="1" dirty="0">
                <a:solidFill>
                  <a:srgbClr val="FF6565"/>
                </a:solidFill>
                <a:sym typeface="+mn-ea"/>
              </a:rPr>
              <a:t>w</a:t>
            </a:r>
            <a:r>
              <a:rPr lang="zh-CN" altLang="en-US" sz="1400" dirty="0" smtClean="0">
                <a:sym typeface="+mn-ea"/>
              </a:rPr>
              <a:t>： 输出变量或表达式的值及子节点值</a:t>
            </a:r>
            <a:endParaRPr lang="en-US" altLang="zh-CN" sz="1400" dirty="0" smtClean="0">
              <a:sym typeface="+mn-ea"/>
            </a:endParaRPr>
          </a:p>
          <a:p>
            <a:pPr marL="539750"/>
            <a:r>
              <a:rPr lang="zh-CN" altLang="en-US" sz="1400" dirty="0" smtClean="0">
                <a:sym typeface="+mn-ea"/>
              </a:rPr>
              <a:t>zw </a:t>
            </a:r>
            <a:r>
              <a:rPr lang="zh-CN" altLang="en-US" sz="1400" dirty="0">
                <a:sym typeface="+mn-ea"/>
              </a:rPr>
              <a:t>^ARC</a:t>
            </a:r>
            <a:endParaRPr lang="zh-CN" altLang="en-US" sz="1400" dirty="0"/>
          </a:p>
          <a:p>
            <a:endParaRPr lang="en-US" altLang="zh-CN" sz="1400" dirty="0">
              <a:sym typeface="+mn-ea"/>
            </a:endParaRPr>
          </a:p>
          <a:p>
            <a:r>
              <a:rPr lang="en-US" altLang="zh-CN" sz="1400" dirty="0" smtClean="0">
                <a:sym typeface="+mn-ea"/>
              </a:rPr>
              <a:t>6.</a:t>
            </a:r>
            <a:r>
              <a:rPr lang="zh-CN" altLang="en-US" sz="1400" dirty="0" smtClean="0">
                <a:sym typeface="+mn-ea"/>
              </a:rPr>
              <a:t> </a:t>
            </a:r>
            <a:r>
              <a:rPr lang="en-US" altLang="zh-CN" sz="1400" b="1" dirty="0">
                <a:solidFill>
                  <a:srgbClr val="FF6565"/>
                </a:solidFill>
                <a:sym typeface="+mn-ea"/>
              </a:rPr>
              <a:t>Q</a:t>
            </a:r>
            <a:r>
              <a:rPr lang="zh-CN" altLang="en-US" sz="1400" b="1" dirty="0">
                <a:solidFill>
                  <a:srgbClr val="FF6565"/>
                </a:solidFill>
                <a:sym typeface="+mn-ea"/>
              </a:rPr>
              <a:t>uit</a:t>
            </a:r>
            <a:r>
              <a:rPr lang="zh-CN" altLang="en-US" sz="1400" dirty="0">
                <a:sym typeface="+mn-ea"/>
              </a:rPr>
              <a:t>：简写 q 退出程序或者循环</a:t>
            </a:r>
            <a:endParaRPr lang="zh-CN" altLang="en-US" sz="1400" dirty="0"/>
          </a:p>
          <a:p>
            <a:pPr marL="360045"/>
            <a:r>
              <a:rPr lang="zh-CN" altLang="en-US" sz="1400" dirty="0">
                <a:sym typeface="+mn-ea"/>
              </a:rPr>
              <a:t>    quit 可以返回一个值</a:t>
            </a:r>
            <a:endParaRPr lang="zh-CN" altLang="en-US" sz="1400" dirty="0"/>
          </a:p>
          <a:p>
            <a:pPr marL="360045"/>
            <a:r>
              <a:rPr lang="zh-CN" altLang="en-US" sz="1400" dirty="0">
                <a:sym typeface="+mn-ea"/>
              </a:rPr>
              <a:t>    在类方法里 可以把结果quit 出来</a:t>
            </a:r>
            <a:endParaRPr lang="zh-CN" altLang="en-US" sz="1400" dirty="0"/>
          </a:p>
          <a:p>
            <a:endParaRPr lang="en-US" altLang="zh-CN" sz="1400" dirty="0">
              <a:sym typeface="+mn-ea"/>
            </a:endParaRPr>
          </a:p>
          <a:p>
            <a:r>
              <a:rPr lang="en-US" altLang="zh-CN" sz="1400" dirty="0" smtClean="0">
                <a:sym typeface="+mn-ea"/>
              </a:rPr>
              <a:t>7.</a:t>
            </a:r>
            <a:r>
              <a:rPr lang="zh-CN" altLang="en-US" sz="1400" dirty="0" smtClean="0">
                <a:sym typeface="+mn-ea"/>
              </a:rPr>
              <a:t> </a:t>
            </a:r>
            <a:r>
              <a:rPr lang="zh-CN" altLang="en-US" sz="1400" dirty="0">
                <a:sym typeface="+mn-ea"/>
              </a:rPr>
              <a:t>注释方式  </a:t>
            </a:r>
            <a:r>
              <a:rPr lang="zh-CN" altLang="en-US" sz="1400" b="1" dirty="0">
                <a:solidFill>
                  <a:srgbClr val="FF6565"/>
                </a:solidFill>
                <a:sym typeface="+mn-ea"/>
              </a:rPr>
              <a:t>//    /**/   </a:t>
            </a:r>
            <a:r>
              <a:rPr lang="zh-CN" altLang="en-US" sz="1400" dirty="0">
                <a:sym typeface="+mn-ea"/>
              </a:rPr>
              <a:t>;</a:t>
            </a:r>
            <a:endParaRPr lang="zh-CN" altLang="en-US" sz="1400" dirty="0">
              <a:sym typeface="+mn-ea"/>
            </a:endParaRPr>
          </a:p>
          <a:p>
            <a:endParaRPr lang="en-US" altLang="zh-CN" sz="1400" dirty="0"/>
          </a:p>
          <a:p>
            <a:r>
              <a:rPr lang="en-US" altLang="zh-CN" sz="1400" dirty="0" smtClean="0"/>
              <a:t>8. </a:t>
            </a:r>
            <a:r>
              <a:rPr lang="en-US" altLang="zh-CN" sz="1400" b="1" dirty="0">
                <a:solidFill>
                  <a:srgbClr val="FF6565"/>
                </a:solidFill>
              </a:rPr>
              <a:t> </a:t>
            </a:r>
            <a:r>
              <a:rPr lang="zh-CN" altLang="en-US" sz="1400" b="1" dirty="0">
                <a:solidFill>
                  <a:srgbClr val="FF6565"/>
                </a:solidFill>
              </a:rPr>
              <a:t>break </a:t>
            </a:r>
            <a:r>
              <a:rPr lang="zh-CN" altLang="en-US" sz="1400" dirty="0"/>
              <a:t>简写 b  中止程序，用于断点</a:t>
            </a:r>
            <a:r>
              <a:rPr lang="zh-CN" altLang="en-US" sz="1400" dirty="0" smtClean="0"/>
              <a:t>调试</a:t>
            </a:r>
            <a:endParaRPr lang="zh-CN" altLang="en-US" sz="1400" dirty="0"/>
          </a:p>
        </p:txBody>
      </p:sp>
      <p:sp>
        <p:nvSpPr>
          <p:cNvPr id="14" name="矩形 13"/>
          <p:cNvSpPr/>
          <p:nvPr/>
        </p:nvSpPr>
        <p:spPr>
          <a:xfrm>
            <a:off x="1472744" y="2944785"/>
            <a:ext cx="2839239" cy="307777"/>
          </a:xfrm>
          <a:prstGeom prst="rect">
            <a:avLst/>
          </a:prstGeom>
        </p:spPr>
        <p:txBody>
          <a:bodyPr wrap="none">
            <a:spAutoFit/>
          </a:bodyPr>
          <a:lstStyle/>
          <a:p>
            <a:r>
              <a:rPr lang="zh-CN" altLang="en-US" sz="1400" dirty="0">
                <a:solidFill>
                  <a:schemeClr val="accent1">
                    <a:lumMod val="50000"/>
                  </a:schemeClr>
                </a:solidFill>
                <a:latin typeface="Arial" panose="020B0604020202020204" pitchFamily="34" charset="0"/>
              </a:rPr>
              <a:t>s:</a:t>
            </a:r>
            <a:r>
              <a:rPr lang="zh-CN" altLang="en-US" sz="1400" dirty="0" smtClean="0">
                <a:solidFill>
                  <a:schemeClr val="accent1">
                    <a:lumMod val="50000"/>
                  </a:schemeClr>
                </a:solidFill>
                <a:latin typeface="Arial" panose="020B0604020202020204" pitchFamily="34" charset="0"/>
              </a:rPr>
              <a:t>date</a:t>
            </a:r>
            <a:r>
              <a:rPr lang="en-US" altLang="zh-CN" sz="1400" dirty="0" smtClean="0">
                <a:solidFill>
                  <a:schemeClr val="accent1">
                    <a:lumMod val="50000"/>
                  </a:schemeClr>
                </a:solidFill>
                <a:latin typeface="Arial" panose="020B0604020202020204" pitchFamily="34" charset="0"/>
              </a:rPr>
              <a:t>’</a:t>
            </a:r>
            <a:r>
              <a:rPr lang="zh-CN" altLang="en-US" sz="1400" dirty="0" smtClean="0">
                <a:solidFill>
                  <a:schemeClr val="accent1">
                    <a:lumMod val="50000"/>
                  </a:schemeClr>
                </a:solidFill>
                <a:latin typeface="Arial" panose="020B0604020202020204" pitchFamily="34" charset="0"/>
              </a:rPr>
              <a:t>=</a:t>
            </a:r>
            <a:r>
              <a:rPr lang="en-US" altLang="zh-CN" sz="1400" dirty="0" smtClean="0">
                <a:solidFill>
                  <a:schemeClr val="accent1">
                    <a:lumMod val="50000"/>
                  </a:schemeClr>
                </a:solidFill>
                <a:latin typeface="Arial" panose="020B0604020202020204" pitchFamily="34" charset="0"/>
              </a:rPr>
              <a:t>“”</a:t>
            </a:r>
            <a:r>
              <a:rPr lang="zh-CN" altLang="en-US" sz="1400" dirty="0" smtClean="0">
                <a:solidFill>
                  <a:schemeClr val="accent1">
                    <a:lumMod val="50000"/>
                  </a:schemeClr>
                </a:solidFill>
                <a:latin typeface="Arial" panose="020B0604020202020204" pitchFamily="34" charset="0"/>
              </a:rPr>
              <a:t>  </a:t>
            </a:r>
            <a:r>
              <a:rPr lang="zh-CN" altLang="en-US" sz="1400" dirty="0">
                <a:solidFill>
                  <a:schemeClr val="accent1">
                    <a:lumMod val="50000"/>
                  </a:schemeClr>
                </a:solidFill>
                <a:latin typeface="Arial" panose="020B0604020202020204" pitchFamily="34" charset="0"/>
              </a:rPr>
              <a:t>date</a:t>
            </a:r>
            <a:r>
              <a:rPr lang="zh-CN" altLang="en-US" sz="1400" dirty="0" smtClean="0">
                <a:solidFill>
                  <a:schemeClr val="accent1">
                    <a:lumMod val="50000"/>
                  </a:schemeClr>
                </a:solidFill>
                <a:latin typeface="Arial" panose="020B0604020202020204" pitchFamily="34" charset="0"/>
              </a:rPr>
              <a:t>=</a:t>
            </a:r>
            <a:r>
              <a:rPr lang="en-US" altLang="zh-CN" sz="1400" dirty="0" smtClean="0">
                <a:solidFill>
                  <a:schemeClr val="accent1">
                    <a:lumMod val="50000"/>
                  </a:schemeClr>
                </a:solidFill>
                <a:latin typeface="Arial" panose="020B0604020202020204" pitchFamily="34" charset="0"/>
              </a:rPr>
              <a:t>“</a:t>
            </a:r>
            <a:r>
              <a:rPr lang="zh-CN" altLang="en-US" sz="1400" dirty="0" smtClean="0">
                <a:solidFill>
                  <a:schemeClr val="accent1">
                    <a:lumMod val="50000"/>
                  </a:schemeClr>
                </a:solidFill>
                <a:latin typeface="Arial" panose="020B0604020202020204" pitchFamily="34" charset="0"/>
              </a:rPr>
              <a:t>64963</a:t>
            </a:r>
            <a:r>
              <a:rPr lang="en-US" altLang="zh-CN" sz="1400" dirty="0" smtClean="0">
                <a:solidFill>
                  <a:schemeClr val="accent1">
                    <a:lumMod val="50000"/>
                  </a:schemeClr>
                </a:solidFill>
                <a:latin typeface="Arial" panose="020B0604020202020204" pitchFamily="34" charset="0"/>
              </a:rPr>
              <a:t>”</a:t>
            </a:r>
            <a:r>
              <a:rPr lang="zh-CN" altLang="en-US" sz="1400" dirty="0" smtClean="0">
                <a:solidFill>
                  <a:schemeClr val="accent1">
                    <a:lumMod val="50000"/>
                  </a:schemeClr>
                </a:solidFill>
                <a:latin typeface="Arial" panose="020B0604020202020204" pitchFamily="34" charset="0"/>
              </a:rPr>
              <a:t>   等同于 </a:t>
            </a:r>
            <a:endParaRPr lang="zh-CN" altLang="en-US" sz="1400" dirty="0">
              <a:solidFill>
                <a:schemeClr val="accent1">
                  <a:lumMod val="50000"/>
                </a:schemeClr>
              </a:solidFill>
              <a:latin typeface="Arial" panose="020B0604020202020204" pitchFamily="34" charset="0"/>
            </a:endParaRPr>
          </a:p>
        </p:txBody>
      </p:sp>
      <p:grpSp>
        <p:nvGrpSpPr>
          <p:cNvPr id="16" name="组合 15"/>
          <p:cNvGrpSpPr/>
          <p:nvPr/>
        </p:nvGrpSpPr>
        <p:grpSpPr>
          <a:xfrm>
            <a:off x="724905" y="1446198"/>
            <a:ext cx="5592631" cy="5262245"/>
            <a:chOff x="641914" y="1239224"/>
            <a:chExt cx="5592631" cy="5179618"/>
          </a:xfrm>
        </p:grpSpPr>
        <p:sp>
          <p:nvSpPr>
            <p:cNvPr id="4" name="内容占位符 2"/>
            <p:cNvSpPr txBox="1"/>
            <p:nvPr/>
          </p:nvSpPr>
          <p:spPr>
            <a:xfrm>
              <a:off x="641914" y="1239224"/>
              <a:ext cx="5592631" cy="51796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400" dirty="0"/>
                <a:t>1</a:t>
              </a:r>
              <a:r>
                <a:rPr lang="en-US" altLang="zh-CN" sz="1400" dirty="0"/>
                <a:t>.</a:t>
              </a:r>
              <a:r>
                <a:rPr lang="zh-CN" altLang="en-US" sz="1400" b="1" dirty="0">
                  <a:solidFill>
                    <a:srgbClr val="FF6565"/>
                  </a:solidFill>
                </a:rPr>
                <a:t> set </a:t>
              </a:r>
              <a:r>
                <a:rPr lang="zh-CN" altLang="en-US" sz="1400" dirty="0"/>
                <a:t>：简写 s ，对变量或者多维数组赋值</a:t>
              </a:r>
              <a:endParaRPr lang="zh-CN" altLang="en-US" sz="1400" dirty="0"/>
            </a:p>
            <a:p>
              <a:r>
                <a:rPr lang="zh-CN" altLang="en-US" sz="1400" dirty="0"/>
                <a:t> 示例：   set str="abc"</a:t>
              </a:r>
              <a:endParaRPr lang="zh-CN" altLang="en-US" sz="1400" dirty="0"/>
            </a:p>
            <a:p>
              <a:r>
                <a:rPr lang="zh-CN" altLang="en-US" sz="1400" dirty="0"/>
                <a:t>               </a:t>
              </a:r>
              <a:r>
                <a:rPr lang="zh-CN" altLang="en-US" sz="1400" dirty="0" smtClean="0"/>
                <a:t>s </a:t>
              </a:r>
              <a:r>
                <a:rPr lang="zh-CN" altLang="en-US" sz="1400" dirty="0"/>
                <a:t>^TMP("myglobal")="This is a </a:t>
              </a:r>
              <a:r>
                <a:rPr lang="zh-CN" altLang="en-US" sz="1400" dirty="0" smtClean="0"/>
                <a:t>global</a:t>
              </a:r>
              <a:r>
                <a:rPr lang="zh-CN" altLang="en-US" sz="1400" dirty="0"/>
                <a:t>"</a:t>
              </a:r>
              <a:endParaRPr lang="zh-CN" altLang="en-US" sz="1400" dirty="0"/>
            </a:p>
            <a:p>
              <a:r>
                <a:rPr lang="zh-CN" altLang="en-US" sz="1400" dirty="0" smtClean="0"/>
                <a:t>               s </a:t>
              </a:r>
              <a:r>
                <a:rPr lang="zh-CN" altLang="en-US" sz="1400" dirty="0"/>
                <a:t>date</a:t>
              </a:r>
              <a:r>
                <a:rPr lang="zh-CN" altLang="en-US" sz="1400" dirty="0" smtClean="0"/>
                <a:t>=</a:t>
              </a:r>
              <a:r>
                <a:rPr lang="zh-CN" altLang="en-US" sz="1400" dirty="0"/>
                <a:t>"</a:t>
              </a:r>
              <a:r>
                <a:rPr lang="zh-CN" altLang="en-US" sz="1400" dirty="0" smtClean="0"/>
                <a:t>2018-11-11</a:t>
              </a:r>
              <a:r>
                <a:rPr lang="zh-CN" altLang="en-US" sz="1400" dirty="0"/>
                <a:t>"</a:t>
              </a:r>
              <a:endParaRPr lang="zh-CN" altLang="en-US" sz="1400" dirty="0"/>
            </a:p>
            <a:p>
              <a:r>
                <a:rPr lang="zh-CN" altLang="en-US" sz="1400" dirty="0" smtClean="0">
                  <a:latin typeface="宋体" panose="02010600030101010101" pitchFamily="2" charset="-122"/>
                  <a:ea typeface="宋体" panose="02010600030101010101" pitchFamily="2" charset="-122"/>
                </a:rPr>
                <a:t>         </a:t>
              </a:r>
              <a:r>
                <a:rPr lang="en-US" altLang="zh-CN" sz="1400" dirty="0" smtClean="0">
                  <a:latin typeface="宋体" panose="02010600030101010101" pitchFamily="2" charset="-122"/>
                  <a:ea typeface="宋体" panose="02010600030101010101" pitchFamily="2" charset="-122"/>
                </a:rPr>
                <a:t>s:date'=”” date=”64963”</a:t>
              </a:r>
              <a:endParaRPr lang="en-US" altLang="zh-CN" sz="1400" dirty="0" smtClean="0">
                <a:latin typeface="宋体" panose="02010600030101010101" pitchFamily="2" charset="-122"/>
                <a:ea typeface="宋体" panose="02010600030101010101" pitchFamily="2" charset="-122"/>
              </a:endParaRPr>
            </a:p>
            <a:p>
              <a:r>
                <a:rPr lang="zh-CN" altLang="en-US" sz="1400" dirty="0"/>
                <a:t>	</a:t>
              </a:r>
              <a:endParaRPr lang="en-US" altLang="zh-CN" sz="1400" dirty="0" smtClean="0"/>
            </a:p>
            <a:p>
              <a:endParaRPr lang="zh-CN" altLang="en-US" sz="1400" dirty="0"/>
            </a:p>
            <a:p>
              <a:r>
                <a:rPr lang="zh-CN" altLang="en-US" sz="1400" dirty="0"/>
                <a:t> 2</a:t>
              </a:r>
              <a:r>
                <a:rPr lang="en-US" altLang="zh-CN" sz="1400" dirty="0"/>
                <a:t>.</a:t>
              </a:r>
              <a:r>
                <a:rPr lang="zh-CN" altLang="en-US" sz="1400" dirty="0"/>
                <a:t> </a:t>
              </a:r>
              <a:r>
                <a:rPr lang="zh-CN" altLang="en-US" sz="1400" b="1" dirty="0">
                  <a:solidFill>
                    <a:srgbClr val="FF6565"/>
                  </a:solidFill>
                </a:rPr>
                <a:t>do </a:t>
              </a:r>
              <a:r>
                <a:rPr lang="zh-CN" altLang="en-US" sz="1400" dirty="0"/>
                <a:t>：简写 d， 执行某一操作</a:t>
              </a:r>
              <a:endParaRPr lang="zh-CN" altLang="en-US" sz="1400" dirty="0"/>
            </a:p>
            <a:p>
              <a:pPr marL="467995"/>
              <a:r>
                <a:rPr lang="zh-CN" altLang="en-US" sz="1400" dirty="0"/>
                <a:t> 如在terminal下执行类方法 </a:t>
              </a:r>
              <a:r>
                <a:rPr lang="en-US" altLang="zh-CN" sz="1400" dirty="0"/>
                <a:t>:</a:t>
              </a:r>
              <a:endParaRPr lang="zh-CN" altLang="en-US" sz="1400" dirty="0"/>
            </a:p>
            <a:p>
              <a:pPr marL="467995"/>
              <a:r>
                <a:rPr lang="zh-CN" altLang="en-US" sz="1400" dirty="0"/>
                <a:t> d  ##class(web.DHCATest).Test()</a:t>
              </a:r>
              <a:endParaRPr lang="zh-CN" altLang="en-US" sz="1400" dirty="0"/>
            </a:p>
            <a:p>
              <a:pPr marL="467995"/>
              <a:r>
                <a:rPr lang="zh-CN" altLang="en-US" sz="1400" dirty="0"/>
                <a:t> </a:t>
              </a:r>
              <a:r>
                <a:rPr lang="en-US" altLang="zh-CN" sz="1400" dirty="0"/>
                <a:t>d:rowid&gt;0 ##class(</a:t>
              </a:r>
              <a:r>
                <a:rPr lang="en-US" altLang="zh-CN" sz="1400" dirty="0" err="1"/>
                <a:t>User.ClassName</a:t>
              </a:r>
              <a:r>
                <a:rPr lang="en-US" altLang="zh-CN" sz="1400" dirty="0"/>
                <a:t>).%</a:t>
              </a:r>
              <a:r>
                <a:rPr lang="en-US" altLang="zh-CN" sz="1400" dirty="0" err="1"/>
                <a:t>DeleteId</a:t>
              </a:r>
              <a:r>
                <a:rPr lang="en-US" altLang="zh-CN" sz="1400" dirty="0"/>
                <a:t>(</a:t>
              </a:r>
              <a:r>
                <a:rPr lang="en-US" altLang="zh-CN" sz="1400" dirty="0" err="1"/>
                <a:t>rowid</a:t>
              </a:r>
              <a:r>
                <a:rPr lang="en-US" altLang="zh-CN" sz="1400" dirty="0"/>
                <a:t>)</a:t>
              </a:r>
              <a:endParaRPr lang="en-US" altLang="zh-CN" sz="1400" dirty="0"/>
            </a:p>
            <a:p>
              <a:r>
                <a:rPr lang="zh-CN" altLang="en-US" sz="1400" dirty="0"/>
                <a:t>3</a:t>
              </a:r>
              <a:r>
                <a:rPr lang="en-US" altLang="zh-CN" sz="1400" dirty="0"/>
                <a:t>.</a:t>
              </a:r>
              <a:r>
                <a:rPr lang="en-US" altLang="zh-CN" sz="1400" b="1" dirty="0">
                  <a:solidFill>
                    <a:srgbClr val="FF6565"/>
                  </a:solidFill>
                </a:rPr>
                <a:t> </a:t>
              </a:r>
              <a:r>
                <a:rPr lang="zh-CN" altLang="en-US" sz="1400" b="1" dirty="0">
                  <a:solidFill>
                    <a:srgbClr val="FF6565"/>
                  </a:solidFill>
                </a:rPr>
                <a:t>kill</a:t>
              </a:r>
              <a:r>
                <a:rPr lang="zh-CN" altLang="en-US" sz="1400" dirty="0"/>
                <a:t>：简写 K， 清掉变量或者Global</a:t>
              </a:r>
              <a:endParaRPr lang="zh-CN" altLang="en-US" sz="1400" dirty="0"/>
            </a:p>
            <a:p>
              <a:endParaRPr lang="en-US" altLang="zh-CN" sz="1400" dirty="0" smtClean="0"/>
            </a:p>
            <a:p>
              <a:endParaRPr lang="en-US" altLang="zh-CN" sz="1400" dirty="0"/>
            </a:p>
            <a:p>
              <a:endParaRPr lang="en-US" altLang="zh-CN" sz="1400" dirty="0" smtClean="0"/>
            </a:p>
            <a:p>
              <a:endParaRPr lang="en-US" altLang="zh-CN" sz="1400" dirty="0"/>
            </a:p>
          </p:txBody>
        </p:sp>
        <p:sp>
          <p:nvSpPr>
            <p:cNvPr id="11" name="文本框 10"/>
            <p:cNvSpPr txBox="1"/>
            <p:nvPr/>
          </p:nvSpPr>
          <p:spPr>
            <a:xfrm>
              <a:off x="1239117" y="5165609"/>
              <a:ext cx="2066185" cy="1061829"/>
            </a:xfrm>
            <a:prstGeom prst="rect">
              <a:avLst/>
            </a:prstGeom>
            <a:noFill/>
          </p:spPr>
          <p:txBody>
            <a:bodyPr wrap="square" rtlCol="0">
              <a:spAutoFit/>
            </a:bodyPr>
            <a:lstStyle/>
            <a:p>
              <a:pPr>
                <a:lnSpc>
                  <a:spcPct val="150000"/>
                </a:lnSpc>
              </a:pPr>
              <a:r>
                <a:rPr lang="zh-CN" altLang="en-US" sz="1400" dirty="0">
                  <a:solidFill>
                    <a:schemeClr val="accent1">
                      <a:lumMod val="50000"/>
                    </a:schemeClr>
                  </a:solidFill>
                  <a:latin typeface="Arial" panose="020B0604020202020204" pitchFamily="34" charset="0"/>
                </a:rPr>
                <a:t>用法1 ：</a:t>
              </a:r>
              <a:endParaRPr lang="zh-CN" altLang="en-US" sz="1400" dirty="0">
                <a:solidFill>
                  <a:schemeClr val="accent1">
                    <a:lumMod val="50000"/>
                  </a:schemeClr>
                </a:solidFill>
                <a:latin typeface="Arial" panose="020B0604020202020204" pitchFamily="34" charset="0"/>
              </a:endParaRPr>
            </a:p>
            <a:p>
              <a:pPr>
                <a:lnSpc>
                  <a:spcPct val="150000"/>
                </a:lnSpc>
              </a:pPr>
              <a:r>
                <a:rPr lang="zh-CN" altLang="en-US" sz="1400" dirty="0" smtClean="0">
                  <a:solidFill>
                    <a:schemeClr val="accent1">
                      <a:lumMod val="50000"/>
                    </a:schemeClr>
                  </a:solidFill>
                  <a:latin typeface="Arial" panose="020B0604020202020204" pitchFamily="34" charset="0"/>
                </a:rPr>
                <a:t>k </a:t>
              </a:r>
              <a:r>
                <a:rPr lang="zh-CN" altLang="en-US" sz="1400" dirty="0">
                  <a:solidFill>
                    <a:schemeClr val="accent1">
                      <a:lumMod val="50000"/>
                    </a:schemeClr>
                  </a:solidFill>
                  <a:latin typeface="Arial" panose="020B0604020202020204" pitchFamily="34" charset="0"/>
                </a:rPr>
                <a:t>n(1)</a:t>
              </a:r>
              <a:endParaRPr lang="zh-CN" altLang="en-US" sz="1400" dirty="0">
                <a:solidFill>
                  <a:schemeClr val="accent1">
                    <a:lumMod val="50000"/>
                  </a:schemeClr>
                </a:solidFill>
                <a:latin typeface="Arial" panose="020B0604020202020204" pitchFamily="34" charset="0"/>
              </a:endParaRPr>
            </a:p>
            <a:p>
              <a:pPr>
                <a:lnSpc>
                  <a:spcPct val="150000"/>
                </a:lnSpc>
              </a:pPr>
              <a:r>
                <a:rPr lang="zh-CN" altLang="en-US" sz="1400" dirty="0" smtClean="0">
                  <a:solidFill>
                    <a:schemeClr val="accent1">
                      <a:lumMod val="50000"/>
                    </a:schemeClr>
                  </a:solidFill>
                  <a:latin typeface="Arial" panose="020B0604020202020204" pitchFamily="34" charset="0"/>
                </a:rPr>
                <a:t>k </a:t>
              </a:r>
              <a:r>
                <a:rPr lang="zh-CN" altLang="en-US" sz="1400" dirty="0">
                  <a:solidFill>
                    <a:schemeClr val="accent1">
                      <a:lumMod val="50000"/>
                    </a:schemeClr>
                  </a:solidFill>
                  <a:latin typeface="Arial" panose="020B0604020202020204" pitchFamily="34" charset="0"/>
                </a:rPr>
                <a:t>^TMP("myglobal")</a:t>
              </a:r>
              <a:endParaRPr lang="zh-CN" altLang="en-US" sz="1400" dirty="0">
                <a:solidFill>
                  <a:schemeClr val="accent1">
                    <a:lumMod val="50000"/>
                  </a:schemeClr>
                </a:solidFill>
                <a:latin typeface="Arial" panose="020B0604020202020204" pitchFamily="34" charset="0"/>
              </a:endParaRPr>
            </a:p>
          </p:txBody>
        </p:sp>
        <p:sp>
          <p:nvSpPr>
            <p:cNvPr id="12" name="文本框 11"/>
            <p:cNvSpPr txBox="1"/>
            <p:nvPr/>
          </p:nvSpPr>
          <p:spPr>
            <a:xfrm>
              <a:off x="3329320" y="5171489"/>
              <a:ext cx="1299596" cy="1169551"/>
            </a:xfrm>
            <a:prstGeom prst="rect">
              <a:avLst/>
            </a:prstGeom>
            <a:noFill/>
          </p:spPr>
          <p:txBody>
            <a:bodyPr wrap="square" rtlCol="0">
              <a:spAutoFit/>
            </a:bodyPr>
            <a:lstStyle/>
            <a:p>
              <a:r>
                <a:rPr lang="zh-CN" altLang="en-US" sz="1400" dirty="0"/>
                <a:t> </a:t>
              </a:r>
              <a:r>
                <a:rPr lang="zh-CN" altLang="en-US" sz="1400" dirty="0">
                  <a:solidFill>
                    <a:schemeClr val="accent1">
                      <a:lumMod val="50000"/>
                    </a:schemeClr>
                  </a:solidFill>
                  <a:latin typeface="Arial" panose="020B0604020202020204" pitchFamily="34" charset="0"/>
                </a:rPr>
                <a:t>用法2:</a:t>
              </a:r>
              <a:endParaRPr lang="zh-CN" altLang="en-US" sz="1400" dirty="0">
                <a:solidFill>
                  <a:schemeClr val="accent1">
                    <a:lumMod val="50000"/>
                  </a:schemeClr>
                </a:solidFill>
                <a:latin typeface="Arial" panose="020B0604020202020204" pitchFamily="34" charset="0"/>
              </a:endParaRPr>
            </a:p>
            <a:p>
              <a:r>
                <a:rPr lang="zh-CN" altLang="en-US" sz="1400" dirty="0">
                  <a:solidFill>
                    <a:schemeClr val="accent1">
                      <a:lumMod val="50000"/>
                    </a:schemeClr>
                  </a:solidFill>
                  <a:latin typeface="Arial" panose="020B0604020202020204" pitchFamily="34" charset="0"/>
                </a:rPr>
                <a:t>  s a=1</a:t>
              </a:r>
              <a:endParaRPr lang="zh-CN" altLang="en-US" sz="1400" dirty="0">
                <a:solidFill>
                  <a:schemeClr val="accent1">
                    <a:lumMod val="50000"/>
                  </a:schemeClr>
                </a:solidFill>
                <a:latin typeface="Arial" panose="020B0604020202020204" pitchFamily="34" charset="0"/>
              </a:endParaRPr>
            </a:p>
            <a:p>
              <a:r>
                <a:rPr lang="zh-CN" altLang="en-US" sz="1400" dirty="0">
                  <a:solidFill>
                    <a:schemeClr val="accent1">
                      <a:lumMod val="50000"/>
                    </a:schemeClr>
                  </a:solidFill>
                  <a:latin typeface="Arial" panose="020B0604020202020204" pitchFamily="34" charset="0"/>
                </a:rPr>
                <a:t>  s b=2</a:t>
              </a:r>
              <a:endParaRPr lang="zh-CN" altLang="en-US" sz="1400" dirty="0">
                <a:solidFill>
                  <a:schemeClr val="accent1">
                    <a:lumMod val="50000"/>
                  </a:schemeClr>
                </a:solidFill>
                <a:latin typeface="Arial" panose="020B0604020202020204" pitchFamily="34" charset="0"/>
              </a:endParaRPr>
            </a:p>
            <a:p>
              <a:r>
                <a:rPr lang="zh-CN" altLang="en-US" sz="1400" dirty="0">
                  <a:solidFill>
                    <a:schemeClr val="accent1">
                      <a:lumMod val="50000"/>
                    </a:schemeClr>
                  </a:solidFill>
                  <a:latin typeface="Arial" panose="020B0604020202020204" pitchFamily="34" charset="0"/>
                </a:rPr>
                <a:t>  s c=3</a:t>
              </a:r>
              <a:endParaRPr lang="zh-CN" altLang="en-US" sz="1400" dirty="0">
                <a:solidFill>
                  <a:schemeClr val="accent1">
                    <a:lumMod val="50000"/>
                  </a:schemeClr>
                </a:solidFill>
                <a:latin typeface="Arial" panose="020B0604020202020204" pitchFamily="34" charset="0"/>
              </a:endParaRPr>
            </a:p>
            <a:p>
              <a:r>
                <a:rPr lang="zh-CN" altLang="en-US" sz="1400" dirty="0">
                  <a:solidFill>
                    <a:schemeClr val="accent1">
                      <a:lumMod val="50000"/>
                    </a:schemeClr>
                  </a:solidFill>
                  <a:latin typeface="Arial" panose="020B0604020202020204" pitchFamily="34" charset="0"/>
                </a:rPr>
                <a:t>  kill (a,b)</a:t>
              </a:r>
              <a:endParaRPr lang="zh-CN" altLang="en-US" sz="1400" dirty="0">
                <a:solidFill>
                  <a:schemeClr val="accent1">
                    <a:lumMod val="50000"/>
                  </a:schemeClr>
                </a:solidFill>
                <a:latin typeface="Arial" panose="020B0604020202020204" pitchFamily="34" charset="0"/>
              </a:endParaRPr>
            </a:p>
          </p:txBody>
        </p:sp>
        <p:sp>
          <p:nvSpPr>
            <p:cNvPr id="15" name="矩形 14"/>
            <p:cNvSpPr/>
            <p:nvPr/>
          </p:nvSpPr>
          <p:spPr>
            <a:xfrm>
              <a:off x="4228992" y="2736780"/>
              <a:ext cx="1768790" cy="954107"/>
            </a:xfrm>
            <a:prstGeom prst="rect">
              <a:avLst/>
            </a:prstGeom>
          </p:spPr>
          <p:txBody>
            <a:bodyPr wrap="square">
              <a:spAutoFit/>
            </a:bodyPr>
            <a:lstStyle/>
            <a:p>
              <a:r>
                <a:rPr lang="zh-CN" altLang="en-US" sz="1400" dirty="0">
                  <a:solidFill>
                    <a:schemeClr val="accent1">
                      <a:lumMod val="50000"/>
                    </a:schemeClr>
                  </a:solidFill>
                  <a:latin typeface="Arial" panose="020B0604020202020204" pitchFamily="34" charset="0"/>
                </a:rPr>
                <a:t>if (date'="")</a:t>
              </a:r>
              <a:endParaRPr lang="zh-CN" altLang="en-US" sz="1400" dirty="0">
                <a:solidFill>
                  <a:schemeClr val="accent1">
                    <a:lumMod val="50000"/>
                  </a:schemeClr>
                </a:solidFill>
                <a:latin typeface="Arial" panose="020B0604020202020204" pitchFamily="34" charset="0"/>
              </a:endParaRPr>
            </a:p>
            <a:p>
              <a:r>
                <a:rPr lang="zh-CN" altLang="en-US" sz="1400" dirty="0">
                  <a:solidFill>
                    <a:schemeClr val="accent1">
                      <a:lumMod val="50000"/>
                    </a:schemeClr>
                  </a:solidFill>
                  <a:latin typeface="Arial" panose="020B0604020202020204" pitchFamily="34" charset="0"/>
                </a:rPr>
                <a:t> {	</a:t>
              </a:r>
              <a:endParaRPr lang="zh-CN" altLang="en-US" sz="1400" dirty="0">
                <a:solidFill>
                  <a:schemeClr val="accent1">
                    <a:lumMod val="50000"/>
                  </a:schemeClr>
                </a:solidFill>
                <a:latin typeface="Arial" panose="020B0604020202020204" pitchFamily="34" charset="0"/>
              </a:endParaRPr>
            </a:p>
            <a:p>
              <a:r>
                <a:rPr lang="zh-CN" altLang="en-US" sz="1400" dirty="0">
                  <a:solidFill>
                    <a:schemeClr val="accent1">
                      <a:lumMod val="50000"/>
                    </a:schemeClr>
                  </a:solidFill>
                  <a:latin typeface="Arial" panose="020B0604020202020204" pitchFamily="34" charset="0"/>
                </a:rPr>
                <a:t>   s date="64963" </a:t>
              </a:r>
              <a:endParaRPr lang="zh-CN" altLang="en-US" sz="1400" dirty="0">
                <a:solidFill>
                  <a:schemeClr val="accent1">
                    <a:lumMod val="50000"/>
                  </a:schemeClr>
                </a:solidFill>
                <a:latin typeface="Arial" panose="020B0604020202020204" pitchFamily="34" charset="0"/>
              </a:endParaRPr>
            </a:p>
            <a:p>
              <a:r>
                <a:rPr lang="zh-CN" altLang="en-US" sz="1400" dirty="0">
                  <a:solidFill>
                    <a:schemeClr val="accent1">
                      <a:lumMod val="50000"/>
                    </a:schemeClr>
                  </a:solidFill>
                  <a:latin typeface="Arial" panose="020B0604020202020204" pitchFamily="34" charset="0"/>
                </a:rPr>
                <a:t> }</a:t>
              </a:r>
              <a:endParaRPr lang="zh-CN" altLang="en-US" sz="1400" dirty="0">
                <a:solidFill>
                  <a:schemeClr val="accent1">
                    <a:lumMod val="50000"/>
                  </a:schemeClr>
                </a:solidFill>
                <a:latin typeface="Arial" panose="020B0604020202020204" pitchFamily="34" charset="0"/>
              </a:endParaRPr>
            </a:p>
          </p:txBody>
        </p:sp>
      </p:grpSp>
      <p:grpSp>
        <p:nvGrpSpPr>
          <p:cNvPr id="17" name="组合 16"/>
          <p:cNvGrpSpPr/>
          <p:nvPr/>
        </p:nvGrpSpPr>
        <p:grpSpPr>
          <a:xfrm>
            <a:off x="790990" y="880276"/>
            <a:ext cx="10894786" cy="834583"/>
            <a:chOff x="751790" y="4296766"/>
            <a:chExt cx="10894786" cy="834583"/>
          </a:xfrm>
        </p:grpSpPr>
        <p:grpSp>
          <p:nvGrpSpPr>
            <p:cNvPr id="18" name="组合 17"/>
            <p:cNvGrpSpPr/>
            <p:nvPr/>
          </p:nvGrpSpPr>
          <p:grpSpPr>
            <a:xfrm>
              <a:off x="1190724" y="4315228"/>
              <a:ext cx="10455852" cy="816121"/>
              <a:chOff x="385160" y="2922773"/>
              <a:chExt cx="2144789" cy="816121"/>
            </a:xfrm>
          </p:grpSpPr>
          <p:sp>
            <p:nvSpPr>
              <p:cNvPr id="20" name="文本框 34"/>
              <p:cNvSpPr txBox="1">
                <a:spLocks noChangeArrowheads="1"/>
              </p:cNvSpPr>
              <p:nvPr/>
            </p:nvSpPr>
            <p:spPr bwMode="auto">
              <a:xfrm>
                <a:off x="385160" y="2922773"/>
                <a:ext cx="1412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zh-CN" altLang="en-US" b="1" dirty="0" smtClean="0">
                    <a:solidFill>
                      <a:schemeClr val="accent1">
                        <a:lumMod val="50000"/>
                      </a:schemeClr>
                    </a:solidFill>
                    <a:latin typeface="Arial" panose="020B0604020202020204" pitchFamily="34" charset="0"/>
                    <a:cs typeface="Arial" panose="020B0604020202020204" pitchFamily="34" charset="0"/>
                  </a:rPr>
                  <a:t>基本语法一览表</a:t>
                </a:r>
                <a:r>
                  <a:rPr lang="en-US" altLang="zh-CN" b="1" dirty="0" smtClean="0">
                    <a:solidFill>
                      <a:schemeClr val="accent1">
                        <a:lumMod val="50000"/>
                      </a:schemeClr>
                    </a:solidFill>
                    <a:latin typeface="Arial" panose="020B0604020202020204" pitchFamily="34" charset="0"/>
                    <a:cs typeface="Arial" panose="020B0604020202020204" pitchFamily="34" charset="0"/>
                  </a:rPr>
                  <a:t>(</a:t>
                </a:r>
                <a:r>
                  <a:rPr lang="zh-CN" altLang="en-US" b="1" dirty="0" smtClean="0">
                    <a:solidFill>
                      <a:schemeClr val="accent1">
                        <a:lumMod val="50000"/>
                      </a:schemeClr>
                    </a:solidFill>
                    <a:latin typeface="Arial" panose="020B0604020202020204" pitchFamily="34" charset="0"/>
                    <a:cs typeface="Arial" panose="020B0604020202020204" pitchFamily="34" charset="0"/>
                  </a:rPr>
                  <a:t>常见</a:t>
                </a:r>
                <a:r>
                  <a:rPr lang="en-US" altLang="zh-CN" b="1" dirty="0" smtClean="0">
                    <a:solidFill>
                      <a:schemeClr val="accent1">
                        <a:lumMod val="50000"/>
                      </a:schemeClr>
                    </a:solidFill>
                    <a:latin typeface="Arial" panose="020B0604020202020204" pitchFamily="34" charset="0"/>
                    <a:cs typeface="Arial" panose="020B0604020202020204" pitchFamily="34" charset="0"/>
                  </a:rPr>
                  <a:t>)</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21" name="矩形 36"/>
              <p:cNvSpPr>
                <a:spLocks noChangeArrowheads="1"/>
              </p:cNvSpPr>
              <p:nvPr/>
            </p:nvSpPr>
            <p:spPr bwMode="auto">
              <a:xfrm>
                <a:off x="385160" y="3322883"/>
                <a:ext cx="2144789" cy="416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r>
                  <a:rPr lang="en-US" altLang="zh-CN" sz="1600" dirty="0">
                    <a:solidFill>
                      <a:schemeClr val="accent1">
                        <a:lumMod val="50000"/>
                      </a:schemeClr>
                    </a:solidFill>
                    <a:latin typeface="Arial" panose="020B0604020202020204" pitchFamily="34" charset="0"/>
                  </a:rPr>
                  <a:t>   </a:t>
                </a:r>
                <a:endParaRPr lang="en-US" altLang="zh-CN" sz="1600" dirty="0" smtClean="0">
                  <a:solidFill>
                    <a:srgbClr val="00B0F0"/>
                  </a:solidFill>
                  <a:latin typeface="Arial" panose="020B0604020202020204" pitchFamily="34" charset="0"/>
                </a:endParaRPr>
              </a:p>
            </p:txBody>
          </p:sp>
        </p:grpSp>
        <p:sp>
          <p:nvSpPr>
            <p:cNvPr id="19" name="椭圆 18"/>
            <p:cNvSpPr/>
            <p:nvPr/>
          </p:nvSpPr>
          <p:spPr>
            <a:xfrm>
              <a:off x="751790" y="4296766"/>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lumMod val="65000"/>
                      <a:lumOff val="35000"/>
                    </a:schemeClr>
                  </a:solidFill>
                </a:rPr>
                <a:t>3</a:t>
              </a:r>
              <a:endParaRPr lang="zh-CN" altLang="en-US" sz="2400" dirty="0">
                <a:solidFill>
                  <a:schemeClr val="tx1">
                    <a:lumMod val="65000"/>
                    <a:lumOff val="35000"/>
                  </a:schemeClr>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第三</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的多维存储结构</a:t>
            </a:r>
            <a:endParaRPr lang="zh-CN" altLang="en-US" dirty="0"/>
          </a:p>
        </p:txBody>
      </p:sp>
      <p:sp>
        <p:nvSpPr>
          <p:cNvPr id="6" name="矩形 5"/>
          <p:cNvSpPr/>
          <p:nvPr/>
        </p:nvSpPr>
        <p:spPr>
          <a:xfrm>
            <a:off x="1457487" y="3727610"/>
            <a:ext cx="4169215" cy="2031325"/>
          </a:xfrm>
          <a:prstGeom prst="rect">
            <a:avLst/>
          </a:prstGeom>
        </p:spPr>
        <p:txBody>
          <a:bodyPr wrap="square">
            <a:spAutoFit/>
          </a:bodyPr>
          <a:lstStyle/>
          <a:p>
            <a:pPr>
              <a:lnSpc>
                <a:spcPct val="150000"/>
              </a:lnSpc>
            </a:pPr>
            <a:r>
              <a:rPr lang="zh-CN" altLang="en-US" sz="1400" dirty="0">
                <a:solidFill>
                  <a:schemeClr val="accent1">
                    <a:lumMod val="50000"/>
                  </a:schemeClr>
                </a:solidFill>
                <a:latin typeface="Arial" panose="020B0604020202020204" pitchFamily="34" charset="0"/>
              </a:rPr>
              <a:t>多维数组以树状的形式保存</a:t>
            </a:r>
            <a:r>
              <a:rPr lang="en-US" altLang="zh-CN" sz="1400" dirty="0">
                <a:solidFill>
                  <a:schemeClr val="accent1">
                    <a:lumMod val="50000"/>
                  </a:schemeClr>
                </a:solidFill>
                <a:latin typeface="Arial" panose="020B0604020202020204" pitchFamily="34" charset="0"/>
              </a:rPr>
              <a:t>,</a:t>
            </a:r>
            <a:r>
              <a:rPr lang="zh-CN" altLang="en-US" sz="1400" dirty="0">
                <a:solidFill>
                  <a:schemeClr val="accent1">
                    <a:lumMod val="50000"/>
                  </a:schemeClr>
                </a:solidFill>
                <a:latin typeface="Arial" panose="020B0604020202020204" pitchFamily="34" charset="0"/>
              </a:rPr>
              <a:t>如下例：</a:t>
            </a:r>
            <a:endParaRPr lang="zh-CN" altLang="en-US" sz="1400" dirty="0">
              <a:solidFill>
                <a:schemeClr val="accent1">
                  <a:lumMod val="50000"/>
                </a:schemeClr>
              </a:solidFill>
              <a:latin typeface="Arial" panose="020B0604020202020204" pitchFamily="34" charset="0"/>
            </a:endParaRPr>
          </a:p>
          <a:p>
            <a:pPr>
              <a:lnSpc>
                <a:spcPct val="150000"/>
              </a:lnSpc>
            </a:pPr>
            <a:r>
              <a:rPr lang="en-US" altLang="zh-CN" sz="1400" dirty="0">
                <a:solidFill>
                  <a:schemeClr val="accent1">
                    <a:lumMod val="50000"/>
                  </a:schemeClr>
                </a:solidFill>
                <a:latin typeface="Arial" panose="020B0604020202020204" pitchFamily="34" charset="0"/>
              </a:rPr>
              <a:t>Global</a:t>
            </a:r>
            <a:r>
              <a:rPr lang="zh-CN" altLang="en-US" sz="1400" dirty="0">
                <a:solidFill>
                  <a:schemeClr val="accent1">
                    <a:lumMod val="50000"/>
                  </a:schemeClr>
                </a:solidFill>
                <a:latin typeface="Arial" panose="020B0604020202020204" pitchFamily="34" charset="0"/>
              </a:rPr>
              <a:t>表示形式</a:t>
            </a:r>
            <a:r>
              <a:rPr lang="zh-CN" altLang="en-US" sz="1400" dirty="0" smtClean="0">
                <a:solidFill>
                  <a:schemeClr val="accent1">
                    <a:lumMod val="50000"/>
                  </a:schemeClr>
                </a:solidFill>
                <a:latin typeface="Arial" panose="020B0604020202020204" pitchFamily="34" charset="0"/>
              </a:rPr>
              <a:t>：</a:t>
            </a:r>
            <a:r>
              <a:rPr lang="en-US" altLang="zh-CN" sz="1400" dirty="0" smtClean="0">
                <a:solidFill>
                  <a:schemeClr val="accent1">
                    <a:lumMod val="50000"/>
                  </a:schemeClr>
                </a:solidFill>
                <a:latin typeface="Arial" panose="020B0604020202020204" pitchFamily="34" charset="0"/>
              </a:rPr>
              <a:t>^</a:t>
            </a:r>
            <a:r>
              <a:rPr lang="zh-CN" altLang="en-US" sz="1400" dirty="0">
                <a:solidFill>
                  <a:schemeClr val="accent1">
                    <a:lumMod val="50000"/>
                  </a:schemeClr>
                </a:solidFill>
                <a:latin typeface="Arial" panose="020B0604020202020204" pitchFamily="34" charset="0"/>
              </a:rPr>
              <a:t>名称</a:t>
            </a:r>
            <a:r>
              <a:rPr lang="en-US" altLang="zh-CN" sz="1400" dirty="0">
                <a:solidFill>
                  <a:schemeClr val="accent1">
                    <a:lumMod val="50000"/>
                  </a:schemeClr>
                </a:solidFill>
                <a:latin typeface="Arial" panose="020B0604020202020204" pitchFamily="34" charset="0"/>
              </a:rPr>
              <a:t>(</a:t>
            </a:r>
            <a:r>
              <a:rPr lang="zh-CN" altLang="en-US" sz="1400" dirty="0">
                <a:solidFill>
                  <a:schemeClr val="accent1">
                    <a:lumMod val="50000"/>
                  </a:schemeClr>
                </a:solidFill>
                <a:latin typeface="Arial" panose="020B0604020202020204" pitchFamily="34" charset="0"/>
              </a:rPr>
              <a:t>下标</a:t>
            </a:r>
            <a:r>
              <a:rPr lang="en-US" altLang="zh-CN" sz="1400" dirty="0">
                <a:solidFill>
                  <a:schemeClr val="accent1">
                    <a:lumMod val="50000"/>
                  </a:schemeClr>
                </a:solidFill>
                <a:latin typeface="Arial" panose="020B0604020202020204" pitchFamily="34" charset="0"/>
              </a:rPr>
              <a:t>1,</a:t>
            </a:r>
            <a:r>
              <a:rPr lang="zh-CN" altLang="en-US" sz="1400" dirty="0">
                <a:solidFill>
                  <a:schemeClr val="accent1">
                    <a:lumMod val="50000"/>
                  </a:schemeClr>
                </a:solidFill>
                <a:latin typeface="Arial" panose="020B0604020202020204" pitchFamily="34" charset="0"/>
              </a:rPr>
              <a:t>下标</a:t>
            </a:r>
            <a:r>
              <a:rPr lang="en-US" altLang="zh-CN" sz="1400" dirty="0">
                <a:solidFill>
                  <a:schemeClr val="accent1">
                    <a:lumMod val="50000"/>
                  </a:schemeClr>
                </a:solidFill>
                <a:latin typeface="Arial" panose="020B0604020202020204" pitchFamily="34" charset="0"/>
              </a:rPr>
              <a:t>2,</a:t>
            </a:r>
            <a:r>
              <a:rPr lang="zh-CN" altLang="en-US" sz="1400" dirty="0">
                <a:solidFill>
                  <a:schemeClr val="accent1">
                    <a:lumMod val="50000"/>
                  </a:schemeClr>
                </a:solidFill>
                <a:latin typeface="Arial" panose="020B0604020202020204" pitchFamily="34" charset="0"/>
              </a:rPr>
              <a:t>下标</a:t>
            </a:r>
            <a:r>
              <a:rPr lang="en-US" altLang="zh-CN" sz="1400" dirty="0">
                <a:solidFill>
                  <a:schemeClr val="accent1">
                    <a:lumMod val="50000"/>
                  </a:schemeClr>
                </a:solidFill>
                <a:latin typeface="Arial" panose="020B0604020202020204" pitchFamily="34" charset="0"/>
              </a:rPr>
              <a:t>3…)=</a:t>
            </a:r>
            <a:r>
              <a:rPr lang="zh-CN" altLang="en-US" sz="1400" dirty="0">
                <a:solidFill>
                  <a:schemeClr val="accent1">
                    <a:lumMod val="50000"/>
                  </a:schemeClr>
                </a:solidFill>
                <a:latin typeface="Arial" panose="020B0604020202020204" pitchFamily="34" charset="0"/>
              </a:rPr>
              <a:t>值</a:t>
            </a:r>
            <a:endParaRPr lang="zh-CN" altLang="en-US" sz="1400" dirty="0">
              <a:solidFill>
                <a:schemeClr val="accent1">
                  <a:lumMod val="50000"/>
                </a:schemeClr>
              </a:solidFill>
              <a:latin typeface="Arial" panose="020B0604020202020204" pitchFamily="34" charset="0"/>
            </a:endParaRPr>
          </a:p>
          <a:p>
            <a:pPr marL="539750">
              <a:lnSpc>
                <a:spcPct val="150000"/>
              </a:lnSpc>
            </a:pPr>
            <a:r>
              <a:rPr lang="en-US" altLang="zh-CN" sz="1400" dirty="0" smtClean="0">
                <a:solidFill>
                  <a:schemeClr val="accent1">
                    <a:lumMod val="50000"/>
                  </a:schemeClr>
                </a:solidFill>
                <a:latin typeface="Arial" panose="020B0604020202020204" pitchFamily="34" charset="0"/>
              </a:rPr>
              <a:t>SET </a:t>
            </a:r>
            <a:r>
              <a:rPr lang="en-US" altLang="zh-CN" sz="1400" dirty="0">
                <a:solidFill>
                  <a:schemeClr val="accent1">
                    <a:lumMod val="50000"/>
                  </a:schemeClr>
                </a:solidFill>
                <a:latin typeface="Arial" panose="020B0604020202020204" pitchFamily="34" charset="0"/>
              </a:rPr>
              <a:t>^Y(3,6,7)="third"</a:t>
            </a:r>
            <a:endParaRPr lang="zh-CN" altLang="en-US" sz="1400" dirty="0">
              <a:solidFill>
                <a:schemeClr val="accent1">
                  <a:lumMod val="50000"/>
                </a:schemeClr>
              </a:solidFill>
              <a:latin typeface="Arial" panose="020B0604020202020204" pitchFamily="34" charset="0"/>
            </a:endParaRPr>
          </a:p>
          <a:p>
            <a:pPr marL="539750">
              <a:lnSpc>
                <a:spcPct val="150000"/>
              </a:lnSpc>
            </a:pPr>
            <a:r>
              <a:rPr lang="en-US" altLang="zh-CN" sz="1400" dirty="0" smtClean="0">
                <a:solidFill>
                  <a:schemeClr val="accent1">
                    <a:lumMod val="50000"/>
                  </a:schemeClr>
                </a:solidFill>
                <a:latin typeface="Arial" panose="020B0604020202020204" pitchFamily="34" charset="0"/>
              </a:rPr>
              <a:t>SET </a:t>
            </a:r>
            <a:r>
              <a:rPr lang="en-US" altLang="zh-CN" sz="1400" dirty="0">
                <a:solidFill>
                  <a:schemeClr val="accent1">
                    <a:lumMod val="50000"/>
                  </a:schemeClr>
                </a:solidFill>
                <a:latin typeface="Arial" panose="020B0604020202020204" pitchFamily="34" charset="0"/>
              </a:rPr>
              <a:t>^Y(3,6,8)="fourth"</a:t>
            </a:r>
            <a:endParaRPr lang="zh-CN" altLang="en-US" sz="1400" dirty="0">
              <a:solidFill>
                <a:schemeClr val="accent1">
                  <a:lumMod val="50000"/>
                </a:schemeClr>
              </a:solidFill>
              <a:latin typeface="Arial" panose="020B0604020202020204" pitchFamily="34" charset="0"/>
            </a:endParaRPr>
          </a:p>
          <a:p>
            <a:pPr marL="539750">
              <a:lnSpc>
                <a:spcPct val="150000"/>
              </a:lnSpc>
            </a:pPr>
            <a:r>
              <a:rPr lang="en-US" altLang="zh-CN" sz="1400" dirty="0" smtClean="0">
                <a:solidFill>
                  <a:schemeClr val="accent1">
                    <a:lumMod val="50000"/>
                  </a:schemeClr>
                </a:solidFill>
                <a:latin typeface="Arial" panose="020B0604020202020204" pitchFamily="34" charset="0"/>
              </a:rPr>
              <a:t>SET </a:t>
            </a:r>
            <a:r>
              <a:rPr lang="en-US" altLang="zh-CN" sz="1400" dirty="0">
                <a:solidFill>
                  <a:schemeClr val="accent1">
                    <a:lumMod val="50000"/>
                  </a:schemeClr>
                </a:solidFill>
                <a:latin typeface="Arial" panose="020B0604020202020204" pitchFamily="34" charset="0"/>
              </a:rPr>
              <a:t>^Y(3,6,7,8,4)="fifth"</a:t>
            </a:r>
            <a:endParaRPr lang="zh-CN" altLang="en-US" sz="1400" dirty="0">
              <a:solidFill>
                <a:schemeClr val="accent1">
                  <a:lumMod val="50000"/>
                </a:schemeClr>
              </a:solidFill>
              <a:latin typeface="Arial" panose="020B0604020202020204" pitchFamily="34" charset="0"/>
            </a:endParaRPr>
          </a:p>
          <a:p>
            <a:pPr marL="539750">
              <a:lnSpc>
                <a:spcPct val="150000"/>
              </a:lnSpc>
            </a:pPr>
            <a:r>
              <a:rPr lang="en-US" altLang="zh-CN" sz="1400" dirty="0" smtClean="0">
                <a:solidFill>
                  <a:schemeClr val="accent1">
                    <a:lumMod val="50000"/>
                  </a:schemeClr>
                </a:solidFill>
                <a:latin typeface="Arial" panose="020B0604020202020204" pitchFamily="34" charset="0"/>
              </a:rPr>
              <a:t>SET </a:t>
            </a:r>
            <a:r>
              <a:rPr lang="en-US" altLang="zh-CN" sz="1400" dirty="0">
                <a:solidFill>
                  <a:schemeClr val="accent1">
                    <a:lumMod val="50000"/>
                  </a:schemeClr>
                </a:solidFill>
                <a:latin typeface="Arial" panose="020B0604020202020204" pitchFamily="34" charset="0"/>
              </a:rPr>
              <a:t>^Y(3,6,7,8,9)="sixth"</a:t>
            </a:r>
            <a:endParaRPr lang="zh-CN" altLang="en-US" sz="1400" dirty="0">
              <a:solidFill>
                <a:schemeClr val="accent1">
                  <a:lumMod val="50000"/>
                </a:schemeClr>
              </a:solidFill>
              <a:latin typeface="Arial" panose="020B0604020202020204" pitchFamily="34" charset="0"/>
            </a:endParaRPr>
          </a:p>
        </p:txBody>
      </p:sp>
      <p:pic>
        <p:nvPicPr>
          <p:cNvPr id="7" name="Picture 3"/>
          <p:cNvPicPr>
            <a:picLocks noChangeAspect="1" noChangeArrowheads="1"/>
          </p:cNvPicPr>
          <p:nvPr/>
        </p:nvPicPr>
        <p:blipFill>
          <a:blip r:embed="rId1"/>
          <a:srcRect/>
          <a:stretch>
            <a:fillRect/>
          </a:stretch>
        </p:blipFill>
        <p:spPr>
          <a:xfrm>
            <a:off x="6135526" y="3249339"/>
            <a:ext cx="3756620" cy="3461338"/>
          </a:xfrm>
          <a:prstGeom prst="rect">
            <a:avLst/>
          </a:prstGeom>
          <a:ln>
            <a:solidFill>
              <a:srgbClr val="1F4E79"/>
            </a:solidFill>
          </a:ln>
        </p:spPr>
      </p:pic>
      <p:grpSp>
        <p:nvGrpSpPr>
          <p:cNvPr id="12" name="组合 11"/>
          <p:cNvGrpSpPr/>
          <p:nvPr/>
        </p:nvGrpSpPr>
        <p:grpSpPr>
          <a:xfrm>
            <a:off x="786966" y="978007"/>
            <a:ext cx="9978013" cy="2126732"/>
            <a:chOff x="751790" y="4296766"/>
            <a:chExt cx="9618788" cy="2126732"/>
          </a:xfrm>
        </p:grpSpPr>
        <p:grpSp>
          <p:nvGrpSpPr>
            <p:cNvPr id="13" name="组合 12"/>
            <p:cNvGrpSpPr/>
            <p:nvPr/>
          </p:nvGrpSpPr>
          <p:grpSpPr>
            <a:xfrm>
              <a:off x="1190724" y="4315228"/>
              <a:ext cx="9179854" cy="2108270"/>
              <a:chOff x="385160" y="2922773"/>
              <a:chExt cx="1883046" cy="2108270"/>
            </a:xfrm>
          </p:grpSpPr>
          <p:sp>
            <p:nvSpPr>
              <p:cNvPr id="15" name="文本框 34"/>
              <p:cNvSpPr txBox="1">
                <a:spLocks noChangeArrowheads="1"/>
              </p:cNvSpPr>
              <p:nvPr/>
            </p:nvSpPr>
            <p:spPr bwMode="auto">
              <a:xfrm>
                <a:off x="385160" y="2922773"/>
                <a:ext cx="1412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en-US" altLang="zh-CN" b="1" dirty="0">
                    <a:solidFill>
                      <a:schemeClr val="accent1">
                        <a:lumMod val="50000"/>
                      </a:schemeClr>
                    </a:solidFill>
                    <a:latin typeface="Arial" panose="020B0604020202020204" pitchFamily="34" charset="0"/>
                    <a:cs typeface="Arial" panose="020B0604020202020204" pitchFamily="34" charset="0"/>
                  </a:rPr>
                  <a:t>Global</a:t>
                </a:r>
                <a:r>
                  <a:rPr lang="zh-CN" altLang="en-US" b="1" dirty="0">
                    <a:solidFill>
                      <a:schemeClr val="accent1">
                        <a:lumMod val="50000"/>
                      </a:schemeClr>
                    </a:solidFill>
                    <a:latin typeface="Arial" panose="020B0604020202020204" pitchFamily="34" charset="0"/>
                    <a:cs typeface="Arial" panose="020B0604020202020204" pitchFamily="34" charset="0"/>
                  </a:rPr>
                  <a:t>的存储位置</a:t>
                </a:r>
                <a:r>
                  <a:rPr lang="en-US" altLang="zh-CN" b="1" dirty="0">
                    <a:solidFill>
                      <a:schemeClr val="accent1">
                        <a:lumMod val="50000"/>
                      </a:schemeClr>
                    </a:solidFill>
                    <a:latin typeface="Arial" panose="020B0604020202020204" pitchFamily="34" charset="0"/>
                    <a:cs typeface="Arial" panose="020B0604020202020204" pitchFamily="34" charset="0"/>
                  </a:rPr>
                  <a:t>(</a:t>
                </a:r>
                <a:r>
                  <a:rPr lang="zh-CN" altLang="en-US" b="1" dirty="0">
                    <a:solidFill>
                      <a:schemeClr val="accent1">
                        <a:lumMod val="50000"/>
                      </a:schemeClr>
                    </a:solidFill>
                    <a:latin typeface="Arial" panose="020B0604020202020204" pitchFamily="34" charset="0"/>
                    <a:cs typeface="Arial" panose="020B0604020202020204" pitchFamily="34" charset="0"/>
                  </a:rPr>
                  <a:t>节点</a:t>
                </a:r>
                <a:r>
                  <a:rPr lang="en-US" altLang="zh-CN" b="1" dirty="0" smtClean="0">
                    <a:solidFill>
                      <a:schemeClr val="accent1">
                        <a:lumMod val="50000"/>
                      </a:schemeClr>
                    </a:solidFill>
                    <a:latin typeface="Arial" panose="020B0604020202020204" pitchFamily="34" charset="0"/>
                    <a:cs typeface="Arial" panose="020B0604020202020204" pitchFamily="34" charset="0"/>
                  </a:rPr>
                  <a:t>)</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16" name="矩形 36"/>
              <p:cNvSpPr>
                <a:spLocks noChangeArrowheads="1"/>
              </p:cNvSpPr>
              <p:nvPr/>
            </p:nvSpPr>
            <p:spPr bwMode="auto">
              <a:xfrm>
                <a:off x="385160" y="3322883"/>
                <a:ext cx="1883046"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marL="285750" indent="-285750">
                  <a:lnSpc>
                    <a:spcPct val="150000"/>
                  </a:lnSpc>
                  <a:buFont typeface="Wingdings" panose="05000000000000000000" pitchFamily="2" charset="2"/>
                  <a:buChar char="u"/>
                </a:pPr>
                <a:r>
                  <a:rPr lang="en-US" altLang="zh-CN" sz="1400" dirty="0" smtClean="0">
                    <a:solidFill>
                      <a:schemeClr val="accent1">
                        <a:lumMod val="50000"/>
                      </a:schemeClr>
                    </a:solidFill>
                    <a:latin typeface="Arial" panose="020B0604020202020204" pitchFamily="34" charset="0"/>
                  </a:rPr>
                  <a:t>Global</a:t>
                </a:r>
                <a:r>
                  <a:rPr lang="zh-CN" altLang="en-US" sz="1400" dirty="0">
                    <a:solidFill>
                      <a:schemeClr val="accent1">
                        <a:lumMod val="50000"/>
                      </a:schemeClr>
                    </a:solidFill>
                    <a:latin typeface="Arial" panose="020B0604020202020204" pitchFamily="34" charset="0"/>
                  </a:rPr>
                  <a:t>以如下形式表示：</a:t>
                </a:r>
                <a:r>
                  <a:rPr lang="en-US" altLang="zh-CN" sz="1400" dirty="0">
                    <a:solidFill>
                      <a:schemeClr val="accent1">
                        <a:lumMod val="50000"/>
                      </a:schemeClr>
                    </a:solidFill>
                    <a:latin typeface="Arial" panose="020B0604020202020204" pitchFamily="34" charset="0"/>
                  </a:rPr>
                  <a:t>^</a:t>
                </a:r>
                <a:r>
                  <a:rPr lang="zh-CN" altLang="en-US" sz="1400" dirty="0">
                    <a:solidFill>
                      <a:schemeClr val="accent1">
                        <a:lumMod val="50000"/>
                      </a:schemeClr>
                    </a:solidFill>
                    <a:latin typeface="Arial" panose="020B0604020202020204" pitchFamily="34" charset="0"/>
                  </a:rPr>
                  <a:t>名称</a:t>
                </a:r>
                <a:r>
                  <a:rPr lang="en-US" altLang="zh-CN" sz="1400" dirty="0">
                    <a:solidFill>
                      <a:schemeClr val="accent1">
                        <a:lumMod val="50000"/>
                      </a:schemeClr>
                    </a:solidFill>
                    <a:latin typeface="Arial" panose="020B0604020202020204" pitchFamily="34" charset="0"/>
                  </a:rPr>
                  <a:t>(</a:t>
                </a:r>
                <a:r>
                  <a:rPr lang="zh-CN" altLang="en-US" sz="1400" dirty="0">
                    <a:solidFill>
                      <a:schemeClr val="accent1">
                        <a:lumMod val="50000"/>
                      </a:schemeClr>
                    </a:solidFill>
                    <a:latin typeface="Arial" panose="020B0604020202020204" pitchFamily="34" charset="0"/>
                  </a:rPr>
                  <a:t>下标</a:t>
                </a:r>
                <a:r>
                  <a:rPr lang="en-US" altLang="zh-CN" sz="1400" dirty="0">
                    <a:solidFill>
                      <a:schemeClr val="accent1">
                        <a:lumMod val="50000"/>
                      </a:schemeClr>
                    </a:solidFill>
                    <a:latin typeface="Arial" panose="020B0604020202020204" pitchFamily="34" charset="0"/>
                  </a:rPr>
                  <a:t>1,</a:t>
                </a:r>
                <a:r>
                  <a:rPr lang="zh-CN" altLang="en-US" sz="1400" dirty="0">
                    <a:solidFill>
                      <a:schemeClr val="accent1">
                        <a:lumMod val="50000"/>
                      </a:schemeClr>
                    </a:solidFill>
                    <a:latin typeface="Arial" panose="020B0604020202020204" pitchFamily="34" charset="0"/>
                  </a:rPr>
                  <a:t>下标</a:t>
                </a:r>
                <a:r>
                  <a:rPr lang="en-US" altLang="zh-CN" sz="1400" dirty="0">
                    <a:solidFill>
                      <a:schemeClr val="accent1">
                        <a:lumMod val="50000"/>
                      </a:schemeClr>
                    </a:solidFill>
                    <a:latin typeface="Arial" panose="020B0604020202020204" pitchFamily="34" charset="0"/>
                  </a:rPr>
                  <a:t>2,</a:t>
                </a:r>
                <a:r>
                  <a:rPr lang="zh-CN" altLang="en-US" sz="1400" dirty="0">
                    <a:solidFill>
                      <a:schemeClr val="accent1">
                        <a:lumMod val="50000"/>
                      </a:schemeClr>
                    </a:solidFill>
                    <a:latin typeface="Arial" panose="020B0604020202020204" pitchFamily="34" charset="0"/>
                  </a:rPr>
                  <a:t>下标</a:t>
                </a:r>
                <a:r>
                  <a:rPr lang="en-US" altLang="zh-CN" sz="1400" dirty="0">
                    <a:solidFill>
                      <a:schemeClr val="accent1">
                        <a:lumMod val="50000"/>
                      </a:schemeClr>
                    </a:solidFill>
                    <a:latin typeface="Arial" panose="020B0604020202020204" pitchFamily="34" charset="0"/>
                  </a:rPr>
                  <a:t>3…)</a:t>
                </a:r>
                <a:endParaRPr lang="zh-CN" altLang="en-US" sz="1400" dirty="0">
                  <a:solidFill>
                    <a:schemeClr val="accent1">
                      <a:lumMod val="50000"/>
                    </a:schemeClr>
                  </a:solidFill>
                  <a:latin typeface="Arial" panose="020B0604020202020204" pitchFamily="34" charset="0"/>
                </a:endParaRPr>
              </a:p>
              <a:p>
                <a:pPr>
                  <a:lnSpc>
                    <a:spcPct val="150000"/>
                  </a:lnSpc>
                </a:pPr>
                <a:r>
                  <a:rPr lang="zh-CN" altLang="en-US" sz="1400" dirty="0" smtClean="0">
                    <a:solidFill>
                      <a:schemeClr val="accent1">
                        <a:lumMod val="50000"/>
                      </a:schemeClr>
                    </a:solidFill>
                    <a:latin typeface="Arial" panose="020B0604020202020204" pitchFamily="34" charset="0"/>
                  </a:rPr>
                  <a:t>     如</a:t>
                </a:r>
                <a:r>
                  <a:rPr lang="en-US" altLang="zh-CN" sz="1400" dirty="0" smtClean="0">
                    <a:solidFill>
                      <a:schemeClr val="accent1">
                        <a:lumMod val="50000"/>
                      </a:schemeClr>
                    </a:solidFill>
                    <a:latin typeface="Arial" panose="020B0604020202020204" pitchFamily="34" charset="0"/>
                  </a:rPr>
                  <a:t> </a:t>
                </a:r>
                <a:r>
                  <a:rPr lang="en-US" altLang="zh-CN" sz="1400" dirty="0">
                    <a:solidFill>
                      <a:schemeClr val="accent1">
                        <a:lumMod val="50000"/>
                      </a:schemeClr>
                    </a:solidFill>
                    <a:latin typeface="Arial" panose="020B0604020202020204" pitchFamily="34" charset="0"/>
                  </a:rPr>
                  <a:t>^</a:t>
                </a:r>
                <a:r>
                  <a:rPr lang="en-US" altLang="zh-CN" sz="1400" dirty="0" err="1">
                    <a:solidFill>
                      <a:schemeClr val="accent1">
                        <a:lumMod val="50000"/>
                      </a:schemeClr>
                    </a:solidFill>
                    <a:latin typeface="Arial" panose="020B0604020202020204" pitchFamily="34" charset="0"/>
                  </a:rPr>
                  <a:t>AirPlane</a:t>
                </a:r>
                <a:r>
                  <a:rPr lang="en-US" altLang="zh-CN" sz="1400" dirty="0">
                    <a:solidFill>
                      <a:schemeClr val="accent1">
                        <a:lumMod val="50000"/>
                      </a:schemeClr>
                    </a:solidFill>
                    <a:latin typeface="Arial" panose="020B0604020202020204" pitchFamily="34" charset="0"/>
                  </a:rPr>
                  <a:t>(“</a:t>
                </a:r>
                <a:r>
                  <a:rPr lang="en-US" altLang="zh-CN" sz="1400" dirty="0" err="1">
                    <a:solidFill>
                      <a:schemeClr val="accent1">
                        <a:lumMod val="50000"/>
                      </a:schemeClr>
                    </a:solidFill>
                    <a:latin typeface="Arial" panose="020B0604020202020204" pitchFamily="34" charset="0"/>
                  </a:rPr>
                  <a:t>Manufacturer”,“Address”,“Country</a:t>
                </a:r>
                <a:r>
                  <a:rPr lang="en-US" altLang="zh-CN" sz="1400" dirty="0">
                    <a:solidFill>
                      <a:schemeClr val="accent1">
                        <a:lumMod val="50000"/>
                      </a:schemeClr>
                    </a:solidFill>
                    <a:latin typeface="Arial" panose="020B0604020202020204" pitchFamily="34" charset="0"/>
                  </a:rPr>
                  <a:t>”)=“US” </a:t>
                </a:r>
                <a:endParaRPr lang="en-US" altLang="zh-CN" sz="1400" dirty="0">
                  <a:solidFill>
                    <a:schemeClr val="accent1">
                      <a:lumMod val="50000"/>
                    </a:schemeClr>
                  </a:solidFill>
                  <a:latin typeface="Arial" panose="020B0604020202020204" pitchFamily="34" charset="0"/>
                </a:endParaRPr>
              </a:p>
              <a:p>
                <a:pPr marL="285750" indent="-285750">
                  <a:lnSpc>
                    <a:spcPct val="150000"/>
                  </a:lnSpc>
                  <a:buFont typeface="Wingdings" panose="05000000000000000000" pitchFamily="2" charset="2"/>
                  <a:buChar char="u"/>
                </a:pPr>
                <a:r>
                  <a:rPr lang="zh-CN" altLang="en-US" sz="1400" dirty="0">
                    <a:solidFill>
                      <a:schemeClr val="accent1">
                        <a:lumMod val="50000"/>
                      </a:schemeClr>
                    </a:solidFill>
                    <a:latin typeface="Arial" panose="020B0604020202020204" pitchFamily="34" charset="0"/>
                  </a:rPr>
                  <a:t>我们可以自己定制</a:t>
                </a:r>
                <a:r>
                  <a:rPr lang="en-US" altLang="zh-CN" sz="1400" dirty="0">
                    <a:solidFill>
                      <a:schemeClr val="accent1">
                        <a:lumMod val="50000"/>
                      </a:schemeClr>
                    </a:solidFill>
                    <a:latin typeface="Arial" panose="020B0604020202020204" pitchFamily="34" charset="0"/>
                  </a:rPr>
                  <a:t>Global</a:t>
                </a:r>
                <a:r>
                  <a:rPr lang="zh-CN" altLang="en-US" sz="1400" dirty="0">
                    <a:solidFill>
                      <a:schemeClr val="accent1">
                        <a:lumMod val="50000"/>
                      </a:schemeClr>
                    </a:solidFill>
                    <a:latin typeface="Arial" panose="020B0604020202020204" pitchFamily="34" charset="0"/>
                  </a:rPr>
                  <a:t>，包括添加、删除、修改、遍历其节点。</a:t>
                </a:r>
                <a:endParaRPr lang="zh-CN" altLang="en-US" sz="1400" dirty="0">
                  <a:solidFill>
                    <a:schemeClr val="accent1">
                      <a:lumMod val="50000"/>
                    </a:schemeClr>
                  </a:solidFill>
                  <a:latin typeface="Arial" panose="020B0604020202020204" pitchFamily="34" charset="0"/>
                </a:endParaRPr>
              </a:p>
              <a:p>
                <a:pPr marL="285750" indent="-285750">
                  <a:lnSpc>
                    <a:spcPct val="150000"/>
                  </a:lnSpc>
                  <a:buFont typeface="Wingdings" panose="05000000000000000000" pitchFamily="2" charset="2"/>
                  <a:buChar char="u"/>
                </a:pPr>
                <a:r>
                  <a:rPr lang="zh-CN" altLang="en-US" sz="1400" dirty="0">
                    <a:solidFill>
                      <a:schemeClr val="accent1">
                        <a:lumMod val="50000"/>
                      </a:schemeClr>
                    </a:solidFill>
                    <a:latin typeface="Arial" panose="020B0604020202020204" pitchFamily="34" charset="0"/>
                  </a:rPr>
                  <a:t>多维数组以树状的形式保存，他的每一个节点直接与磁盘和内存中的数据块相对应，因此可以达到极快的访问速度。在此基础上，我们将多维数组映射成对象或者关系型的格式，分别由面向对象的接口或基于</a:t>
                </a:r>
                <a:r>
                  <a:rPr lang="en-US" altLang="zh-CN" sz="1400" dirty="0">
                    <a:solidFill>
                      <a:schemeClr val="accent1">
                        <a:lumMod val="50000"/>
                      </a:schemeClr>
                    </a:solidFill>
                    <a:latin typeface="Arial" panose="020B0604020202020204" pitchFamily="34" charset="0"/>
                  </a:rPr>
                  <a:t>SQL</a:t>
                </a:r>
                <a:r>
                  <a:rPr lang="zh-CN" altLang="en-US" sz="1400" dirty="0">
                    <a:solidFill>
                      <a:schemeClr val="accent1">
                        <a:lumMod val="50000"/>
                      </a:schemeClr>
                    </a:solidFill>
                    <a:latin typeface="Arial" panose="020B0604020202020204" pitchFamily="34" charset="0"/>
                  </a:rPr>
                  <a:t>的接口进行访问</a:t>
                </a:r>
                <a:r>
                  <a:rPr lang="zh-CN" altLang="en-US" sz="1400" dirty="0" smtClean="0">
                    <a:solidFill>
                      <a:schemeClr val="accent1">
                        <a:lumMod val="50000"/>
                      </a:schemeClr>
                    </a:solidFill>
                    <a:latin typeface="Arial" panose="020B0604020202020204" pitchFamily="34" charset="0"/>
                  </a:rPr>
                  <a:t>。</a:t>
                </a:r>
                <a:endParaRPr lang="en-US" altLang="zh-CN" sz="1400" dirty="0">
                  <a:solidFill>
                    <a:schemeClr val="accent1">
                      <a:lumMod val="50000"/>
                    </a:schemeClr>
                  </a:solidFill>
                  <a:latin typeface="Arial" panose="020B0604020202020204" pitchFamily="34" charset="0"/>
                </a:endParaRPr>
              </a:p>
            </p:txBody>
          </p:sp>
        </p:grpSp>
        <p:sp>
          <p:nvSpPr>
            <p:cNvPr id="14" name="椭圆 13"/>
            <p:cNvSpPr/>
            <p:nvPr/>
          </p:nvSpPr>
          <p:spPr>
            <a:xfrm>
              <a:off x="751790" y="4296766"/>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4</a:t>
              </a:r>
              <a:endParaRPr lang="zh-CN" altLang="en-US" sz="2400" dirty="0">
                <a:solidFill>
                  <a:schemeClr val="tx1">
                    <a:lumMod val="65000"/>
                    <a:lumOff val="35000"/>
                  </a:schemeClr>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第三</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的多维存储结构</a:t>
            </a:r>
            <a:endParaRPr lang="zh-CN" altLang="en-US" dirty="0"/>
          </a:p>
        </p:txBody>
      </p:sp>
      <p:grpSp>
        <p:nvGrpSpPr>
          <p:cNvPr id="7" name="组合 6"/>
          <p:cNvGrpSpPr/>
          <p:nvPr/>
        </p:nvGrpSpPr>
        <p:grpSpPr>
          <a:xfrm>
            <a:off x="641493" y="1021289"/>
            <a:ext cx="11301665" cy="794124"/>
            <a:chOff x="751790" y="4296766"/>
            <a:chExt cx="10894786" cy="794124"/>
          </a:xfrm>
        </p:grpSpPr>
        <p:grpSp>
          <p:nvGrpSpPr>
            <p:cNvPr id="8" name="组合 7"/>
            <p:cNvGrpSpPr/>
            <p:nvPr/>
          </p:nvGrpSpPr>
          <p:grpSpPr>
            <a:xfrm>
              <a:off x="1190724" y="4315228"/>
              <a:ext cx="10455852" cy="775662"/>
              <a:chOff x="385160" y="2922773"/>
              <a:chExt cx="2144789" cy="775662"/>
            </a:xfrm>
          </p:grpSpPr>
          <p:sp>
            <p:nvSpPr>
              <p:cNvPr id="10" name="文本框 34"/>
              <p:cNvSpPr txBox="1">
                <a:spLocks noChangeArrowheads="1"/>
              </p:cNvSpPr>
              <p:nvPr/>
            </p:nvSpPr>
            <p:spPr bwMode="auto">
              <a:xfrm>
                <a:off x="385160" y="2922773"/>
                <a:ext cx="1412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zh-CN" altLang="en-US" b="1" dirty="0" smtClean="0">
                    <a:solidFill>
                      <a:schemeClr val="accent1">
                        <a:lumMod val="50000"/>
                      </a:schemeClr>
                    </a:solidFill>
                    <a:latin typeface="Arial" panose="020B0604020202020204" pitchFamily="34" charset="0"/>
                    <a:cs typeface="Arial" panose="020B0604020202020204" pitchFamily="34" charset="0"/>
                  </a:rPr>
                  <a:t>画</a:t>
                </a:r>
                <a:r>
                  <a:rPr lang="en-US" altLang="zh-CN" b="1" dirty="0">
                    <a:solidFill>
                      <a:schemeClr val="accent1">
                        <a:lumMod val="50000"/>
                      </a:schemeClr>
                    </a:solidFill>
                    <a:latin typeface="Arial" panose="020B0604020202020204" pitchFamily="34" charset="0"/>
                    <a:cs typeface="Arial" panose="020B0604020202020204" pitchFamily="34" charset="0"/>
                  </a:rPr>
                  <a:t>Global</a:t>
                </a:r>
                <a:r>
                  <a:rPr lang="zh-CN" altLang="en-US" b="1" dirty="0">
                    <a:solidFill>
                      <a:schemeClr val="accent1">
                        <a:lumMod val="50000"/>
                      </a:schemeClr>
                    </a:solidFill>
                    <a:latin typeface="Arial" panose="020B0604020202020204" pitchFamily="34" charset="0"/>
                    <a:cs typeface="Arial" panose="020B0604020202020204" pitchFamily="34" charset="0"/>
                  </a:rPr>
                  <a:t>的树状结构</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11" name="矩形 36"/>
              <p:cNvSpPr>
                <a:spLocks noChangeArrowheads="1"/>
              </p:cNvSpPr>
              <p:nvPr/>
            </p:nvSpPr>
            <p:spPr bwMode="auto">
              <a:xfrm>
                <a:off x="385160" y="3322883"/>
                <a:ext cx="2144789" cy="375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endParaRPr lang="zh-CN" altLang="en-US" sz="1400" dirty="0">
                  <a:solidFill>
                    <a:schemeClr val="accent1">
                      <a:lumMod val="50000"/>
                    </a:schemeClr>
                  </a:solidFill>
                  <a:latin typeface="Arial" panose="020B0604020202020204" pitchFamily="34" charset="0"/>
                </a:endParaRPr>
              </a:p>
            </p:txBody>
          </p:sp>
        </p:grpSp>
        <p:sp>
          <p:nvSpPr>
            <p:cNvPr id="9" name="椭圆 8"/>
            <p:cNvSpPr/>
            <p:nvPr/>
          </p:nvSpPr>
          <p:spPr>
            <a:xfrm>
              <a:off x="751790" y="4296766"/>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5</a:t>
              </a:r>
              <a:endParaRPr lang="zh-CN" altLang="en-US" sz="2400" dirty="0">
                <a:solidFill>
                  <a:schemeClr val="tx1">
                    <a:lumMod val="65000"/>
                    <a:lumOff val="35000"/>
                  </a:schemeClr>
                </a:solidFill>
              </a:endParaRPr>
            </a:p>
          </p:txBody>
        </p:sp>
      </p:grpSp>
      <p:sp>
        <p:nvSpPr>
          <p:cNvPr id="12" name="矩形 11"/>
          <p:cNvSpPr/>
          <p:nvPr/>
        </p:nvSpPr>
        <p:spPr>
          <a:xfrm>
            <a:off x="6346754" y="1795167"/>
            <a:ext cx="5596404" cy="507831"/>
          </a:xfrm>
          <a:prstGeom prst="rect">
            <a:avLst/>
          </a:prstGeom>
        </p:spPr>
        <p:txBody>
          <a:bodyPr wrap="none">
            <a:spAutoFit/>
          </a:bodyPr>
          <a:lstStyle/>
          <a:p>
            <a:pPr>
              <a:lnSpc>
                <a:spcPct val="150000"/>
              </a:lnSpc>
            </a:pPr>
            <a:r>
              <a:rPr lang="en-US" altLang="zh-CN" dirty="0">
                <a:solidFill>
                  <a:schemeClr val="accent1">
                    <a:lumMod val="50000"/>
                  </a:schemeClr>
                </a:solidFill>
                <a:latin typeface="Arial" panose="020B0604020202020204" pitchFamily="34" charset="0"/>
              </a:rPr>
              <a:t>^</a:t>
            </a:r>
            <a:r>
              <a:rPr lang="en-US" altLang="zh-CN" dirty="0" err="1">
                <a:solidFill>
                  <a:schemeClr val="accent1">
                    <a:lumMod val="50000"/>
                  </a:schemeClr>
                </a:solidFill>
                <a:latin typeface="Arial" panose="020B0604020202020204" pitchFamily="34" charset="0"/>
              </a:rPr>
              <a:t>AirPlane</a:t>
            </a:r>
            <a:r>
              <a:rPr lang="en-US" altLang="zh-CN" dirty="0">
                <a:solidFill>
                  <a:schemeClr val="accent1">
                    <a:lumMod val="50000"/>
                  </a:schemeClr>
                </a:solidFill>
                <a:latin typeface="Arial" panose="020B0604020202020204" pitchFamily="34" charset="0"/>
              </a:rPr>
              <a:t>(“</a:t>
            </a:r>
            <a:r>
              <a:rPr lang="en-US" altLang="zh-CN" dirty="0" err="1">
                <a:solidFill>
                  <a:schemeClr val="accent1">
                    <a:lumMod val="50000"/>
                  </a:schemeClr>
                </a:solidFill>
                <a:latin typeface="Arial" panose="020B0604020202020204" pitchFamily="34" charset="0"/>
              </a:rPr>
              <a:t>Manufacturer”,“Address”,“Country</a:t>
            </a:r>
            <a:r>
              <a:rPr lang="en-US" altLang="zh-CN" dirty="0">
                <a:solidFill>
                  <a:schemeClr val="accent1">
                    <a:lumMod val="50000"/>
                  </a:schemeClr>
                </a:solidFill>
                <a:latin typeface="Arial" panose="020B0604020202020204" pitchFamily="34" charset="0"/>
              </a:rPr>
              <a:t>”)=“US” </a:t>
            </a:r>
            <a:endParaRPr lang="en-US" altLang="zh-CN" dirty="0">
              <a:solidFill>
                <a:schemeClr val="accent1">
                  <a:lumMod val="50000"/>
                </a:schemeClr>
              </a:solidFill>
              <a:latin typeface="Arial" panose="020B0604020202020204" pitchFamily="34" charset="0"/>
            </a:endParaRPr>
          </a:p>
        </p:txBody>
      </p:sp>
      <p:pic>
        <p:nvPicPr>
          <p:cNvPr id="14"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33902" y="2583945"/>
            <a:ext cx="3504443" cy="3988928"/>
          </a:xfrm>
          <a:prstGeom prst="rect">
            <a:avLst/>
          </a:prstGeom>
          <a:ln>
            <a:solidFill>
              <a:schemeClr val="tx1">
                <a:lumMod val="50000"/>
                <a:lumOff val="50000"/>
              </a:schemeClr>
            </a:solidFill>
          </a:ln>
        </p:spPr>
      </p:pic>
      <p:sp>
        <p:nvSpPr>
          <p:cNvPr id="15" name="矩形 14"/>
          <p:cNvSpPr/>
          <p:nvPr/>
        </p:nvSpPr>
        <p:spPr>
          <a:xfrm>
            <a:off x="1780967" y="1438865"/>
            <a:ext cx="6096000" cy="2676525"/>
          </a:xfrm>
          <a:prstGeom prst="rect">
            <a:avLst/>
          </a:prstGeom>
        </p:spPr>
        <p:txBody>
          <a:bodyPr>
            <a:spAutoFit/>
          </a:bodyPr>
          <a:lstStyle/>
          <a:p>
            <a:r>
              <a:rPr lang="zh-CN" sz="1400" dirty="0">
                <a:solidFill>
                  <a:schemeClr val="accent1">
                    <a:lumMod val="50000"/>
                  </a:schemeClr>
                </a:solidFill>
                <a:latin typeface="Arial" panose="020B0604020202020204" pitchFamily="34" charset="0"/>
              </a:rPr>
              <a:t>画出 </a:t>
            </a:r>
            <a:r>
              <a:rPr sz="1400" dirty="0">
                <a:solidFill>
                  <a:schemeClr val="accent1">
                    <a:lumMod val="50000"/>
                  </a:schemeClr>
                </a:solidFill>
                <a:latin typeface="Arial" panose="020B0604020202020204" pitchFamily="34" charset="0"/>
              </a:rPr>
              <a:t>^DHCSTUDENT </a:t>
            </a:r>
            <a:r>
              <a:rPr lang="zh-CN" sz="1400" dirty="0">
                <a:solidFill>
                  <a:schemeClr val="accent1">
                    <a:lumMod val="50000"/>
                  </a:schemeClr>
                </a:solidFill>
                <a:latin typeface="Arial" panose="020B0604020202020204" pitchFamily="34" charset="0"/>
              </a:rPr>
              <a:t>结构</a:t>
            </a:r>
            <a:r>
              <a:rPr lang="en-US" altLang="zh-CN" sz="1400" dirty="0">
                <a:solidFill>
                  <a:schemeClr val="accent1">
                    <a:lumMod val="50000"/>
                  </a:schemeClr>
                </a:solidFill>
                <a:latin typeface="Arial" panose="020B0604020202020204" pitchFamily="34" charset="0"/>
              </a:rPr>
              <a:t> </a:t>
            </a:r>
            <a:endParaRPr lang="en-US" altLang="zh-CN" sz="1400" dirty="0">
              <a:solidFill>
                <a:schemeClr val="accent1">
                  <a:lumMod val="50000"/>
                </a:schemeClr>
              </a:solidFill>
              <a:latin typeface="Arial" panose="020B0604020202020204" pitchFamily="34" charset="0"/>
            </a:endParaRPr>
          </a:p>
          <a:p>
            <a:r>
              <a:rPr lang="en-US" altLang="zh-CN" sz="1400" dirty="0">
                <a:solidFill>
                  <a:schemeClr val="accent1">
                    <a:lumMod val="50000"/>
                  </a:schemeClr>
                </a:solidFill>
                <a:latin typeface="Arial" panose="020B0604020202020204" pitchFamily="34" charset="0"/>
              </a:rPr>
              <a:t>^DHCSTUDENT(0)=3</a:t>
            </a:r>
            <a:endParaRPr lang="en-US" altLang="zh-CN" sz="1400" dirty="0">
              <a:solidFill>
                <a:schemeClr val="accent1">
                  <a:lumMod val="50000"/>
                </a:schemeClr>
              </a:solidFill>
              <a:latin typeface="Arial" panose="020B0604020202020204" pitchFamily="34" charset="0"/>
            </a:endParaRPr>
          </a:p>
          <a:p>
            <a:r>
              <a:rPr lang="en-US" altLang="zh-CN" sz="1400" dirty="0">
                <a:solidFill>
                  <a:schemeClr val="accent1">
                    <a:lumMod val="50000"/>
                  </a:schemeClr>
                </a:solidFill>
                <a:latin typeface="Arial" panose="020B0604020202020204" pitchFamily="34" charset="0"/>
              </a:rPr>
              <a:t>^DHCSTUDENT(0,"Code","01",1)=""</a:t>
            </a:r>
            <a:endParaRPr lang="en-US" altLang="zh-CN" sz="1400" dirty="0">
              <a:solidFill>
                <a:schemeClr val="accent1">
                  <a:lumMod val="50000"/>
                </a:schemeClr>
              </a:solidFill>
              <a:latin typeface="Arial" panose="020B0604020202020204" pitchFamily="34" charset="0"/>
            </a:endParaRPr>
          </a:p>
          <a:p>
            <a:r>
              <a:rPr lang="en-US" altLang="zh-CN" sz="1400" dirty="0">
                <a:solidFill>
                  <a:schemeClr val="accent1">
                    <a:lumMod val="50000"/>
                  </a:schemeClr>
                </a:solidFill>
                <a:latin typeface="Arial" panose="020B0604020202020204" pitchFamily="34" charset="0"/>
              </a:rPr>
              <a:t>^DHCSTUDENT(0,"Code","02",2)=""</a:t>
            </a:r>
            <a:endParaRPr lang="en-US" altLang="zh-CN" sz="1400" dirty="0">
              <a:solidFill>
                <a:schemeClr val="accent1">
                  <a:lumMod val="50000"/>
                </a:schemeClr>
              </a:solidFill>
              <a:latin typeface="Arial" panose="020B0604020202020204" pitchFamily="34" charset="0"/>
            </a:endParaRPr>
          </a:p>
          <a:p>
            <a:r>
              <a:rPr lang="en-US" altLang="zh-CN" sz="1400" dirty="0">
                <a:solidFill>
                  <a:schemeClr val="accent1">
                    <a:lumMod val="50000"/>
                  </a:schemeClr>
                </a:solidFill>
                <a:latin typeface="Arial" panose="020B0604020202020204" pitchFamily="34" charset="0"/>
              </a:rPr>
              <a:t>^DHCSTUDENT(0,"Code","03",3)=""</a:t>
            </a:r>
            <a:endParaRPr lang="en-US" altLang="zh-CN" sz="1400" dirty="0">
              <a:solidFill>
                <a:schemeClr val="accent1">
                  <a:lumMod val="50000"/>
                </a:schemeClr>
              </a:solidFill>
              <a:latin typeface="Arial" panose="020B0604020202020204" pitchFamily="34" charset="0"/>
            </a:endParaRPr>
          </a:p>
          <a:p>
            <a:r>
              <a:rPr lang="en-US" altLang="zh-CN" sz="1400" dirty="0">
                <a:solidFill>
                  <a:schemeClr val="accent1">
                    <a:lumMod val="50000"/>
                  </a:schemeClr>
                </a:solidFill>
                <a:latin typeface="Arial" panose="020B0604020202020204" pitchFamily="34" charset="0"/>
              </a:rPr>
              <a:t>^DHCSTUDENT(1)="01^小明^56267^1"</a:t>
            </a:r>
            <a:endParaRPr lang="en-US" altLang="zh-CN" sz="1400" dirty="0">
              <a:solidFill>
                <a:schemeClr val="accent1">
                  <a:lumMod val="50000"/>
                </a:schemeClr>
              </a:solidFill>
              <a:latin typeface="Arial" panose="020B0604020202020204" pitchFamily="34" charset="0"/>
            </a:endParaRPr>
          </a:p>
          <a:p>
            <a:r>
              <a:rPr lang="en-US" altLang="zh-CN" sz="1400" dirty="0">
                <a:solidFill>
                  <a:schemeClr val="accent1">
                    <a:lumMod val="50000"/>
                  </a:schemeClr>
                </a:solidFill>
                <a:latin typeface="Arial" panose="020B0604020202020204" pitchFamily="34" charset="0"/>
              </a:rPr>
              <a:t>^DHCSTUDENT(2)="02^张三^55951^2"</a:t>
            </a:r>
            <a:endParaRPr lang="en-US" altLang="zh-CN" sz="1400" dirty="0">
              <a:solidFill>
                <a:schemeClr val="accent1">
                  <a:lumMod val="50000"/>
                </a:schemeClr>
              </a:solidFill>
              <a:latin typeface="Arial" panose="020B0604020202020204" pitchFamily="34" charset="0"/>
            </a:endParaRPr>
          </a:p>
          <a:p>
            <a:r>
              <a:rPr lang="en-US" altLang="zh-CN" sz="1400" dirty="0">
                <a:solidFill>
                  <a:schemeClr val="accent1">
                    <a:lumMod val="50000"/>
                  </a:schemeClr>
                </a:solidFill>
                <a:latin typeface="Arial" panose="020B0604020202020204" pitchFamily="34" charset="0"/>
              </a:rPr>
              <a:t>^DHCSTUDENT(3)="03^李四^56947^1"</a:t>
            </a:r>
            <a:endParaRPr lang="en-US" altLang="zh-CN" sz="1400" dirty="0">
              <a:solidFill>
                <a:schemeClr val="accent1">
                  <a:lumMod val="50000"/>
                </a:schemeClr>
              </a:solidFill>
              <a:latin typeface="Arial" panose="020B0604020202020204" pitchFamily="34" charset="0"/>
            </a:endParaRPr>
          </a:p>
          <a:p>
            <a:endParaRPr lang="en-US" altLang="zh-CN" sz="1400" dirty="0">
              <a:solidFill>
                <a:schemeClr val="accent1">
                  <a:lumMod val="50000"/>
                </a:schemeClr>
              </a:solidFill>
              <a:latin typeface="Arial" panose="020B0604020202020204" pitchFamily="34" charset="0"/>
            </a:endParaRPr>
          </a:p>
          <a:p>
            <a:endParaRPr lang="en-US" altLang="zh-CN" sz="1400" dirty="0">
              <a:solidFill>
                <a:schemeClr val="accent1">
                  <a:lumMod val="50000"/>
                </a:schemeClr>
              </a:solidFill>
              <a:latin typeface="Arial" panose="020B0604020202020204" pitchFamily="34" charset="0"/>
            </a:endParaRPr>
          </a:p>
          <a:p>
            <a:endParaRPr lang="en-US" altLang="zh-CN" sz="1400" dirty="0">
              <a:solidFill>
                <a:schemeClr val="accent1">
                  <a:lumMod val="50000"/>
                </a:schemeClr>
              </a:solidFill>
              <a:latin typeface="Arial" panose="020B0604020202020204" pitchFamily="34" charset="0"/>
            </a:endParaRPr>
          </a:p>
          <a:p>
            <a:endParaRPr lang="en-US" altLang="zh-CN" sz="1400" dirty="0">
              <a:solidFill>
                <a:schemeClr val="accent1">
                  <a:lumMod val="50000"/>
                </a:schemeClr>
              </a:solidFill>
              <a:latin typeface="Arial" panose="020B0604020202020204" pitchFamily="34" charset="0"/>
            </a:endParaRPr>
          </a:p>
        </p:txBody>
      </p:sp>
      <p:sp>
        <p:nvSpPr>
          <p:cNvPr id="16" name="矩形 57"/>
          <p:cNvSpPr>
            <a:spLocks noChangeArrowheads="1"/>
          </p:cNvSpPr>
          <p:nvPr/>
        </p:nvSpPr>
        <p:spPr bwMode="auto">
          <a:xfrm>
            <a:off x="1094850" y="1458323"/>
            <a:ext cx="1243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dirty="0" smtClean="0">
                <a:solidFill>
                  <a:schemeClr val="accent1">
                    <a:lumMod val="50000"/>
                  </a:schemeClr>
                </a:solidFill>
              </a:rPr>
              <a:t>示例</a:t>
            </a:r>
            <a:r>
              <a:rPr lang="en-US" altLang="zh-CN" sz="1600" dirty="0" smtClean="0">
                <a:solidFill>
                  <a:schemeClr val="accent1">
                    <a:lumMod val="50000"/>
                  </a:schemeClr>
                </a:solidFill>
              </a:rPr>
              <a:t>1</a:t>
            </a:r>
            <a:r>
              <a:rPr lang="zh-CN" altLang="en-US" sz="1600" dirty="0" smtClean="0">
                <a:solidFill>
                  <a:schemeClr val="accent1">
                    <a:lumMod val="50000"/>
                  </a:schemeClr>
                </a:solidFill>
              </a:rPr>
              <a:t>：</a:t>
            </a:r>
            <a:endParaRPr lang="en-US" altLang="zh-CN" sz="1600" dirty="0">
              <a:solidFill>
                <a:schemeClr val="accent1">
                  <a:lumMod val="50000"/>
                </a:schemeClr>
              </a:solidFill>
            </a:endParaRPr>
          </a:p>
        </p:txBody>
      </p:sp>
      <p:sp>
        <p:nvSpPr>
          <p:cNvPr id="17" name="矩形 57"/>
          <p:cNvSpPr>
            <a:spLocks noChangeArrowheads="1"/>
          </p:cNvSpPr>
          <p:nvPr/>
        </p:nvSpPr>
        <p:spPr bwMode="auto">
          <a:xfrm>
            <a:off x="8676750" y="1568383"/>
            <a:ext cx="1243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dirty="0" smtClean="0">
                <a:solidFill>
                  <a:schemeClr val="accent1">
                    <a:lumMod val="50000"/>
                  </a:schemeClr>
                </a:solidFill>
              </a:rPr>
              <a:t>示例</a:t>
            </a:r>
            <a:r>
              <a:rPr lang="en-US" altLang="zh-CN" sz="1600" dirty="0">
                <a:solidFill>
                  <a:schemeClr val="accent1">
                    <a:lumMod val="50000"/>
                  </a:schemeClr>
                </a:solidFill>
              </a:rPr>
              <a:t>2</a:t>
            </a:r>
            <a:r>
              <a:rPr lang="zh-CN" altLang="en-US" sz="1600" dirty="0" smtClean="0">
                <a:solidFill>
                  <a:schemeClr val="accent1">
                    <a:lumMod val="50000"/>
                  </a:schemeClr>
                </a:solidFill>
              </a:rPr>
              <a:t>：</a:t>
            </a:r>
            <a:endParaRPr lang="en-US" altLang="zh-CN" sz="1600" dirty="0">
              <a:solidFill>
                <a:schemeClr val="accent1">
                  <a:lumMod val="50000"/>
                </a:schemeClr>
              </a:solidFill>
            </a:endParaRPr>
          </a:p>
        </p:txBody>
      </p:sp>
      <p:pic>
        <p:nvPicPr>
          <p:cNvPr id="4" name="图片 3"/>
          <p:cNvPicPr>
            <a:picLocks noChangeAspect="1"/>
          </p:cNvPicPr>
          <p:nvPr/>
        </p:nvPicPr>
        <p:blipFill>
          <a:blip r:embed="rId2"/>
          <a:stretch>
            <a:fillRect/>
          </a:stretch>
        </p:blipFill>
        <p:spPr>
          <a:xfrm>
            <a:off x="1781175" y="3320415"/>
            <a:ext cx="4565015" cy="3252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第三</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的多维存储结构</a:t>
            </a:r>
            <a:endParaRPr lang="zh-CN" altLang="en-US" dirty="0"/>
          </a:p>
        </p:txBody>
      </p:sp>
      <p:grpSp>
        <p:nvGrpSpPr>
          <p:cNvPr id="7" name="组合 6"/>
          <p:cNvGrpSpPr/>
          <p:nvPr/>
        </p:nvGrpSpPr>
        <p:grpSpPr>
          <a:xfrm>
            <a:off x="1111250" y="1042670"/>
            <a:ext cx="11301730" cy="687705"/>
            <a:chOff x="751790" y="4296766"/>
            <a:chExt cx="10894786" cy="794124"/>
          </a:xfrm>
        </p:grpSpPr>
        <p:grpSp>
          <p:nvGrpSpPr>
            <p:cNvPr id="8" name="组合 7"/>
            <p:cNvGrpSpPr/>
            <p:nvPr/>
          </p:nvGrpSpPr>
          <p:grpSpPr>
            <a:xfrm>
              <a:off x="1190724" y="4315228"/>
              <a:ext cx="10455852" cy="775662"/>
              <a:chOff x="385160" y="2922773"/>
              <a:chExt cx="2144789" cy="775662"/>
            </a:xfrm>
          </p:grpSpPr>
          <p:sp>
            <p:nvSpPr>
              <p:cNvPr id="10" name="文本框 34"/>
              <p:cNvSpPr txBox="1">
                <a:spLocks noChangeArrowheads="1"/>
              </p:cNvSpPr>
              <p:nvPr/>
            </p:nvSpPr>
            <p:spPr bwMode="auto">
              <a:xfrm>
                <a:off x="385160" y="2922773"/>
                <a:ext cx="1412451" cy="425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en-US" altLang="zh-CN" b="1" dirty="0" smtClean="0">
                    <a:solidFill>
                      <a:schemeClr val="accent1">
                        <a:lumMod val="50000"/>
                      </a:schemeClr>
                    </a:solidFill>
                    <a:latin typeface="Arial" panose="020B0604020202020204" pitchFamily="34" charset="0"/>
                    <a:cs typeface="Arial" panose="020B0604020202020204" pitchFamily="34" charset="0"/>
                  </a:rPr>
                  <a:t>  </a:t>
                </a:r>
                <a:r>
                  <a:rPr lang="zh-CN" altLang="en-US" b="1" dirty="0" smtClean="0">
                    <a:solidFill>
                      <a:schemeClr val="accent1">
                        <a:lumMod val="50000"/>
                      </a:schemeClr>
                    </a:solidFill>
                    <a:latin typeface="Arial" panose="020B0604020202020204" pitchFamily="34" charset="0"/>
                    <a:cs typeface="Arial" panose="020B0604020202020204" pitchFamily="34" charset="0"/>
                  </a:rPr>
                  <a:t>画</a:t>
                </a:r>
                <a:r>
                  <a:rPr lang="en-US" altLang="zh-CN" b="1" dirty="0">
                    <a:solidFill>
                      <a:schemeClr val="accent1">
                        <a:lumMod val="50000"/>
                      </a:schemeClr>
                    </a:solidFill>
                    <a:latin typeface="Arial" panose="020B0604020202020204" pitchFamily="34" charset="0"/>
                    <a:cs typeface="Arial" panose="020B0604020202020204" pitchFamily="34" charset="0"/>
                  </a:rPr>
                  <a:t>Global</a:t>
                </a:r>
                <a:r>
                  <a:rPr lang="zh-CN" altLang="en-US" b="1" dirty="0">
                    <a:solidFill>
                      <a:schemeClr val="accent1">
                        <a:lumMod val="50000"/>
                      </a:schemeClr>
                    </a:solidFill>
                    <a:latin typeface="Arial" panose="020B0604020202020204" pitchFamily="34" charset="0"/>
                    <a:cs typeface="Arial" panose="020B0604020202020204" pitchFamily="34" charset="0"/>
                  </a:rPr>
                  <a:t>的树状结构</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11" name="矩形 36"/>
              <p:cNvSpPr>
                <a:spLocks noChangeArrowheads="1"/>
              </p:cNvSpPr>
              <p:nvPr/>
            </p:nvSpPr>
            <p:spPr bwMode="auto">
              <a:xfrm>
                <a:off x="385160" y="3322883"/>
                <a:ext cx="2144789" cy="375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endParaRPr lang="zh-CN" altLang="en-US" sz="1400" dirty="0">
                  <a:solidFill>
                    <a:schemeClr val="accent1">
                      <a:lumMod val="50000"/>
                    </a:schemeClr>
                  </a:solidFill>
                  <a:latin typeface="Arial" panose="020B0604020202020204" pitchFamily="34" charset="0"/>
                </a:endParaRPr>
              </a:p>
            </p:txBody>
          </p:sp>
        </p:grpSp>
        <p:sp>
          <p:nvSpPr>
            <p:cNvPr id="9" name="椭圆 8"/>
            <p:cNvSpPr/>
            <p:nvPr/>
          </p:nvSpPr>
          <p:spPr>
            <a:xfrm>
              <a:off x="751790" y="4296766"/>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5</a:t>
              </a:r>
              <a:endParaRPr lang="zh-CN" altLang="en-US" sz="2400" dirty="0">
                <a:solidFill>
                  <a:schemeClr val="tx1">
                    <a:lumMod val="65000"/>
                    <a:lumOff val="35000"/>
                  </a:schemeClr>
                </a:solidFill>
              </a:endParaRPr>
            </a:p>
          </p:txBody>
        </p:sp>
      </p:grpSp>
      <p:grpSp>
        <p:nvGrpSpPr>
          <p:cNvPr id="18" name="组合 17"/>
          <p:cNvGrpSpPr/>
          <p:nvPr/>
        </p:nvGrpSpPr>
        <p:grpSpPr>
          <a:xfrm>
            <a:off x="2036526" y="1824972"/>
            <a:ext cx="6260972" cy="3624759"/>
            <a:chOff x="376972" y="4936104"/>
            <a:chExt cx="5584795" cy="3624759"/>
          </a:xfrm>
        </p:grpSpPr>
        <p:sp>
          <p:nvSpPr>
            <p:cNvPr id="19" name="矩形 57"/>
            <p:cNvSpPr>
              <a:spLocks noChangeArrowheads="1"/>
            </p:cNvSpPr>
            <p:nvPr/>
          </p:nvSpPr>
          <p:spPr bwMode="auto">
            <a:xfrm>
              <a:off x="750140" y="5514768"/>
              <a:ext cx="5211627" cy="304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600" dirty="0" smtClean="0">
                  <a:solidFill>
                    <a:schemeClr val="accent1">
                      <a:lumMod val="50000"/>
                    </a:schemeClr>
                  </a:solidFill>
                </a:rPr>
                <a:t>请同学们画出如下两个</a:t>
              </a:r>
              <a:r>
                <a:rPr lang="en-US" altLang="zh-CN" sz="1600" dirty="0" smtClean="0">
                  <a:solidFill>
                    <a:schemeClr val="accent1">
                      <a:lumMod val="50000"/>
                    </a:schemeClr>
                  </a:solidFill>
                </a:rPr>
                <a:t>global</a:t>
              </a:r>
              <a:r>
                <a:rPr lang="zh-CN" altLang="en-US" sz="1600" dirty="0" smtClean="0">
                  <a:solidFill>
                    <a:schemeClr val="accent1">
                      <a:lumMod val="50000"/>
                    </a:schemeClr>
                  </a:solidFill>
                </a:rPr>
                <a:t>的节点图：</a:t>
              </a:r>
              <a:endParaRPr lang="en-US" altLang="zh-CN" sz="1600" dirty="0" smtClean="0">
                <a:solidFill>
                  <a:schemeClr val="accent1">
                    <a:lumMod val="50000"/>
                  </a:schemeClr>
                </a:solidFill>
              </a:endParaRPr>
            </a:p>
            <a:p>
              <a:pPr>
                <a:lnSpc>
                  <a:spcPct val="150000"/>
                </a:lnSpc>
              </a:pPr>
              <a:r>
                <a:rPr lang="en-US" altLang="zh-CN" sz="1600" dirty="0" smtClean="0">
                  <a:solidFill>
                    <a:schemeClr val="accent1">
                      <a:lumMod val="50000"/>
                    </a:schemeClr>
                  </a:solidFill>
                </a:rPr>
                <a:t>1  </a:t>
              </a:r>
              <a:r>
                <a:rPr lang="zh-CN" altLang="en-US" sz="1600" dirty="0" smtClean="0">
                  <a:solidFill>
                    <a:schemeClr val="accent1">
                      <a:lumMod val="50000"/>
                    </a:schemeClr>
                  </a:solidFill>
                </a:rPr>
                <a:t>画出</a:t>
              </a:r>
              <a:r>
                <a:rPr lang="en-US" altLang="zh-CN" sz="1600" dirty="0">
                  <a:solidFill>
                    <a:schemeClr val="accent1">
                      <a:lumMod val="50000"/>
                    </a:schemeClr>
                  </a:solidFill>
                  <a:latin typeface="Arial" panose="020B0604020202020204" pitchFamily="34" charset="0"/>
                </a:rPr>
                <a:t>^</a:t>
              </a:r>
              <a:r>
                <a:rPr lang="en-US" altLang="zh-CN" sz="1600" dirty="0" smtClean="0">
                  <a:solidFill>
                    <a:schemeClr val="accent1">
                      <a:lumMod val="50000"/>
                    </a:schemeClr>
                  </a:solidFill>
                  <a:latin typeface="Arial" panose="020B0604020202020204" pitchFamily="34" charset="0"/>
                </a:rPr>
                <a:t>CT</a:t>
              </a:r>
              <a:r>
                <a:rPr sz="1600" dirty="0">
                  <a:solidFill>
                    <a:schemeClr val="accent1">
                      <a:lumMod val="50000"/>
                    </a:schemeClr>
                  </a:solidFill>
                  <a:sym typeface="+mn-ea"/>
                </a:rPr>
                <a:t>("TTL"</a:t>
              </a:r>
              <a:r>
                <a:rPr lang="en-US" sz="1600" dirty="0">
                  <a:solidFill>
                    <a:schemeClr val="accent1">
                      <a:lumMod val="50000"/>
                    </a:schemeClr>
                  </a:solidFill>
                  <a:sym typeface="+mn-ea"/>
                </a:rPr>
                <a:t>)</a:t>
              </a:r>
              <a:r>
                <a:rPr lang="zh-CN" altLang="en-US" sz="1600" dirty="0" smtClean="0">
                  <a:solidFill>
                    <a:schemeClr val="accent1">
                      <a:lumMod val="50000"/>
                    </a:schemeClr>
                  </a:solidFill>
                </a:rPr>
                <a:t>的</a:t>
              </a:r>
              <a:r>
                <a:rPr lang="zh-CN" altLang="en-US" sz="1600" dirty="0">
                  <a:solidFill>
                    <a:schemeClr val="accent1">
                      <a:lumMod val="50000"/>
                    </a:schemeClr>
                  </a:solidFill>
                </a:rPr>
                <a:t>节点</a:t>
              </a:r>
              <a:r>
                <a:rPr lang="zh-CN" altLang="en-US" sz="1600" dirty="0" smtClean="0">
                  <a:solidFill>
                    <a:schemeClr val="accent1">
                      <a:lumMod val="50000"/>
                    </a:schemeClr>
                  </a:solidFill>
                </a:rPr>
                <a:t>图</a:t>
              </a:r>
              <a:endParaRPr lang="en-US" altLang="zh-CN" sz="1600" dirty="0">
                <a:solidFill>
                  <a:schemeClr val="accent1">
                    <a:lumMod val="50000"/>
                  </a:schemeClr>
                </a:solidFill>
              </a:endParaRPr>
            </a:p>
            <a:p>
              <a:pPr>
                <a:lnSpc>
                  <a:spcPct val="150000"/>
                </a:lnSpc>
              </a:pPr>
              <a:r>
                <a:rPr lang="en-US" altLang="zh-CN" sz="1600" dirty="0">
                  <a:solidFill>
                    <a:schemeClr val="accent1">
                      <a:lumMod val="50000"/>
                    </a:schemeClr>
                  </a:solidFill>
                </a:rPr>
                <a:t> </a:t>
              </a:r>
              <a:r>
                <a:rPr lang="en-US" altLang="zh-CN" sz="1600" dirty="0" smtClean="0">
                  <a:solidFill>
                    <a:schemeClr val="accent1">
                      <a:lumMod val="50000"/>
                    </a:schemeClr>
                  </a:solidFill>
                </a:rPr>
                <a:t>   </a:t>
              </a:r>
              <a:r>
                <a:rPr sz="1600" dirty="0">
                  <a:solidFill>
                    <a:schemeClr val="accent1">
                      <a:lumMod val="50000"/>
                    </a:schemeClr>
                  </a:solidFill>
                </a:rPr>
                <a:t>^CT("TTL",0,"Code","FZRYS",12)=""</a:t>
              </a:r>
              <a:endParaRPr sz="1600" dirty="0">
                <a:solidFill>
                  <a:schemeClr val="accent1">
                    <a:lumMod val="50000"/>
                  </a:schemeClr>
                </a:solidFill>
              </a:endParaRPr>
            </a:p>
            <a:p>
              <a:pPr>
                <a:lnSpc>
                  <a:spcPct val="150000"/>
                </a:lnSpc>
              </a:pPr>
              <a:r>
                <a:rPr sz="1600" dirty="0">
                  <a:solidFill>
                    <a:schemeClr val="accent1">
                      <a:lumMod val="50000"/>
                    </a:schemeClr>
                  </a:solidFill>
                </a:rPr>
                <a:t>    ^CT("TTL",0,"Code","ZRYS",11)=""</a:t>
              </a:r>
              <a:endParaRPr sz="1600" dirty="0">
                <a:solidFill>
                  <a:schemeClr val="accent1">
                    <a:lumMod val="50000"/>
                  </a:schemeClr>
                </a:solidFill>
              </a:endParaRPr>
            </a:p>
            <a:p>
              <a:pPr>
                <a:lnSpc>
                  <a:spcPct val="150000"/>
                </a:lnSpc>
              </a:pPr>
              <a:r>
                <a:rPr sz="1600" dirty="0">
                  <a:solidFill>
                    <a:schemeClr val="accent1">
                      <a:lumMod val="50000"/>
                    </a:schemeClr>
                  </a:solidFill>
                </a:rPr>
                <a:t>    ^CT("TTL",0,"Desc","主任医师",11)=""</a:t>
              </a:r>
              <a:endParaRPr sz="1600" dirty="0">
                <a:solidFill>
                  <a:schemeClr val="accent1">
                    <a:lumMod val="50000"/>
                  </a:schemeClr>
                </a:solidFill>
              </a:endParaRPr>
            </a:p>
            <a:p>
              <a:pPr>
                <a:lnSpc>
                  <a:spcPct val="150000"/>
                </a:lnSpc>
              </a:pPr>
              <a:r>
                <a:rPr sz="1600" dirty="0">
                  <a:solidFill>
                    <a:schemeClr val="accent1">
                      <a:lumMod val="50000"/>
                    </a:schemeClr>
                  </a:solidFill>
                </a:rPr>
                <a:t>    ^CT("TTL",0,"Desc","副主任医师",12)=""</a:t>
              </a:r>
              <a:endParaRPr sz="1600" dirty="0">
                <a:solidFill>
                  <a:schemeClr val="accent1">
                    <a:lumMod val="50000"/>
                  </a:schemeClr>
                </a:solidFill>
              </a:endParaRPr>
            </a:p>
            <a:p>
              <a:pPr>
                <a:lnSpc>
                  <a:spcPct val="150000"/>
                </a:lnSpc>
              </a:pPr>
              <a:r>
                <a:rPr sz="1600" dirty="0">
                  <a:solidFill>
                    <a:schemeClr val="accent1">
                      <a:lumMod val="50000"/>
                    </a:schemeClr>
                  </a:solidFill>
                </a:rPr>
                <a:t>    ^CT("TTL",11)="ZRYS^主任医师^64149^"</a:t>
              </a:r>
              <a:endParaRPr sz="1600" dirty="0">
                <a:solidFill>
                  <a:schemeClr val="accent1">
                    <a:lumMod val="50000"/>
                  </a:schemeClr>
                </a:solidFill>
              </a:endParaRPr>
            </a:p>
            <a:p>
              <a:pPr>
                <a:lnSpc>
                  <a:spcPct val="150000"/>
                </a:lnSpc>
              </a:pPr>
              <a:r>
                <a:rPr sz="1600" dirty="0">
                  <a:solidFill>
                    <a:schemeClr val="accent1">
                      <a:lumMod val="50000"/>
                    </a:schemeClr>
                  </a:solidFill>
                </a:rPr>
                <a:t>    ^CT("TTL",12)="FZRYS^副主任医师^64149^"</a:t>
              </a:r>
              <a:endParaRPr sz="1600" dirty="0">
                <a:solidFill>
                  <a:schemeClr val="accent1">
                    <a:lumMod val="50000"/>
                  </a:schemeClr>
                </a:solidFill>
              </a:endParaRPr>
            </a:p>
          </p:txBody>
        </p:sp>
        <p:cxnSp>
          <p:nvCxnSpPr>
            <p:cNvPr id="20" name="直接连接符 19"/>
            <p:cNvCxnSpPr/>
            <p:nvPr/>
          </p:nvCxnSpPr>
          <p:spPr>
            <a:xfrm>
              <a:off x="750141" y="5345491"/>
              <a:ext cx="3561148"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376972" y="4936104"/>
              <a:ext cx="4204392" cy="461665"/>
              <a:chOff x="376972" y="4936104"/>
              <a:chExt cx="4204392" cy="461665"/>
            </a:xfrm>
          </p:grpSpPr>
          <p:sp>
            <p:nvSpPr>
              <p:cNvPr id="22" name="文本框 21"/>
              <p:cNvSpPr txBox="1"/>
              <p:nvPr/>
            </p:nvSpPr>
            <p:spPr>
              <a:xfrm>
                <a:off x="411705" y="4936104"/>
                <a:ext cx="4169659" cy="461665"/>
              </a:xfrm>
              <a:prstGeom prst="rect">
                <a:avLst/>
              </a:prstGeom>
              <a:noFill/>
            </p:spPr>
            <p:txBody>
              <a:bodyPr wrap="square" rtlCol="0">
                <a:spAutoFit/>
              </a:bodyPr>
              <a:lstStyle/>
              <a:p>
                <a:r>
                  <a:rPr lang="zh-CN" altLang="en-US" sz="2400" dirty="0" smtClean="0">
                    <a:solidFill>
                      <a:schemeClr val="tx1">
                        <a:lumMod val="65000"/>
                        <a:lumOff val="35000"/>
                      </a:schemeClr>
                    </a:solidFill>
                  </a:rPr>
                  <a:t>    练习 </a:t>
                </a:r>
                <a:r>
                  <a:rPr lang="en-US" altLang="zh-CN" sz="2400" dirty="0" smtClean="0">
                    <a:solidFill>
                      <a:schemeClr val="tx1">
                        <a:lumMod val="65000"/>
                        <a:lumOff val="35000"/>
                      </a:schemeClr>
                    </a:solidFill>
                  </a:rPr>
                  <a:t>3 </a:t>
                </a:r>
                <a:endParaRPr lang="zh-CN" altLang="en-US" sz="2400" dirty="0">
                  <a:solidFill>
                    <a:schemeClr val="tx1">
                      <a:lumMod val="65000"/>
                      <a:lumOff val="35000"/>
                    </a:schemeClr>
                  </a:solidFill>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6972" y="5007841"/>
                <a:ext cx="373169" cy="371255"/>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椭圆 15"/>
          <p:cNvSpPr/>
          <p:nvPr/>
        </p:nvSpPr>
        <p:spPr>
          <a:xfrm rot="3120000">
            <a:off x="2192151" y="3777486"/>
            <a:ext cx="98418" cy="98418"/>
          </a:xfrm>
          <a:prstGeom prst="ellipse">
            <a:avLst/>
          </a:prstGeom>
          <a:gradFill>
            <a:gsLst>
              <a:gs pos="28000">
                <a:sysClr val="window" lastClr="FFFFFF">
                  <a:alpha val="0"/>
                </a:sysClr>
              </a:gs>
              <a:gs pos="98000">
                <a:sysClr val="window" lastClr="FFFFFF">
                  <a:alpha val="79000"/>
                </a:sysClr>
              </a:gs>
              <a:gs pos="78000">
                <a:sysClr val="window" lastClr="FFFFFF">
                  <a:alpha val="41000"/>
                </a:sysClr>
              </a:gs>
            </a:gsLst>
            <a:lin ang="5400000" scaled="0"/>
          </a:gradFill>
          <a:ln w="12700" cap="flat" cmpd="sng" algn="ctr">
            <a:noFill/>
            <a:prstDash val="solid"/>
            <a:miter lim="800000"/>
          </a:ln>
          <a:effectLst/>
        </p:spPr>
        <p:txBody>
          <a:bodyPr anchor="ctr"/>
          <a:lstStyle/>
          <a:p>
            <a:pPr algn="ctr" fontAlgn="auto">
              <a:spcBef>
                <a:spcPts val="0"/>
              </a:spcBef>
              <a:spcAft>
                <a:spcPts val="0"/>
              </a:spcAft>
              <a:defRPr/>
            </a:pPr>
            <a:endParaRPr lang="zh-CN" altLang="en-US" sz="1125" kern="0">
              <a:solidFill>
                <a:prstClr val="white"/>
              </a:solidFill>
              <a:latin typeface="Calibri" panose="020F0502020204030204"/>
            </a:endParaRPr>
          </a:p>
        </p:txBody>
      </p:sp>
      <p:sp>
        <p:nvSpPr>
          <p:cNvPr id="20" name="文本占位符 1"/>
          <p:cNvSpPr txBox="1"/>
          <p:nvPr/>
        </p:nvSpPr>
        <p:spPr>
          <a:xfrm>
            <a:off x="354096" y="141181"/>
            <a:ext cx="9332912" cy="52705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2000" b="1" kern="1200">
                <a:solidFill>
                  <a:srgbClr val="E66666"/>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Tx/>
              <a:buNone/>
              <a:defRPr sz="2000" b="1" kern="1200">
                <a:solidFill>
                  <a:schemeClr val="tx1"/>
                </a:solidFill>
                <a:latin typeface="微软雅黑" panose="020B0503020204020204" pitchFamily="34" charset="-122"/>
                <a:ea typeface="微软雅黑" panose="020B0503020204020204" pitchFamily="34" charset="-122"/>
                <a:cs typeface="+mn-cs"/>
              </a:defRPr>
            </a:lvl2pPr>
            <a:lvl3pPr marL="914400" indent="0" algn="l" defTabSz="914400" rtl="0" eaLnBrk="1" latinLnBrk="0" hangingPunct="1">
              <a:lnSpc>
                <a:spcPct val="90000"/>
              </a:lnSpc>
              <a:spcBef>
                <a:spcPts val="500"/>
              </a:spcBef>
              <a:buFontTx/>
              <a:buNone/>
              <a:defRPr sz="2000" b="1" kern="1200">
                <a:solidFill>
                  <a:schemeClr val="tx1"/>
                </a:solidFill>
                <a:latin typeface="微软雅黑" panose="020B0503020204020204" pitchFamily="34" charset="-122"/>
                <a:ea typeface="微软雅黑" panose="020B0503020204020204" pitchFamily="34" charset="-122"/>
                <a:cs typeface="+mn-cs"/>
              </a:defRPr>
            </a:lvl3pPr>
            <a:lvl4pPr marL="1371600" indent="0" algn="l" defTabSz="914400" rtl="0" eaLnBrk="1" latinLnBrk="0" hangingPunct="1">
              <a:lnSpc>
                <a:spcPct val="90000"/>
              </a:lnSpc>
              <a:spcBef>
                <a:spcPts val="500"/>
              </a:spcBef>
              <a:buFontTx/>
              <a:buNone/>
              <a:defRPr sz="2000" b="1" kern="1200">
                <a:solidFill>
                  <a:schemeClr val="tx1"/>
                </a:solidFill>
                <a:latin typeface="微软雅黑" panose="020B0503020204020204" pitchFamily="34" charset="-122"/>
                <a:ea typeface="微软雅黑" panose="020B0503020204020204" pitchFamily="34" charset="-122"/>
                <a:cs typeface="+mn-cs"/>
              </a:defRPr>
            </a:lvl4pPr>
            <a:lvl5pPr marL="1828800" indent="0" algn="l" defTabSz="914400" rtl="0" eaLnBrk="1" latinLnBrk="0" hangingPunct="1">
              <a:lnSpc>
                <a:spcPct val="90000"/>
              </a:lnSpc>
              <a:spcBef>
                <a:spcPts val="500"/>
              </a:spcBef>
              <a:buFontTx/>
              <a:buNone/>
              <a:defRPr sz="2000" b="1"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sym typeface="+mn-ea"/>
              </a:rPr>
              <a:t>第一章</a:t>
            </a:r>
            <a:r>
              <a:rPr lang="zh-CN" altLang="en-US" dirty="0" smtClean="0">
                <a:sym typeface="微软雅黑" panose="020B0503020204020204" pitchFamily="34" charset="-122"/>
              </a:rPr>
              <a:t> </a:t>
            </a:r>
            <a:r>
              <a:rPr lang="en-US" altLang="zh-CN" dirty="0" smtClean="0">
                <a:sym typeface="微软雅黑" panose="020B0503020204020204" pitchFamily="34" charset="-122"/>
              </a:rPr>
              <a:t>|</a:t>
            </a:r>
            <a:r>
              <a:rPr lang="zh-CN" altLang="en-US" dirty="0" smtClean="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第三节  </a:t>
            </a:r>
            <a:r>
              <a:rPr lang="en-US" altLang="zh-CN" dirty="0" err="1" smtClean="0">
                <a:sym typeface="微软雅黑" panose="020B0503020204020204" pitchFamily="34" charset="-122"/>
              </a:rPr>
              <a:t>Caché</a:t>
            </a:r>
            <a:r>
              <a:rPr lang="zh-CN" altLang="en-US" dirty="0" smtClean="0">
                <a:sym typeface="微软雅黑" panose="020B0503020204020204" pitchFamily="34" charset="-122"/>
              </a:rPr>
              <a:t>的多维存储结构</a:t>
            </a:r>
            <a:endParaRPr lang="zh-CN" altLang="en-US" dirty="0"/>
          </a:p>
        </p:txBody>
      </p:sp>
      <p:grpSp>
        <p:nvGrpSpPr>
          <p:cNvPr id="21" name="组合 20"/>
          <p:cNvGrpSpPr/>
          <p:nvPr/>
        </p:nvGrpSpPr>
        <p:grpSpPr>
          <a:xfrm>
            <a:off x="641493" y="896597"/>
            <a:ext cx="8938925" cy="794124"/>
            <a:chOff x="751790" y="4296766"/>
            <a:chExt cx="10894786" cy="794124"/>
          </a:xfrm>
        </p:grpSpPr>
        <p:grpSp>
          <p:nvGrpSpPr>
            <p:cNvPr id="22" name="组合 21"/>
            <p:cNvGrpSpPr/>
            <p:nvPr/>
          </p:nvGrpSpPr>
          <p:grpSpPr>
            <a:xfrm>
              <a:off x="1190724" y="4315228"/>
              <a:ext cx="10455852" cy="775662"/>
              <a:chOff x="385160" y="2922773"/>
              <a:chExt cx="2144789" cy="775662"/>
            </a:xfrm>
          </p:grpSpPr>
          <p:sp>
            <p:nvSpPr>
              <p:cNvPr id="24" name="文本框 34"/>
              <p:cNvSpPr txBox="1">
                <a:spLocks noChangeArrowheads="1"/>
              </p:cNvSpPr>
              <p:nvPr/>
            </p:nvSpPr>
            <p:spPr bwMode="auto">
              <a:xfrm>
                <a:off x="385160" y="2922773"/>
                <a:ext cx="1412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zh-CN" altLang="en-US" b="1" dirty="0" smtClean="0">
                    <a:solidFill>
                      <a:schemeClr val="accent1">
                        <a:lumMod val="50000"/>
                      </a:schemeClr>
                    </a:solidFill>
                    <a:latin typeface="Arial" panose="020B0604020202020204" pitchFamily="34" charset="0"/>
                    <a:cs typeface="Arial" panose="020B0604020202020204" pitchFamily="34" charset="0"/>
                  </a:rPr>
                  <a:t>查看</a:t>
                </a:r>
                <a:r>
                  <a:rPr lang="en-US" altLang="zh-CN" b="1" dirty="0">
                    <a:solidFill>
                      <a:schemeClr val="accent1">
                        <a:lumMod val="50000"/>
                      </a:schemeClr>
                    </a:solidFill>
                    <a:latin typeface="Arial" panose="020B0604020202020204" pitchFamily="34" charset="0"/>
                    <a:cs typeface="Arial" panose="020B0604020202020204" pitchFamily="34" charset="0"/>
                  </a:rPr>
                  <a:t>Global</a:t>
                </a:r>
                <a:r>
                  <a:rPr lang="zh-CN" altLang="en-US" b="1" dirty="0">
                    <a:solidFill>
                      <a:schemeClr val="accent1">
                        <a:lumMod val="50000"/>
                      </a:schemeClr>
                    </a:solidFill>
                    <a:latin typeface="Arial" panose="020B0604020202020204" pitchFamily="34" charset="0"/>
                    <a:cs typeface="Arial" panose="020B0604020202020204" pitchFamily="34" charset="0"/>
                  </a:rPr>
                  <a:t>的</a:t>
                </a:r>
                <a:r>
                  <a:rPr lang="zh-CN" altLang="en-US" b="1" dirty="0" smtClean="0">
                    <a:solidFill>
                      <a:schemeClr val="accent1">
                        <a:lumMod val="50000"/>
                      </a:schemeClr>
                    </a:solidFill>
                    <a:latin typeface="Arial" panose="020B0604020202020204" pitchFamily="34" charset="0"/>
                    <a:cs typeface="Arial" panose="020B0604020202020204" pitchFamily="34" charset="0"/>
                  </a:rPr>
                  <a:t>数据</a:t>
                </a:r>
                <a:r>
                  <a:rPr lang="en-US" altLang="zh-CN" b="1" dirty="0" smtClean="0">
                    <a:solidFill>
                      <a:schemeClr val="accent1">
                        <a:lumMod val="50000"/>
                      </a:schemeClr>
                    </a:solidFill>
                    <a:latin typeface="Arial" panose="020B0604020202020204" pitchFamily="34" charset="0"/>
                    <a:cs typeface="Arial" panose="020B0604020202020204" pitchFamily="34" charset="0"/>
                  </a:rPr>
                  <a:t>——</a:t>
                </a:r>
                <a:r>
                  <a:rPr lang="zh-CN" altLang="en-US" b="1" dirty="0" smtClean="0">
                    <a:solidFill>
                      <a:schemeClr val="accent1">
                        <a:lumMod val="50000"/>
                      </a:schemeClr>
                    </a:solidFill>
                    <a:latin typeface="Arial" panose="020B0604020202020204" pitchFamily="34" charset="0"/>
                    <a:cs typeface="Arial" panose="020B0604020202020204" pitchFamily="34" charset="0"/>
                  </a:rPr>
                  <a:t>两种方式</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25" name="矩形 36"/>
              <p:cNvSpPr>
                <a:spLocks noChangeArrowheads="1"/>
              </p:cNvSpPr>
              <p:nvPr/>
            </p:nvSpPr>
            <p:spPr bwMode="auto">
              <a:xfrm>
                <a:off x="385160" y="3322883"/>
                <a:ext cx="2144789" cy="375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endParaRPr lang="zh-CN" altLang="en-US" sz="1400" dirty="0">
                  <a:solidFill>
                    <a:schemeClr val="accent1">
                      <a:lumMod val="50000"/>
                    </a:schemeClr>
                  </a:solidFill>
                  <a:latin typeface="Arial" panose="020B0604020202020204" pitchFamily="34" charset="0"/>
                </a:endParaRPr>
              </a:p>
            </p:txBody>
          </p:sp>
        </p:grpSp>
        <p:sp>
          <p:nvSpPr>
            <p:cNvPr id="23" name="椭圆 22"/>
            <p:cNvSpPr/>
            <p:nvPr/>
          </p:nvSpPr>
          <p:spPr>
            <a:xfrm>
              <a:off x="751790" y="4296766"/>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lumMod val="65000"/>
                      <a:lumOff val="35000"/>
                    </a:schemeClr>
                  </a:solidFill>
                </a:rPr>
                <a:t>6</a:t>
              </a:r>
              <a:endParaRPr lang="zh-CN" altLang="en-US" sz="2400" dirty="0">
                <a:solidFill>
                  <a:schemeClr val="tx1">
                    <a:lumMod val="65000"/>
                    <a:lumOff val="35000"/>
                  </a:schemeClr>
                </a:solidFill>
              </a:endParaRPr>
            </a:p>
          </p:txBody>
        </p:sp>
      </p:grpSp>
      <p:sp>
        <p:nvSpPr>
          <p:cNvPr id="26" name="矩形 36"/>
          <p:cNvSpPr>
            <a:spLocks noChangeArrowheads="1"/>
          </p:cNvSpPr>
          <p:nvPr/>
        </p:nvSpPr>
        <p:spPr bwMode="auto">
          <a:xfrm>
            <a:off x="1057811" y="1346723"/>
            <a:ext cx="276859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r>
              <a:rPr lang="zh-CN" altLang="en-US" sz="1600" dirty="0" smtClean="0">
                <a:solidFill>
                  <a:schemeClr val="accent1">
                    <a:lumMod val="50000"/>
                  </a:schemeClr>
                </a:solidFill>
                <a:latin typeface="Arial" panose="020B0604020202020204" pitchFamily="34" charset="0"/>
              </a:rPr>
              <a:t>以</a:t>
            </a:r>
            <a:r>
              <a:rPr lang="en-US" altLang="zh-CN" sz="1600" dirty="0" smtClean="0">
                <a:solidFill>
                  <a:schemeClr val="accent1">
                    <a:lumMod val="50000"/>
                  </a:schemeClr>
                </a:solidFill>
                <a:latin typeface="Arial" panose="020B0604020202020204" pitchFamily="34" charset="0"/>
              </a:rPr>
              <a:t>^</a:t>
            </a:r>
            <a:r>
              <a:rPr lang="en-US" altLang="zh-CN" sz="1600" dirty="0" smtClean="0">
                <a:solidFill>
                  <a:schemeClr val="accent1">
                    <a:lumMod val="50000"/>
                  </a:schemeClr>
                </a:solidFill>
                <a:latin typeface="Arial" panose="020B0604020202020204" pitchFamily="34" charset="0"/>
              </a:rPr>
              <a:t>CT(“TTL”)</a:t>
            </a:r>
            <a:r>
              <a:rPr lang="zh-CN" altLang="en-US" sz="1600" dirty="0" smtClean="0">
                <a:solidFill>
                  <a:schemeClr val="accent1">
                    <a:lumMod val="50000"/>
                  </a:schemeClr>
                </a:solidFill>
                <a:latin typeface="Arial" panose="020B0604020202020204" pitchFamily="34" charset="0"/>
              </a:rPr>
              <a:t>为例</a:t>
            </a:r>
            <a:endParaRPr lang="zh-CN" altLang="en-US" sz="1600" dirty="0">
              <a:solidFill>
                <a:schemeClr val="accent1">
                  <a:lumMod val="50000"/>
                </a:schemeClr>
              </a:solidFill>
              <a:latin typeface="Arial" panose="020B0604020202020204" pitchFamily="34" charset="0"/>
            </a:endParaRPr>
          </a:p>
        </p:txBody>
      </p:sp>
      <p:sp>
        <p:nvSpPr>
          <p:cNvPr id="27" name="文本框 26"/>
          <p:cNvSpPr txBox="1"/>
          <p:nvPr/>
        </p:nvSpPr>
        <p:spPr>
          <a:xfrm>
            <a:off x="938325" y="2135687"/>
            <a:ext cx="2037802"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smtClean="0">
                <a:solidFill>
                  <a:schemeClr val="accent1">
                    <a:lumMod val="50000"/>
                  </a:schemeClr>
                </a:solidFill>
                <a:latin typeface="Arial" panose="020B0604020202020204" pitchFamily="34" charset="0"/>
                <a:cs typeface="Arial" panose="020B0604020202020204" pitchFamily="34" charset="0"/>
              </a:rPr>
              <a:t>Terminal</a:t>
            </a:r>
            <a:r>
              <a:rPr lang="zh-CN" altLang="en-US" dirty="0" smtClean="0">
                <a:solidFill>
                  <a:schemeClr val="accent1">
                    <a:lumMod val="50000"/>
                  </a:schemeClr>
                </a:solidFill>
                <a:latin typeface="Arial" panose="020B0604020202020204" pitchFamily="34" charset="0"/>
                <a:cs typeface="Arial" panose="020B0604020202020204" pitchFamily="34" charset="0"/>
              </a:rPr>
              <a:t>下查询</a:t>
            </a:r>
            <a:endParaRPr lang="en-US" altLang="zh-CN" dirty="0">
              <a:solidFill>
                <a:schemeClr val="accent1">
                  <a:lumMod val="50000"/>
                </a:schemeClr>
              </a:solidFill>
              <a:latin typeface="Arial" panose="020B0604020202020204" pitchFamily="34" charset="0"/>
              <a:cs typeface="Arial" panose="020B0604020202020204" pitchFamily="34" charset="0"/>
            </a:endParaRPr>
          </a:p>
        </p:txBody>
      </p:sp>
      <p:sp>
        <p:nvSpPr>
          <p:cNvPr id="28" name="文本框 27"/>
          <p:cNvSpPr txBox="1"/>
          <p:nvPr/>
        </p:nvSpPr>
        <p:spPr>
          <a:xfrm>
            <a:off x="1073009" y="4672303"/>
            <a:ext cx="1768433"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smtClean="0">
                <a:solidFill>
                  <a:schemeClr val="accent1">
                    <a:lumMod val="50000"/>
                  </a:schemeClr>
                </a:solidFill>
                <a:latin typeface="Arial" panose="020B0604020202020204" pitchFamily="34" charset="0"/>
                <a:cs typeface="Arial" panose="020B0604020202020204" pitchFamily="34" charset="0"/>
              </a:rPr>
              <a:t>Portal</a:t>
            </a:r>
            <a:r>
              <a:rPr lang="zh-CN" altLang="en-US" dirty="0" smtClean="0">
                <a:solidFill>
                  <a:schemeClr val="accent1">
                    <a:lumMod val="50000"/>
                  </a:schemeClr>
                </a:solidFill>
                <a:latin typeface="Arial" panose="020B0604020202020204" pitchFamily="34" charset="0"/>
                <a:cs typeface="Arial" panose="020B0604020202020204" pitchFamily="34" charset="0"/>
              </a:rPr>
              <a:t>下查询</a:t>
            </a:r>
            <a:endParaRPr lang="en-US" altLang="zh-CN" dirty="0">
              <a:solidFill>
                <a:schemeClr val="accent1">
                  <a:lumMod val="50000"/>
                </a:schemeClr>
              </a:solidFill>
              <a:latin typeface="Arial" panose="020B0604020202020204" pitchFamily="34" charset="0"/>
              <a:cs typeface="Arial" panose="020B0604020202020204" pitchFamily="34" charset="0"/>
            </a:endParaRPr>
          </a:p>
        </p:txBody>
      </p:sp>
      <p:pic>
        <p:nvPicPr>
          <p:cNvPr id="2" name="图片 1"/>
          <p:cNvPicPr>
            <a:picLocks noChangeAspect="1"/>
          </p:cNvPicPr>
          <p:nvPr/>
        </p:nvPicPr>
        <p:blipFill>
          <a:blip r:embed="rId1"/>
          <a:stretch>
            <a:fillRect/>
          </a:stretch>
        </p:blipFill>
        <p:spPr>
          <a:xfrm>
            <a:off x="3134786" y="2017386"/>
            <a:ext cx="4023966" cy="1669385"/>
          </a:xfrm>
          <a:prstGeom prst="rect">
            <a:avLst/>
          </a:prstGeom>
          <a:ln>
            <a:solidFill>
              <a:schemeClr val="accent1"/>
            </a:solidFill>
          </a:ln>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4247" y="1690720"/>
            <a:ext cx="3999208" cy="3763541"/>
          </a:xfrm>
          <a:prstGeom prst="rect">
            <a:avLst/>
          </a:prstGeom>
          <a:ln>
            <a:solidFill>
              <a:schemeClr val="accent1"/>
            </a:solidFill>
          </a:ln>
        </p:spPr>
      </p:pic>
      <p:pic>
        <p:nvPicPr>
          <p:cNvPr id="4" name="图片 3"/>
          <p:cNvPicPr>
            <a:picLocks noChangeAspect="1"/>
          </p:cNvPicPr>
          <p:nvPr/>
        </p:nvPicPr>
        <p:blipFill>
          <a:blip r:embed="rId3"/>
          <a:stretch>
            <a:fillRect/>
          </a:stretch>
        </p:blipFill>
        <p:spPr>
          <a:xfrm>
            <a:off x="3134786" y="3895769"/>
            <a:ext cx="4767097" cy="2880295"/>
          </a:xfrm>
          <a:prstGeom prst="rect">
            <a:avLst/>
          </a:prstGeom>
          <a:ln>
            <a:solidFill>
              <a:schemeClr val="accent1"/>
            </a:solidFill>
          </a:ln>
        </p:spPr>
      </p:pic>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第三</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的多维存储结构</a:t>
            </a:r>
            <a:endParaRPr lang="zh-CN" altLang="en-US" dirty="0"/>
          </a:p>
        </p:txBody>
      </p:sp>
      <p:grpSp>
        <p:nvGrpSpPr>
          <p:cNvPr id="8" name="组合 7"/>
          <p:cNvGrpSpPr/>
          <p:nvPr/>
        </p:nvGrpSpPr>
        <p:grpSpPr>
          <a:xfrm>
            <a:off x="1811771" y="1112171"/>
            <a:ext cx="7408428" cy="5152224"/>
            <a:chOff x="376972" y="4936104"/>
            <a:chExt cx="6608327" cy="5152224"/>
          </a:xfrm>
        </p:grpSpPr>
        <p:sp>
          <p:nvSpPr>
            <p:cNvPr id="9" name="矩形 57"/>
            <p:cNvSpPr>
              <a:spLocks noChangeArrowheads="1"/>
            </p:cNvSpPr>
            <p:nvPr/>
          </p:nvSpPr>
          <p:spPr bwMode="auto">
            <a:xfrm>
              <a:off x="750140" y="5514768"/>
              <a:ext cx="6235159" cy="457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smtClean="0">
                  <a:solidFill>
                    <a:schemeClr val="accent1">
                      <a:lumMod val="50000"/>
                    </a:schemeClr>
                  </a:solidFill>
                </a:rPr>
                <a:t>1</a:t>
              </a:r>
              <a:r>
                <a:rPr lang="en-US" altLang="zh-CN" sz="1600" dirty="0">
                  <a:solidFill>
                    <a:schemeClr val="accent1">
                      <a:lumMod val="50000"/>
                    </a:schemeClr>
                  </a:solidFill>
                </a:rPr>
                <a:t>.</a:t>
              </a:r>
              <a:r>
                <a:rPr lang="zh-CN" altLang="en-US" sz="1600" dirty="0">
                  <a:solidFill>
                    <a:schemeClr val="accent1">
                      <a:lumMod val="50000"/>
                    </a:schemeClr>
                  </a:solidFill>
                </a:rPr>
                <a:t>查看 </a:t>
              </a:r>
              <a:r>
                <a:rPr lang="en-US" altLang="zh-CN" sz="1600" dirty="0">
                  <a:solidFill>
                    <a:schemeClr val="accent1">
                      <a:lumMod val="50000"/>
                    </a:schemeClr>
                  </a:solidFill>
                </a:rPr>
                <a:t> Document -&gt; </a:t>
              </a:r>
              <a:r>
                <a:rPr lang="en-US" altLang="zh-CN" sz="1600" dirty="0" smtClean="0">
                  <a:solidFill>
                    <a:schemeClr val="accent1">
                      <a:lumMod val="50000"/>
                    </a:schemeClr>
                  </a:solidFill>
                </a:rPr>
                <a:t>variables</a:t>
              </a:r>
              <a:endParaRPr lang="en-US" altLang="zh-CN" sz="1600" dirty="0" smtClean="0">
                <a:solidFill>
                  <a:schemeClr val="accent1">
                    <a:lumMod val="50000"/>
                  </a:schemeClr>
                </a:solidFill>
              </a:endParaRPr>
            </a:p>
            <a:p>
              <a:pPr>
                <a:lnSpc>
                  <a:spcPct val="130000"/>
                </a:lnSpc>
              </a:pPr>
              <a:endParaRPr lang="zh-CN" altLang="en-US" sz="1600" dirty="0">
                <a:solidFill>
                  <a:schemeClr val="accent1">
                    <a:lumMod val="50000"/>
                  </a:schemeClr>
                </a:solidFill>
              </a:endParaRPr>
            </a:p>
            <a:p>
              <a:pPr>
                <a:lnSpc>
                  <a:spcPct val="130000"/>
                </a:lnSpc>
              </a:pPr>
              <a:r>
                <a:rPr lang="en-US" altLang="zh-CN" sz="1600" dirty="0">
                  <a:solidFill>
                    <a:schemeClr val="accent1">
                      <a:lumMod val="50000"/>
                    </a:schemeClr>
                  </a:solidFill>
                </a:rPr>
                <a:t>2.</a:t>
              </a:r>
              <a:r>
                <a:rPr lang="zh-CN" altLang="en-US" sz="1600" dirty="0">
                  <a:solidFill>
                    <a:schemeClr val="accent1">
                      <a:lumMod val="50000"/>
                    </a:schemeClr>
                  </a:solidFill>
                </a:rPr>
                <a:t>画出如下</a:t>
              </a:r>
              <a:r>
                <a:rPr lang="en-US" altLang="zh-CN" sz="1600" dirty="0">
                  <a:solidFill>
                    <a:schemeClr val="accent1">
                      <a:lumMod val="50000"/>
                    </a:schemeClr>
                  </a:solidFill>
                </a:rPr>
                <a:t>Global</a:t>
              </a:r>
              <a:r>
                <a:rPr lang="zh-CN" altLang="en-US" sz="1600" dirty="0">
                  <a:solidFill>
                    <a:schemeClr val="accent1">
                      <a:lumMod val="50000"/>
                    </a:schemeClr>
                  </a:solidFill>
                </a:rPr>
                <a:t>的树状结构</a:t>
              </a:r>
              <a:endParaRPr lang="zh-CN" altLang="en-US" sz="1600" dirty="0">
                <a:solidFill>
                  <a:schemeClr val="accent1">
                    <a:lumMod val="50000"/>
                  </a:schemeClr>
                </a:solidFill>
              </a:endParaRPr>
            </a:p>
            <a:p>
              <a:pPr>
                <a:lnSpc>
                  <a:spcPct val="130000"/>
                </a:lnSpc>
              </a:pPr>
              <a:r>
                <a:rPr lang="zh-CN" altLang="en-US" sz="1600" dirty="0">
                  <a:solidFill>
                    <a:schemeClr val="accent1">
                      <a:lumMod val="50000"/>
                    </a:schemeClr>
                  </a:solidFill>
                </a:rPr>
                <a:t>    </a:t>
              </a:r>
              <a:r>
                <a:rPr lang="en-US" altLang="zh-CN" sz="1600" dirty="0">
                  <a:solidFill>
                    <a:schemeClr val="accent1">
                      <a:lumMod val="50000"/>
                    </a:schemeClr>
                  </a:solidFill>
                </a:rPr>
                <a:t>s ^TMP(1)=1000</a:t>
              </a:r>
              <a:endParaRPr lang="zh-CN" altLang="en-US" sz="1600" dirty="0">
                <a:solidFill>
                  <a:schemeClr val="accent1">
                    <a:lumMod val="50000"/>
                  </a:schemeClr>
                </a:solidFill>
              </a:endParaRPr>
            </a:p>
            <a:p>
              <a:pPr>
                <a:lnSpc>
                  <a:spcPct val="130000"/>
                </a:lnSpc>
              </a:pPr>
              <a:r>
                <a:rPr lang="zh-CN" altLang="en-US" sz="1600" dirty="0">
                  <a:solidFill>
                    <a:schemeClr val="accent1">
                      <a:lumMod val="50000"/>
                    </a:schemeClr>
                  </a:solidFill>
                </a:rPr>
                <a:t>    </a:t>
              </a:r>
              <a:r>
                <a:rPr lang="en-US" altLang="zh-CN" sz="1600" dirty="0">
                  <a:solidFill>
                    <a:schemeClr val="accent1">
                      <a:lumMod val="50000"/>
                    </a:schemeClr>
                  </a:solidFill>
                </a:rPr>
                <a:t>s ^TMP(1,”O”,1)=200</a:t>
              </a:r>
              <a:endParaRPr lang="zh-CN" altLang="en-US" sz="1600" dirty="0">
                <a:solidFill>
                  <a:schemeClr val="accent1">
                    <a:lumMod val="50000"/>
                  </a:schemeClr>
                </a:solidFill>
              </a:endParaRPr>
            </a:p>
            <a:p>
              <a:pPr>
                <a:lnSpc>
                  <a:spcPct val="130000"/>
                </a:lnSpc>
              </a:pPr>
              <a:r>
                <a:rPr lang="zh-CN" altLang="en-US" sz="1600" dirty="0">
                  <a:solidFill>
                    <a:schemeClr val="accent1">
                      <a:lumMod val="50000"/>
                    </a:schemeClr>
                  </a:solidFill>
                </a:rPr>
                <a:t>    </a:t>
              </a:r>
              <a:r>
                <a:rPr lang="en-US" altLang="zh-CN" sz="1600" dirty="0">
                  <a:solidFill>
                    <a:schemeClr val="accent1">
                      <a:lumMod val="50000"/>
                    </a:schemeClr>
                  </a:solidFill>
                </a:rPr>
                <a:t>s ^TMP(1,”O”,3)=200</a:t>
              </a:r>
              <a:endParaRPr lang="zh-CN" altLang="en-US" sz="1600" dirty="0">
                <a:solidFill>
                  <a:schemeClr val="accent1">
                    <a:lumMod val="50000"/>
                  </a:schemeClr>
                </a:solidFill>
              </a:endParaRPr>
            </a:p>
            <a:p>
              <a:pPr>
                <a:lnSpc>
                  <a:spcPct val="130000"/>
                </a:lnSpc>
              </a:pPr>
              <a:r>
                <a:rPr lang="zh-CN" altLang="en-US" sz="1600" dirty="0">
                  <a:solidFill>
                    <a:schemeClr val="accent1">
                      <a:lumMod val="50000"/>
                    </a:schemeClr>
                  </a:solidFill>
                </a:rPr>
                <a:t>    </a:t>
              </a:r>
              <a:r>
                <a:rPr lang="en-US" altLang="zh-CN" sz="1600" dirty="0">
                  <a:solidFill>
                    <a:schemeClr val="accent1">
                      <a:lumMod val="50000"/>
                    </a:schemeClr>
                  </a:solidFill>
                </a:rPr>
                <a:t>s ^TMP(1,”O”,4)=</a:t>
              </a:r>
              <a:r>
                <a:rPr lang="en-US" altLang="zh-CN" sz="1600" dirty="0" smtClean="0">
                  <a:solidFill>
                    <a:schemeClr val="accent1">
                      <a:lumMod val="50000"/>
                    </a:schemeClr>
                  </a:solidFill>
                </a:rPr>
                <a:t>600</a:t>
              </a:r>
              <a:endParaRPr lang="en-US" altLang="zh-CN" sz="1600" dirty="0" smtClean="0">
                <a:solidFill>
                  <a:schemeClr val="accent1">
                    <a:lumMod val="50000"/>
                  </a:schemeClr>
                </a:solidFill>
              </a:endParaRPr>
            </a:p>
            <a:p>
              <a:pPr>
                <a:lnSpc>
                  <a:spcPct val="130000"/>
                </a:lnSpc>
              </a:pPr>
              <a:endParaRPr lang="en-US" altLang="zh-CN" sz="1600" dirty="0">
                <a:solidFill>
                  <a:schemeClr val="accent1">
                    <a:lumMod val="50000"/>
                  </a:schemeClr>
                </a:solidFill>
              </a:endParaRPr>
            </a:p>
            <a:p>
              <a:pPr>
                <a:lnSpc>
                  <a:spcPct val="130000"/>
                </a:lnSpc>
              </a:pPr>
              <a:r>
                <a:rPr lang="en-US" altLang="zh-CN" sz="1600" dirty="0">
                  <a:solidFill>
                    <a:schemeClr val="accent1">
                      <a:lumMod val="50000"/>
                    </a:schemeClr>
                  </a:solidFill>
                </a:rPr>
                <a:t>3. </a:t>
              </a:r>
              <a:r>
                <a:rPr lang="zh-CN" altLang="en-US" sz="1600" dirty="0">
                  <a:solidFill>
                    <a:schemeClr val="accent1">
                      <a:lumMod val="50000"/>
                    </a:schemeClr>
                  </a:solidFill>
                </a:rPr>
                <a:t>画出</a:t>
              </a:r>
              <a:r>
                <a:rPr lang="en-US" altLang="zh-CN" sz="1600" dirty="0">
                  <a:solidFill>
                    <a:schemeClr val="accent1">
                      <a:lumMod val="50000"/>
                    </a:schemeClr>
                  </a:solidFill>
                </a:rPr>
                <a:t>^CT(“CTPM”)</a:t>
              </a:r>
              <a:r>
                <a:rPr lang="zh-CN" altLang="en-US" sz="1600" dirty="0">
                  <a:solidFill>
                    <a:schemeClr val="accent1">
                      <a:lumMod val="50000"/>
                    </a:schemeClr>
                  </a:solidFill>
                </a:rPr>
                <a:t>节点下</a:t>
              </a:r>
              <a:r>
                <a:rPr lang="en-US" altLang="zh-CN" sz="1600" dirty="0">
                  <a:solidFill>
                    <a:schemeClr val="accent1">
                      <a:lumMod val="50000"/>
                    </a:schemeClr>
                  </a:solidFill>
                </a:rPr>
                <a:t>global</a:t>
              </a:r>
              <a:r>
                <a:rPr lang="zh-CN" altLang="en-US" sz="1600" dirty="0">
                  <a:solidFill>
                    <a:schemeClr val="accent1">
                      <a:lumMod val="50000"/>
                    </a:schemeClr>
                  </a:solidFill>
                </a:rPr>
                <a:t>对应的树状结构</a:t>
              </a:r>
              <a:endParaRPr lang="zh-CN" altLang="en-US" sz="1600" dirty="0">
                <a:solidFill>
                  <a:schemeClr val="accent1">
                    <a:lumMod val="50000"/>
                  </a:schemeClr>
                </a:solidFill>
              </a:endParaRPr>
            </a:p>
            <a:p>
              <a:pPr>
                <a:lnSpc>
                  <a:spcPct val="130000"/>
                </a:lnSpc>
              </a:pPr>
              <a:r>
                <a:rPr lang="en-US" altLang="zh-CN" sz="1600" dirty="0">
                  <a:solidFill>
                    <a:schemeClr val="accent1">
                      <a:lumMod val="50000"/>
                    </a:schemeClr>
                  </a:solidFill>
                </a:rPr>
                <a:t>^CT("CTPM",0,"Desc","</a:t>
              </a:r>
              <a:r>
                <a:rPr lang="zh-CN" altLang="en-US" sz="1600" dirty="0">
                  <a:solidFill>
                    <a:schemeClr val="accent1">
                      <a:lumMod val="50000"/>
                    </a:schemeClr>
                  </a:solidFill>
                </a:rPr>
                <a:t>支票</a:t>
              </a:r>
              <a:r>
                <a:rPr lang="en-US" altLang="zh-CN" sz="1600" dirty="0">
                  <a:solidFill>
                    <a:schemeClr val="accent1">
                      <a:lumMod val="50000"/>
                    </a:schemeClr>
                  </a:solidFill>
                </a:rPr>
                <a:t>",2) = ""</a:t>
              </a:r>
              <a:endParaRPr lang="en-US" altLang="zh-CN" sz="1600" dirty="0">
                <a:solidFill>
                  <a:schemeClr val="accent1">
                    <a:lumMod val="50000"/>
                  </a:schemeClr>
                </a:solidFill>
              </a:endParaRPr>
            </a:p>
            <a:p>
              <a:pPr>
                <a:lnSpc>
                  <a:spcPct val="130000"/>
                </a:lnSpc>
              </a:pPr>
              <a:r>
                <a:rPr lang="en-US" altLang="zh-CN" sz="1600" dirty="0">
                  <a:solidFill>
                    <a:schemeClr val="accent1">
                      <a:lumMod val="50000"/>
                    </a:schemeClr>
                  </a:solidFill>
                </a:rPr>
                <a:t>^CT("CTPM",0,"Code","ECPP",28) = ""</a:t>
              </a:r>
              <a:endParaRPr lang="en-US" altLang="zh-CN" sz="1600" dirty="0">
                <a:solidFill>
                  <a:schemeClr val="accent1">
                    <a:lumMod val="50000"/>
                  </a:schemeClr>
                </a:solidFill>
              </a:endParaRPr>
            </a:p>
            <a:p>
              <a:pPr>
                <a:lnSpc>
                  <a:spcPct val="130000"/>
                </a:lnSpc>
              </a:pPr>
              <a:r>
                <a:rPr lang="en-US" altLang="zh-CN" sz="1600" dirty="0">
                  <a:solidFill>
                    <a:schemeClr val="accent1">
                      <a:lumMod val="50000"/>
                    </a:schemeClr>
                  </a:solidFill>
                </a:rPr>
                <a:t>^CT("CTPM"</a:t>
              </a:r>
              <a:r>
                <a:rPr lang="zh-CN" altLang="en-US" sz="1600" dirty="0">
                  <a:solidFill>
                    <a:schemeClr val="accent1">
                      <a:lumMod val="50000"/>
                    </a:schemeClr>
                  </a:solidFill>
                </a:rPr>
                <a:t>，</a:t>
              </a:r>
              <a:r>
                <a:rPr lang="en-US" altLang="zh-CN" sz="1600" dirty="0">
                  <a:solidFill>
                    <a:schemeClr val="accent1">
                      <a:lumMod val="50000"/>
                    </a:schemeClr>
                  </a:solidFill>
                </a:rPr>
                <a:t>1</a:t>
              </a:r>
              <a:r>
                <a:rPr lang="zh-CN" altLang="en-US" sz="1600" dirty="0">
                  <a:solidFill>
                    <a:schemeClr val="accent1">
                      <a:lumMod val="50000"/>
                    </a:schemeClr>
                  </a:solidFill>
                </a:rPr>
                <a:t>）</a:t>
              </a:r>
              <a:r>
                <a:rPr lang="en-US" altLang="zh-CN" sz="1600" dirty="0">
                  <a:solidFill>
                    <a:schemeClr val="accent1">
                      <a:lumMod val="50000"/>
                    </a:schemeClr>
                  </a:solidFill>
                </a:rPr>
                <a:t>= "CASH^</a:t>
              </a:r>
              <a:r>
                <a:rPr lang="zh-CN" altLang="en-US" sz="1600" dirty="0">
                  <a:solidFill>
                    <a:schemeClr val="accent1">
                      <a:lumMod val="50000"/>
                    </a:schemeClr>
                  </a:solidFill>
                </a:rPr>
                <a:t>现金</a:t>
              </a:r>
              <a:r>
                <a:rPr lang="en-US" altLang="zh-CN" sz="1600" dirty="0">
                  <a:solidFill>
                    <a:schemeClr val="accent1">
                      <a:lumMod val="50000"/>
                    </a:schemeClr>
                  </a:solidFill>
                </a:rPr>
                <a:t>^Y^^61089^^N"</a:t>
              </a:r>
              <a:endParaRPr lang="en-US" altLang="zh-CN" sz="1600" dirty="0">
                <a:solidFill>
                  <a:schemeClr val="accent1">
                    <a:lumMod val="50000"/>
                  </a:schemeClr>
                </a:solidFill>
              </a:endParaRPr>
            </a:p>
            <a:p>
              <a:pPr>
                <a:lnSpc>
                  <a:spcPct val="130000"/>
                </a:lnSpc>
              </a:pPr>
              <a:r>
                <a:rPr lang="en-US" altLang="zh-CN" sz="1600" dirty="0">
                  <a:solidFill>
                    <a:schemeClr val="accent1">
                      <a:lumMod val="50000"/>
                    </a:schemeClr>
                  </a:solidFill>
                </a:rPr>
                <a:t>^CT("CTPM",2) = "ZP^</a:t>
              </a:r>
              <a:r>
                <a:rPr lang="zh-CN" altLang="en-US" sz="1600" dirty="0">
                  <a:solidFill>
                    <a:schemeClr val="accent1">
                      <a:lumMod val="50000"/>
                    </a:schemeClr>
                  </a:solidFill>
                </a:rPr>
                <a:t>支票</a:t>
              </a:r>
              <a:r>
                <a:rPr lang="en-US" altLang="zh-CN" sz="1600" dirty="0">
                  <a:solidFill>
                    <a:schemeClr val="accent1">
                      <a:lumMod val="50000"/>
                    </a:schemeClr>
                  </a:solidFill>
                </a:rPr>
                <a:t>^Y^^61089^^N"</a:t>
              </a:r>
              <a:endParaRPr lang="en-US" altLang="zh-CN" sz="1600" dirty="0">
                <a:solidFill>
                  <a:schemeClr val="accent1">
                    <a:lumMod val="50000"/>
                  </a:schemeClr>
                </a:solidFill>
              </a:endParaRPr>
            </a:p>
            <a:p>
              <a:pPr>
                <a:lnSpc>
                  <a:spcPct val="130000"/>
                </a:lnSpc>
              </a:pPr>
              <a:r>
                <a:rPr lang="en-US" altLang="zh-CN" sz="1600" dirty="0">
                  <a:solidFill>
                    <a:schemeClr val="accent1">
                      <a:lumMod val="50000"/>
                    </a:schemeClr>
                  </a:solidFill>
                </a:rPr>
                <a:t>^CT("CTPM",3) = "CPP^</a:t>
              </a:r>
              <a:r>
                <a:rPr lang="zh-CN" altLang="en-US" sz="1600" dirty="0">
                  <a:solidFill>
                    <a:schemeClr val="accent1">
                      <a:lumMod val="50000"/>
                    </a:schemeClr>
                  </a:solidFill>
                </a:rPr>
                <a:t>预交金</a:t>
              </a:r>
              <a:r>
                <a:rPr lang="en-US" altLang="zh-CN" sz="1600" dirty="0">
                  <a:solidFill>
                    <a:schemeClr val="accent1">
                      <a:lumMod val="50000"/>
                    </a:schemeClr>
                  </a:solidFill>
                </a:rPr>
                <a:t>^Y^^61092^^N</a:t>
              </a:r>
              <a:r>
                <a:rPr lang="en-US" altLang="zh-CN" sz="1600" dirty="0" smtClean="0">
                  <a:solidFill>
                    <a:schemeClr val="accent1">
                      <a:lumMod val="50000"/>
                    </a:schemeClr>
                  </a:solidFill>
                </a:rPr>
                <a:t>"</a:t>
              </a:r>
              <a:endParaRPr lang="zh-CN" altLang="en-US" sz="1600" dirty="0">
                <a:solidFill>
                  <a:schemeClr val="accent1">
                    <a:lumMod val="50000"/>
                  </a:schemeClr>
                </a:solidFill>
              </a:endParaRPr>
            </a:p>
          </p:txBody>
        </p:sp>
        <p:cxnSp>
          <p:nvCxnSpPr>
            <p:cNvPr id="10" name="直接连接符 9"/>
            <p:cNvCxnSpPr/>
            <p:nvPr/>
          </p:nvCxnSpPr>
          <p:spPr>
            <a:xfrm>
              <a:off x="750141" y="5345491"/>
              <a:ext cx="3561148"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376972" y="4936104"/>
              <a:ext cx="4204392" cy="461665"/>
              <a:chOff x="376972" y="4936104"/>
              <a:chExt cx="4204392" cy="461665"/>
            </a:xfrm>
          </p:grpSpPr>
          <p:sp>
            <p:nvSpPr>
              <p:cNvPr id="12" name="文本框 11"/>
              <p:cNvSpPr txBox="1"/>
              <p:nvPr/>
            </p:nvSpPr>
            <p:spPr>
              <a:xfrm>
                <a:off x="411705" y="4936104"/>
                <a:ext cx="4169659" cy="461665"/>
              </a:xfrm>
              <a:prstGeom prst="rect">
                <a:avLst/>
              </a:prstGeom>
              <a:noFill/>
            </p:spPr>
            <p:txBody>
              <a:bodyPr wrap="square" rtlCol="0">
                <a:spAutoFit/>
              </a:bodyPr>
              <a:lstStyle/>
              <a:p>
                <a:r>
                  <a:rPr lang="zh-CN" altLang="en-US" sz="2400" dirty="0" smtClean="0">
                    <a:solidFill>
                      <a:schemeClr val="tx1">
                        <a:lumMod val="65000"/>
                        <a:lumOff val="35000"/>
                      </a:schemeClr>
                    </a:solidFill>
                  </a:rPr>
                  <a:t>    练习 </a:t>
                </a:r>
                <a:r>
                  <a:rPr lang="en-US" altLang="zh-CN" sz="2400" dirty="0" smtClean="0">
                    <a:solidFill>
                      <a:schemeClr val="tx1">
                        <a:lumMod val="65000"/>
                        <a:lumOff val="35000"/>
                      </a:schemeClr>
                    </a:solidFill>
                  </a:rPr>
                  <a:t>4 </a:t>
                </a:r>
                <a:endParaRPr lang="zh-CN" altLang="en-US" sz="2400" dirty="0">
                  <a:solidFill>
                    <a:schemeClr val="tx1">
                      <a:lumMod val="65000"/>
                      <a:lumOff val="35000"/>
                    </a:schemeClr>
                  </a:solidFill>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6972" y="5007841"/>
                <a:ext cx="373169" cy="371255"/>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2915816" y="2067694"/>
            <a:ext cx="1656185" cy="1224136"/>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4" name="椭圆 3"/>
          <p:cNvSpPr/>
          <p:nvPr/>
        </p:nvSpPr>
        <p:spPr>
          <a:xfrm>
            <a:off x="4139952" y="1779662"/>
            <a:ext cx="1584176" cy="1143988"/>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2000" dirty="0" smtClean="0"/>
              <a:t>上午</a:t>
            </a:r>
            <a:endParaRPr lang="en-US" altLang="zh-CN" sz="2000" dirty="0" smtClean="0"/>
          </a:p>
          <a:p>
            <a:pPr algn="ctr"/>
            <a:r>
              <a:rPr lang="zh-CN" altLang="en-US" sz="2000" dirty="0" smtClean="0"/>
              <a:t>放学</a:t>
            </a:r>
            <a:endParaRPr lang="zh-CN" altLang="en-US" sz="2000" dirty="0"/>
          </a:p>
        </p:txBody>
      </p:sp>
      <p:sp>
        <p:nvSpPr>
          <p:cNvPr id="5" name="椭圆 4"/>
          <p:cNvSpPr/>
          <p:nvPr/>
        </p:nvSpPr>
        <p:spPr>
          <a:xfrm>
            <a:off x="5700125" y="1563638"/>
            <a:ext cx="360041" cy="288032"/>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6" name="椭圆 5"/>
          <p:cNvSpPr/>
          <p:nvPr/>
        </p:nvSpPr>
        <p:spPr>
          <a:xfrm>
            <a:off x="6348197" y="1419622"/>
            <a:ext cx="168019" cy="166172"/>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7" name="文本框 6"/>
          <p:cNvSpPr txBox="1"/>
          <p:nvPr/>
        </p:nvSpPr>
        <p:spPr>
          <a:xfrm>
            <a:off x="3097150" y="2196019"/>
            <a:ext cx="1293516" cy="1015663"/>
          </a:xfrm>
          <a:prstGeom prst="rect">
            <a:avLst/>
          </a:prstGeom>
          <a:noFill/>
        </p:spPr>
        <p:txBody>
          <a:bodyPr wrap="square" rtlCol="0">
            <a:spAutoFit/>
          </a:bodyPr>
          <a:lstStyle/>
          <a:p>
            <a:pPr algn="ctr"/>
            <a:r>
              <a:rPr lang="zh-CN" altLang="en-US" sz="2000" b="1" dirty="0" smtClean="0">
                <a:solidFill>
                  <a:srgbClr val="FF0000"/>
                </a:solidFill>
              </a:rPr>
              <a:t>上午</a:t>
            </a:r>
            <a:endParaRPr lang="en-US" altLang="zh-CN" sz="2000" b="1" dirty="0" smtClean="0">
              <a:solidFill>
                <a:srgbClr val="FF0000"/>
              </a:solidFill>
            </a:endParaRPr>
          </a:p>
          <a:p>
            <a:pPr algn="ctr"/>
            <a:r>
              <a:rPr lang="zh-CN" altLang="en-US" sz="2000" dirty="0" smtClean="0">
                <a:solidFill>
                  <a:schemeClr val="lt1"/>
                </a:solidFill>
              </a:rPr>
              <a:t>第二节课</a:t>
            </a:r>
            <a:endParaRPr lang="en-US" altLang="zh-CN" sz="2000" dirty="0" smtClean="0">
              <a:solidFill>
                <a:schemeClr val="lt1"/>
              </a:solidFill>
            </a:endParaRPr>
          </a:p>
          <a:p>
            <a:pPr algn="ctr"/>
            <a:r>
              <a:rPr lang="zh-CN" altLang="en-US" sz="2000" b="1" dirty="0" smtClean="0">
                <a:solidFill>
                  <a:schemeClr val="accent1">
                    <a:lumMod val="75000"/>
                  </a:schemeClr>
                </a:solidFill>
              </a:rPr>
              <a:t>完</a:t>
            </a:r>
            <a:endParaRPr lang="en-US" altLang="zh-CN" sz="2000" b="1" dirty="0">
              <a:solidFill>
                <a:schemeClr val="accent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第四节  查看表</a:t>
            </a:r>
            <a:r>
              <a:rPr lang="zh-CN" altLang="en-US" dirty="0" smtClean="0">
                <a:sym typeface="微软雅黑" panose="020B0503020204020204" pitchFamily="34" charset="-122"/>
              </a:rPr>
              <a:t>关系</a:t>
            </a:r>
            <a:endParaRPr lang="zh-CN" altLang="en-US" dirty="0" smtClean="0">
              <a:sym typeface="微软雅黑" panose="020B0503020204020204" pitchFamily="34" charset="-122"/>
            </a:endParaRPr>
          </a:p>
        </p:txBody>
      </p:sp>
      <p:sp>
        <p:nvSpPr>
          <p:cNvPr id="49" name="矩形 48"/>
          <p:cNvSpPr/>
          <p:nvPr/>
        </p:nvSpPr>
        <p:spPr>
          <a:xfrm>
            <a:off x="1070127" y="1392384"/>
            <a:ext cx="8100394" cy="2258060"/>
          </a:xfrm>
          <a:prstGeom prst="rect">
            <a:avLst/>
          </a:prstGeom>
        </p:spPr>
        <p:txBody>
          <a:bodyPr wrap="square">
            <a:spAutoFit/>
          </a:bodyPr>
          <a:p>
            <a:pPr marL="360045">
              <a:lnSpc>
                <a:spcPct val="130000"/>
              </a:lnSpc>
            </a:pPr>
            <a:endParaRPr lang="en-US" altLang="zh-CN" sz="1600" dirty="0">
              <a:solidFill>
                <a:schemeClr val="accent1">
                  <a:lumMod val="50000"/>
                </a:schemeClr>
              </a:solidFill>
              <a:latin typeface="Arial" panose="020B0604020202020204" pitchFamily="34" charset="0"/>
            </a:endParaRPr>
          </a:p>
          <a:p>
            <a:pPr marL="285750" indent="-285750">
              <a:lnSpc>
                <a:spcPct val="150000"/>
              </a:lnSpc>
              <a:buFont typeface="Wingdings" panose="05000000000000000000" pitchFamily="2" charset="2"/>
              <a:buChar char="u"/>
            </a:pPr>
            <a:r>
              <a:rPr lang="en-US" altLang="zh-CN" sz="1600" dirty="0">
                <a:solidFill>
                  <a:schemeClr val="accent1">
                    <a:lumMod val="50000"/>
                  </a:schemeClr>
                </a:solidFill>
                <a:latin typeface="Arial" panose="020B0604020202020204" pitchFamily="34" charset="0"/>
              </a:rPr>
              <a:t>Terminal </a:t>
            </a:r>
            <a:r>
              <a:rPr lang="zh-CN" altLang="en-US" sz="1600" dirty="0">
                <a:solidFill>
                  <a:schemeClr val="accent1">
                    <a:lumMod val="50000"/>
                  </a:schemeClr>
                </a:solidFill>
                <a:latin typeface="Arial" panose="020B0604020202020204" pitchFamily="34" charset="0"/>
              </a:rPr>
              <a:t>常用命令 ：</a:t>
            </a:r>
            <a:endParaRPr lang="en-US" altLang="zh-CN" sz="1600" dirty="0">
              <a:solidFill>
                <a:schemeClr val="accent1">
                  <a:lumMod val="50000"/>
                </a:schemeClr>
              </a:solidFill>
              <a:latin typeface="Arial" panose="020B0604020202020204" pitchFamily="34" charset="0"/>
            </a:endParaRPr>
          </a:p>
          <a:p>
            <a:pPr marL="360045">
              <a:lnSpc>
                <a:spcPct val="150000"/>
              </a:lnSpc>
            </a:pPr>
            <a:r>
              <a:rPr lang="en-US" altLang="zh-CN" sz="1600" dirty="0" err="1">
                <a:solidFill>
                  <a:schemeClr val="accent1">
                    <a:lumMod val="50000"/>
                  </a:schemeClr>
                </a:solidFill>
                <a:latin typeface="Arial" panose="020B0604020202020204" pitchFamily="34" charset="0"/>
              </a:rPr>
              <a:t>zn</a:t>
            </a:r>
            <a:r>
              <a:rPr lang="en-US" altLang="zh-CN" sz="1600" dirty="0">
                <a:solidFill>
                  <a:schemeClr val="accent1">
                    <a:lumMod val="50000"/>
                  </a:schemeClr>
                </a:solidFill>
                <a:latin typeface="Arial" panose="020B0604020202020204" pitchFamily="34" charset="0"/>
              </a:rPr>
              <a:t> “</a:t>
            </a:r>
            <a:r>
              <a:rPr lang="en-US" altLang="zh-CN" sz="1600" dirty="0" smtClean="0">
                <a:solidFill>
                  <a:schemeClr val="accent1">
                    <a:lumMod val="50000"/>
                  </a:schemeClr>
                </a:solidFill>
                <a:latin typeface="Arial" panose="020B0604020202020204" pitchFamily="34" charset="0"/>
              </a:rPr>
              <a:t>namespace“      </a:t>
            </a:r>
            <a:r>
              <a:rPr lang="en-US" altLang="zh-CN" sz="1600" dirty="0">
                <a:solidFill>
                  <a:srgbClr val="00B0F0"/>
                </a:solidFill>
                <a:latin typeface="Arial" panose="020B0604020202020204" pitchFamily="34" charset="0"/>
              </a:rPr>
              <a:t>//</a:t>
            </a:r>
            <a:r>
              <a:rPr lang="zh-CN" altLang="en-US" sz="1600" dirty="0">
                <a:solidFill>
                  <a:srgbClr val="00B0F0"/>
                </a:solidFill>
                <a:latin typeface="Arial" panose="020B0604020202020204" pitchFamily="34" charset="0"/>
              </a:rPr>
              <a:t>切换</a:t>
            </a:r>
            <a:r>
              <a:rPr lang="en-US" altLang="zh-CN" sz="1600" dirty="0" err="1">
                <a:solidFill>
                  <a:srgbClr val="00B0F0"/>
                </a:solidFill>
                <a:latin typeface="Arial" panose="020B0604020202020204" pitchFamily="34" charset="0"/>
              </a:rPr>
              <a:t>NameSpace</a:t>
            </a:r>
            <a:endParaRPr lang="zh-CN" altLang="en-US" sz="1600" dirty="0">
              <a:solidFill>
                <a:srgbClr val="00B0F0"/>
              </a:solidFill>
              <a:latin typeface="Arial" panose="020B0604020202020204" pitchFamily="34" charset="0"/>
            </a:endParaRPr>
          </a:p>
          <a:p>
            <a:pPr marL="360045">
              <a:lnSpc>
                <a:spcPct val="150000"/>
              </a:lnSpc>
            </a:pPr>
            <a:r>
              <a:rPr lang="en-US" altLang="zh-CN" sz="1600" dirty="0">
                <a:solidFill>
                  <a:schemeClr val="accent1">
                    <a:lumMod val="50000"/>
                  </a:schemeClr>
                </a:solidFill>
                <a:latin typeface="Arial" panose="020B0604020202020204" pitchFamily="34" charset="0"/>
              </a:rPr>
              <a:t>write “content” </a:t>
            </a:r>
            <a:r>
              <a:rPr lang="en-US" altLang="zh-CN" sz="1600" dirty="0" smtClean="0">
                <a:solidFill>
                  <a:schemeClr val="accent1">
                    <a:lumMod val="50000"/>
                  </a:schemeClr>
                </a:solidFill>
                <a:latin typeface="Arial" panose="020B0604020202020204" pitchFamily="34" charset="0"/>
              </a:rPr>
              <a:t>      </a:t>
            </a:r>
            <a:r>
              <a:rPr lang="en-US" altLang="zh-CN" sz="1600" dirty="0">
                <a:solidFill>
                  <a:srgbClr val="00B0F0"/>
                </a:solidFill>
                <a:latin typeface="Arial" panose="020B0604020202020204" pitchFamily="34" charset="0"/>
              </a:rPr>
              <a:t>//</a:t>
            </a:r>
            <a:r>
              <a:rPr lang="zh-CN" altLang="en-US" sz="1600" dirty="0">
                <a:solidFill>
                  <a:srgbClr val="00B0F0"/>
                </a:solidFill>
                <a:latin typeface="Arial" panose="020B0604020202020204" pitchFamily="34" charset="0"/>
              </a:rPr>
              <a:t>写命令</a:t>
            </a:r>
            <a:endParaRPr lang="en-US" altLang="zh-CN" sz="1600" dirty="0">
              <a:solidFill>
                <a:srgbClr val="00B0F0"/>
              </a:solidFill>
              <a:latin typeface="Arial" panose="020B0604020202020204" pitchFamily="34" charset="0"/>
            </a:endParaRPr>
          </a:p>
          <a:p>
            <a:pPr marL="360045">
              <a:lnSpc>
                <a:spcPct val="150000"/>
              </a:lnSpc>
            </a:pPr>
            <a:r>
              <a:rPr lang="en-US" altLang="zh-CN" sz="1600" dirty="0">
                <a:solidFill>
                  <a:schemeClr val="accent1">
                    <a:lumMod val="50000"/>
                  </a:schemeClr>
                </a:solidFill>
                <a:latin typeface="Arial" panose="020B0604020202020204" pitchFamily="34" charset="0"/>
              </a:rPr>
              <a:t>set Parameter=content </a:t>
            </a:r>
            <a:r>
              <a:rPr lang="en-US" altLang="zh-CN" sz="1600" dirty="0" smtClean="0">
                <a:solidFill>
                  <a:schemeClr val="accent1">
                    <a:lumMod val="50000"/>
                  </a:schemeClr>
                </a:solidFill>
                <a:latin typeface="Arial" panose="020B0604020202020204" pitchFamily="34" charset="0"/>
              </a:rPr>
              <a:t>      </a:t>
            </a:r>
            <a:r>
              <a:rPr lang="en-US" altLang="zh-CN" sz="1600" dirty="0" smtClean="0">
                <a:solidFill>
                  <a:srgbClr val="00B0F0"/>
                </a:solidFill>
                <a:latin typeface="Arial" panose="020B0604020202020204" pitchFamily="34" charset="0"/>
              </a:rPr>
              <a:t>//</a:t>
            </a:r>
            <a:r>
              <a:rPr lang="zh-CN" altLang="en-US" sz="1600" dirty="0">
                <a:solidFill>
                  <a:srgbClr val="00B0F0"/>
                </a:solidFill>
                <a:latin typeface="Arial" panose="020B0604020202020204" pitchFamily="34" charset="0"/>
              </a:rPr>
              <a:t>赋值命令                                  </a:t>
            </a:r>
            <a:endParaRPr lang="en-US" altLang="zh-CN" sz="1600" dirty="0">
              <a:solidFill>
                <a:srgbClr val="00B0F0"/>
              </a:solidFill>
              <a:latin typeface="Arial" panose="020B0604020202020204" pitchFamily="34" charset="0"/>
            </a:endParaRPr>
          </a:p>
          <a:p>
            <a:pPr marL="360045">
              <a:lnSpc>
                <a:spcPct val="150000"/>
              </a:lnSpc>
            </a:pPr>
            <a:r>
              <a:rPr lang="en-US" altLang="zh-CN" sz="1600" dirty="0">
                <a:solidFill>
                  <a:schemeClr val="accent1">
                    <a:lumMod val="50000"/>
                  </a:schemeClr>
                </a:solidFill>
                <a:latin typeface="Arial" panose="020B0604020202020204" pitchFamily="34" charset="0"/>
              </a:rPr>
              <a:t>kill target </a:t>
            </a:r>
            <a:r>
              <a:rPr lang="en-US" altLang="zh-CN" sz="1600" dirty="0" smtClean="0">
                <a:solidFill>
                  <a:schemeClr val="accent1">
                    <a:lumMod val="50000"/>
                  </a:schemeClr>
                </a:solidFill>
                <a:latin typeface="Arial" panose="020B0604020202020204" pitchFamily="34" charset="0"/>
              </a:rPr>
              <a:t>     </a:t>
            </a:r>
            <a:r>
              <a:rPr lang="en-US" altLang="zh-CN" sz="1600" dirty="0" smtClean="0">
                <a:solidFill>
                  <a:srgbClr val="00B0F0"/>
                </a:solidFill>
                <a:latin typeface="Arial" panose="020B0604020202020204" pitchFamily="34" charset="0"/>
              </a:rPr>
              <a:t>//</a:t>
            </a:r>
            <a:r>
              <a:rPr lang="zh-CN" altLang="en-US" sz="1600" dirty="0">
                <a:solidFill>
                  <a:srgbClr val="00B0F0"/>
                </a:solidFill>
                <a:latin typeface="Arial" panose="020B0604020202020204" pitchFamily="34" charset="0"/>
              </a:rPr>
              <a:t>删除命令</a:t>
            </a:r>
            <a:r>
              <a:rPr lang="zh-CN" altLang="en-US" sz="1600" dirty="0" smtClean="0">
                <a:solidFill>
                  <a:schemeClr val="accent1">
                    <a:lumMod val="50000"/>
                  </a:schemeClr>
                </a:solidFill>
                <a:latin typeface="Arial" panose="020B0604020202020204" pitchFamily="34" charset="0"/>
              </a:rPr>
              <a:t>；不</a:t>
            </a:r>
            <a:r>
              <a:rPr lang="zh-CN" altLang="en-US" sz="1600" dirty="0">
                <a:solidFill>
                  <a:schemeClr val="accent1">
                    <a:lumMod val="50000"/>
                  </a:schemeClr>
                </a:solidFill>
                <a:latin typeface="Arial" panose="020B0604020202020204" pitchFamily="34" charset="0"/>
              </a:rPr>
              <a:t>建议在一个运行中的系统使用</a:t>
            </a:r>
            <a:r>
              <a:rPr lang="en-US" altLang="zh-CN" sz="1600" dirty="0">
                <a:solidFill>
                  <a:schemeClr val="accent1">
                    <a:lumMod val="50000"/>
                  </a:schemeClr>
                </a:solidFill>
                <a:latin typeface="Arial" panose="020B0604020202020204" pitchFamily="34" charset="0"/>
              </a:rPr>
              <a:t>kill</a:t>
            </a:r>
            <a:r>
              <a:rPr lang="zh-CN" altLang="en-US" sz="1600" dirty="0">
                <a:solidFill>
                  <a:schemeClr val="accent1">
                    <a:lumMod val="50000"/>
                  </a:schemeClr>
                </a:solidFill>
                <a:latin typeface="Arial" panose="020B0604020202020204" pitchFamily="34" charset="0"/>
              </a:rPr>
              <a:t>，而后面不跟</a:t>
            </a:r>
            <a:r>
              <a:rPr lang="zh-CN" altLang="en-US" sz="1600" dirty="0" smtClean="0">
                <a:solidFill>
                  <a:schemeClr val="accent1">
                    <a:lumMod val="50000"/>
                  </a:schemeClr>
                </a:solidFill>
                <a:latin typeface="Arial" panose="020B0604020202020204" pitchFamily="34" charset="0"/>
              </a:rPr>
              <a:t>参数</a:t>
            </a:r>
            <a:endParaRPr lang="en-US" altLang="zh-CN" sz="1600" dirty="0">
              <a:solidFill>
                <a:schemeClr val="accent1">
                  <a:lumMod val="50000"/>
                </a:schemeClr>
              </a:solidFill>
              <a:latin typeface="Arial" panose="020B0604020202020204" pitchFamily="34" charset="0"/>
            </a:endParaRPr>
          </a:p>
        </p:txBody>
      </p:sp>
      <p:sp>
        <p:nvSpPr>
          <p:cNvPr id="47" name="文本框 34"/>
          <p:cNvSpPr txBox="1">
            <a:spLocks noChangeArrowheads="1"/>
          </p:cNvSpPr>
          <p:nvPr/>
        </p:nvSpPr>
        <p:spPr bwMode="auto">
          <a:xfrm>
            <a:off x="1070193" y="1108524"/>
            <a:ext cx="71428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en-US" altLang="zh-CN" b="1" dirty="0">
                <a:solidFill>
                  <a:schemeClr val="accent1">
                    <a:lumMod val="50000"/>
                  </a:schemeClr>
                </a:solidFill>
                <a:latin typeface="Arial" panose="020B0604020202020204" pitchFamily="34" charset="0"/>
                <a:cs typeface="Arial" panose="020B0604020202020204" pitchFamily="34" charset="0"/>
              </a:rPr>
              <a:t>Terminal</a:t>
            </a:r>
            <a:r>
              <a:rPr lang="zh-CN" altLang="en-US" b="1" dirty="0">
                <a:solidFill>
                  <a:schemeClr val="accent1">
                    <a:lumMod val="50000"/>
                  </a:schemeClr>
                </a:solidFill>
                <a:latin typeface="Arial" panose="020B0604020202020204" pitchFamily="34" charset="0"/>
                <a:cs typeface="Arial" panose="020B0604020202020204" pitchFamily="34" charset="0"/>
              </a:rPr>
              <a:t>的使用</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第四节  </a:t>
            </a:r>
            <a:r>
              <a:rPr lang="zh-CN" altLang="en-US" dirty="0" smtClean="0">
                <a:sym typeface="微软雅黑" panose="020B0503020204020204" pitchFamily="34" charset="-122"/>
              </a:rPr>
              <a:t> 查看表关系</a:t>
            </a:r>
            <a:endParaRPr lang="zh-CN" altLang="en-US" dirty="0"/>
          </a:p>
        </p:txBody>
      </p:sp>
      <p:sp>
        <p:nvSpPr>
          <p:cNvPr id="4" name="Rectangle 2"/>
          <p:cNvSpPr txBox="1">
            <a:spLocks noChangeArrowheads="1"/>
          </p:cNvSpPr>
          <p:nvPr/>
        </p:nvSpPr>
        <p:spPr>
          <a:xfrm>
            <a:off x="1526072" y="1257419"/>
            <a:ext cx="3337523" cy="461665"/>
          </a:xfrm>
          <a:prstGeom prst="rect">
            <a:avLst/>
          </a:prstGeom>
        </p:spPr>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dirty="0"/>
              <a:t>2</a:t>
            </a:r>
            <a:r>
              <a:rPr lang="zh-CN" altLang="en-US" dirty="0"/>
              <a:t>、使用</a:t>
            </a:r>
            <a:r>
              <a:rPr lang="zh-CN" altLang="en-US" b="1" dirty="0">
                <a:solidFill>
                  <a:srgbClr val="E66666"/>
                </a:solidFill>
              </a:rPr>
              <a:t>开发工具</a:t>
            </a:r>
            <a:r>
              <a:rPr lang="zh-CN" altLang="en-US" dirty="0"/>
              <a:t>查看</a:t>
            </a:r>
            <a:endParaRPr lang="zh-CN" altLang="en-US" dirty="0"/>
          </a:p>
        </p:txBody>
      </p:sp>
      <p:sp>
        <p:nvSpPr>
          <p:cNvPr id="5" name="Rectangle 3"/>
          <p:cNvSpPr txBox="1">
            <a:spLocks noChangeArrowheads="1"/>
          </p:cNvSpPr>
          <p:nvPr/>
        </p:nvSpPr>
        <p:spPr>
          <a:xfrm>
            <a:off x="1631525" y="4395694"/>
            <a:ext cx="6634722" cy="1198880"/>
          </a:xfrm>
          <a:prstGeom prst="rect">
            <a:avLst/>
          </a:prstGeom>
        </p:spPr>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285750" indent="-285750">
              <a:buFont typeface="Wingdings" panose="05000000000000000000" pitchFamily="2" charset="2"/>
              <a:buChar char="u"/>
            </a:pPr>
            <a:r>
              <a:rPr lang="en-US" altLang="zh-CN" dirty="0"/>
              <a:t>demo</a:t>
            </a:r>
            <a:r>
              <a:rPr lang="zh-CN" altLang="en-US" dirty="0"/>
              <a:t>用户登录</a:t>
            </a:r>
            <a:r>
              <a:rPr lang="en-US" altLang="zh-CN" dirty="0"/>
              <a:t>HIS </a:t>
            </a:r>
            <a:r>
              <a:rPr lang="zh-CN" altLang="en-US" dirty="0"/>
              <a:t>系统 </a:t>
            </a:r>
            <a:r>
              <a:rPr lang="en-US" altLang="zh-CN" dirty="0"/>
              <a:t>—&gt;</a:t>
            </a:r>
            <a:r>
              <a:rPr lang="zh-CN" altLang="en-US" dirty="0"/>
              <a:t>头菜单 开发工具管理 </a:t>
            </a:r>
            <a:r>
              <a:rPr lang="en-US" altLang="zh-CN" dirty="0">
                <a:sym typeface="+mn-ea"/>
              </a:rPr>
              <a:t>—&gt; </a:t>
            </a:r>
            <a:r>
              <a:rPr lang="zh-CN" altLang="en-US" dirty="0">
                <a:sym typeface="+mn-ea"/>
              </a:rPr>
              <a:t>表结构查询</a:t>
            </a:r>
            <a:endParaRPr lang="zh-CN" altLang="en-US" dirty="0">
              <a:sym typeface="+mn-ea"/>
            </a:endParaRPr>
          </a:p>
          <a:p>
            <a:pPr marL="285750" indent="-285750">
              <a:buFont typeface="Wingdings" panose="05000000000000000000" pitchFamily="2" charset="2"/>
              <a:buChar char="u"/>
            </a:pPr>
            <a:r>
              <a:rPr lang="en-US" altLang="zh-CN" dirty="0">
                <a:sym typeface="+mn-ea"/>
              </a:rPr>
              <a:t>PLIST </a:t>
            </a:r>
            <a:r>
              <a:rPr lang="zh-CN" altLang="en-US" dirty="0">
                <a:sym typeface="+mn-ea"/>
              </a:rPr>
              <a:t>与 </a:t>
            </a:r>
            <a:r>
              <a:rPr lang="en-US" altLang="zh-CN" dirty="0" err="1">
                <a:sym typeface="+mn-ea"/>
              </a:rPr>
              <a:t>sql</a:t>
            </a:r>
            <a:r>
              <a:rPr lang="en-US" altLang="zh-CN" dirty="0">
                <a:sym typeface="+mn-ea"/>
              </a:rPr>
              <a:t> </a:t>
            </a:r>
            <a:r>
              <a:rPr lang="zh-CN" altLang="en-US" dirty="0">
                <a:sym typeface="+mn-ea"/>
              </a:rPr>
              <a:t>表里的列位置一致，第一个位置用来存</a:t>
            </a:r>
            <a:r>
              <a:rPr lang="en-US" altLang="zh-CN" dirty="0" err="1">
                <a:sym typeface="+mn-ea"/>
              </a:rPr>
              <a:t>rowid </a:t>
            </a:r>
            <a:endParaRPr lang="en-US" altLang="zh-CN" dirty="0">
              <a:sym typeface="+mn-ea"/>
            </a:endParaRPr>
          </a:p>
          <a:p>
            <a:pPr marL="285750" indent="-285750">
              <a:buFont typeface="Wingdings" panose="05000000000000000000" pitchFamily="2" charset="2"/>
              <a:buChar char="u"/>
            </a:pPr>
            <a:r>
              <a:rPr lang="zh-CN" altLang="en-US" dirty="0">
                <a:sym typeface="+mn-ea"/>
              </a:rPr>
              <a:t>表里的字段从 </a:t>
            </a:r>
            <a:r>
              <a:rPr lang="en-US" altLang="zh-CN" dirty="0">
                <a:sym typeface="+mn-ea"/>
              </a:rPr>
              <a:t>PLIST(2) </a:t>
            </a:r>
            <a:r>
              <a:rPr lang="zh-CN" altLang="en-US" dirty="0">
                <a:sym typeface="+mn-ea"/>
              </a:rPr>
              <a:t>开始</a:t>
            </a:r>
            <a:endParaRPr lang="zh-CN" altLang="en-US" dirty="0">
              <a:sym typeface="+mn-ea"/>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66448" y="1782966"/>
            <a:ext cx="5764876" cy="2612728"/>
          </a:xfrm>
          <a:prstGeom prst="rect">
            <a:avLst/>
          </a:prstGeom>
        </p:spPr>
      </p:pic>
      <p:grpSp>
        <p:nvGrpSpPr>
          <p:cNvPr id="17" name="组合 16"/>
          <p:cNvGrpSpPr/>
          <p:nvPr/>
        </p:nvGrpSpPr>
        <p:grpSpPr>
          <a:xfrm>
            <a:off x="1051285" y="874233"/>
            <a:ext cx="10584000" cy="730673"/>
            <a:chOff x="751790" y="4296766"/>
            <a:chExt cx="10894786" cy="730673"/>
          </a:xfrm>
        </p:grpSpPr>
        <p:grpSp>
          <p:nvGrpSpPr>
            <p:cNvPr id="18" name="组合 17"/>
            <p:cNvGrpSpPr/>
            <p:nvPr/>
          </p:nvGrpSpPr>
          <p:grpSpPr>
            <a:xfrm>
              <a:off x="1190724" y="4315228"/>
              <a:ext cx="10455852" cy="712211"/>
              <a:chOff x="385160" y="2922773"/>
              <a:chExt cx="2144789" cy="712211"/>
            </a:xfrm>
          </p:grpSpPr>
          <p:sp>
            <p:nvSpPr>
              <p:cNvPr id="20" name="文本框 34"/>
              <p:cNvSpPr txBox="1">
                <a:spLocks noChangeArrowheads="1"/>
              </p:cNvSpPr>
              <p:nvPr/>
            </p:nvSpPr>
            <p:spPr bwMode="auto">
              <a:xfrm>
                <a:off x="385160" y="2922773"/>
                <a:ext cx="1412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lvl2pPr marL="742950" indent="-285750"/>
                <a:lvl3pPr/>
                <a:lvl4pPr/>
                <a:lvl5pPr/>
                <a:lvl6pPr/>
                <a:lvl7pPr/>
                <a:lvl8pPr/>
                <a:lvl9pPr/>
              </a:lstStyle>
              <a:p>
                <a:r>
                  <a:rPr lang="zh-CN" altLang="en-US" b="1" dirty="0" smtClean="0">
                    <a:solidFill>
                      <a:schemeClr val="accent1">
                        <a:lumMod val="50000"/>
                      </a:schemeClr>
                    </a:solidFill>
                    <a:latin typeface="Arial" panose="020B0604020202020204" pitchFamily="34" charset="0"/>
                    <a:cs typeface="Arial" panose="020B0604020202020204" pitchFamily="34" charset="0"/>
                  </a:rPr>
                  <a:t>查询</a:t>
                </a:r>
                <a:r>
                  <a:rPr lang="zh-CN" altLang="en-US" b="1" dirty="0">
                    <a:solidFill>
                      <a:schemeClr val="accent1">
                        <a:lumMod val="50000"/>
                      </a:schemeClr>
                    </a:solidFill>
                    <a:latin typeface="Arial" panose="020B0604020202020204" pitchFamily="34" charset="0"/>
                    <a:cs typeface="Arial" panose="020B0604020202020204" pitchFamily="34" charset="0"/>
                  </a:rPr>
                  <a:t>表、字段、关联关系</a:t>
                </a:r>
                <a:r>
                  <a:rPr lang="en-US" altLang="zh-CN" b="1" dirty="0">
                    <a:solidFill>
                      <a:schemeClr val="accent1">
                        <a:lumMod val="50000"/>
                      </a:schemeClr>
                    </a:solidFill>
                    <a:latin typeface="Arial" panose="020B0604020202020204" pitchFamily="34" charset="0"/>
                    <a:cs typeface="Arial" panose="020B0604020202020204" pitchFamily="34" charset="0"/>
                  </a:rPr>
                  <a:t>(</a:t>
                </a:r>
                <a:r>
                  <a:rPr lang="zh-CN" altLang="en-US" b="1" dirty="0">
                    <a:solidFill>
                      <a:schemeClr val="accent1">
                        <a:lumMod val="50000"/>
                      </a:schemeClr>
                    </a:solidFill>
                    <a:latin typeface="Arial" panose="020B0604020202020204" pitchFamily="34" charset="0"/>
                    <a:cs typeface="Arial" panose="020B0604020202020204" pitchFamily="34" charset="0"/>
                  </a:rPr>
                  <a:t>父子表、外键</a:t>
                </a:r>
                <a:r>
                  <a:rPr lang="en-US" altLang="zh-CN" b="1" dirty="0">
                    <a:solidFill>
                      <a:schemeClr val="accent1">
                        <a:lumMod val="50000"/>
                      </a:schemeClr>
                    </a:solidFill>
                    <a:latin typeface="Arial" panose="020B0604020202020204" pitchFamily="34" charset="0"/>
                    <a:cs typeface="Arial" panose="020B0604020202020204" pitchFamily="34" charset="0"/>
                  </a:rPr>
                  <a:t>)</a:t>
                </a:r>
                <a:r>
                  <a:rPr lang="zh-CN" altLang="en-US" b="1" dirty="0">
                    <a:solidFill>
                      <a:schemeClr val="accent1">
                        <a:lumMod val="50000"/>
                      </a:schemeClr>
                    </a:solidFill>
                    <a:latin typeface="Arial" panose="020B0604020202020204" pitchFamily="34" charset="0"/>
                    <a:cs typeface="Arial" panose="020B0604020202020204" pitchFamily="34" charset="0"/>
                  </a:rPr>
                  <a:t>、存储</a:t>
                </a:r>
                <a:endParaRPr lang="zh-CN" altLang="en-US" b="1" dirty="0">
                  <a:solidFill>
                    <a:schemeClr val="accent1">
                      <a:lumMod val="50000"/>
                    </a:schemeClr>
                  </a:solidFill>
                  <a:latin typeface="Arial" panose="020B0604020202020204" pitchFamily="34" charset="0"/>
                  <a:cs typeface="Arial" panose="020B0604020202020204" pitchFamily="34" charset="0"/>
                </a:endParaRPr>
              </a:p>
            </p:txBody>
          </p:sp>
          <p:sp>
            <p:nvSpPr>
              <p:cNvPr id="21" name="矩形 36"/>
              <p:cNvSpPr>
                <a:spLocks noChangeArrowheads="1"/>
              </p:cNvSpPr>
              <p:nvPr/>
            </p:nvSpPr>
            <p:spPr bwMode="auto">
              <a:xfrm>
                <a:off x="385160" y="3218973"/>
                <a:ext cx="2144789" cy="416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a:lnSpc>
                    <a:spcPct val="150000"/>
                  </a:lnSpc>
                </a:pPr>
                <a:endParaRPr lang="en-US" altLang="zh-CN" sz="1600" dirty="0" smtClean="0">
                  <a:solidFill>
                    <a:schemeClr val="accent1">
                      <a:lumMod val="50000"/>
                    </a:schemeClr>
                  </a:solidFill>
                  <a:latin typeface="Arial" panose="020B0604020202020204" pitchFamily="34" charset="0"/>
                </a:endParaRPr>
              </a:p>
            </p:txBody>
          </p:sp>
        </p:grpSp>
        <p:sp>
          <p:nvSpPr>
            <p:cNvPr id="19" name="椭圆 18"/>
            <p:cNvSpPr/>
            <p:nvPr/>
          </p:nvSpPr>
          <p:spPr>
            <a:xfrm>
              <a:off x="751790" y="4296766"/>
              <a:ext cx="437034"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lumMod val="65000"/>
                      <a:lumOff val="35000"/>
                    </a:schemeClr>
                  </a:solidFill>
                </a:rPr>
                <a:t>2</a:t>
              </a:r>
              <a:endParaRPr lang="zh-CN" altLang="en-US" sz="2400" dirty="0">
                <a:solidFill>
                  <a:schemeClr val="tx1">
                    <a:lumMod val="65000"/>
                    <a:lumOff val="35000"/>
                  </a:schemeClr>
                </a:solidFill>
              </a:endParaRPr>
            </a:p>
          </p:txBody>
        </p:sp>
      </p:grpSp>
      <p:grpSp>
        <p:nvGrpSpPr>
          <p:cNvPr id="22" name="组合 21"/>
          <p:cNvGrpSpPr/>
          <p:nvPr/>
        </p:nvGrpSpPr>
        <p:grpSpPr>
          <a:xfrm>
            <a:off x="1577975" y="5594985"/>
            <a:ext cx="7099934" cy="989965"/>
            <a:chOff x="376972" y="4936104"/>
            <a:chExt cx="6187494" cy="989203"/>
          </a:xfrm>
        </p:grpSpPr>
        <p:sp>
          <p:nvSpPr>
            <p:cNvPr id="23" name="矩形 57"/>
            <p:cNvSpPr>
              <a:spLocks noChangeArrowheads="1"/>
            </p:cNvSpPr>
            <p:nvPr/>
          </p:nvSpPr>
          <p:spPr bwMode="auto">
            <a:xfrm>
              <a:off x="802531" y="5514778"/>
              <a:ext cx="5761935" cy="410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smtClean="0">
                  <a:solidFill>
                    <a:schemeClr val="accent1">
                      <a:lumMod val="50000"/>
                    </a:schemeClr>
                  </a:solidFill>
                </a:rPr>
                <a:t>获取</a:t>
              </a:r>
              <a:r>
                <a:rPr lang="en-US" altLang="zh-CN" sz="1600" dirty="0" err="1">
                  <a:solidFill>
                    <a:schemeClr val="accent1">
                      <a:lumMod val="50000"/>
                    </a:schemeClr>
                  </a:solidFill>
                </a:rPr>
                <a:t>rowid</a:t>
              </a:r>
              <a:r>
                <a:rPr lang="zh-CN" altLang="en-US" sz="1600" dirty="0">
                  <a:solidFill>
                    <a:schemeClr val="accent1">
                      <a:lumMod val="50000"/>
                    </a:schemeClr>
                  </a:solidFill>
                </a:rPr>
                <a:t>为</a:t>
              </a:r>
              <a:r>
                <a:rPr lang="en-US" altLang="zh-CN" sz="1600" dirty="0">
                  <a:solidFill>
                    <a:schemeClr val="accent1">
                      <a:lumMod val="50000"/>
                    </a:schemeClr>
                  </a:solidFill>
                </a:rPr>
                <a:t>3</a:t>
              </a:r>
              <a:r>
                <a:rPr lang="zh-CN" altLang="en-US" sz="1600" dirty="0">
                  <a:solidFill>
                    <a:schemeClr val="accent1">
                      <a:lumMod val="50000"/>
                    </a:schemeClr>
                  </a:solidFill>
                </a:rPr>
                <a:t>的病人</a:t>
              </a:r>
              <a:r>
                <a:rPr lang="en-US" altLang="zh-CN" sz="1600" dirty="0">
                  <a:solidFill>
                    <a:schemeClr val="accent1">
                      <a:lumMod val="50000"/>
                    </a:schemeClr>
                  </a:solidFill>
                </a:rPr>
                <a:t>(</a:t>
              </a:r>
              <a:r>
                <a:rPr lang="en-US" altLang="zh-CN" sz="1600" dirty="0" err="1">
                  <a:solidFill>
                    <a:schemeClr val="accent1">
                      <a:lumMod val="50000"/>
                    </a:schemeClr>
                  </a:solidFill>
                </a:rPr>
                <a:t>PA_Person</a:t>
              </a:r>
              <a:r>
                <a:rPr lang="en-US" altLang="zh-CN" sz="1600" dirty="0">
                  <a:solidFill>
                    <a:schemeClr val="accent1">
                      <a:lumMod val="50000"/>
                    </a:schemeClr>
                  </a:solidFill>
                </a:rPr>
                <a:t>)</a:t>
              </a:r>
              <a:r>
                <a:rPr lang="zh-CN" altLang="en-US" sz="1600" dirty="0">
                  <a:solidFill>
                    <a:schemeClr val="accent1">
                      <a:lumMod val="50000"/>
                    </a:schemeClr>
                  </a:solidFill>
                </a:rPr>
                <a:t>的生日PAPER_Dob  </a:t>
              </a:r>
              <a:r>
                <a:rPr lang="en-US" altLang="zh-CN" sz="1600" dirty="0">
                  <a:solidFill>
                    <a:schemeClr val="accent1">
                      <a:lumMod val="50000"/>
                    </a:schemeClr>
                  </a:solidFill>
                </a:rPr>
                <a:t>(YYYY-MM-DD)</a:t>
              </a:r>
              <a:endParaRPr lang="zh-CN" altLang="en-US" sz="1600" dirty="0">
                <a:solidFill>
                  <a:schemeClr val="accent1">
                    <a:lumMod val="50000"/>
                  </a:schemeClr>
                </a:solidFill>
              </a:endParaRPr>
            </a:p>
          </p:txBody>
        </p:sp>
        <p:cxnSp>
          <p:nvCxnSpPr>
            <p:cNvPr id="24" name="直接连接符 23"/>
            <p:cNvCxnSpPr/>
            <p:nvPr/>
          </p:nvCxnSpPr>
          <p:spPr>
            <a:xfrm>
              <a:off x="750141" y="5345491"/>
              <a:ext cx="3561148"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376972" y="4936104"/>
              <a:ext cx="4204392" cy="460020"/>
              <a:chOff x="376972" y="4936104"/>
              <a:chExt cx="4204392" cy="460020"/>
            </a:xfrm>
          </p:grpSpPr>
          <p:sp>
            <p:nvSpPr>
              <p:cNvPr id="26" name="文本框 25"/>
              <p:cNvSpPr txBox="1"/>
              <p:nvPr/>
            </p:nvSpPr>
            <p:spPr>
              <a:xfrm>
                <a:off x="411705" y="4936104"/>
                <a:ext cx="4169659" cy="460020"/>
              </a:xfrm>
              <a:prstGeom prst="rect">
                <a:avLst/>
              </a:prstGeom>
              <a:noFill/>
            </p:spPr>
            <p:txBody>
              <a:bodyPr wrap="square" rtlCol="0">
                <a:spAutoFit/>
              </a:bodyPr>
              <a:lstStyle/>
              <a:p>
                <a:r>
                  <a:rPr lang="zh-CN" altLang="en-US" sz="2400" dirty="0" smtClean="0">
                    <a:solidFill>
                      <a:schemeClr val="tx1">
                        <a:lumMod val="65000"/>
                        <a:lumOff val="35000"/>
                      </a:schemeClr>
                    </a:solidFill>
                  </a:rPr>
                  <a:t>    练习 </a:t>
                </a:r>
                <a:r>
                  <a:rPr lang="en-US" altLang="zh-CN" sz="2400" dirty="0">
                    <a:solidFill>
                      <a:schemeClr val="tx1">
                        <a:lumMod val="65000"/>
                        <a:lumOff val="35000"/>
                      </a:schemeClr>
                    </a:solidFill>
                  </a:rPr>
                  <a:t>5</a:t>
                </a:r>
                <a:r>
                  <a:rPr lang="en-US" altLang="zh-CN" sz="2400" dirty="0" smtClean="0">
                    <a:solidFill>
                      <a:schemeClr val="tx1">
                        <a:lumMod val="65000"/>
                        <a:lumOff val="35000"/>
                      </a:schemeClr>
                    </a:solidFill>
                  </a:rPr>
                  <a:t> </a:t>
                </a:r>
                <a:endParaRPr lang="zh-CN" altLang="en-US" sz="2400" dirty="0">
                  <a:solidFill>
                    <a:schemeClr val="tx1">
                      <a:lumMod val="65000"/>
                      <a:lumOff val="35000"/>
                    </a:schemeClr>
                  </a:solidFill>
                </a:endParaRPr>
              </a:p>
            </p:txBody>
          </p:sp>
          <p:pic>
            <p:nvPicPr>
              <p:cNvPr id="27" name="图片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6972" y="5007841"/>
                <a:ext cx="373169" cy="371255"/>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第五节  开发环境介绍</a:t>
            </a:r>
            <a:endParaRPr lang="zh-CN" altLang="en-US" dirty="0"/>
          </a:p>
        </p:txBody>
      </p:sp>
      <p:sp>
        <p:nvSpPr>
          <p:cNvPr id="10" name="文本框 9"/>
          <p:cNvSpPr txBox="1"/>
          <p:nvPr/>
        </p:nvSpPr>
        <p:spPr>
          <a:xfrm>
            <a:off x="1657509" y="3848468"/>
            <a:ext cx="1563676" cy="1569660"/>
          </a:xfrm>
          <a:prstGeom prst="rect">
            <a:avLst/>
          </a:prstGeom>
        </p:spPr>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stStyle>
          <a:p>
            <a:r>
              <a:rPr lang="en-US" altLang="zh-CN" dirty="0" smtClean="0"/>
              <a:t>Terminal</a:t>
            </a:r>
            <a:endParaRPr lang="en-US" altLang="zh-CN" dirty="0" smtClean="0"/>
          </a:p>
          <a:p>
            <a:r>
              <a:rPr lang="zh-CN" altLang="en-US" dirty="0" smtClean="0"/>
              <a:t>见</a:t>
            </a:r>
            <a:r>
              <a:rPr lang="zh-CN" altLang="en-US" dirty="0"/>
              <a:t>本章第四</a:t>
            </a:r>
            <a:r>
              <a:rPr lang="zh-CN" altLang="en-US" dirty="0" smtClean="0"/>
              <a:t>节</a:t>
            </a:r>
            <a:endParaRPr lang="en-US" altLang="zh-CN" dirty="0" smtClean="0"/>
          </a:p>
          <a:p>
            <a:endParaRPr lang="en-US" altLang="zh-CN" dirty="0" smtClean="0"/>
          </a:p>
          <a:p>
            <a:r>
              <a:rPr lang="en-US" altLang="zh-CN" dirty="0" smtClean="0"/>
              <a:t>Studio</a:t>
            </a:r>
            <a:endParaRPr lang="zh-CN" altLang="en-US" dirty="0"/>
          </a:p>
        </p:txBody>
      </p:sp>
      <p:graphicFrame>
        <p:nvGraphicFramePr>
          <p:cNvPr id="15" name="表格 14"/>
          <p:cNvGraphicFramePr>
            <a:graphicFrameLocks noGrp="1"/>
          </p:cNvGraphicFramePr>
          <p:nvPr/>
        </p:nvGraphicFramePr>
        <p:xfrm>
          <a:off x="3191133" y="3756920"/>
          <a:ext cx="6472275" cy="2748280"/>
        </p:xfrm>
        <a:graphic>
          <a:graphicData uri="http://schemas.openxmlformats.org/drawingml/2006/table">
            <a:tbl>
              <a:tblPr firstRow="1" bandRow="1">
                <a:tableStyleId>{F5AB1C69-6EDB-4FF4-983F-18BD219EF322}</a:tableStyleId>
              </a:tblPr>
              <a:tblGrid>
                <a:gridCol w="1986672"/>
                <a:gridCol w="4485603"/>
              </a:tblGrid>
              <a:tr h="370840">
                <a:tc>
                  <a:txBody>
                    <a:bodyPr/>
                    <a:lstStyle/>
                    <a:p>
                      <a:pPr algn="ctr"/>
                      <a:r>
                        <a:rPr lang="zh-CN" altLang="en-US" sz="1400" dirty="0" smtClean="0"/>
                        <a:t>常用基本功能</a:t>
                      </a:r>
                      <a:endParaRPr lang="zh-CN" altLang="en-US" sz="1400" dirty="0"/>
                    </a:p>
                  </a:txBody>
                  <a:tcPr/>
                </a:tc>
                <a:tc>
                  <a:txBody>
                    <a:bodyPr/>
                    <a:lstStyle/>
                    <a:p>
                      <a:pPr algn="ctr"/>
                      <a:r>
                        <a:rPr lang="zh-CN" altLang="en-US" sz="1400" dirty="0" smtClean="0"/>
                        <a:t>名词解释</a:t>
                      </a:r>
                      <a:endParaRPr lang="zh-CN" altLang="en-US" sz="1400" dirty="0"/>
                    </a:p>
                  </a:txBody>
                  <a:tcPr/>
                </a:tc>
              </a:tr>
              <a:tr h="370840">
                <a:tc>
                  <a:txBody>
                    <a:bodyPr/>
                    <a:lstStyle/>
                    <a:p>
                      <a:r>
                        <a:rPr lang="en-US" altLang="zh-CN" sz="1400" dirty="0" smtClean="0"/>
                        <a:t>New</a:t>
                      </a:r>
                      <a:endParaRPr lang="zh-CN" altLang="en-US" sz="1400" dirty="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可以在这一个单独的集成环境中定义</a:t>
                      </a:r>
                      <a:r>
                        <a:rPr lang="en-US" altLang="zh-CN" sz="1400" dirty="0" smtClean="0"/>
                        <a:t>Class</a:t>
                      </a:r>
                      <a:r>
                        <a:rPr lang="zh-CN" altLang="en-US" sz="1400" dirty="0" smtClean="0"/>
                        <a:t>、</a:t>
                      </a:r>
                      <a:r>
                        <a:rPr lang="en-US" altLang="zh-CN" sz="1400" dirty="0" smtClean="0"/>
                        <a:t>Routine</a:t>
                      </a:r>
                      <a:r>
                        <a:rPr lang="zh-CN" altLang="en-US" sz="1400" dirty="0" smtClean="0"/>
                        <a:t>，生成</a:t>
                      </a:r>
                      <a:r>
                        <a:rPr lang="en-US" altLang="zh-CN" sz="1400" dirty="0" smtClean="0"/>
                        <a:t>CSP</a:t>
                      </a:r>
                      <a:r>
                        <a:rPr lang="zh-CN" altLang="en-US" sz="1400" dirty="0" smtClean="0"/>
                        <a:t>文件。*</a:t>
                      </a:r>
                      <a:r>
                        <a:rPr lang="en-US" altLang="zh-CN" sz="1400" dirty="0" smtClean="0"/>
                        <a:t>.</a:t>
                      </a:r>
                      <a:r>
                        <a:rPr lang="en-US" altLang="zh-CN" sz="1400" dirty="0" err="1" smtClean="0"/>
                        <a:t>cls</a:t>
                      </a:r>
                      <a:r>
                        <a:rPr lang="zh-CN" altLang="en-US" sz="1400" dirty="0" smtClean="0"/>
                        <a:t>、*</a:t>
                      </a:r>
                      <a:r>
                        <a:rPr lang="en-US" altLang="zh-CN" sz="1400" dirty="0" smtClean="0"/>
                        <a:t>.mac</a:t>
                      </a:r>
                      <a:r>
                        <a:rPr lang="zh-CN" altLang="en-US" sz="1400" dirty="0" smtClean="0"/>
                        <a:t>、*</a:t>
                      </a:r>
                      <a:r>
                        <a:rPr lang="en-US" altLang="zh-CN" sz="1400" dirty="0" smtClean="0"/>
                        <a:t>.</a:t>
                      </a:r>
                      <a:r>
                        <a:rPr lang="en-US" altLang="zh-CN" sz="1400" dirty="0" err="1" smtClean="0"/>
                        <a:t>csp</a:t>
                      </a:r>
                      <a:r>
                        <a:rPr lang="zh-CN" altLang="en-US" sz="1400" dirty="0" smtClean="0"/>
                        <a:t>、</a:t>
                      </a:r>
                      <a:r>
                        <a:rPr lang="en-US" altLang="zh-CN" sz="1400" dirty="0" smtClean="0"/>
                        <a:t>*.</a:t>
                      </a:r>
                      <a:r>
                        <a:rPr lang="en-US" altLang="zh-CN" sz="1400" dirty="0" err="1" smtClean="0"/>
                        <a:t>js</a:t>
                      </a:r>
                      <a:r>
                        <a:rPr lang="zh-CN" altLang="en-US" sz="1400" dirty="0" smtClean="0"/>
                        <a:t>文件</a:t>
                      </a:r>
                      <a:endParaRPr lang="en-US" altLang="zh-CN" sz="1400" dirty="0" smtClean="0"/>
                    </a:p>
                  </a:txBody>
                  <a:tcPr anchor="ctr"/>
                </a:tc>
              </a:tr>
              <a:tr h="370840">
                <a:tc>
                  <a:txBody>
                    <a:bodyPr/>
                    <a:lstStyle/>
                    <a:p>
                      <a:r>
                        <a:rPr lang="en-US" altLang="zh-CN" sz="1400" dirty="0" smtClean="0"/>
                        <a:t>Import</a:t>
                      </a:r>
                      <a:r>
                        <a:rPr lang="zh-CN" altLang="en-US" sz="1400" dirty="0" smtClean="0"/>
                        <a:t>、</a:t>
                      </a:r>
                      <a:r>
                        <a:rPr lang="en-US" altLang="zh-CN" sz="1400" dirty="0" smtClean="0"/>
                        <a:t>Export</a:t>
                      </a:r>
                      <a:endParaRPr lang="en-US" altLang="zh-CN" sz="1400" dirty="0" smtClean="0"/>
                    </a:p>
                    <a:p>
                      <a:r>
                        <a:rPr lang="en-US" altLang="zh-CN" sz="1400" dirty="0" smtClean="0"/>
                        <a:t>Compile</a:t>
                      </a:r>
                      <a:endParaRPr lang="zh-CN" altLang="en-US" sz="1400" dirty="0"/>
                    </a:p>
                  </a:txBody>
                  <a:tcPr anchor="ctr"/>
                </a:tc>
                <a:tc>
                  <a:txBody>
                    <a:bodyPr/>
                    <a:lstStyle/>
                    <a:p>
                      <a:r>
                        <a:rPr lang="zh-CN" altLang="en-US" sz="1400" dirty="0" smtClean="0"/>
                        <a:t>导入、导出</a:t>
                      </a:r>
                      <a:endParaRPr lang="en-US" altLang="zh-CN" sz="1400" dirty="0" smtClean="0"/>
                    </a:p>
                    <a:p>
                      <a:r>
                        <a:rPr lang="zh-CN" altLang="en-US" sz="1400" dirty="0" smtClean="0"/>
                        <a:t>程序编译</a:t>
                      </a:r>
                      <a:endParaRPr lang="zh-CN" altLang="en-US" sz="1400" dirty="0"/>
                    </a:p>
                  </a:txBody>
                  <a:tcPr anchor="ctr"/>
                </a:tc>
              </a:tr>
              <a:tr h="370840">
                <a:tc>
                  <a:txBody>
                    <a:bodyPr/>
                    <a:lstStyle/>
                    <a:p>
                      <a:r>
                        <a:rPr lang="en-US" altLang="zh-CN" sz="1400" dirty="0" smtClean="0"/>
                        <a:t>Workspace</a:t>
                      </a:r>
                      <a:endParaRPr lang="zh-CN" altLang="en-US" sz="1400" dirty="0"/>
                    </a:p>
                  </a:txBody>
                  <a:tcPr anchor="ctr"/>
                </a:tc>
                <a:tc>
                  <a:txBody>
                    <a:bodyPr/>
                    <a:lstStyle/>
                    <a:p>
                      <a:r>
                        <a:rPr lang="zh-CN" altLang="en-US" sz="1400" dirty="0" smtClean="0"/>
                        <a:t>通过</a:t>
                      </a:r>
                      <a:r>
                        <a:rPr lang="en-US" altLang="zh-CN" sz="1400" dirty="0" smtClean="0"/>
                        <a:t>project</a:t>
                      </a:r>
                      <a:r>
                        <a:rPr lang="zh-CN" altLang="en-US" sz="1400" dirty="0" smtClean="0"/>
                        <a:t>查看工程类</a:t>
                      </a:r>
                      <a:endParaRPr lang="en-US" altLang="zh-CN" sz="1400" dirty="0" smtClean="0"/>
                    </a:p>
                    <a:p>
                      <a:r>
                        <a:rPr lang="en-US" altLang="zh-CN" sz="1400" dirty="0" smtClean="0"/>
                        <a:t>Windows:</a:t>
                      </a:r>
                      <a:r>
                        <a:rPr lang="zh-CN" altLang="en-US" sz="1400" dirty="0" smtClean="0"/>
                        <a:t>当前</a:t>
                      </a:r>
                      <a:r>
                        <a:rPr lang="en-US" altLang="zh-CN" sz="1400" dirty="0" smtClean="0"/>
                        <a:t>studio</a:t>
                      </a:r>
                      <a:r>
                        <a:rPr lang="zh-CN" altLang="en-US" sz="1400" dirty="0" smtClean="0"/>
                        <a:t>下正在打开的文件          </a:t>
                      </a:r>
                      <a:r>
                        <a:rPr lang="en-US" altLang="zh-CN" sz="1400" dirty="0" smtClean="0"/>
                        <a:t>(</a:t>
                      </a:r>
                      <a:r>
                        <a:rPr lang="zh-CN" altLang="en-US" sz="1400" dirty="0" smtClean="0"/>
                        <a:t>见右图</a:t>
                      </a:r>
                      <a:r>
                        <a:rPr lang="en-US" altLang="zh-CN" sz="1400" dirty="0" smtClean="0"/>
                        <a:t>)</a:t>
                      </a:r>
                      <a:endParaRPr lang="en-US" altLang="zh-CN" sz="1400" dirty="0" smtClean="0"/>
                    </a:p>
                  </a:txBody>
                  <a:tcPr anchor="ctr"/>
                </a:tc>
              </a:tr>
              <a:tr h="243840">
                <a:tc>
                  <a:txBody>
                    <a:bodyPr/>
                    <a:lstStyle/>
                    <a:p>
                      <a:r>
                        <a:rPr lang="en-US" altLang="zh-CN" sz="1400" dirty="0" smtClean="0"/>
                        <a:t>Inspector</a:t>
                      </a:r>
                      <a:endParaRPr lang="zh-CN" altLang="en-US" sz="1400" dirty="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查看</a:t>
                      </a:r>
                      <a:r>
                        <a:rPr lang="en-US" altLang="zh-CN" sz="1400" dirty="0" smtClean="0"/>
                        <a:t>class</a:t>
                      </a:r>
                      <a:r>
                        <a:rPr lang="zh-CN" altLang="en-US" sz="1400" dirty="0" smtClean="0"/>
                        <a:t>类的基本信息，比如查看实体类的存储结构</a:t>
                      </a:r>
                      <a:r>
                        <a:rPr lang="en-US" altLang="zh-CN" sz="1400" dirty="0" smtClean="0"/>
                        <a:t>storage                                                           (</a:t>
                      </a:r>
                      <a:r>
                        <a:rPr lang="zh-CN" altLang="en-US" sz="1400" dirty="0" smtClean="0"/>
                        <a:t>见右图</a:t>
                      </a:r>
                      <a:r>
                        <a:rPr lang="en-US" altLang="zh-CN" sz="1400" dirty="0" smtClean="0"/>
                        <a:t>)</a:t>
                      </a:r>
                      <a:endParaRPr lang="en-US" altLang="zh-CN" sz="1400" dirty="0" smtClean="0"/>
                    </a:p>
                  </a:txBody>
                  <a:tcPr anchor="ctr"/>
                </a:tc>
              </a:tr>
              <a:tr h="243840">
                <a:tc>
                  <a:txBody>
                    <a:bodyPr/>
                    <a:lstStyle/>
                    <a:p>
                      <a:r>
                        <a:rPr lang="en-US" altLang="zh-CN" sz="1400" dirty="0" smtClean="0"/>
                        <a:t>Change Namespace</a:t>
                      </a:r>
                      <a:endParaRPr lang="zh-CN" altLang="en-US" sz="1400" dirty="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更换命名空间</a:t>
                      </a:r>
                      <a:endParaRPr lang="en-US" altLang="zh-CN" sz="1400" dirty="0" smtClean="0"/>
                    </a:p>
                  </a:txBody>
                  <a:tcPr anchor="ctr"/>
                </a:tc>
              </a:tr>
            </a:tbl>
          </a:graphicData>
        </a:graphic>
      </p:graphicFrame>
      <p:pic>
        <p:nvPicPr>
          <p:cNvPr id="16" name="图片 1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037913" y="2178938"/>
            <a:ext cx="1800200" cy="2082479"/>
          </a:xfrm>
          <a:prstGeom prst="rect">
            <a:avLst/>
          </a:prstGeom>
          <a:ln>
            <a:solidFill>
              <a:schemeClr val="tx1"/>
            </a:solidFill>
          </a:ln>
        </p:spPr>
      </p:pic>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7913" y="4413661"/>
            <a:ext cx="1800200" cy="2308364"/>
          </a:xfrm>
          <a:prstGeom prst="rect">
            <a:avLst/>
          </a:prstGeom>
          <a:ln>
            <a:solidFill>
              <a:schemeClr val="tx1"/>
            </a:solidFill>
          </a:ln>
        </p:spPr>
      </p:pic>
      <p:grpSp>
        <p:nvGrpSpPr>
          <p:cNvPr id="18" name="组合 17"/>
          <p:cNvGrpSpPr/>
          <p:nvPr/>
        </p:nvGrpSpPr>
        <p:grpSpPr>
          <a:xfrm>
            <a:off x="1028581" y="1035585"/>
            <a:ext cx="6611574" cy="2112462"/>
            <a:chOff x="1502432" y="1650162"/>
            <a:chExt cx="6611574" cy="2112462"/>
          </a:xfrm>
        </p:grpSpPr>
        <p:sp>
          <p:nvSpPr>
            <p:cNvPr id="19" name="矩形 57"/>
            <p:cNvSpPr>
              <a:spLocks noChangeArrowheads="1"/>
            </p:cNvSpPr>
            <p:nvPr/>
          </p:nvSpPr>
          <p:spPr bwMode="auto">
            <a:xfrm>
              <a:off x="2641893" y="2285296"/>
              <a:ext cx="547211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zh-CN" dirty="0" smtClean="0">
                  <a:solidFill>
                    <a:schemeClr val="accent1">
                      <a:lumMod val="75000"/>
                    </a:schemeClr>
                  </a:solidFill>
                  <a:latin typeface="Arial" panose="020B0604020202020204" pitchFamily="34" charset="0"/>
                </a:rPr>
                <a:t>1</a:t>
              </a:r>
              <a:r>
                <a:rPr lang="zh-CN" altLang="en-US" dirty="0" smtClean="0">
                  <a:solidFill>
                    <a:schemeClr val="accent1">
                      <a:lumMod val="75000"/>
                    </a:schemeClr>
                  </a:solidFill>
                  <a:latin typeface="Arial" panose="020B0604020202020204" pitchFamily="34" charset="0"/>
                </a:rPr>
                <a:t>、</a:t>
              </a:r>
              <a:r>
                <a:rPr lang="en-US" altLang="zh-CN" dirty="0" smtClean="0">
                  <a:solidFill>
                    <a:schemeClr val="accent1">
                      <a:lumMod val="75000"/>
                    </a:schemeClr>
                  </a:solidFill>
                  <a:latin typeface="Arial" panose="020B0604020202020204" pitchFamily="34" charset="0"/>
                </a:rPr>
                <a:t>Terminal</a:t>
              </a:r>
              <a:endParaRPr lang="en-US" altLang="zh-CN" dirty="0" smtClean="0">
                <a:solidFill>
                  <a:schemeClr val="accent1">
                    <a:lumMod val="75000"/>
                  </a:schemeClr>
                </a:solidFill>
                <a:latin typeface="Arial" panose="020B0604020202020204" pitchFamily="34" charset="0"/>
              </a:endParaRPr>
            </a:p>
            <a:p>
              <a:pPr algn="just"/>
              <a:r>
                <a:rPr lang="en-US" altLang="zh-CN" dirty="0">
                  <a:solidFill>
                    <a:schemeClr val="accent1">
                      <a:lumMod val="75000"/>
                    </a:schemeClr>
                  </a:solidFill>
                  <a:latin typeface="Arial" panose="020B0604020202020204" pitchFamily="34" charset="0"/>
                </a:rPr>
                <a:t>2</a:t>
              </a:r>
              <a:r>
                <a:rPr lang="zh-CN" altLang="en-US" dirty="0" smtClean="0">
                  <a:solidFill>
                    <a:schemeClr val="accent1">
                      <a:lumMod val="75000"/>
                    </a:schemeClr>
                  </a:solidFill>
                  <a:latin typeface="Arial" panose="020B0604020202020204" pitchFamily="34" charset="0"/>
                </a:rPr>
                <a:t>、</a:t>
              </a:r>
              <a:r>
                <a:rPr lang="en-US" altLang="zh-CN" dirty="0" smtClean="0">
                  <a:solidFill>
                    <a:schemeClr val="accent1">
                      <a:lumMod val="75000"/>
                    </a:schemeClr>
                  </a:solidFill>
                  <a:latin typeface="Arial" panose="020B0604020202020204" pitchFamily="34" charset="0"/>
                </a:rPr>
                <a:t>Studio</a:t>
              </a:r>
              <a:endParaRPr lang="zh-CN" altLang="en-US" dirty="0">
                <a:solidFill>
                  <a:schemeClr val="accent1">
                    <a:lumMod val="75000"/>
                  </a:schemeClr>
                </a:solidFill>
                <a:latin typeface="Arial" panose="020B0604020202020204" pitchFamily="34" charset="0"/>
              </a:endParaRPr>
            </a:p>
            <a:p>
              <a:pPr algn="just"/>
              <a:r>
                <a:rPr lang="en-US" altLang="zh-CN" dirty="0" smtClean="0">
                  <a:solidFill>
                    <a:schemeClr val="accent1">
                      <a:lumMod val="75000"/>
                    </a:schemeClr>
                  </a:solidFill>
                  <a:latin typeface="Arial" panose="020B0604020202020204" pitchFamily="34" charset="0"/>
                </a:rPr>
                <a:t>3</a:t>
              </a:r>
              <a:r>
                <a:rPr lang="zh-CN" altLang="en-US" dirty="0" smtClean="0">
                  <a:solidFill>
                    <a:schemeClr val="accent1">
                      <a:lumMod val="75000"/>
                    </a:schemeClr>
                  </a:solidFill>
                  <a:latin typeface="Arial" panose="020B0604020202020204" pitchFamily="34" charset="0"/>
                </a:rPr>
                <a:t>、</a:t>
              </a:r>
              <a:r>
                <a:rPr lang="en-US" altLang="zh-CN" dirty="0" smtClean="0">
                  <a:solidFill>
                    <a:schemeClr val="accent1">
                      <a:lumMod val="75000"/>
                    </a:schemeClr>
                  </a:solidFill>
                  <a:latin typeface="Arial" panose="020B0604020202020204" pitchFamily="34" charset="0"/>
                </a:rPr>
                <a:t>Management Portal</a:t>
              </a:r>
              <a:endParaRPr lang="en-US" altLang="zh-CN" dirty="0" smtClean="0">
                <a:solidFill>
                  <a:schemeClr val="accent1">
                    <a:lumMod val="75000"/>
                  </a:schemeClr>
                </a:solidFill>
                <a:latin typeface="Arial" panose="020B0604020202020204" pitchFamily="34" charset="0"/>
              </a:endParaRPr>
            </a:p>
            <a:p>
              <a:pPr algn="just"/>
              <a:r>
                <a:rPr lang="en-US" altLang="zh-CN" dirty="0" smtClean="0">
                  <a:solidFill>
                    <a:schemeClr val="accent1">
                      <a:lumMod val="75000"/>
                    </a:schemeClr>
                  </a:solidFill>
                  <a:latin typeface="Arial" panose="020B0604020202020204" pitchFamily="34" charset="0"/>
                </a:rPr>
                <a:t>4</a:t>
              </a:r>
              <a:r>
                <a:rPr lang="zh-CN" altLang="en-US" dirty="0" smtClean="0">
                  <a:solidFill>
                    <a:schemeClr val="accent1">
                      <a:lumMod val="75000"/>
                    </a:schemeClr>
                  </a:solidFill>
                  <a:latin typeface="Arial" panose="020B0604020202020204" pitchFamily="34" charset="0"/>
                </a:rPr>
                <a:t>、</a:t>
              </a:r>
              <a:r>
                <a:rPr lang="en-US" altLang="zh-CN" dirty="0" err="1">
                  <a:solidFill>
                    <a:schemeClr val="accent1">
                      <a:lumMod val="75000"/>
                    </a:schemeClr>
                  </a:solidFill>
                  <a:latin typeface="Arial" panose="020B0604020202020204" pitchFamily="34" charset="0"/>
                </a:rPr>
                <a:t>DtHealth</a:t>
              </a:r>
              <a:r>
                <a:rPr lang="zh-CN" altLang="en-US" dirty="0">
                  <a:solidFill>
                    <a:schemeClr val="accent1">
                      <a:lumMod val="75000"/>
                    </a:schemeClr>
                  </a:solidFill>
                  <a:latin typeface="Arial" panose="020B0604020202020204" pitchFamily="34" charset="0"/>
                </a:rPr>
                <a:t>文件</a:t>
              </a:r>
              <a:r>
                <a:rPr lang="zh-CN" altLang="en-US" dirty="0" smtClean="0">
                  <a:solidFill>
                    <a:schemeClr val="accent1">
                      <a:lumMod val="75000"/>
                    </a:schemeClr>
                  </a:solidFill>
                  <a:latin typeface="Arial" panose="020B0604020202020204" pitchFamily="34" charset="0"/>
                </a:rPr>
                <a:t>存放</a:t>
              </a:r>
              <a:endParaRPr lang="en-US" altLang="zh-CN" dirty="0" smtClean="0">
                <a:solidFill>
                  <a:schemeClr val="accent1">
                    <a:lumMod val="75000"/>
                  </a:schemeClr>
                </a:solidFill>
                <a:latin typeface="Arial" panose="020B0604020202020204" pitchFamily="34" charset="0"/>
              </a:endParaRPr>
            </a:p>
            <a:p>
              <a:pPr algn="just"/>
              <a:r>
                <a:rPr lang="en-US" altLang="zh-CN" dirty="0" smtClean="0">
                  <a:solidFill>
                    <a:schemeClr val="accent1">
                      <a:lumMod val="75000"/>
                    </a:schemeClr>
                  </a:solidFill>
                  <a:latin typeface="Arial" panose="020B0604020202020204" pitchFamily="34" charset="0"/>
                </a:rPr>
                <a:t>5</a:t>
              </a:r>
              <a:r>
                <a:rPr lang="zh-CN" altLang="en-US" dirty="0" smtClean="0">
                  <a:solidFill>
                    <a:schemeClr val="accent1">
                      <a:lumMod val="75000"/>
                    </a:schemeClr>
                  </a:solidFill>
                  <a:latin typeface="Arial" panose="020B0604020202020204" pitchFamily="34" charset="0"/>
                </a:rPr>
                <a:t>、开发工具管理</a:t>
              </a:r>
              <a:r>
                <a:rPr lang="en-US" altLang="zh-CN" dirty="0" err="1" smtClean="0">
                  <a:solidFill>
                    <a:schemeClr val="accent1">
                      <a:lumMod val="75000"/>
                    </a:schemeClr>
                  </a:solidFill>
                  <a:latin typeface="Arial" panose="020B0604020202020204" pitchFamily="34" charset="0"/>
                </a:rPr>
                <a:t>CachéTT</a:t>
              </a:r>
              <a:endParaRPr lang="en-US" altLang="zh-CN" dirty="0">
                <a:solidFill>
                  <a:schemeClr val="accent1">
                    <a:lumMod val="75000"/>
                  </a:schemeClr>
                </a:solidFill>
                <a:latin typeface="Arial" panose="020B0604020202020204" pitchFamily="34" charset="0"/>
              </a:endParaRPr>
            </a:p>
          </p:txBody>
        </p:sp>
        <p:sp>
          <p:nvSpPr>
            <p:cNvPr id="20" name="文本框 19"/>
            <p:cNvSpPr txBox="1"/>
            <p:nvPr/>
          </p:nvSpPr>
          <p:spPr>
            <a:xfrm>
              <a:off x="2608119" y="1650162"/>
              <a:ext cx="2339102" cy="523220"/>
            </a:xfrm>
            <a:prstGeom prst="rect">
              <a:avLst/>
            </a:prstGeom>
            <a:noFill/>
          </p:spPr>
          <p:txBody>
            <a:bodyPr wrap="none" rtlCol="0">
              <a:spAutoFit/>
            </a:bodyPr>
            <a:lstStyle/>
            <a:p>
              <a:r>
                <a:rPr lang="zh-CN" altLang="en-US" sz="2800" dirty="0" smtClean="0">
                  <a:solidFill>
                    <a:schemeClr val="tx1">
                      <a:lumMod val="75000"/>
                      <a:lumOff val="25000"/>
                    </a:schemeClr>
                  </a:solidFill>
                </a:rPr>
                <a:t>开发环境介绍</a:t>
              </a:r>
              <a:endParaRPr lang="zh-CN" altLang="en-US" sz="2800" dirty="0">
                <a:solidFill>
                  <a:schemeClr val="tx1">
                    <a:lumMod val="75000"/>
                    <a:lumOff val="25000"/>
                  </a:schemeClr>
                </a:solidFill>
              </a:endParaRPr>
            </a:p>
          </p:txBody>
        </p:sp>
        <p:grpSp>
          <p:nvGrpSpPr>
            <p:cNvPr id="21" name="组合 73"/>
            <p:cNvGrpSpPr/>
            <p:nvPr/>
          </p:nvGrpSpPr>
          <p:grpSpPr bwMode="auto">
            <a:xfrm>
              <a:off x="1502432" y="1722899"/>
              <a:ext cx="1105687" cy="1052310"/>
              <a:chOff x="498342" y="103823"/>
              <a:chExt cx="1104763" cy="1051430"/>
            </a:xfrm>
            <a:solidFill>
              <a:schemeClr val="accent1">
                <a:lumMod val="50000"/>
              </a:schemeClr>
            </a:solidFill>
          </p:grpSpPr>
          <p:sp>
            <p:nvSpPr>
              <p:cNvPr id="23" name="椭圆 55"/>
              <p:cNvSpPr>
                <a:spLocks noChangeArrowheads="1"/>
              </p:cNvSpPr>
              <p:nvPr/>
            </p:nvSpPr>
            <p:spPr bwMode="auto">
              <a:xfrm>
                <a:off x="498342" y="103823"/>
                <a:ext cx="1104763" cy="105143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eaLnBrk="1" hangingPunct="1"/>
                <a:endParaRPr lang="zh-CN" altLang="en-US">
                  <a:solidFill>
                    <a:schemeClr val="bg1"/>
                  </a:solidFill>
                </a:endParaRPr>
              </a:p>
            </p:txBody>
          </p:sp>
          <p:sp>
            <p:nvSpPr>
              <p:cNvPr id="24" name="文本框 60"/>
              <p:cNvSpPr txBox="1">
                <a:spLocks noChangeArrowheads="1"/>
              </p:cNvSpPr>
              <p:nvPr/>
            </p:nvSpPr>
            <p:spPr bwMode="auto">
              <a:xfrm>
                <a:off x="679098" y="280483"/>
                <a:ext cx="762844" cy="7072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vl2pPr marL="742950" indent="-285750"/>
                <a:lvl3pPr/>
                <a:lvl4pPr/>
                <a:lvl5pPr/>
                <a:lvl6pPr/>
                <a:lvl7pPr/>
                <a:lvl8pPr/>
                <a:lvl9pPr/>
              </a:lstStyle>
              <a:p>
                <a:pPr algn="ctr" eaLnBrk="1" hangingPunct="1"/>
                <a:r>
                  <a:rPr lang="zh-CN" altLang="en-US" sz="2000" dirty="0" smtClean="0">
                    <a:solidFill>
                      <a:schemeClr val="bg1"/>
                    </a:solidFill>
                    <a:latin typeface="华文细黑" panose="02010600040101010101" pitchFamily="2" charset="-122"/>
                    <a:ea typeface="华文细黑" panose="02010600040101010101" pitchFamily="2" charset="-122"/>
                  </a:rPr>
                  <a:t>学习思路</a:t>
                </a:r>
                <a:endParaRPr lang="zh-CN" altLang="en-US" sz="2000" dirty="0">
                  <a:solidFill>
                    <a:schemeClr val="bg1"/>
                  </a:solidFill>
                  <a:latin typeface="华文细黑" panose="02010600040101010101" pitchFamily="2" charset="-122"/>
                  <a:ea typeface="华文细黑" panose="02010600040101010101" pitchFamily="2" charset="-122"/>
                </a:endParaRPr>
              </a:p>
            </p:txBody>
          </p:sp>
        </p:grpSp>
        <p:cxnSp>
          <p:nvCxnSpPr>
            <p:cNvPr id="22" name="直接连接符 21"/>
            <p:cNvCxnSpPr/>
            <p:nvPr/>
          </p:nvCxnSpPr>
          <p:spPr>
            <a:xfrm>
              <a:off x="2671816" y="2225790"/>
              <a:ext cx="5004000"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5" name="椭圆 24"/>
          <p:cNvSpPr/>
          <p:nvPr/>
        </p:nvSpPr>
        <p:spPr>
          <a:xfrm>
            <a:off x="1232942" y="3845645"/>
            <a:ext cx="424567"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lumMod val="65000"/>
                    <a:lumOff val="35000"/>
                  </a:schemeClr>
                </a:solidFill>
              </a:rPr>
              <a:t>1</a:t>
            </a:r>
            <a:endParaRPr lang="zh-CN" altLang="en-US" sz="2400" dirty="0">
              <a:solidFill>
                <a:schemeClr val="tx1">
                  <a:lumMod val="65000"/>
                  <a:lumOff val="35000"/>
                </a:schemeClr>
              </a:solidFill>
            </a:endParaRPr>
          </a:p>
        </p:txBody>
      </p:sp>
      <p:sp>
        <p:nvSpPr>
          <p:cNvPr id="26" name="椭圆 25"/>
          <p:cNvSpPr/>
          <p:nvPr/>
        </p:nvSpPr>
        <p:spPr>
          <a:xfrm>
            <a:off x="1238291" y="4954666"/>
            <a:ext cx="424567"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lumMod val="65000"/>
                    <a:lumOff val="35000"/>
                  </a:schemeClr>
                </a:solidFill>
              </a:rPr>
              <a:t>2</a:t>
            </a:r>
            <a:endParaRPr lang="zh-CN" altLang="en-US" sz="2400" dirty="0">
              <a:solidFill>
                <a:schemeClr val="tx1">
                  <a:lumMod val="65000"/>
                  <a:lumOff val="3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第五节  开发环境介绍</a:t>
            </a:r>
            <a:endParaRPr lang="zh-CN" altLang="en-US" dirty="0"/>
          </a:p>
        </p:txBody>
      </p:sp>
      <p:graphicFrame>
        <p:nvGraphicFramePr>
          <p:cNvPr id="11" name="表格 10"/>
          <p:cNvGraphicFramePr>
            <a:graphicFrameLocks noGrp="1"/>
          </p:cNvGraphicFramePr>
          <p:nvPr>
            <p:custDataLst>
              <p:tags r:id="rId1"/>
            </p:custDataLst>
          </p:nvPr>
        </p:nvGraphicFramePr>
        <p:xfrm>
          <a:off x="1340741" y="1885843"/>
          <a:ext cx="9443244" cy="4267200"/>
        </p:xfrm>
        <a:graphic>
          <a:graphicData uri="http://schemas.openxmlformats.org/drawingml/2006/table">
            <a:tbl>
              <a:tblPr firstRow="1" bandRow="1">
                <a:tableStyleId>{F5AB1C69-6EDB-4FF4-983F-18BD219EF322}</a:tableStyleId>
              </a:tblPr>
              <a:tblGrid>
                <a:gridCol w="1812336"/>
                <a:gridCol w="1526182"/>
                <a:gridCol w="6104726"/>
              </a:tblGrid>
              <a:tr h="236483">
                <a:tc gridSpan="2">
                  <a:txBody>
                    <a:bodyPr/>
                    <a:lstStyle/>
                    <a:p>
                      <a:pPr algn="ctr"/>
                      <a:r>
                        <a:rPr lang="zh-CN" altLang="en-US" sz="1400" dirty="0" smtClean="0"/>
                        <a:t>常用基本功能</a:t>
                      </a:r>
                      <a:endParaRPr lang="zh-CN" altLang="en-US" sz="1400" dirty="0"/>
                    </a:p>
                  </a:txBody>
                  <a:tcPr anchor="ctr"/>
                </a:tc>
                <a:tc hMerge="1">
                  <a:tcPr/>
                </a:tc>
                <a:tc>
                  <a:txBody>
                    <a:bodyPr/>
                    <a:lstStyle/>
                    <a:p>
                      <a:pPr algn="ctr"/>
                      <a:r>
                        <a:rPr lang="zh-CN" altLang="en-US" sz="1400" dirty="0" smtClean="0"/>
                        <a:t>名词解释</a:t>
                      </a:r>
                      <a:endParaRPr lang="zh-CN" altLang="en-US" sz="1400" dirty="0"/>
                    </a:p>
                  </a:txBody>
                  <a:tcPr anchor="ctr"/>
                </a:tc>
              </a:tr>
              <a:tr h="236483">
                <a:tc rowSpan="5">
                  <a:txBody>
                    <a:bodyPr/>
                    <a:lstStyle/>
                    <a:p>
                      <a:r>
                        <a:rPr lang="zh-CN" altLang="en-US" sz="1400" dirty="0" smtClean="0"/>
                        <a:t>系统操作</a:t>
                      </a:r>
                      <a:endParaRPr lang="zh-CN" altLang="en-US" sz="1400" dirty="0"/>
                    </a:p>
                  </a:txBody>
                  <a:tcPr anchor="ctr"/>
                </a:tc>
                <a:tc>
                  <a:txBody>
                    <a:bodyPr/>
                    <a:lstStyle/>
                    <a:p>
                      <a:r>
                        <a:rPr lang="zh-CN" altLang="en-US" sz="1400" dirty="0" smtClean="0"/>
                        <a:t>进程</a:t>
                      </a:r>
                      <a:endParaRPr lang="zh-CN" altLang="en-US" sz="1400" dirty="0"/>
                    </a:p>
                  </a:txBody>
                  <a:tcPr anchor="ctr"/>
                </a:tc>
                <a:tc>
                  <a:txBody>
                    <a:bodyPr/>
                    <a:lstStyle/>
                    <a:p>
                      <a:r>
                        <a:rPr lang="zh-CN" altLang="en-US" sz="1400" dirty="0" smtClean="0"/>
                        <a:t>查看当前系统进程</a:t>
                      </a:r>
                      <a:r>
                        <a:rPr lang="en-US" altLang="zh-CN" sz="1400" dirty="0" smtClean="0"/>
                        <a:t>Processes</a:t>
                      </a:r>
                      <a:endParaRPr lang="zh-CN" altLang="en-US" sz="1400" dirty="0"/>
                    </a:p>
                  </a:txBody>
                  <a:tcPr anchor="ctr"/>
                </a:tc>
              </a:tr>
              <a:tr h="236483">
                <a:tc vMerge="1">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kern="1200" dirty="0" smtClean="0"/>
                        <a:t>锁</a:t>
                      </a:r>
                      <a:endParaRPr lang="zh-CN" altLang="en-US" sz="1400" kern="1200" dirty="0" smtClean="0">
                        <a:solidFill>
                          <a:schemeClr val="dk1"/>
                        </a:solidFill>
                        <a:latin typeface="+mn-lt"/>
                        <a:ea typeface="+mn-ea"/>
                        <a:cs typeface="+mn-cs"/>
                      </a:endParaRPr>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kern="1200" dirty="0" smtClean="0"/>
                        <a:t>系统进程锁的查看</a:t>
                      </a:r>
                      <a:endParaRPr lang="zh-CN" altLang="en-US" sz="1400" kern="1200" dirty="0">
                        <a:solidFill>
                          <a:schemeClr val="dk1"/>
                        </a:solidFill>
                        <a:latin typeface="+mn-lt"/>
                        <a:ea typeface="+mn-ea"/>
                        <a:cs typeface="+mn-cs"/>
                      </a:endParaRPr>
                    </a:p>
                  </a:txBody>
                  <a:tcPr anchor="ctr"/>
                </a:tc>
              </a:tr>
              <a:tr h="236483">
                <a:tc vMerge="1">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kern="1200" dirty="0" smtClean="0"/>
                        <a:t>Journals</a:t>
                      </a:r>
                      <a:endParaRPr lang="en-US" altLang="zh-CN" sz="1400" kern="1200" dirty="0" smtClean="0">
                        <a:solidFill>
                          <a:schemeClr val="dk1"/>
                        </a:solidFill>
                        <a:latin typeface="+mn-lt"/>
                        <a:ea typeface="+mn-ea"/>
                        <a:cs typeface="+mn-cs"/>
                      </a:endParaRPr>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kern="1200" dirty="0" smtClean="0"/>
                        <a:t>数据操作日志信息</a:t>
                      </a:r>
                      <a:endParaRPr lang="zh-CN" altLang="en-US" sz="1400" kern="1200" dirty="0">
                        <a:solidFill>
                          <a:schemeClr val="dk1"/>
                        </a:solidFill>
                        <a:latin typeface="+mn-lt"/>
                        <a:ea typeface="+mn-ea"/>
                        <a:cs typeface="+mn-cs"/>
                      </a:endParaRPr>
                    </a:p>
                  </a:txBody>
                  <a:tcPr anchor="ctr"/>
                </a:tc>
              </a:tr>
              <a:tr h="236483">
                <a:tc vMerge="1">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kern="1200" dirty="0" smtClean="0"/>
                        <a:t>CSP</a:t>
                      </a:r>
                      <a:r>
                        <a:rPr lang="zh-CN" altLang="en-US" sz="1400" kern="1200" dirty="0" smtClean="0"/>
                        <a:t>会话</a:t>
                      </a:r>
                      <a:endParaRPr lang="zh-CN" altLang="en-US" sz="1400" kern="1200" dirty="0" smtClean="0">
                        <a:solidFill>
                          <a:schemeClr val="dk1"/>
                        </a:solidFill>
                        <a:latin typeface="+mn-lt"/>
                        <a:ea typeface="+mn-ea"/>
                        <a:cs typeface="+mn-cs"/>
                      </a:endParaRPr>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kern="1200" dirty="0" smtClean="0"/>
                        <a:t>当前</a:t>
                      </a:r>
                      <a:r>
                        <a:rPr lang="en-US" altLang="zh-CN" sz="1400" kern="1200" dirty="0" smtClean="0"/>
                        <a:t>CSP</a:t>
                      </a:r>
                      <a:r>
                        <a:rPr lang="zh-CN" altLang="en-US" sz="1400" kern="1200" dirty="0" smtClean="0"/>
                        <a:t>会话列表</a:t>
                      </a:r>
                      <a:endParaRPr lang="zh-CN" altLang="en-US" sz="1400" kern="1200" dirty="0">
                        <a:solidFill>
                          <a:schemeClr val="dk1"/>
                        </a:solidFill>
                        <a:latin typeface="+mn-lt"/>
                        <a:ea typeface="+mn-ea"/>
                        <a:cs typeface="+mn-cs"/>
                      </a:endParaRPr>
                    </a:p>
                  </a:txBody>
                  <a:tcPr anchor="ctr"/>
                </a:tc>
              </a:tr>
              <a:tr h="236483">
                <a:tc vMerge="1">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kern="1200" dirty="0" smtClean="0"/>
                        <a:t>任务管理器</a:t>
                      </a:r>
                      <a:endParaRPr lang="zh-CN" altLang="en-US" sz="1400" kern="1200" dirty="0" smtClean="0">
                        <a:solidFill>
                          <a:schemeClr val="dk1"/>
                        </a:solidFill>
                        <a:latin typeface="+mn-lt"/>
                        <a:ea typeface="+mn-ea"/>
                        <a:cs typeface="+mn-cs"/>
                      </a:endParaRPr>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kern="1200" dirty="0" smtClean="0"/>
                        <a:t>设定、查看系统任务，比如：滚医嘱执行记录、床位费任务</a:t>
                      </a:r>
                      <a:endParaRPr lang="zh-CN" altLang="en-US" sz="1400" kern="1200" dirty="0">
                        <a:solidFill>
                          <a:schemeClr val="dk1"/>
                        </a:solidFill>
                        <a:latin typeface="+mn-lt"/>
                        <a:ea typeface="+mn-ea"/>
                        <a:cs typeface="+mn-cs"/>
                      </a:endParaRPr>
                    </a:p>
                  </a:txBody>
                  <a:tcPr anchor="ctr"/>
                </a:tc>
              </a:tr>
              <a:tr h="236483">
                <a:tc rowSpan="4">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系统资源管理器</a:t>
                      </a:r>
                      <a:endParaRPr lang="zh-CN" altLang="en-US" sz="1400" dirty="0" smtClean="0"/>
                    </a:p>
                  </a:txBody>
                  <a:tcPr anchor="ctr"/>
                </a:tc>
                <a:tc>
                  <a:txBody>
                    <a:bodyPr/>
                    <a:lstStyle/>
                    <a:p>
                      <a:r>
                        <a:rPr lang="zh-CN" altLang="en-US" sz="1400" dirty="0" smtClean="0"/>
                        <a:t>类</a:t>
                      </a:r>
                      <a:endParaRPr lang="zh-CN" altLang="en-US" sz="1400" dirty="0"/>
                    </a:p>
                  </a:txBody>
                  <a:tcP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查看</a:t>
                      </a:r>
                      <a:r>
                        <a:rPr lang="en-US" altLang="zh-CN" sz="1400" dirty="0" err="1" smtClean="0"/>
                        <a:t>Caché</a:t>
                      </a:r>
                      <a:r>
                        <a:rPr lang="en-US" altLang="zh-CN" sz="1400" dirty="0" smtClean="0"/>
                        <a:t> </a:t>
                      </a:r>
                      <a:r>
                        <a:rPr lang="zh-CN" altLang="en-US" sz="1400" dirty="0" smtClean="0"/>
                        <a:t>中的类的列表</a:t>
                      </a:r>
                      <a:endParaRPr lang="zh-CN" altLang="en-US" sz="1400" dirty="0" smtClean="0"/>
                    </a:p>
                  </a:txBody>
                  <a:tcPr/>
                </a:tc>
              </a:tr>
              <a:tr h="236483">
                <a:tc vMerge="1">
                  <a:tcPr anchor="ctr"/>
                </a:tc>
                <a:tc>
                  <a:txBody>
                    <a:bodyPr/>
                    <a:lstStyle/>
                    <a:p>
                      <a:r>
                        <a:rPr lang="en-US" altLang="zh-CN" sz="1400" dirty="0" smtClean="0"/>
                        <a:t>SQL</a:t>
                      </a:r>
                      <a:endParaRPr lang="zh-CN" altLang="en-US" sz="1400" dirty="0"/>
                    </a:p>
                  </a:txBody>
                  <a:tcPr/>
                </a:tc>
                <a:tc>
                  <a:txBody>
                    <a:bodyPr/>
                    <a:lstStyle/>
                    <a:p>
                      <a:r>
                        <a:rPr lang="zh-CN" altLang="en-US" sz="1400" dirty="0" smtClean="0"/>
                        <a:t>通过关系型方式访问</a:t>
                      </a:r>
                      <a:r>
                        <a:rPr lang="en-US" altLang="zh-CN" sz="1400" dirty="0" err="1" smtClean="0"/>
                        <a:t>Caché</a:t>
                      </a:r>
                      <a:endParaRPr lang="zh-CN" altLang="en-US" sz="1400" dirty="0"/>
                    </a:p>
                  </a:txBody>
                  <a:tcPr/>
                </a:tc>
              </a:tr>
              <a:tr h="304800">
                <a:tc vMerge="1">
                  <a:tcPr anchor="ctr"/>
                </a:tc>
                <a:tc>
                  <a:txBody>
                    <a:bodyPr/>
                    <a:lstStyle/>
                    <a:p>
                      <a:r>
                        <a:rPr lang="en-US" altLang="zh-CN" sz="1400" dirty="0" err="1" smtClean="0"/>
                        <a:t>Rountine</a:t>
                      </a:r>
                      <a:endParaRPr lang="zh-CN" altLang="en-US" sz="1400" dirty="0"/>
                    </a:p>
                  </a:txBody>
                  <a:tcP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查看</a:t>
                      </a:r>
                      <a:r>
                        <a:rPr lang="en-US" altLang="zh-CN" sz="1400" dirty="0" err="1" smtClean="0"/>
                        <a:t>Caché</a:t>
                      </a:r>
                      <a:r>
                        <a:rPr lang="en-US" altLang="zh-CN" sz="1400" dirty="0" smtClean="0"/>
                        <a:t> </a:t>
                      </a:r>
                      <a:r>
                        <a:rPr lang="zh-CN" altLang="en-US" sz="1400" dirty="0" smtClean="0"/>
                        <a:t>中的例程的信息</a:t>
                      </a:r>
                      <a:endParaRPr lang="zh-CN" altLang="en-US" sz="1400" dirty="0" smtClean="0"/>
                    </a:p>
                  </a:txBody>
                  <a:tcPr/>
                </a:tc>
              </a:tr>
              <a:tr h="236483">
                <a:tc vMerge="1">
                  <a:tcPr anchor="ctr"/>
                </a:tc>
                <a:tc>
                  <a:txBody>
                    <a:bodyPr/>
                    <a:lstStyle/>
                    <a:p>
                      <a:r>
                        <a:rPr lang="en-US" altLang="zh-CN" sz="1400" dirty="0" smtClean="0"/>
                        <a:t>Global</a:t>
                      </a:r>
                      <a:endParaRPr lang="zh-CN" altLang="en-US" sz="1400" dirty="0"/>
                    </a:p>
                  </a:txBody>
                  <a:tcPr/>
                </a:tc>
                <a:tc>
                  <a:txBody>
                    <a:bodyPr/>
                    <a:lstStyle/>
                    <a:p>
                      <a:r>
                        <a:rPr lang="zh-CN" altLang="en-US" sz="1400" dirty="0" smtClean="0"/>
                        <a:t>查看</a:t>
                      </a:r>
                      <a:r>
                        <a:rPr lang="en-US" altLang="zh-CN" sz="1400" dirty="0" err="1" smtClean="0"/>
                        <a:t>Caché</a:t>
                      </a:r>
                      <a:r>
                        <a:rPr lang="en-US" altLang="zh-CN" sz="1400" dirty="0" smtClean="0"/>
                        <a:t> </a:t>
                      </a:r>
                      <a:r>
                        <a:rPr lang="zh-CN" altLang="en-US" sz="1400" dirty="0" smtClean="0"/>
                        <a:t>中的</a:t>
                      </a:r>
                      <a:r>
                        <a:rPr lang="en-US" altLang="zh-CN" sz="1400" dirty="0" smtClean="0"/>
                        <a:t>Global</a:t>
                      </a:r>
                      <a:r>
                        <a:rPr lang="zh-CN" altLang="en-US" sz="1400" dirty="0" smtClean="0"/>
                        <a:t>信息</a:t>
                      </a:r>
                      <a:endParaRPr lang="zh-CN" altLang="en-US" sz="1400" dirty="0"/>
                    </a:p>
                  </a:txBody>
                  <a:tcPr/>
                </a:tc>
              </a:tr>
              <a:tr h="236483">
                <a:tc rowSpan="4">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系统管理 </a:t>
                      </a:r>
                      <a:r>
                        <a:rPr lang="en-US" altLang="zh-CN" sz="1400" dirty="0" smtClean="0"/>
                        <a:t>(</a:t>
                      </a:r>
                      <a:r>
                        <a:rPr lang="zh-CN" altLang="en-US" sz="1400" dirty="0" smtClean="0"/>
                        <a:t>了解</a:t>
                      </a:r>
                      <a:r>
                        <a:rPr lang="en-US" altLang="zh-CN" sz="1400" dirty="0" smtClean="0"/>
                        <a:t>)</a:t>
                      </a:r>
                      <a:endParaRPr lang="zh-CN" altLang="en-US" sz="1400" dirty="0" smtClean="0"/>
                    </a:p>
                    <a:p>
                      <a:endParaRPr lang="zh-CN" altLang="en-US" sz="1400" dirty="0"/>
                    </a:p>
                  </a:txBody>
                  <a:tcPr anchor="ctr"/>
                </a:tc>
                <a:tc rowSpan="2">
                  <a:txBody>
                    <a:bodyPr/>
                    <a:lstStyle/>
                    <a:p>
                      <a:r>
                        <a:rPr lang="zh-CN" altLang="en-US" sz="1400" dirty="0" smtClean="0"/>
                        <a:t>配置</a:t>
                      </a:r>
                      <a:r>
                        <a:rPr lang="en-US" altLang="zh-CN" sz="1400" dirty="0" smtClean="0"/>
                        <a:t>&gt;</a:t>
                      </a:r>
                      <a:endParaRPr lang="zh-CN" altLang="en-US" sz="1400" dirty="0"/>
                    </a:p>
                  </a:txBody>
                  <a:tcPr/>
                </a:tc>
                <a:tc>
                  <a:txBody>
                    <a:bodyPr/>
                    <a:lstStyle/>
                    <a:p>
                      <a:r>
                        <a:rPr lang="zh-CN" altLang="en-US" sz="1400" dirty="0" smtClean="0"/>
                        <a:t>系统配置</a:t>
                      </a:r>
                      <a:r>
                        <a:rPr lang="en-US" altLang="zh-CN" sz="1400" dirty="0" smtClean="0"/>
                        <a:t>&gt;</a:t>
                      </a:r>
                      <a:r>
                        <a:rPr lang="en-US" altLang="zh-CN" sz="1400" dirty="0" err="1" smtClean="0"/>
                        <a:t>NameSpaces</a:t>
                      </a:r>
                      <a:r>
                        <a:rPr lang="zh-CN" altLang="en-US" sz="1400" dirty="0" smtClean="0"/>
                        <a:t>：名字空间及数据映射管理</a:t>
                      </a:r>
                      <a:endParaRPr lang="zh-CN" altLang="en-US" sz="1400" dirty="0" smtClean="0"/>
                    </a:p>
                  </a:txBody>
                  <a:tcPr/>
                </a:tc>
              </a:tr>
              <a:tr h="236483">
                <a:tc vMerge="1">
                  <a:tcPr/>
                </a:tc>
                <a:tc vMerge="1">
                  <a:tcPr/>
                </a:tc>
                <a:tc>
                  <a:txBody>
                    <a:bodyPr/>
                    <a:lstStyle/>
                    <a:p>
                      <a:r>
                        <a:rPr lang="zh-CN" altLang="en-US" sz="1400" dirty="0" smtClean="0"/>
                        <a:t>系统配置</a:t>
                      </a:r>
                      <a:r>
                        <a:rPr lang="en-US" altLang="zh-CN" sz="1400" dirty="0" smtClean="0"/>
                        <a:t>&gt;</a:t>
                      </a:r>
                      <a:r>
                        <a:rPr lang="zh-CN" altLang="en-US" sz="1400" dirty="0" smtClean="0"/>
                        <a:t>本地数据库：数据库存储配置及权限管理</a:t>
                      </a:r>
                      <a:endParaRPr lang="en-US" altLang="zh-CN" sz="1400" dirty="0" smtClean="0"/>
                    </a:p>
                  </a:txBody>
                  <a:tcPr/>
                </a:tc>
              </a:tr>
              <a:tr h="236483">
                <a:tc vMerge="1">
                  <a:tcPr anchor="ctr"/>
                </a:tc>
                <a:tc rowSpan="2">
                  <a:txBody>
                    <a:bodyPr/>
                    <a:lstStyle/>
                    <a:p>
                      <a:r>
                        <a:rPr lang="zh-CN" altLang="en-US" sz="1400" dirty="0" smtClean="0"/>
                        <a:t>安全</a:t>
                      </a:r>
                      <a:r>
                        <a:rPr lang="en-US" altLang="zh-CN" sz="1400" dirty="0" smtClean="0"/>
                        <a:t>&gt;</a:t>
                      </a:r>
                      <a:endParaRPr lang="en-US" altLang="zh-CN" sz="1400" dirty="0" smtClean="0"/>
                    </a:p>
                  </a:txBody>
                  <a:tcPr/>
                </a:tc>
                <a:tc>
                  <a:txBody>
                    <a:bodyPr/>
                    <a:lstStyle/>
                    <a:p>
                      <a:r>
                        <a:rPr lang="zh-CN" altLang="en-US" sz="1400" dirty="0" smtClean="0"/>
                        <a:t>应用程序</a:t>
                      </a:r>
                      <a:r>
                        <a:rPr lang="en-US" altLang="zh-CN" sz="1400" dirty="0" smtClean="0"/>
                        <a:t>&gt;web</a:t>
                      </a:r>
                      <a:r>
                        <a:rPr lang="zh-CN" altLang="en-US" sz="1400" dirty="0" smtClean="0"/>
                        <a:t>应用程序 ：配置</a:t>
                      </a:r>
                      <a:r>
                        <a:rPr lang="en-US" altLang="zh-CN" sz="1400" dirty="0" smtClean="0"/>
                        <a:t>web</a:t>
                      </a:r>
                      <a:r>
                        <a:rPr lang="zh-CN" altLang="en-US" sz="1400" dirty="0" smtClean="0"/>
                        <a:t>应用程序</a:t>
                      </a:r>
                      <a:endParaRPr lang="en-US" altLang="zh-CN" sz="1400" dirty="0" smtClean="0"/>
                    </a:p>
                  </a:txBody>
                  <a:tcPr/>
                </a:tc>
              </a:tr>
              <a:tr h="282291">
                <a:tc vMerge="1">
                  <a:tcPr anchor="ctr"/>
                </a:tc>
                <a:tc vMerge="1">
                  <a:tcP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服务 ：对自身服务权限的访问管理，比如：</a:t>
                      </a:r>
                      <a:r>
                        <a:rPr lang="en-US" altLang="zh-CN" sz="1400" kern="1200" dirty="0" smtClean="0">
                          <a:effectLst/>
                          <a:hlinkClick r:id="rId2"/>
                        </a:rPr>
                        <a:t>%</a:t>
                      </a:r>
                      <a:r>
                        <a:rPr lang="en-US" altLang="zh-CN" sz="1400" kern="1200" dirty="0" err="1" smtClean="0">
                          <a:effectLst/>
                          <a:hlinkClick r:id="rId2"/>
                        </a:rPr>
                        <a:t>Service_Telnet</a:t>
                      </a:r>
                      <a:r>
                        <a:rPr lang="zh-CN" altLang="en-US" sz="1400" kern="1200" dirty="0" smtClean="0">
                          <a:effectLst/>
                        </a:rPr>
                        <a:t>的身份验证</a:t>
                      </a:r>
                      <a:endParaRPr lang="zh-CN" altLang="en-US" sz="1400" dirty="0" smtClean="0"/>
                    </a:p>
                  </a:txBody>
                  <a:tcPr/>
                </a:tc>
              </a:tr>
            </a:tbl>
          </a:graphicData>
        </a:graphic>
      </p:graphicFrame>
      <p:grpSp>
        <p:nvGrpSpPr>
          <p:cNvPr id="14" name="组合 13"/>
          <p:cNvGrpSpPr/>
          <p:nvPr/>
        </p:nvGrpSpPr>
        <p:grpSpPr>
          <a:xfrm>
            <a:off x="916174" y="1240992"/>
            <a:ext cx="3136282" cy="437034"/>
            <a:chOff x="947346" y="1022783"/>
            <a:chExt cx="3136282" cy="437034"/>
          </a:xfrm>
        </p:grpSpPr>
        <p:sp>
          <p:nvSpPr>
            <p:cNvPr id="12" name="文本框 11"/>
            <p:cNvSpPr txBox="1"/>
            <p:nvPr/>
          </p:nvSpPr>
          <p:spPr>
            <a:xfrm>
              <a:off x="1439300" y="1022783"/>
              <a:ext cx="2644328" cy="416011"/>
            </a:xfrm>
            <a:prstGeom prst="rect">
              <a:avLst/>
            </a:prstGeom>
          </p:spPr>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stStyle>
            <a:p>
              <a:r>
                <a:rPr lang="en-US" altLang="zh-CN" dirty="0" smtClean="0"/>
                <a:t>Management Portal</a:t>
              </a:r>
              <a:endParaRPr lang="en-US" altLang="zh-CN" dirty="0"/>
            </a:p>
          </p:txBody>
        </p:sp>
        <p:sp>
          <p:nvSpPr>
            <p:cNvPr id="13" name="椭圆 12"/>
            <p:cNvSpPr/>
            <p:nvPr/>
          </p:nvSpPr>
          <p:spPr>
            <a:xfrm>
              <a:off x="947346" y="1022783"/>
              <a:ext cx="424567"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3</a:t>
              </a:r>
              <a:endParaRPr lang="zh-CN" altLang="en-US" sz="2400" dirty="0">
                <a:solidFill>
                  <a:schemeClr val="tx1">
                    <a:lumMod val="65000"/>
                    <a:lumOff val="35000"/>
                  </a:schemeClr>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923925" y="486410"/>
            <a:ext cx="8072120" cy="70675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900">
                <a:solidFill>
                  <a:srgbClr val="004799"/>
                </a:solidFill>
                <a:latin typeface="微软雅黑" panose="020B0503020204020204" pitchFamily="34" charset="-122"/>
                <a:ea typeface="微软雅黑" panose="020B0503020204020204" pitchFamily="34" charset="-122"/>
              </a:rPr>
              <a:t>锁</a:t>
            </a:r>
            <a:endParaRPr lang="zh-CN" altLang="en-US" sz="2900">
              <a:solidFill>
                <a:srgbClr val="004799"/>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807720" y="1298575"/>
            <a:ext cx="3162935" cy="737235"/>
          </a:xfrm>
          <a:prstGeom prst="rect">
            <a:avLst/>
          </a:prstGeom>
          <a:solidFill>
            <a:schemeClr val="accent2">
              <a:lumMod val="40000"/>
              <a:lumOff val="60000"/>
            </a:schemeClr>
          </a:solidFill>
        </p:spPr>
        <p:txBody>
          <a:bodyPr wrap="square" rtlCol="0" anchor="t">
            <a:spAutoFit/>
          </a:bodyPr>
          <a:p>
            <a:r>
              <a:rPr lang="en-US" altLang="zh-CN" sz="1400"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 显示</a:t>
            </a:r>
            <a:r>
              <a:rPr lang="zh-CN" altLang="en-US" sz="1400"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及管理锁</a:t>
            </a:r>
            <a:endParaRPr lang="zh-CN" altLang="en-US" sz="140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System Operation </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 Locks</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d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^LOCKTAB</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4303395" y="1298575"/>
            <a:ext cx="6698615" cy="49180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923925" y="486410"/>
            <a:ext cx="8072120" cy="70675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900">
                <a:solidFill>
                  <a:srgbClr val="004799"/>
                </a:solidFill>
                <a:latin typeface="微软雅黑" panose="020B0503020204020204" pitchFamily="34" charset="-122"/>
                <a:ea typeface="微软雅黑" panose="020B0503020204020204" pitchFamily="34" charset="-122"/>
              </a:rPr>
              <a:t>锁</a:t>
            </a:r>
            <a:endParaRPr lang="zh-CN" altLang="en-US" sz="2900">
              <a:solidFill>
                <a:srgbClr val="004799"/>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93115" y="1593850"/>
            <a:ext cx="3341370" cy="2030095"/>
          </a:xfrm>
          <a:prstGeom prst="rect">
            <a:avLst/>
          </a:prstGeom>
          <a:solidFill>
            <a:schemeClr val="accent2">
              <a:lumMod val="40000"/>
              <a:lumOff val="60000"/>
            </a:schemeClr>
          </a:solidFill>
        </p:spPr>
        <p:txBody>
          <a:bodyPr wrap="square" rtlCol="0" anchor="t">
            <a:spAutoFit/>
          </a:bodyPr>
          <a:p>
            <a:r>
              <a:rPr lang="zh-CN" altLang="en-US" sz="1400">
                <a:solidFill>
                  <a:srgbClr val="00B050"/>
                </a:solidFill>
                <a:latin typeface="Times New Roman" panose="02020603050405020304" charset="0"/>
                <a:ea typeface="微软雅黑" panose="020B0503020204020204" pitchFamily="34" charset="-122"/>
                <a:cs typeface="Times New Roman" panose="02020603050405020304" charset="0"/>
              </a:rPr>
              <a:t>ECP 网络中的锁</a:t>
            </a:r>
            <a:endParaRPr lang="zh-CN" altLang="en-US" sz="1400">
              <a:solidFill>
                <a:srgbClr val="00B050"/>
              </a:solidFill>
              <a:latin typeface="Times New Roman" panose="02020603050405020304" charset="0"/>
              <a:ea typeface="微软雅黑" panose="020B0503020204020204" pitchFamily="34" charset="-122"/>
              <a:cs typeface="Times New Roman" panose="02020603050405020304" charset="0"/>
            </a:endParaRPr>
          </a:p>
          <a:p>
            <a:r>
              <a:rPr lang="en-US" altLang="zh-CN" sz="1400" dirty="0">
                <a:latin typeface="微软雅黑" panose="020B0503020204020204" pitchFamily="34" charset="-122"/>
                <a:ea typeface="微软雅黑" panose="020B0503020204020204" pitchFamily="34" charset="-122"/>
                <a:cs typeface="Times New Roman" panose="02020603050405020304" charset="0"/>
                <a:sym typeface="+mn-ea"/>
              </a:rPr>
              <a:t>●</a:t>
            </a:r>
            <a:r>
              <a:rPr lang="zh-CN" altLang="en-US" sz="1400" dirty="0">
                <a:latin typeface="Times New Roman" panose="02020603050405020304" charset="0"/>
                <a:ea typeface="微软雅黑" panose="020B0503020204020204" pitchFamily="34" charset="-122"/>
                <a:cs typeface="Times New Roman" panose="02020603050405020304" charset="0"/>
                <a:sym typeface="+mn-ea"/>
              </a:rPr>
              <a:t> </a:t>
            </a:r>
            <a:r>
              <a:rPr lang="zh-CN" altLang="en-US" sz="1400" dirty="0">
                <a:latin typeface="Times New Roman" panose="02020603050405020304" charset="0"/>
                <a:ea typeface="微软雅黑" panose="020B0503020204020204" pitchFamily="34" charset="-122"/>
                <a:cs typeface="Times New Roman" panose="02020603050405020304" charset="0"/>
              </a:rPr>
              <a:t> 当一个数据服务器进程请求一个锁</a:t>
            </a:r>
            <a:endParaRPr lang="zh-CN" altLang="en-US" sz="1400" dirty="0">
              <a:latin typeface="Times New Roman" panose="02020603050405020304" charset="0"/>
              <a:ea typeface="微软雅黑" panose="020B0503020204020204" pitchFamily="34" charset="-122"/>
              <a:cs typeface="Times New Roman" panose="02020603050405020304" charset="0"/>
            </a:endParaRPr>
          </a:p>
          <a:p>
            <a:r>
              <a:rPr lang="zh-CN" altLang="en-US" sz="1400" dirty="0">
                <a:latin typeface="Times New Roman" panose="02020603050405020304" charset="0"/>
                <a:ea typeface="微软雅黑" panose="020B0503020204020204" pitchFamily="34" charset="-122"/>
                <a:cs typeface="Times New Roman" panose="02020603050405020304" charset="0"/>
              </a:rPr>
              <a:t>锁的请求会被记录在</a:t>
            </a:r>
            <a:endParaRPr lang="zh-CN" altLang="en-US" sz="1400" dirty="0">
              <a:latin typeface="Times New Roman" panose="02020603050405020304" charset="0"/>
              <a:ea typeface="微软雅黑" panose="020B0503020204020204" pitchFamily="34" charset="-122"/>
              <a:cs typeface="Times New Roman" panose="02020603050405020304" charset="0"/>
            </a:endParaRPr>
          </a:p>
          <a:p>
            <a:endParaRPr lang="zh-CN" altLang="en-US" sz="1400">
              <a:latin typeface="Times New Roman" panose="02020603050405020304" charset="0"/>
              <a:ea typeface="微软雅黑" panose="020B0503020204020204" pitchFamily="34" charset="-122"/>
              <a:cs typeface="Times New Roman" panose="02020603050405020304" charset="0"/>
            </a:endParaRPr>
          </a:p>
          <a:p>
            <a:r>
              <a:rPr lang="zh-CN" altLang="en-US" sz="1400" dirty="0">
                <a:latin typeface="Times New Roman" panose="02020603050405020304" charset="0"/>
                <a:ea typeface="微软雅黑" panose="020B0503020204020204" pitchFamily="34" charset="-122"/>
                <a:cs typeface="Times New Roman" panose="02020603050405020304" charset="0"/>
              </a:rPr>
              <a:t>本地锁表 (数据服务器) </a:t>
            </a:r>
            <a:endParaRPr lang="zh-CN" altLang="en-US" sz="1400" dirty="0">
              <a:latin typeface="Times New Roman" panose="02020603050405020304" charset="0"/>
              <a:ea typeface="微软雅黑" panose="020B0503020204020204" pitchFamily="34" charset="-122"/>
              <a:cs typeface="Times New Roman" panose="02020603050405020304" charset="0"/>
            </a:endParaRPr>
          </a:p>
          <a:p>
            <a:r>
              <a:rPr lang="zh-CN" altLang="en-US" sz="1400" dirty="0">
                <a:latin typeface="Times New Roman" panose="02020603050405020304" charset="0"/>
                <a:ea typeface="微软雅黑" panose="020B0503020204020204" pitchFamily="34" charset="-122"/>
                <a:cs typeface="Times New Roman" panose="02020603050405020304" charset="0"/>
              </a:rPr>
              <a:t>• 所有者 (进程号) </a:t>
            </a:r>
            <a:endParaRPr lang="zh-CN" altLang="en-US" sz="1400" dirty="0">
              <a:latin typeface="Times New Roman" panose="02020603050405020304" charset="0"/>
              <a:ea typeface="微软雅黑" panose="020B0503020204020204" pitchFamily="34" charset="-122"/>
              <a:cs typeface="Times New Roman" panose="02020603050405020304" charset="0"/>
            </a:endParaRPr>
          </a:p>
          <a:p>
            <a:r>
              <a:rPr lang="zh-CN" altLang="en-US" sz="1400" dirty="0">
                <a:latin typeface="Times New Roman" panose="02020603050405020304" charset="0"/>
                <a:ea typeface="微软雅黑" panose="020B0503020204020204" pitchFamily="34" charset="-122"/>
                <a:cs typeface="Times New Roman" panose="02020603050405020304" charset="0"/>
              </a:rPr>
              <a:t>• 锁模式</a:t>
            </a:r>
            <a:endParaRPr lang="zh-CN" altLang="en-US" sz="1400" dirty="0">
              <a:latin typeface="Times New Roman" panose="02020603050405020304" charset="0"/>
              <a:ea typeface="微软雅黑" panose="020B0503020204020204" pitchFamily="34" charset="-122"/>
              <a:cs typeface="Times New Roman" panose="02020603050405020304" charset="0"/>
            </a:endParaRPr>
          </a:p>
          <a:p>
            <a:r>
              <a:rPr lang="zh-CN" altLang="en-US" sz="1400" dirty="0">
                <a:latin typeface="Times New Roman" panose="02020603050405020304" charset="0"/>
                <a:ea typeface="微软雅黑" panose="020B0503020204020204" pitchFamily="34" charset="-122"/>
                <a:cs typeface="Times New Roman" panose="02020603050405020304" charset="0"/>
              </a:rPr>
              <a:t>• Global</a:t>
            </a:r>
            <a:endParaRPr lang="zh-CN" altLang="en-US" sz="1400" dirty="0">
              <a:latin typeface="Times New Roman" panose="02020603050405020304" charset="0"/>
              <a:ea typeface="微软雅黑" panose="020B0503020204020204" pitchFamily="34" charset="-122"/>
              <a:cs typeface="Times New Roman" panose="02020603050405020304" charset="0"/>
            </a:endParaRPr>
          </a:p>
          <a:p>
            <a:r>
              <a:rPr lang="zh-CN" altLang="en-US" sz="1400" dirty="0">
                <a:latin typeface="Times New Roman" panose="02020603050405020304" charset="0"/>
                <a:ea typeface="微软雅黑" panose="020B0503020204020204" pitchFamily="34" charset="-122"/>
                <a:cs typeface="Times New Roman" panose="02020603050405020304" charset="0"/>
              </a:rPr>
              <a:t>• 数据库</a:t>
            </a:r>
            <a:endParaRPr lang="zh-CN" altLang="en-US" sz="1400" dirty="0">
              <a:latin typeface="Times New Roman" panose="02020603050405020304" charset="0"/>
              <a:ea typeface="微软雅黑" panose="020B0503020204020204" pitchFamily="34" charset="-122"/>
              <a:cs typeface="Times New Roman" panose="02020603050405020304" charset="0"/>
            </a:endParaRPr>
          </a:p>
        </p:txBody>
      </p:sp>
      <p:pic>
        <p:nvPicPr>
          <p:cNvPr id="12" name="图片 11"/>
          <p:cNvPicPr>
            <a:picLocks noChangeAspect="1"/>
          </p:cNvPicPr>
          <p:nvPr/>
        </p:nvPicPr>
        <p:blipFill>
          <a:blip r:embed="rId1"/>
          <a:stretch>
            <a:fillRect/>
          </a:stretch>
        </p:blipFill>
        <p:spPr>
          <a:xfrm>
            <a:off x="4253865" y="1593850"/>
            <a:ext cx="7466330" cy="32448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923925" y="486410"/>
            <a:ext cx="8072120" cy="70675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900">
                <a:solidFill>
                  <a:srgbClr val="004799"/>
                </a:solidFill>
                <a:latin typeface="微软雅黑" panose="020B0503020204020204" pitchFamily="34" charset="-122"/>
                <a:ea typeface="微软雅黑" panose="020B0503020204020204" pitchFamily="34" charset="-122"/>
              </a:rPr>
              <a:t>锁</a:t>
            </a:r>
            <a:endParaRPr lang="zh-CN" altLang="en-US" sz="2900">
              <a:solidFill>
                <a:srgbClr val="00479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23925" y="1430655"/>
            <a:ext cx="2540000" cy="3538220"/>
          </a:xfrm>
          <a:prstGeom prst="rect">
            <a:avLst/>
          </a:prstGeom>
          <a:solidFill>
            <a:schemeClr val="accent2">
              <a:lumMod val="40000"/>
              <a:lumOff val="60000"/>
            </a:schemeClr>
          </a:solidFill>
        </p:spPr>
        <p:txBody>
          <a:bodyPr wrap="square" rtlCol="0" anchor="t">
            <a:spAutoFit/>
          </a:bodyPr>
          <a:p>
            <a:r>
              <a:rPr lang="en-US" altLang="zh-CN" sz="1400" dirty="0">
                <a:latin typeface="微软雅黑" panose="020B0503020204020204" pitchFamily="34" charset="-122"/>
                <a:ea typeface="微软雅黑" panose="020B0503020204020204" pitchFamily="34" charset="-122"/>
                <a:cs typeface="Times New Roman" panose="02020603050405020304" charset="0"/>
                <a:sym typeface="+mn-ea"/>
              </a:rPr>
              <a:t>●</a:t>
            </a:r>
            <a:r>
              <a:rPr lang="zh-CN" altLang="en-US" sz="1400" dirty="0">
                <a:latin typeface="Times New Roman" panose="02020603050405020304" charset="0"/>
                <a:ea typeface="微软雅黑" panose="020B0503020204020204" pitchFamily="34" charset="-122"/>
                <a:cs typeface="Times New Roman" panose="02020603050405020304" charset="0"/>
                <a:sym typeface="+mn-ea"/>
              </a:rPr>
              <a:t> </a:t>
            </a:r>
            <a:r>
              <a:rPr lang="zh-CN" altLang="en-US" sz="1400" dirty="0">
                <a:latin typeface="Times New Roman" panose="02020603050405020304" charset="0"/>
                <a:ea typeface="微软雅黑" panose="020B0503020204020204" pitchFamily="34" charset="-122"/>
                <a:cs typeface="Times New Roman" panose="02020603050405020304" charset="0"/>
                <a:sym typeface="+mn-ea"/>
              </a:rPr>
              <a:t> 当一个应用服务器进程请求一个锁</a:t>
            </a:r>
            <a:endParaRPr lang="zh-CN" altLang="en-US" sz="1400" dirty="0">
              <a:latin typeface="Times New Roman" panose="02020603050405020304" charset="0"/>
              <a:ea typeface="微软雅黑" panose="020B0503020204020204" pitchFamily="34" charset="-122"/>
              <a:cs typeface="Times New Roman" panose="02020603050405020304" charset="0"/>
            </a:endParaRPr>
          </a:p>
          <a:p>
            <a:r>
              <a:rPr lang="zh-CN" altLang="en-US" sz="1400" dirty="0">
                <a:latin typeface="Times New Roman" panose="02020603050405020304" charset="0"/>
                <a:ea typeface="微软雅黑" panose="020B0503020204020204" pitchFamily="34" charset="-122"/>
                <a:cs typeface="Times New Roman" panose="02020603050405020304" charset="0"/>
                <a:sym typeface="+mn-ea"/>
              </a:rPr>
              <a:t>锁的请求会被记录在</a:t>
            </a:r>
            <a:endParaRPr lang="zh-CN" altLang="en-US" sz="1400" dirty="0">
              <a:latin typeface="Times New Roman" panose="02020603050405020304" charset="0"/>
              <a:ea typeface="微软雅黑" panose="020B0503020204020204" pitchFamily="34" charset="-122"/>
              <a:cs typeface="Times New Roman" panose="02020603050405020304" charset="0"/>
            </a:endParaRPr>
          </a:p>
          <a:p>
            <a:endParaRPr lang="zh-CN" altLang="en-US" sz="1400" dirty="0">
              <a:latin typeface="Times New Roman" panose="02020603050405020304" charset="0"/>
              <a:ea typeface="+mj-ea"/>
              <a:cs typeface="Times New Roman" panose="02020603050405020304" charset="0"/>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本地锁表 (应用服务器) </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 所有者 (进程号) </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 锁模式</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 Global</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 数据库</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数据服务器锁表</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所有者(连接: 服务器实例) </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锁模式</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Global</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 数据库</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p:cNvPicPr>
            <a:picLocks noChangeAspect="1"/>
          </p:cNvPicPr>
          <p:nvPr/>
        </p:nvPicPr>
        <p:blipFill>
          <a:blip r:embed="rId1"/>
          <a:stretch>
            <a:fillRect/>
          </a:stretch>
        </p:blipFill>
        <p:spPr>
          <a:xfrm>
            <a:off x="4087495" y="1019810"/>
            <a:ext cx="6253480" cy="2717800"/>
          </a:xfrm>
          <a:prstGeom prst="rect">
            <a:avLst/>
          </a:prstGeom>
        </p:spPr>
      </p:pic>
      <p:pic>
        <p:nvPicPr>
          <p:cNvPr id="3" name="图片 2"/>
          <p:cNvPicPr>
            <a:picLocks noChangeAspect="1"/>
          </p:cNvPicPr>
          <p:nvPr/>
        </p:nvPicPr>
        <p:blipFill>
          <a:blip r:embed="rId2"/>
          <a:stretch>
            <a:fillRect/>
          </a:stretch>
        </p:blipFill>
        <p:spPr>
          <a:xfrm>
            <a:off x="4087495" y="3737610"/>
            <a:ext cx="7112000" cy="23869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875665" y="1239520"/>
            <a:ext cx="8072120" cy="70675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900">
                <a:solidFill>
                  <a:srgbClr val="004799"/>
                </a:solidFill>
                <a:latin typeface="微软雅黑" panose="020B0503020204020204" pitchFamily="34" charset="-122"/>
                <a:ea typeface="微软雅黑" panose="020B0503020204020204" pitchFamily="34" charset="-122"/>
              </a:rPr>
              <a:t>数据库进程</a:t>
            </a:r>
            <a:endParaRPr lang="zh-CN" altLang="en-US" sz="2900">
              <a:solidFill>
                <a:srgbClr val="004799"/>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custDataLst>
              <p:tags r:id="rId1"/>
            </p:custDataLst>
          </p:nvPr>
        </p:nvPicPr>
        <p:blipFill>
          <a:blip r:embed="rId2"/>
          <a:stretch>
            <a:fillRect/>
          </a:stretch>
        </p:blipFill>
        <p:spPr>
          <a:xfrm>
            <a:off x="1085850" y="2665095"/>
            <a:ext cx="10020300" cy="3380740"/>
          </a:xfrm>
          <a:prstGeom prst="rect">
            <a:avLst/>
          </a:prstGeom>
        </p:spPr>
      </p:pic>
      <p:sp>
        <p:nvSpPr>
          <p:cNvPr id="3" name="文本框 2"/>
          <p:cNvSpPr txBox="1"/>
          <p:nvPr/>
        </p:nvSpPr>
        <p:spPr>
          <a:xfrm>
            <a:off x="1220470" y="1946275"/>
            <a:ext cx="10020935" cy="306705"/>
          </a:xfrm>
          <a:prstGeom prst="rect">
            <a:avLst/>
          </a:prstGeom>
          <a:solidFill>
            <a:schemeClr val="accent2">
              <a:lumMod val="40000"/>
              <a:lumOff val="60000"/>
            </a:schemeClr>
          </a:solidFill>
        </p:spPr>
        <p:txBody>
          <a:bodyPr wrap="square" rtlCol="0">
            <a:spAutoFit/>
          </a:bodyPr>
          <a:p>
            <a:r>
              <a:rPr lang="zh-CN" sz="1400">
                <a:latin typeface="微软雅黑" panose="020B0503020204020204" pitchFamily="34" charset="-122"/>
                <a:ea typeface="微软雅黑" panose="020B0503020204020204" pitchFamily="34" charset="-122"/>
                <a:cs typeface="微软雅黑" panose="020B0503020204020204" pitchFamily="34" charset="-122"/>
                <a:sym typeface="+mn-ea"/>
              </a:rPr>
              <a:t>系统管理界面</a:t>
            </a:r>
            <a:endParaRPr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a:t>
            </a:r>
            <a:r>
              <a:rPr lang="zh-CN" altLang="en-US" dirty="0">
                <a:sym typeface="+mn-ea"/>
              </a:rPr>
              <a:t>章</a:t>
            </a:r>
            <a:r>
              <a:rPr lang="zh-CN" altLang="en-US" dirty="0">
                <a:sym typeface="微软雅黑" panose="020B0503020204020204" pitchFamily="34" charset="-122"/>
              </a:rPr>
              <a:t> </a:t>
            </a:r>
            <a:r>
              <a:rPr lang="en-US" altLang="zh-CN" dirty="0">
                <a:sym typeface="微软雅黑" panose="020B0503020204020204" pitchFamily="34" charset="-122"/>
              </a:rPr>
              <a:t>|</a:t>
            </a:r>
            <a:r>
              <a:rPr lang="zh-CN" altLang="en-US" dirty="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第五节  开发环境介绍</a:t>
            </a:r>
            <a:endParaRPr lang="zh-CN" altLang="en-US" dirty="0"/>
          </a:p>
        </p:txBody>
      </p:sp>
      <p:graphicFrame>
        <p:nvGraphicFramePr>
          <p:cNvPr id="7" name="表格 6"/>
          <p:cNvGraphicFramePr>
            <a:graphicFrameLocks noGrp="1"/>
          </p:cNvGraphicFramePr>
          <p:nvPr/>
        </p:nvGraphicFramePr>
        <p:xfrm>
          <a:off x="1610903" y="1239825"/>
          <a:ext cx="8987825" cy="3014173"/>
        </p:xfrm>
        <a:graphic>
          <a:graphicData uri="http://schemas.openxmlformats.org/drawingml/2006/table">
            <a:tbl>
              <a:tblPr firstRow="1" bandRow="1">
                <a:tableStyleId>{F5AB1C69-6EDB-4FF4-983F-18BD219EF322}</a:tableStyleId>
              </a:tblPr>
              <a:tblGrid>
                <a:gridCol w="1177844"/>
                <a:gridCol w="1941343"/>
                <a:gridCol w="1467159"/>
                <a:gridCol w="1676754"/>
                <a:gridCol w="2724725"/>
              </a:tblGrid>
              <a:tr h="362413">
                <a:tc gridSpan="3">
                  <a:txBody>
                    <a:bodyPr/>
                    <a:lstStyle/>
                    <a:p>
                      <a:pPr algn="ctr"/>
                      <a:r>
                        <a:rPr lang="zh-CN" altLang="en-US" sz="1400" dirty="0" smtClean="0"/>
                        <a:t>常用基本功能</a:t>
                      </a:r>
                      <a:endParaRPr lang="zh-CN" altLang="en-US" sz="1400" dirty="0"/>
                    </a:p>
                  </a:txBody>
                  <a:tcPr anchor="ctr"/>
                </a:tc>
                <a:tc hMerge="1">
                  <a:tcPr/>
                </a:tc>
                <a:tc hMerge="1">
                  <a:tcPr/>
                </a:tc>
                <a:tc>
                  <a:txBody>
                    <a:bodyPr/>
                    <a:lstStyle/>
                    <a:p>
                      <a:pPr algn="ctr"/>
                      <a:r>
                        <a:rPr lang="zh-CN" altLang="en-US" sz="1400" dirty="0" smtClean="0"/>
                        <a:t>名词解释</a:t>
                      </a:r>
                      <a:endParaRPr lang="zh-CN" altLang="en-US" sz="1400" dirty="0"/>
                    </a:p>
                  </a:txBody>
                  <a:tcPr anchor="ctr"/>
                </a:tc>
                <a:tc>
                  <a:txBody>
                    <a:bodyPr/>
                    <a:lstStyle/>
                    <a:p>
                      <a:pPr algn="ctr"/>
                      <a:r>
                        <a:rPr lang="zh-CN" altLang="en-US" sz="1400" dirty="0" smtClean="0"/>
                        <a:t>存放文件的规范</a:t>
                      </a:r>
                      <a:endParaRPr lang="zh-CN" altLang="en-US" sz="1400" dirty="0"/>
                    </a:p>
                  </a:txBody>
                  <a:tcPr anchor="ctr"/>
                </a:tc>
              </a:tr>
              <a:tr h="178486">
                <a:tc rowSpan="8">
                  <a:txBody>
                    <a:bodyPr/>
                    <a:lstStyle/>
                    <a:p>
                      <a:r>
                        <a:rPr lang="en-US" altLang="zh-CN" sz="1400" dirty="0" err="1" smtClean="0"/>
                        <a:t>DtHealth</a:t>
                      </a:r>
                      <a:endParaRPr lang="zh-CN" altLang="en-US" sz="1400" dirty="0"/>
                    </a:p>
                  </a:txBody>
                  <a:tcPr anchor="ctr"/>
                </a:tc>
                <a:tc rowSpan="7">
                  <a:txBody>
                    <a:bodyPr/>
                    <a:lstStyle/>
                    <a:p>
                      <a:pPr algn="ctr"/>
                      <a:r>
                        <a:rPr lang="en-US" altLang="zh-CN" sz="1400" dirty="0" smtClean="0"/>
                        <a:t>app</a:t>
                      </a:r>
                      <a:endParaRPr lang="zh-CN" altLang="en-US" sz="1400" dirty="0"/>
                    </a:p>
                    <a:p>
                      <a:pPr algn="ctr"/>
                      <a:r>
                        <a:rPr lang="en-US" altLang="zh-CN" sz="1400" dirty="0" smtClean="0"/>
                        <a:t>(</a:t>
                      </a:r>
                      <a:r>
                        <a:rPr lang="zh-CN" altLang="en-US" sz="1400" dirty="0" smtClean="0"/>
                        <a:t>应用程序目录</a:t>
                      </a:r>
                      <a:r>
                        <a:rPr lang="en-US" altLang="zh-CN" sz="1400" dirty="0" smtClean="0"/>
                        <a:t>)</a:t>
                      </a:r>
                      <a:endParaRPr lang="zh-CN" altLang="en-US" sz="1400" dirty="0"/>
                    </a:p>
                  </a:txBody>
                  <a:tcPr anchor="ctr"/>
                </a:tc>
                <a:tc rowSpan="7">
                  <a:txBody>
                    <a:bodyPr/>
                    <a:lstStyle/>
                    <a:p>
                      <a:pPr marL="0" marR="0" lvl="0" indent="0" algn="ctr" defTabSz="815975" rtl="0" eaLnBrk="1" fontAlgn="auto" latinLnBrk="0" hangingPunct="1">
                        <a:lnSpc>
                          <a:spcPct val="100000"/>
                        </a:lnSpc>
                        <a:spcBef>
                          <a:spcPts val="0"/>
                        </a:spcBef>
                        <a:spcAft>
                          <a:spcPts val="0"/>
                        </a:spcAft>
                        <a:buClrTx/>
                        <a:buSzTx/>
                        <a:buFontTx/>
                        <a:buNone/>
                        <a:defRPr/>
                      </a:pPr>
                      <a:r>
                        <a:rPr lang="en-US" altLang="zh-CN" sz="1400" dirty="0" err="1" smtClean="0"/>
                        <a:t>dthis</a:t>
                      </a:r>
                      <a:r>
                        <a:rPr lang="en-US" altLang="zh-CN" sz="1400" dirty="0" smtClean="0"/>
                        <a:t>\web &gt;</a:t>
                      </a:r>
                      <a:endParaRPr lang="zh-CN" altLang="en-US" sz="1400" dirty="0" smtClean="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dirty="0" err="1" smtClean="0"/>
                        <a:t>csp</a:t>
                      </a:r>
                      <a:endParaRPr lang="en-US" altLang="zh-CN" sz="1400" dirty="0" smtClean="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存放</a:t>
                      </a:r>
                      <a:r>
                        <a:rPr lang="en-US" altLang="zh-CN" sz="1400" dirty="0" err="1" smtClean="0"/>
                        <a:t>csp</a:t>
                      </a:r>
                      <a:r>
                        <a:rPr lang="zh-CN" altLang="en-US" sz="1400" dirty="0" smtClean="0"/>
                        <a:t>、</a:t>
                      </a:r>
                      <a:r>
                        <a:rPr lang="en-US" altLang="zh-CN" sz="1400" dirty="0" err="1" smtClean="0"/>
                        <a:t>csr</a:t>
                      </a:r>
                      <a:r>
                        <a:rPr lang="zh-CN" altLang="en-US" sz="1400" dirty="0" smtClean="0"/>
                        <a:t>文件</a:t>
                      </a:r>
                      <a:endParaRPr lang="en-US" altLang="zh-CN" sz="1400" dirty="0" smtClean="0"/>
                    </a:p>
                  </a:txBody>
                  <a:tcPr anchor="ctr"/>
                </a:tc>
              </a:tr>
              <a:tr h="178486">
                <a:tc vMerge="1">
                  <a:tcPr/>
                </a:tc>
                <a:tc vMerge="1">
                  <a:tcPr/>
                </a:tc>
                <a:tc vMerge="1">
                  <a:tcPr/>
                </a:tc>
                <a:tc>
                  <a:txBody>
                    <a:bodyPr/>
                    <a:lstStyle/>
                    <a:p>
                      <a:r>
                        <a:rPr lang="en-US" altLang="zh-CN" sz="1400" dirty="0" smtClean="0"/>
                        <a:t>Scripts</a:t>
                      </a:r>
                      <a:endParaRPr lang="zh-CN" altLang="en-US" sz="1400" dirty="0"/>
                    </a:p>
                  </a:txBody>
                  <a:tcPr anchor="ctr"/>
                </a:tc>
                <a:tc>
                  <a:txBody>
                    <a:bodyPr/>
                    <a:lstStyle/>
                    <a:p>
                      <a:r>
                        <a:rPr lang="zh-CN" altLang="en-US" sz="1400" dirty="0" smtClean="0"/>
                        <a:t>存放</a:t>
                      </a:r>
                      <a:r>
                        <a:rPr lang="en-US" altLang="zh-CN" sz="1400" dirty="0" err="1" smtClean="0"/>
                        <a:t>js</a:t>
                      </a:r>
                      <a:r>
                        <a:rPr lang="en-US" altLang="zh-CN" sz="1400" dirty="0" smtClean="0"/>
                        <a:t> </a:t>
                      </a:r>
                      <a:r>
                        <a:rPr lang="zh-CN" altLang="en-US" sz="1400" dirty="0" smtClean="0"/>
                        <a:t>文件</a:t>
                      </a:r>
                      <a:endParaRPr lang="zh-CN" altLang="en-US" sz="1400" dirty="0"/>
                    </a:p>
                  </a:txBody>
                  <a:tcPr anchor="ctr"/>
                </a:tc>
              </a:tr>
              <a:tr h="297477">
                <a:tc vMerge="1">
                  <a:tcPr/>
                </a:tc>
                <a:tc vMerge="1">
                  <a:tcPr/>
                </a:tc>
                <a:tc vMerge="1">
                  <a:tcPr/>
                </a:tc>
                <a:tc>
                  <a:txBody>
                    <a:bodyPr/>
                    <a:lstStyle/>
                    <a:p>
                      <a:r>
                        <a:rPr lang="en-US" altLang="zh-CN" sz="1400" dirty="0" err="1" smtClean="0"/>
                        <a:t>scripts_gen</a:t>
                      </a:r>
                      <a:endParaRPr lang="zh-CN" altLang="en-US" sz="1400" dirty="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存放组件生成的</a:t>
                      </a:r>
                      <a:r>
                        <a:rPr lang="en-US" altLang="zh-CN" sz="1400" dirty="0" err="1" smtClean="0"/>
                        <a:t>js</a:t>
                      </a:r>
                      <a:r>
                        <a:rPr lang="zh-CN" altLang="en-US" sz="1400" dirty="0" smtClean="0"/>
                        <a:t>文件</a:t>
                      </a:r>
                      <a:endParaRPr lang="zh-CN" altLang="en-US" sz="1400" dirty="0" smtClean="0"/>
                    </a:p>
                  </a:txBody>
                  <a:tcPr anchor="ctr"/>
                </a:tc>
              </a:tr>
              <a:tr h="297477">
                <a:tc vMerge="1">
                  <a:tcPr/>
                </a:tc>
                <a:tc vMerge="1">
                  <a:tcPr/>
                </a:tc>
                <a:tc vMerge="1">
                  <a:tcPr/>
                </a:tc>
                <a:tc>
                  <a:txBody>
                    <a:bodyPr/>
                    <a:lstStyle/>
                    <a:p>
                      <a:r>
                        <a:rPr lang="en-US" altLang="zh-CN" sz="1400" dirty="0" err="1" smtClean="0"/>
                        <a:t>scripts_lib</a:t>
                      </a:r>
                      <a:endParaRPr lang="en-US" altLang="zh-CN" sz="1400" dirty="0" smtClean="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存放第三方</a:t>
                      </a:r>
                      <a:r>
                        <a:rPr lang="en-US" altLang="zh-CN" sz="1400" dirty="0" err="1" smtClean="0"/>
                        <a:t>js</a:t>
                      </a:r>
                      <a:r>
                        <a:rPr lang="zh-CN" altLang="en-US" sz="1400" dirty="0" smtClean="0"/>
                        <a:t>类库文件</a:t>
                      </a:r>
                      <a:endParaRPr lang="en-US" altLang="zh-CN" sz="1400" dirty="0" smtClean="0"/>
                    </a:p>
                  </a:txBody>
                  <a:tcPr anchor="ctr"/>
                </a:tc>
              </a:tr>
              <a:tr h="297477">
                <a:tc vMerge="1">
                  <a:tcPr/>
                </a:tc>
                <a:tc vMerge="1">
                  <a:tcPr/>
                </a:tc>
                <a:tc vMerge="1">
                  <a:tcPr/>
                </a:tc>
                <a:tc>
                  <a:txBody>
                    <a:bodyPr/>
                    <a:lstStyle/>
                    <a:p>
                      <a:r>
                        <a:rPr lang="en-US" altLang="zh-CN" sz="1400" dirty="0" smtClean="0"/>
                        <a:t>Skin</a:t>
                      </a:r>
                      <a:endParaRPr lang="en-US" altLang="zh-CN" sz="1400" dirty="0" smtClean="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存放系统样式</a:t>
                      </a:r>
                      <a:r>
                        <a:rPr lang="en-US" altLang="zh-CN" sz="1400" dirty="0" err="1" smtClean="0"/>
                        <a:t>css</a:t>
                      </a:r>
                      <a:r>
                        <a:rPr lang="zh-CN" altLang="en-US" sz="1400" dirty="0" smtClean="0"/>
                        <a:t>文件</a:t>
                      </a:r>
                      <a:endParaRPr lang="en-US" altLang="zh-CN" sz="1400" dirty="0" smtClean="0"/>
                    </a:p>
                  </a:txBody>
                  <a:tcPr anchor="ctr"/>
                </a:tc>
              </a:tr>
              <a:tr h="297477">
                <a:tc vMerge="1">
                  <a:tcPr/>
                </a:tc>
                <a:tc vMerge="1">
                  <a:tcPr/>
                </a:tc>
                <a:tc vMerge="1">
                  <a:tcPr/>
                </a:tc>
                <a:tc>
                  <a:txBody>
                    <a:bodyPr/>
                    <a:lstStyle/>
                    <a:p>
                      <a:r>
                        <a:rPr lang="en-US" altLang="zh-CN" sz="1400" dirty="0" err="1" smtClean="0"/>
                        <a:t>addins</a:t>
                      </a:r>
                      <a:r>
                        <a:rPr lang="en-US" altLang="zh-CN" sz="1400" dirty="0" smtClean="0"/>
                        <a:t>\client</a:t>
                      </a:r>
                      <a:endParaRPr lang="en-US" altLang="zh-CN" sz="1400" dirty="0" smtClean="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存放客户端控件文件</a:t>
                      </a:r>
                      <a:endParaRPr lang="en-US" altLang="zh-CN" sz="1400" dirty="0" smtClean="0"/>
                    </a:p>
                  </a:txBody>
                  <a:tcPr anchor="ctr"/>
                </a:tc>
              </a:tr>
              <a:tr h="178486">
                <a:tc vMerge="1">
                  <a:tcPr/>
                </a:tc>
                <a:tc vMerge="1">
                  <a:tcPr/>
                </a:tc>
                <a:tc vMerge="1">
                  <a:tcP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dirty="0" smtClean="0"/>
                        <a:t>Images</a:t>
                      </a:r>
                      <a:endParaRPr lang="zh-CN" altLang="en-US" sz="1400" dirty="0" smtClean="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存放图片</a:t>
                      </a:r>
                      <a:endParaRPr lang="zh-CN" altLang="en-US" sz="1400" dirty="0" smtClean="0"/>
                    </a:p>
                  </a:txBody>
                  <a:tcPr anchor="ctr"/>
                </a:tc>
              </a:tr>
              <a:tr h="416468">
                <a:tc vMerge="1">
                  <a:tcPr/>
                </a:tc>
                <a:tc>
                  <a:txBody>
                    <a:bodyPr/>
                    <a:lstStyle/>
                    <a:p>
                      <a:pPr algn="ctr"/>
                      <a:r>
                        <a:rPr lang="en-US" altLang="zh-CN" sz="1400" dirty="0" err="1" smtClean="0"/>
                        <a:t>db</a:t>
                      </a:r>
                      <a:endParaRPr lang="en-US" altLang="zh-CN" sz="1400" dirty="0" smtClean="0"/>
                    </a:p>
                    <a:p>
                      <a:pPr algn="ctr"/>
                      <a:r>
                        <a:rPr lang="en-US" altLang="zh-CN" sz="1400" dirty="0" smtClean="0"/>
                        <a:t>(</a:t>
                      </a:r>
                      <a:r>
                        <a:rPr lang="zh-CN" altLang="en-US" sz="1400" dirty="0" smtClean="0"/>
                        <a:t>数据存放目录</a:t>
                      </a:r>
                      <a:r>
                        <a:rPr lang="en-US" altLang="zh-CN" sz="1400" dirty="0" smtClean="0"/>
                        <a:t>)</a:t>
                      </a:r>
                      <a:endParaRPr lang="zh-CN" altLang="en-US" sz="1400" dirty="0"/>
                    </a:p>
                  </a:txBody>
                  <a:tcPr anchor="ctr"/>
                </a:tc>
                <a:tc>
                  <a:txBody>
                    <a:bodyPr/>
                    <a:lstStyle/>
                    <a:p>
                      <a:pPr marL="0" marR="0" lvl="0" indent="0" algn="ctr" defTabSz="815975" rtl="0" eaLnBrk="1" fontAlgn="auto" latinLnBrk="0" hangingPunct="1">
                        <a:lnSpc>
                          <a:spcPct val="100000"/>
                        </a:lnSpc>
                        <a:spcBef>
                          <a:spcPts val="0"/>
                        </a:spcBef>
                        <a:spcAft>
                          <a:spcPts val="0"/>
                        </a:spcAft>
                        <a:buClrTx/>
                        <a:buSzTx/>
                        <a:buFontTx/>
                        <a:buNone/>
                        <a:defRPr/>
                      </a:pPr>
                      <a:r>
                        <a:rPr lang="en-US" altLang="zh-CN" sz="1400" dirty="0" err="1" smtClean="0"/>
                        <a:t>db</a:t>
                      </a:r>
                      <a:r>
                        <a:rPr lang="en-US" altLang="zh-CN" sz="1400" dirty="0" smtClean="0"/>
                        <a:t>\</a:t>
                      </a:r>
                      <a:r>
                        <a:rPr lang="en-US" altLang="zh-CN" sz="1400" dirty="0" err="1" smtClean="0"/>
                        <a:t>dthis</a:t>
                      </a:r>
                      <a:endParaRPr lang="zh-CN" altLang="en-US" sz="1400" dirty="0" smtClean="0"/>
                    </a:p>
                  </a:txBody>
                  <a:tcPr anchor="ctr"/>
                </a:tc>
                <a:tc gridSpan="2">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存放数据库的数据及程序</a:t>
                      </a:r>
                      <a:endParaRPr lang="en-US" altLang="zh-CN" sz="1400" dirty="0" smtClean="0"/>
                    </a:p>
                  </a:txBody>
                  <a:tcPr anchor="ctr"/>
                </a:tc>
                <a:tc hMerge="1">
                  <a:tcPr anchor="ctr"/>
                </a:tc>
              </a:tr>
            </a:tbl>
          </a:graphicData>
        </a:graphic>
      </p:graphicFrame>
      <p:grpSp>
        <p:nvGrpSpPr>
          <p:cNvPr id="8" name="组合 7"/>
          <p:cNvGrpSpPr/>
          <p:nvPr/>
        </p:nvGrpSpPr>
        <p:grpSpPr>
          <a:xfrm>
            <a:off x="988910" y="768706"/>
            <a:ext cx="3136282" cy="461665"/>
            <a:chOff x="947346" y="1022783"/>
            <a:chExt cx="3136282" cy="461665"/>
          </a:xfrm>
        </p:grpSpPr>
        <p:sp>
          <p:nvSpPr>
            <p:cNvPr id="9" name="文本框 8"/>
            <p:cNvSpPr txBox="1"/>
            <p:nvPr/>
          </p:nvSpPr>
          <p:spPr>
            <a:xfrm>
              <a:off x="1439300" y="1022783"/>
              <a:ext cx="2644328" cy="461665"/>
            </a:xfrm>
            <a:prstGeom prst="rect">
              <a:avLst/>
            </a:prstGeom>
          </p:spPr>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stStyle>
            <a:p>
              <a:r>
                <a:rPr lang="en-US" altLang="zh-CN" dirty="0" err="1" smtClean="0"/>
                <a:t>DtHealth</a:t>
              </a:r>
              <a:r>
                <a:rPr lang="zh-CN" altLang="en-US" dirty="0" smtClean="0"/>
                <a:t>开发文件存放规范</a:t>
              </a:r>
              <a:endParaRPr lang="en-US" altLang="zh-CN" dirty="0"/>
            </a:p>
          </p:txBody>
        </p:sp>
        <p:sp>
          <p:nvSpPr>
            <p:cNvPr id="10" name="椭圆 9"/>
            <p:cNvSpPr/>
            <p:nvPr/>
          </p:nvSpPr>
          <p:spPr>
            <a:xfrm>
              <a:off x="947346" y="1022783"/>
              <a:ext cx="424567"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lumMod val="65000"/>
                      <a:lumOff val="35000"/>
                    </a:schemeClr>
                  </a:solidFill>
                </a:rPr>
                <a:t>4</a:t>
              </a:r>
              <a:endParaRPr lang="zh-CN" altLang="en-US" sz="2400" dirty="0">
                <a:solidFill>
                  <a:schemeClr val="tx1">
                    <a:lumMod val="65000"/>
                    <a:lumOff val="35000"/>
                  </a:schemeClr>
                </a:solidFill>
              </a:endParaRPr>
            </a:p>
          </p:txBody>
        </p:sp>
      </p:grpSp>
      <p:graphicFrame>
        <p:nvGraphicFramePr>
          <p:cNvPr id="11" name="表格 10"/>
          <p:cNvGraphicFramePr>
            <a:graphicFrameLocks noGrp="1"/>
          </p:cNvGraphicFramePr>
          <p:nvPr>
            <p:custDataLst>
              <p:tags r:id="rId1"/>
            </p:custDataLst>
          </p:nvPr>
        </p:nvGraphicFramePr>
        <p:xfrm>
          <a:off x="4430316" y="4328028"/>
          <a:ext cx="6168412" cy="2426062"/>
        </p:xfrm>
        <a:graphic>
          <a:graphicData uri="http://schemas.openxmlformats.org/drawingml/2006/table">
            <a:tbl>
              <a:tblPr firstRow="1" bandRow="1">
                <a:tableStyleId>{F5AB1C69-6EDB-4FF4-983F-18BD219EF322}</a:tableStyleId>
              </a:tblPr>
              <a:tblGrid>
                <a:gridCol w="2064116"/>
                <a:gridCol w="4104296"/>
              </a:tblGrid>
              <a:tr h="370840">
                <a:tc>
                  <a:txBody>
                    <a:bodyPr/>
                    <a:lstStyle/>
                    <a:p>
                      <a:pPr algn="ctr"/>
                      <a:r>
                        <a:rPr lang="zh-CN" altLang="en-US" sz="1400" dirty="0" smtClean="0"/>
                        <a:t>常用基本功能</a:t>
                      </a:r>
                      <a:endParaRPr lang="zh-CN" altLang="en-US" sz="1400" dirty="0"/>
                    </a:p>
                  </a:txBody>
                  <a:tcPr anchor="ctr"/>
                </a:tc>
                <a:tc>
                  <a:txBody>
                    <a:bodyPr/>
                    <a:lstStyle/>
                    <a:p>
                      <a:pPr algn="ctr"/>
                      <a:r>
                        <a:rPr lang="zh-CN" altLang="en-US" sz="1400" dirty="0" smtClean="0"/>
                        <a:t>名词解释</a:t>
                      </a:r>
                      <a:endParaRPr lang="zh-CN" altLang="en-US" sz="1400" dirty="0"/>
                    </a:p>
                  </a:txBody>
                  <a:tcPr anchor="ctr"/>
                </a:tc>
              </a:tr>
              <a:tr h="370840">
                <a:tc>
                  <a:txBody>
                    <a:bodyPr/>
                    <a:lstStyle/>
                    <a:p>
                      <a:r>
                        <a:rPr lang="zh-CN" altLang="en-US" sz="1400" dirty="0" smtClean="0"/>
                        <a:t>表结构查询</a:t>
                      </a:r>
                      <a:endParaRPr lang="zh-CN" altLang="en-US" sz="1400" dirty="0"/>
                    </a:p>
                  </a:txBody>
                  <a:tcPr anchor="ctr"/>
                </a:tc>
                <a:tc>
                  <a:txBody>
                    <a:bodyPr/>
                    <a:lstStyle/>
                    <a:p>
                      <a:r>
                        <a:rPr lang="zh-CN" altLang="en-US" sz="1400" dirty="0" smtClean="0"/>
                        <a:t>查询表的字段，关联关系及数据存储结构信息</a:t>
                      </a:r>
                      <a:endParaRPr lang="zh-CN" altLang="en-US" sz="1400" dirty="0"/>
                    </a:p>
                  </a:txBody>
                  <a:tcPr anchor="ctr"/>
                </a:tc>
              </a:tr>
              <a:tr h="267063">
                <a:tc>
                  <a:txBody>
                    <a:bodyPr/>
                    <a:lstStyle/>
                    <a:p>
                      <a:r>
                        <a:rPr lang="en-US" altLang="zh-CN" sz="1400" dirty="0" smtClean="0"/>
                        <a:t>Global</a:t>
                      </a:r>
                      <a:r>
                        <a:rPr lang="zh-CN" altLang="en-US" sz="1400" dirty="0" smtClean="0"/>
                        <a:t>查询</a:t>
                      </a:r>
                      <a:endParaRPr lang="zh-CN" altLang="en-US" sz="1400" dirty="0"/>
                    </a:p>
                  </a:txBody>
                  <a:tcPr anchor="ctr"/>
                </a:tc>
                <a:tc>
                  <a:txBody>
                    <a:bodyPr/>
                    <a:lstStyle/>
                    <a:p>
                      <a:r>
                        <a:rPr lang="zh-CN" altLang="en-US" sz="1400" dirty="0" smtClean="0"/>
                        <a:t>通过</a:t>
                      </a:r>
                      <a:r>
                        <a:rPr lang="en-US" altLang="zh-CN" sz="1400" dirty="0" smtClean="0"/>
                        <a:t>global</a:t>
                      </a:r>
                      <a:r>
                        <a:rPr lang="zh-CN" altLang="en-US" sz="1400" dirty="0" smtClean="0"/>
                        <a:t>名，查询相关表名</a:t>
                      </a:r>
                      <a:endParaRPr lang="zh-CN" altLang="en-US" sz="1400" dirty="0"/>
                    </a:p>
                  </a:txBody>
                  <a:tcPr anchor="ctr"/>
                </a:tc>
              </a:tr>
              <a:tr h="370840">
                <a:tc>
                  <a:txBody>
                    <a:bodyPr/>
                    <a:lstStyle/>
                    <a:p>
                      <a:r>
                        <a:rPr lang="en-US" altLang="zh-CN" sz="1400" dirty="0" smtClean="0"/>
                        <a:t>SQL</a:t>
                      </a:r>
                      <a:r>
                        <a:rPr lang="zh-CN" altLang="en-US" sz="1400" dirty="0" smtClean="0"/>
                        <a:t>查询</a:t>
                      </a:r>
                      <a:endParaRPr lang="zh-CN" altLang="en-US" sz="1400" dirty="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通过关系型方式访问</a:t>
                      </a:r>
                      <a:r>
                        <a:rPr lang="en-US" altLang="zh-CN" sz="1400" dirty="0" err="1" smtClean="0"/>
                        <a:t>Caché</a:t>
                      </a:r>
                      <a:endParaRPr lang="zh-CN" altLang="en-US" sz="1400" dirty="0" smtClean="0"/>
                    </a:p>
                  </a:txBody>
                  <a:tcPr anchor="ctr"/>
                </a:tc>
              </a:tr>
              <a:tr h="311331">
                <a:tc>
                  <a:txBody>
                    <a:bodyPr/>
                    <a:lstStyle/>
                    <a:p>
                      <a:r>
                        <a:rPr lang="zh-CN" altLang="en-US" sz="1400" dirty="0" smtClean="0"/>
                        <a:t>组件导出</a:t>
                      </a:r>
                      <a:r>
                        <a:rPr lang="en-US" altLang="zh-CN" sz="1400" dirty="0" smtClean="0"/>
                        <a:t>/</a:t>
                      </a:r>
                      <a:r>
                        <a:rPr lang="zh-CN" altLang="en-US" sz="1400" dirty="0" smtClean="0"/>
                        <a:t>导入</a:t>
                      </a:r>
                      <a:endParaRPr lang="zh-CN" altLang="en-US" sz="1400" dirty="0"/>
                    </a:p>
                  </a:txBody>
                  <a:tcPr anchor="ctr"/>
                </a:tc>
                <a:tc>
                  <a:txBody>
                    <a:bodyPr/>
                    <a:lstStyle/>
                    <a:p>
                      <a:r>
                        <a:rPr lang="zh-CN" altLang="en-US" sz="1400" dirty="0" smtClean="0"/>
                        <a:t>导入和导出</a:t>
                      </a:r>
                      <a:endParaRPr lang="zh-CN" altLang="en-US" sz="1400" dirty="0"/>
                    </a:p>
                  </a:txBody>
                  <a:tcPr anchor="ctr"/>
                </a:tc>
              </a:tr>
              <a:tr h="370840">
                <a:tc>
                  <a:txBody>
                    <a:bodyPr/>
                    <a:lstStyle/>
                    <a:p>
                      <a:r>
                        <a:rPr lang="zh-CN" altLang="en-US" sz="1400" dirty="0" smtClean="0"/>
                        <a:t>菜单导出</a:t>
                      </a:r>
                      <a:r>
                        <a:rPr lang="en-US" altLang="zh-CN" sz="1400" dirty="0" smtClean="0"/>
                        <a:t>/</a:t>
                      </a:r>
                      <a:r>
                        <a:rPr lang="zh-CN" altLang="en-US" sz="1400" dirty="0" smtClean="0"/>
                        <a:t>导入</a:t>
                      </a:r>
                      <a:r>
                        <a:rPr lang="en-US" altLang="zh-CN" sz="1400" dirty="0" smtClean="0">
                          <a:sym typeface="+mn-ea"/>
                        </a:rPr>
                        <a:t>(</a:t>
                      </a:r>
                      <a:r>
                        <a:rPr lang="zh-CN" altLang="en-US" sz="1400" dirty="0" smtClean="0">
                          <a:sym typeface="+mn-ea"/>
                        </a:rPr>
                        <a:t>了解</a:t>
                      </a:r>
                      <a:r>
                        <a:rPr lang="en-US" altLang="zh-CN" sz="1400" dirty="0" smtClean="0">
                          <a:sym typeface="+mn-ea"/>
                        </a:rPr>
                        <a:t>)</a:t>
                      </a:r>
                      <a:endParaRPr lang="zh-CN" altLang="en-US" sz="1400" dirty="0"/>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导入和导出</a:t>
                      </a:r>
                      <a:endParaRPr lang="zh-CN" altLang="en-US" sz="1400" dirty="0" smtClean="0"/>
                    </a:p>
                  </a:txBody>
                  <a:tcPr anchor="ctr"/>
                </a:tc>
              </a:tr>
              <a:tr h="326571">
                <a:tc>
                  <a:txBody>
                    <a:bodyPr/>
                    <a:lstStyle/>
                    <a:p>
                      <a:r>
                        <a:rPr lang="en-US" altLang="zh-CN" sz="1400" dirty="0" smtClean="0"/>
                        <a:t>XML</a:t>
                      </a:r>
                      <a:r>
                        <a:rPr lang="zh-CN" altLang="en-US" sz="1400" dirty="0" smtClean="0"/>
                        <a:t>模版设计</a:t>
                      </a:r>
                      <a:r>
                        <a:rPr lang="en-US" altLang="zh-CN" sz="1400" dirty="0" smtClean="0"/>
                        <a:t>(</a:t>
                      </a:r>
                      <a:r>
                        <a:rPr lang="zh-CN" altLang="en-US" sz="1400" dirty="0" smtClean="0"/>
                        <a:t>了解</a:t>
                      </a:r>
                      <a:r>
                        <a:rPr lang="en-US" altLang="zh-CN" sz="1400" dirty="0" smtClean="0"/>
                        <a:t>)</a:t>
                      </a:r>
                      <a:endParaRPr lang="en-US" altLang="zh-CN" sz="1400" dirty="0" smtClean="0"/>
                    </a:p>
                  </a:txBody>
                  <a:tcPr anchor="ctr"/>
                </a:tc>
                <a:tc>
                  <a:txBody>
                    <a:bodyPr/>
                    <a:lstStyle/>
                    <a:p>
                      <a:r>
                        <a:rPr lang="zh-CN" altLang="en-US" sz="1400" dirty="0" smtClean="0"/>
                        <a:t>定义和设计</a:t>
                      </a:r>
                      <a:r>
                        <a:rPr lang="en-US" altLang="zh-CN" sz="1400" dirty="0" smtClean="0"/>
                        <a:t>xml</a:t>
                      </a:r>
                      <a:r>
                        <a:rPr lang="zh-CN" altLang="en-US" sz="1400" dirty="0" smtClean="0"/>
                        <a:t>打印模版</a:t>
                      </a:r>
                      <a:endParaRPr lang="zh-CN" altLang="en-US" sz="1400" dirty="0"/>
                    </a:p>
                  </a:txBody>
                  <a:tcPr anchor="ctr"/>
                </a:tc>
              </a:tr>
            </a:tbl>
          </a:graphicData>
        </a:graphic>
      </p:graphicFrame>
      <p:grpSp>
        <p:nvGrpSpPr>
          <p:cNvPr id="12" name="组合 11"/>
          <p:cNvGrpSpPr/>
          <p:nvPr/>
        </p:nvGrpSpPr>
        <p:grpSpPr>
          <a:xfrm>
            <a:off x="988910" y="4818634"/>
            <a:ext cx="3136282" cy="461665"/>
            <a:chOff x="947346" y="1022783"/>
            <a:chExt cx="3136282" cy="461665"/>
          </a:xfrm>
        </p:grpSpPr>
        <p:sp>
          <p:nvSpPr>
            <p:cNvPr id="13" name="文本框 12"/>
            <p:cNvSpPr txBox="1"/>
            <p:nvPr/>
          </p:nvSpPr>
          <p:spPr>
            <a:xfrm>
              <a:off x="1439300" y="1022783"/>
              <a:ext cx="2644328" cy="461665"/>
            </a:xfrm>
            <a:prstGeom prst="rect">
              <a:avLst/>
            </a:prstGeom>
          </p:spPr>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stStyle>
            <a:p>
              <a:r>
                <a:rPr lang="zh-CN" altLang="en-US" dirty="0" smtClean="0"/>
                <a:t>开发</a:t>
              </a:r>
              <a:r>
                <a:rPr lang="zh-CN" altLang="en-US" dirty="0"/>
                <a:t>工具管理</a:t>
              </a:r>
              <a:r>
                <a:rPr lang="en-US" altLang="zh-CN" dirty="0" err="1"/>
                <a:t>CachéTT</a:t>
              </a:r>
              <a:endParaRPr lang="en-US" altLang="zh-CN" dirty="0"/>
            </a:p>
          </p:txBody>
        </p:sp>
        <p:sp>
          <p:nvSpPr>
            <p:cNvPr id="14" name="椭圆 13"/>
            <p:cNvSpPr/>
            <p:nvPr/>
          </p:nvSpPr>
          <p:spPr>
            <a:xfrm>
              <a:off x="947346" y="1022783"/>
              <a:ext cx="424567" cy="43703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65000"/>
                      <a:lumOff val="35000"/>
                    </a:schemeClr>
                  </a:solidFill>
                </a:rPr>
                <a:t>5</a:t>
              </a:r>
              <a:endParaRPr lang="zh-CN" altLang="en-US" sz="2400" dirty="0">
                <a:solidFill>
                  <a:schemeClr val="tx1">
                    <a:lumMod val="65000"/>
                    <a:lumOff val="35000"/>
                  </a:schemeClr>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第一章</a:t>
            </a:r>
            <a:r>
              <a:rPr lang="zh-CN" altLang="en-US" dirty="0" smtClean="0">
                <a:sym typeface="微软雅黑" panose="020B0503020204020204" pitchFamily="34" charset="-122"/>
              </a:rPr>
              <a:t> </a:t>
            </a:r>
            <a:r>
              <a:rPr lang="en-US" altLang="zh-CN" dirty="0" smtClean="0">
                <a:sym typeface="微软雅黑" panose="020B0503020204020204" pitchFamily="34" charset="-122"/>
              </a:rPr>
              <a:t>|</a:t>
            </a:r>
            <a:r>
              <a:rPr lang="zh-CN" altLang="en-US" dirty="0" smtClean="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第六</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代码编写规范</a:t>
            </a:r>
            <a:endParaRPr lang="zh-CN" altLang="en-US" dirty="0"/>
          </a:p>
        </p:txBody>
      </p:sp>
      <p:graphicFrame>
        <p:nvGraphicFramePr>
          <p:cNvPr id="3" name="表格 2"/>
          <p:cNvGraphicFramePr>
            <a:graphicFrameLocks noGrp="1"/>
          </p:cNvGraphicFramePr>
          <p:nvPr/>
        </p:nvGraphicFramePr>
        <p:xfrm>
          <a:off x="627740" y="1149596"/>
          <a:ext cx="10760695" cy="5236464"/>
        </p:xfrm>
        <a:graphic>
          <a:graphicData uri="http://schemas.openxmlformats.org/drawingml/2006/table">
            <a:tbl>
              <a:tblPr firstRow="1" bandRow="1">
                <a:tableStyleId>{F5AB1C69-6EDB-4FF4-983F-18BD219EF322}</a:tableStyleId>
              </a:tblPr>
              <a:tblGrid>
                <a:gridCol w="607459"/>
                <a:gridCol w="1128137"/>
                <a:gridCol w="5553907"/>
                <a:gridCol w="3471192"/>
              </a:tblGrid>
              <a:tr h="287651">
                <a:tc>
                  <a:txBody>
                    <a:bodyPr/>
                    <a:lstStyle/>
                    <a:p>
                      <a:pPr algn="ctr"/>
                      <a:r>
                        <a:rPr lang="zh-CN" altLang="en-US" sz="1400" dirty="0" smtClean="0"/>
                        <a:t>规则名称</a:t>
                      </a:r>
                      <a:endParaRPr lang="zh-CN" altLang="en-US" sz="1400" dirty="0"/>
                    </a:p>
                  </a:txBody>
                  <a:tcPr anchor="ctr"/>
                </a:tc>
                <a:tc>
                  <a:txBody>
                    <a:bodyPr/>
                    <a:lstStyle/>
                    <a:p>
                      <a:pPr algn="ctr"/>
                      <a:r>
                        <a:rPr lang="zh-CN" altLang="en-US" sz="1400" dirty="0" smtClean="0"/>
                        <a:t>规则分类</a:t>
                      </a:r>
                      <a:endParaRPr lang="zh-CN" altLang="en-US" sz="1400" dirty="0"/>
                    </a:p>
                  </a:txBody>
                  <a:tcPr anchor="ctr"/>
                </a:tc>
                <a:tc>
                  <a:txBody>
                    <a:bodyPr/>
                    <a:lstStyle/>
                    <a:p>
                      <a:pPr algn="ctr"/>
                      <a:r>
                        <a:rPr lang="zh-CN" altLang="en-US" sz="1400" dirty="0" smtClean="0"/>
                        <a:t>编写规范内容</a:t>
                      </a:r>
                      <a:endParaRPr lang="zh-CN" altLang="en-US" sz="1400" dirty="0"/>
                    </a:p>
                  </a:txBody>
                  <a:tcPr anchor="ctr"/>
                </a:tc>
                <a:tc>
                  <a:txBody>
                    <a:bodyPr/>
                    <a:lstStyle/>
                    <a:p>
                      <a:pPr algn="ctr"/>
                      <a:r>
                        <a:rPr lang="zh-CN" altLang="en-US" sz="1400" dirty="0" smtClean="0"/>
                        <a:t>示例规范</a:t>
                      </a:r>
                      <a:endParaRPr lang="zh-CN" altLang="en-US" sz="1400" dirty="0"/>
                    </a:p>
                  </a:txBody>
                  <a:tcPr anchor="ctr"/>
                </a:tc>
              </a:tr>
              <a:tr h="370840">
                <a:tc rowSpan="4">
                  <a:txBody>
                    <a:bodyPr/>
                    <a:lstStyle/>
                    <a:p>
                      <a:pPr algn="ctr"/>
                      <a:r>
                        <a:rPr lang="en-US" altLang="zh-CN" sz="1400" dirty="0" smtClean="0"/>
                        <a:t>(1)</a:t>
                      </a:r>
                      <a:endParaRPr lang="en-US" altLang="zh-CN" sz="1400" dirty="0" smtClean="0"/>
                    </a:p>
                    <a:p>
                      <a:pPr algn="ctr"/>
                      <a:endParaRPr lang="en-US" altLang="zh-CN" sz="1400" dirty="0" smtClean="0"/>
                    </a:p>
                    <a:p>
                      <a:pPr algn="ctr"/>
                      <a:r>
                        <a:rPr lang="zh-CN" altLang="en-US" sz="1400" dirty="0" smtClean="0"/>
                        <a:t>命名规则</a:t>
                      </a:r>
                      <a:endParaRPr lang="zh-CN" altLang="en-US" sz="1400" dirty="0"/>
                    </a:p>
                  </a:txBody>
                  <a:tcPr anchor="ctr"/>
                </a:tc>
                <a:tc>
                  <a:txBody>
                    <a:bodyPr/>
                    <a:lstStyle/>
                    <a:p>
                      <a:pPr>
                        <a:lnSpc>
                          <a:spcPct val="120000"/>
                        </a:lnSpc>
                      </a:pPr>
                      <a:r>
                        <a:rPr lang="zh-CN" altLang="en-US" sz="1400" dirty="0" smtClean="0"/>
                        <a:t>基本原则</a:t>
                      </a:r>
                      <a:endParaRPr lang="en-US" altLang="zh-CN" sz="1400" dirty="0" smtClean="0"/>
                    </a:p>
                  </a:txBody>
                  <a:tcPr anchor="ctr"/>
                </a:tc>
                <a:tc>
                  <a:txBody>
                    <a:bodyPr/>
                    <a:lstStyle/>
                    <a:p>
                      <a:pPr>
                        <a:lnSpc>
                          <a:spcPct val="120000"/>
                        </a:lnSpc>
                      </a:pPr>
                      <a:r>
                        <a:rPr lang="en-US" altLang="zh-CN" sz="1400" dirty="0" smtClean="0"/>
                        <a:t>1.</a:t>
                      </a:r>
                      <a:r>
                        <a:rPr lang="zh-CN" altLang="en-US" sz="1400" dirty="0" smtClean="0"/>
                        <a:t>标识符采用英文单词、英文缩写或其组合，用词准确，可读性好。</a:t>
                      </a:r>
                      <a:r>
                        <a:rPr lang="en-US" altLang="zh-CN" sz="1400" dirty="0" smtClean="0"/>
                        <a:t>2.</a:t>
                      </a:r>
                      <a:r>
                        <a:rPr lang="zh-CN" altLang="en-US" sz="1400" dirty="0" smtClean="0"/>
                        <a:t>标识符长度短，不使用生僻或不规范的缩写。</a:t>
                      </a:r>
                      <a:endParaRPr lang="zh-CN" altLang="en-US" sz="1400" dirty="0"/>
                    </a:p>
                  </a:txBody>
                  <a:tcPr anchor="ctr"/>
                </a:tc>
                <a:tc>
                  <a:txBody>
                    <a:bodyPr/>
                    <a:lstStyle/>
                    <a:p>
                      <a:pPr marL="0" marR="0" lvl="0" indent="0" algn="l" defTabSz="815975" rtl="0" eaLnBrk="1" fontAlgn="auto" latinLnBrk="0" hangingPunct="1">
                        <a:lnSpc>
                          <a:spcPct val="120000"/>
                        </a:lnSpc>
                        <a:spcBef>
                          <a:spcPts val="0"/>
                        </a:spcBef>
                        <a:spcAft>
                          <a:spcPts val="0"/>
                        </a:spcAft>
                        <a:buClrTx/>
                        <a:buSzTx/>
                        <a:buFontTx/>
                        <a:buNone/>
                        <a:defRPr/>
                      </a:pPr>
                      <a:r>
                        <a:rPr lang="zh-CN" altLang="en-US" sz="1400" dirty="0" smtClean="0"/>
                        <a:t>一般不使用</a:t>
                      </a:r>
                      <a:r>
                        <a:rPr lang="en-US" altLang="zh-CN" sz="1400" dirty="0" err="1" smtClean="0"/>
                        <a:t>i</a:t>
                      </a:r>
                      <a:r>
                        <a:rPr lang="zh-CN" altLang="en-US" sz="1400" dirty="0" smtClean="0"/>
                        <a:t>、</a:t>
                      </a:r>
                      <a:r>
                        <a:rPr lang="en-US" altLang="zh-CN" sz="1400" dirty="0" smtClean="0"/>
                        <a:t>xxx</a:t>
                      </a:r>
                      <a:r>
                        <a:rPr lang="zh-CN" altLang="en-US" sz="1400" dirty="0" smtClean="0"/>
                        <a:t>、</a:t>
                      </a:r>
                      <a:r>
                        <a:rPr lang="en-US" altLang="zh-CN" sz="1400" dirty="0" smtClean="0"/>
                        <a:t>temp</a:t>
                      </a:r>
                      <a:r>
                        <a:rPr lang="zh-CN" altLang="en-US" sz="1400" dirty="0" smtClean="0"/>
                        <a:t>等无意义名称。</a:t>
                      </a:r>
                      <a:endParaRPr lang="zh-CN" altLang="en-US" sz="1400" dirty="0" smtClean="0"/>
                    </a:p>
                  </a:txBody>
                  <a:tcPr anchor="ctr"/>
                </a:tc>
              </a:tr>
              <a:tr h="783692">
                <a:tc vMerge="1">
                  <a:tcPr/>
                </a:tc>
                <a:tc>
                  <a:txBody>
                    <a:bodyPr/>
                    <a:lstStyle/>
                    <a:p>
                      <a:pPr>
                        <a:lnSpc>
                          <a:spcPct val="120000"/>
                        </a:lnSpc>
                      </a:pPr>
                      <a:r>
                        <a:rPr lang="en-US" altLang="zh-CN" sz="1400" dirty="0" smtClean="0"/>
                        <a:t>M</a:t>
                      </a:r>
                      <a:r>
                        <a:rPr lang="zh-CN" altLang="en-US" sz="1400" dirty="0" smtClean="0"/>
                        <a:t>、</a:t>
                      </a:r>
                      <a:r>
                        <a:rPr lang="en-US" altLang="zh-CN" sz="1400" dirty="0" smtClean="0"/>
                        <a:t>Routine</a:t>
                      </a:r>
                      <a:r>
                        <a:rPr lang="zh-CN" altLang="en-US" sz="1400" dirty="0" smtClean="0"/>
                        <a:t>、</a:t>
                      </a:r>
                      <a:endParaRPr lang="en-US" altLang="zh-CN" sz="1400" dirty="0" smtClean="0"/>
                    </a:p>
                    <a:p>
                      <a:pPr>
                        <a:lnSpc>
                          <a:spcPct val="120000"/>
                        </a:lnSpc>
                      </a:pPr>
                      <a:r>
                        <a:rPr lang="zh-CN" altLang="en-US" sz="1400" dirty="0" smtClean="0"/>
                        <a:t>类的命名</a:t>
                      </a:r>
                      <a:endParaRPr lang="zh-CN" altLang="en-US" sz="1400" dirty="0"/>
                    </a:p>
                  </a:txBody>
                  <a:tcPr anchor="ctr"/>
                </a:tc>
                <a:tc>
                  <a:txBody>
                    <a:bodyPr/>
                    <a:lstStyle/>
                    <a:p>
                      <a:pPr>
                        <a:lnSpc>
                          <a:spcPct val="120000"/>
                        </a:lnSpc>
                      </a:pPr>
                      <a:r>
                        <a:rPr lang="zh-CN" altLang="en-US" sz="1400" dirty="0" smtClean="0"/>
                        <a:t>“开头</a:t>
                      </a:r>
                      <a:r>
                        <a:rPr lang="en-US" altLang="zh-CN" sz="1400" dirty="0" smtClean="0"/>
                        <a:t>DHC+</a:t>
                      </a:r>
                      <a:r>
                        <a:rPr lang="zh-CN" altLang="en-US" sz="1400" dirty="0" smtClean="0"/>
                        <a:t>产品命名前缀</a:t>
                      </a:r>
                      <a:r>
                        <a:rPr lang="en-US" altLang="zh-CN" sz="1400" dirty="0" smtClean="0"/>
                        <a:t>(1)+</a:t>
                      </a:r>
                      <a:r>
                        <a:rPr lang="zh-CN" altLang="en-US" sz="1400" dirty="0" smtClean="0"/>
                        <a:t>功能名称</a:t>
                      </a:r>
                      <a:r>
                        <a:rPr lang="en-US" altLang="zh-CN" sz="1400" dirty="0" smtClean="0"/>
                        <a:t>(2)”</a:t>
                      </a:r>
                      <a:endParaRPr lang="en-US" altLang="zh-CN" sz="1400" dirty="0" smtClean="0"/>
                    </a:p>
                    <a:p>
                      <a:pPr>
                        <a:lnSpc>
                          <a:spcPct val="120000"/>
                        </a:lnSpc>
                      </a:pPr>
                      <a:r>
                        <a:rPr lang="zh-CN" altLang="en-US" sz="1400" dirty="0" smtClean="0"/>
                        <a:t>其中（</a:t>
                      </a:r>
                      <a:r>
                        <a:rPr lang="en-US" altLang="zh-CN" sz="1400" dirty="0" smtClean="0"/>
                        <a:t>1</a:t>
                      </a:r>
                      <a:r>
                        <a:rPr lang="zh-CN" altLang="en-US" sz="1400" dirty="0" smtClean="0"/>
                        <a:t>）的命名遵循各产品组制定的名称，（</a:t>
                      </a:r>
                      <a:r>
                        <a:rPr lang="en-US" altLang="zh-CN" sz="1400" dirty="0" smtClean="0"/>
                        <a:t>2</a:t>
                      </a:r>
                      <a:r>
                        <a:rPr lang="zh-CN" altLang="en-US" sz="1400" dirty="0" smtClean="0"/>
                        <a:t>）功能命名要求开头字母大写，单词应清晰表达</a:t>
                      </a:r>
                      <a:r>
                        <a:rPr lang="en-US" altLang="zh-CN" sz="1400" dirty="0" smtClean="0"/>
                        <a:t>m</a:t>
                      </a:r>
                      <a:r>
                        <a:rPr lang="zh-CN" altLang="en-US" sz="1400" dirty="0" smtClean="0"/>
                        <a:t>或类的用途和功能；当名称由多个单词构成时，单词的首字母要大写。</a:t>
                      </a:r>
                      <a:endParaRPr lang="zh-CN" altLang="en-US" sz="1400" dirty="0"/>
                    </a:p>
                  </a:txBody>
                  <a:tcPr anchor="ctr"/>
                </a:tc>
                <a:tc>
                  <a:txBody>
                    <a:bodyPr/>
                    <a:lstStyle/>
                    <a:p>
                      <a:pPr>
                        <a:lnSpc>
                          <a:spcPct val="120000"/>
                        </a:lnSpc>
                      </a:pPr>
                      <a:r>
                        <a:rPr lang="zh-CN" altLang="en-US" sz="1400" dirty="0" smtClean="0"/>
                        <a:t>产品命名前缀</a:t>
                      </a:r>
                      <a:r>
                        <a:rPr lang="en-US" altLang="zh-CN" sz="1400" dirty="0" smtClean="0"/>
                        <a:t>(1)</a:t>
                      </a:r>
                      <a:r>
                        <a:rPr lang="zh-CN" altLang="en-US" sz="1400" dirty="0" smtClean="0"/>
                        <a:t>：</a:t>
                      </a:r>
                      <a:endParaRPr lang="en-US" altLang="zh-CN" sz="1400" dirty="0" smtClean="0"/>
                    </a:p>
                    <a:p>
                      <a:pPr>
                        <a:lnSpc>
                          <a:spcPct val="120000"/>
                        </a:lnSpc>
                      </a:pPr>
                      <a:r>
                        <a:rPr lang="zh-CN" altLang="en-US" sz="1400" dirty="0" smtClean="0"/>
                        <a:t>医生站</a:t>
                      </a:r>
                      <a:r>
                        <a:rPr lang="en-US" altLang="zh-CN" sz="1400" dirty="0" smtClean="0"/>
                        <a:t>Doc</a:t>
                      </a:r>
                      <a:r>
                        <a:rPr lang="zh-CN" altLang="en-US" sz="1400" dirty="0" smtClean="0"/>
                        <a:t>、建卡</a:t>
                      </a:r>
                      <a:r>
                        <a:rPr lang="en-US" altLang="zh-CN" sz="1400" dirty="0" err="1" smtClean="0"/>
                        <a:t>Reg</a:t>
                      </a:r>
                      <a:r>
                        <a:rPr lang="zh-CN" altLang="en-US" sz="1400" dirty="0" smtClean="0"/>
                        <a:t>、挂号</a:t>
                      </a:r>
                      <a:r>
                        <a:rPr lang="en-US" altLang="zh-CN" sz="1400" dirty="0" err="1" smtClean="0"/>
                        <a:t>OPAdm</a:t>
                      </a:r>
                      <a:r>
                        <a:rPr lang="zh-CN" altLang="en-US" sz="1400" dirty="0" smtClean="0"/>
                        <a:t>、</a:t>
                      </a:r>
                      <a:endParaRPr lang="en-US" altLang="zh-CN" sz="1400" dirty="0" smtClean="0"/>
                    </a:p>
                    <a:p>
                      <a:pPr>
                        <a:lnSpc>
                          <a:spcPct val="120000"/>
                        </a:lnSpc>
                      </a:pPr>
                      <a:r>
                        <a:rPr lang="zh-CN" altLang="en-US" sz="1400" dirty="0" smtClean="0"/>
                        <a:t>门诊收费</a:t>
                      </a:r>
                      <a:r>
                        <a:rPr lang="en-US" altLang="zh-CN" sz="1400" dirty="0" err="1" smtClean="0"/>
                        <a:t>OPBill</a:t>
                      </a:r>
                      <a:r>
                        <a:rPr lang="zh-CN" altLang="en-US" sz="1400" dirty="0" smtClean="0"/>
                        <a:t>、住院收费</a:t>
                      </a:r>
                      <a:r>
                        <a:rPr lang="en-US" altLang="zh-CN" sz="1400" dirty="0" err="1" smtClean="0"/>
                        <a:t>IPBill</a:t>
                      </a:r>
                      <a:r>
                        <a:rPr lang="zh-CN" altLang="en-US" sz="1400" dirty="0" smtClean="0"/>
                        <a:t>等</a:t>
                      </a:r>
                      <a:endParaRPr lang="zh-CN" altLang="en-US" sz="1400" dirty="0"/>
                    </a:p>
                  </a:txBody>
                  <a:tcPr anchor="ctr"/>
                </a:tc>
              </a:tr>
              <a:tr h="552097">
                <a:tc vMerge="1">
                  <a:tcPr/>
                </a:tc>
                <a:tc>
                  <a:txBody>
                    <a:bodyPr/>
                    <a:lstStyle/>
                    <a:p>
                      <a:pPr>
                        <a:lnSpc>
                          <a:spcPct val="120000"/>
                        </a:lnSpc>
                      </a:pPr>
                      <a:r>
                        <a:rPr lang="zh-CN" altLang="en-US" sz="1400" dirty="0" smtClean="0"/>
                        <a:t>函数</a:t>
                      </a:r>
                      <a:r>
                        <a:rPr lang="en-US" altLang="zh-CN" sz="1400" dirty="0" smtClean="0"/>
                        <a:t>(</a:t>
                      </a:r>
                      <a:r>
                        <a:rPr lang="zh-CN" altLang="en-US" sz="1400" dirty="0" smtClean="0"/>
                        <a:t>方法</a:t>
                      </a:r>
                      <a:r>
                        <a:rPr lang="en-US" altLang="zh-CN" sz="1400" dirty="0" smtClean="0"/>
                        <a:t>)</a:t>
                      </a:r>
                      <a:endParaRPr lang="en-US" altLang="zh-CN" sz="1400" dirty="0" smtClean="0"/>
                    </a:p>
                    <a:p>
                      <a:pPr>
                        <a:lnSpc>
                          <a:spcPct val="120000"/>
                        </a:lnSpc>
                      </a:pPr>
                      <a:r>
                        <a:rPr lang="zh-CN" altLang="en-US" sz="1400" dirty="0" smtClean="0"/>
                        <a:t>的命名</a:t>
                      </a:r>
                      <a:endParaRPr lang="zh-CN" altLang="en-US" sz="1400" dirty="0"/>
                    </a:p>
                  </a:txBody>
                  <a:tcPr anchor="ctr"/>
                </a:tc>
                <a:tc>
                  <a:txBody>
                    <a:bodyPr/>
                    <a:lstStyle/>
                    <a:p>
                      <a:pPr>
                        <a:lnSpc>
                          <a:spcPct val="120000"/>
                        </a:lnSpc>
                      </a:pPr>
                      <a:r>
                        <a:rPr lang="en-US" altLang="zh-CN" sz="1400" dirty="0" smtClean="0"/>
                        <a:t>1.</a:t>
                      </a:r>
                      <a:r>
                        <a:rPr lang="zh-CN" altLang="en-US" sz="1400" dirty="0" smtClean="0"/>
                        <a:t>推荐使用动宾结构，函数名应清晰反应函数的用途和功能。</a:t>
                      </a:r>
                      <a:endParaRPr lang="zh-CN" altLang="en-US" sz="1400" dirty="0" smtClean="0"/>
                    </a:p>
                    <a:p>
                      <a:pPr>
                        <a:lnSpc>
                          <a:spcPct val="120000"/>
                        </a:lnSpc>
                      </a:pPr>
                      <a:r>
                        <a:rPr lang="en-US" altLang="zh-CN" sz="1400" dirty="0" smtClean="0"/>
                        <a:t>2.</a:t>
                      </a:r>
                      <a:r>
                        <a:rPr lang="zh-CN" altLang="en-US" sz="1400" dirty="0" smtClean="0"/>
                        <a:t>当名称由多个单词组成时，单词首字母大写。</a:t>
                      </a:r>
                      <a:endParaRPr lang="zh-CN" altLang="en-US" sz="1400" dirty="0" smtClean="0"/>
                    </a:p>
                    <a:p>
                      <a:pPr>
                        <a:lnSpc>
                          <a:spcPct val="120000"/>
                        </a:lnSpc>
                      </a:pPr>
                      <a:r>
                        <a:rPr lang="en-US" altLang="zh-CN" sz="1400" dirty="0" smtClean="0"/>
                        <a:t>3.</a:t>
                      </a:r>
                      <a:r>
                        <a:rPr lang="zh-CN" altLang="en-US" sz="1400" dirty="0" smtClean="0"/>
                        <a:t>函数名最长不超过</a:t>
                      </a:r>
                      <a:r>
                        <a:rPr lang="en-US" altLang="zh-CN" sz="1400" dirty="0" smtClean="0"/>
                        <a:t>30</a:t>
                      </a:r>
                      <a:r>
                        <a:rPr lang="zh-CN" altLang="en-US" sz="1400" dirty="0" smtClean="0"/>
                        <a:t>个字符。</a:t>
                      </a:r>
                      <a:endParaRPr lang="zh-CN" altLang="en-US" sz="1400" dirty="0"/>
                    </a:p>
                  </a:txBody>
                  <a:tcPr anchor="ctr"/>
                </a:tc>
                <a:tc>
                  <a:txBody>
                    <a:bodyPr/>
                    <a:lstStyle/>
                    <a:p>
                      <a:pPr marL="0" indent="0">
                        <a:lnSpc>
                          <a:spcPct val="120000"/>
                        </a:lnSpc>
                        <a:buFont typeface="+mj-lt"/>
                        <a:buNone/>
                      </a:pPr>
                      <a:r>
                        <a:rPr lang="en-US" altLang="zh-CN" sz="1400" dirty="0" smtClean="0"/>
                        <a:t>1.    </a:t>
                      </a:r>
                      <a:r>
                        <a:rPr lang="zh-CN" altLang="en-US" sz="1400" dirty="0" smtClean="0"/>
                        <a:t>正确：</a:t>
                      </a:r>
                      <a:r>
                        <a:rPr lang="en-US" altLang="zh-CN" sz="1400" dirty="0" err="1" smtClean="0"/>
                        <a:t>SearchPat</a:t>
                      </a:r>
                      <a:r>
                        <a:rPr lang="en-US" altLang="zh-CN" sz="1400" dirty="0" smtClean="0"/>
                        <a:t>()</a:t>
                      </a:r>
                      <a:endParaRPr lang="en-US" altLang="zh-CN" sz="1400" dirty="0" smtClean="0"/>
                    </a:p>
                    <a:p>
                      <a:pPr marL="0" indent="0">
                        <a:lnSpc>
                          <a:spcPct val="120000"/>
                        </a:lnSpc>
                        <a:buFont typeface="+mj-lt"/>
                        <a:buNone/>
                      </a:pPr>
                      <a:r>
                        <a:rPr lang="zh-CN" altLang="en-US" sz="1400" baseline="0" dirty="0" smtClean="0"/>
                        <a:t>       </a:t>
                      </a:r>
                      <a:r>
                        <a:rPr lang="zh-CN" altLang="en-US" sz="1400" dirty="0" smtClean="0"/>
                        <a:t>错误：</a:t>
                      </a:r>
                      <a:r>
                        <a:rPr lang="en-US" altLang="zh-CN" sz="1400" dirty="0" err="1" smtClean="0"/>
                        <a:t>Sousuo</a:t>
                      </a:r>
                      <a:r>
                        <a:rPr lang="en-US" altLang="zh-CN" sz="1400" dirty="0" smtClean="0"/>
                        <a:t>()</a:t>
                      </a:r>
                      <a:r>
                        <a:rPr lang="zh-CN" altLang="en-US" sz="1400" dirty="0" smtClean="0"/>
                        <a:t>、</a:t>
                      </a:r>
                      <a:r>
                        <a:rPr lang="en-US" altLang="zh-CN" sz="1400" dirty="0" smtClean="0"/>
                        <a:t>Search()</a:t>
                      </a:r>
                      <a:endParaRPr lang="en-US" altLang="zh-CN" sz="1400" dirty="0" smtClean="0"/>
                    </a:p>
                    <a:p>
                      <a:pPr marL="0" indent="0">
                        <a:lnSpc>
                          <a:spcPct val="120000"/>
                        </a:lnSpc>
                        <a:buFont typeface="+mj-lt"/>
                        <a:buNone/>
                      </a:pPr>
                      <a:r>
                        <a:rPr lang="en-US" altLang="zh-CN" sz="1400" dirty="0" smtClean="0"/>
                        <a:t>2.    </a:t>
                      </a:r>
                      <a:r>
                        <a:rPr lang="zh-CN" altLang="en-US" sz="1400" dirty="0" smtClean="0"/>
                        <a:t>正确：</a:t>
                      </a:r>
                      <a:r>
                        <a:rPr lang="en-US" altLang="zh-CN" sz="1400" dirty="0" err="1" smtClean="0"/>
                        <a:t>SetValue</a:t>
                      </a:r>
                      <a:r>
                        <a:rPr lang="en-US" altLang="zh-CN" sz="1400" dirty="0" smtClean="0"/>
                        <a:t>()</a:t>
                      </a:r>
                      <a:endParaRPr lang="en-US" altLang="zh-CN" sz="1400" dirty="0" smtClean="0"/>
                    </a:p>
                    <a:p>
                      <a:pPr marL="0" indent="0">
                        <a:lnSpc>
                          <a:spcPct val="120000"/>
                        </a:lnSpc>
                        <a:buFont typeface="+mj-lt"/>
                        <a:buNone/>
                      </a:pPr>
                      <a:r>
                        <a:rPr lang="zh-CN" altLang="en-US" sz="1400" dirty="0" smtClean="0"/>
                        <a:t>       错误：</a:t>
                      </a:r>
                      <a:r>
                        <a:rPr lang="en-US" altLang="zh-CN" sz="1400" dirty="0" err="1" smtClean="0"/>
                        <a:t>setvalue</a:t>
                      </a:r>
                      <a:r>
                        <a:rPr lang="en-US" altLang="zh-CN" sz="1400" dirty="0" smtClean="0"/>
                        <a:t>()</a:t>
                      </a:r>
                      <a:endParaRPr lang="zh-CN" altLang="en-US" sz="1400" dirty="0"/>
                    </a:p>
                  </a:txBody>
                  <a:tcPr anchor="ctr"/>
                </a:tc>
              </a:tr>
              <a:tr h="1472630">
                <a:tc vMerge="1">
                  <a:tcPr/>
                </a:tc>
                <a:tc>
                  <a:txBody>
                    <a:bodyPr/>
                    <a:lstStyle/>
                    <a:p>
                      <a:pPr>
                        <a:lnSpc>
                          <a:spcPct val="120000"/>
                        </a:lnSpc>
                      </a:pPr>
                      <a:r>
                        <a:rPr lang="zh-CN" altLang="en-US" sz="1400" dirty="0" smtClean="0"/>
                        <a:t>变量的命名</a:t>
                      </a:r>
                      <a:endParaRPr lang="zh-CN" altLang="en-US" sz="1400" dirty="0"/>
                    </a:p>
                  </a:txBody>
                  <a:tcPr anchor="ctr"/>
                </a:tc>
                <a:tc>
                  <a:txBody>
                    <a:bodyPr/>
                    <a:lstStyle/>
                    <a:p>
                      <a:pPr>
                        <a:lnSpc>
                          <a:spcPct val="120000"/>
                        </a:lnSpc>
                      </a:pPr>
                      <a:r>
                        <a:rPr lang="en-US" altLang="zh-CN" sz="1400" dirty="0" smtClean="0"/>
                        <a:t>1. </a:t>
                      </a:r>
                      <a:r>
                        <a:rPr lang="zh-CN" altLang="en-US" sz="1400" dirty="0" smtClean="0"/>
                        <a:t>变量命名一般使用“名词”、“形容词＋名词”、“名词＋形容词”的命名方式。</a:t>
                      </a:r>
                      <a:endParaRPr lang="zh-CN" altLang="en-US" sz="1400" dirty="0" smtClean="0"/>
                    </a:p>
                    <a:p>
                      <a:pPr>
                        <a:lnSpc>
                          <a:spcPct val="120000"/>
                        </a:lnSpc>
                      </a:pPr>
                      <a:r>
                        <a:rPr lang="en-US" altLang="zh-CN" sz="1400" dirty="0" smtClean="0"/>
                        <a:t>2. </a:t>
                      </a:r>
                      <a:r>
                        <a:rPr lang="zh-CN" altLang="en-US" sz="1400" dirty="0" smtClean="0"/>
                        <a:t>命名直观且可拼读，望文知义，采用英文单词或组合。</a:t>
                      </a:r>
                      <a:endParaRPr lang="en-US" altLang="zh-CN" sz="1400" dirty="0" smtClean="0"/>
                    </a:p>
                    <a:p>
                      <a:pPr>
                        <a:lnSpc>
                          <a:spcPct val="120000"/>
                        </a:lnSpc>
                      </a:pPr>
                      <a:r>
                        <a:rPr lang="en-US" altLang="zh-CN" sz="1400" dirty="0" smtClean="0"/>
                        <a:t>3. </a:t>
                      </a:r>
                      <a:r>
                        <a:rPr lang="zh-CN" altLang="en-US" sz="1400" b="1" dirty="0" smtClean="0">
                          <a:solidFill>
                            <a:srgbClr val="E66666"/>
                          </a:solidFill>
                        </a:rPr>
                        <a:t>多个单词组成时，首字母可大写或单词首字母大写</a:t>
                      </a:r>
                      <a:r>
                        <a:rPr lang="zh-CN" altLang="en-US" sz="1400" dirty="0" smtClean="0"/>
                        <a:t>。</a:t>
                      </a:r>
                      <a:endParaRPr lang="zh-CN" altLang="en-US" sz="1400" dirty="0" smtClean="0"/>
                    </a:p>
                    <a:p>
                      <a:pPr>
                        <a:lnSpc>
                          <a:spcPct val="120000"/>
                        </a:lnSpc>
                      </a:pPr>
                      <a:r>
                        <a:rPr lang="en-US" altLang="zh-CN" sz="1400" dirty="0" smtClean="0"/>
                        <a:t>4. </a:t>
                      </a:r>
                      <a:r>
                        <a:rPr lang="zh-CN" altLang="en-US" sz="1400" dirty="0" smtClean="0"/>
                        <a:t>对于计数的循环变量可以使用</a:t>
                      </a:r>
                      <a:r>
                        <a:rPr lang="en-US" altLang="zh-CN" sz="1400" dirty="0" err="1" smtClean="0"/>
                        <a:t>i,j,k,l,m,n</a:t>
                      </a:r>
                      <a:r>
                        <a:rPr lang="zh-CN" altLang="en-US" sz="1400" b="1" dirty="0" smtClean="0">
                          <a:solidFill>
                            <a:srgbClr val="E66666"/>
                          </a:solidFill>
                        </a:rPr>
                        <a:t>小写。</a:t>
                      </a:r>
                      <a:endParaRPr lang="en-US" altLang="zh-CN" sz="1400" dirty="0" smtClean="0"/>
                    </a:p>
                    <a:p>
                      <a:pPr>
                        <a:lnSpc>
                          <a:spcPct val="120000"/>
                        </a:lnSpc>
                      </a:pPr>
                      <a:r>
                        <a:rPr lang="en-US" altLang="zh-CN" sz="1400" dirty="0" smtClean="0"/>
                        <a:t>5. HIS</a:t>
                      </a:r>
                      <a:r>
                        <a:rPr lang="zh-CN" altLang="en-US" sz="1400" dirty="0" smtClean="0"/>
                        <a:t>系统中有固定意义的变量、参数、组件元素，命名必须按照规定的名称命名。</a:t>
                      </a:r>
                      <a:endParaRPr lang="zh-CN" altLang="en-US" sz="1400" dirty="0"/>
                    </a:p>
                  </a:txBody>
                  <a:tcPr anchor="ctr"/>
                </a:tc>
                <a:tc>
                  <a:txBody>
                    <a:bodyPr/>
                    <a:lstStyle/>
                    <a:p>
                      <a:pPr marL="228600" indent="-228600">
                        <a:lnSpc>
                          <a:spcPct val="120000"/>
                        </a:lnSpc>
                        <a:buAutoNum type="arabicPeriod"/>
                      </a:pPr>
                      <a:r>
                        <a:rPr lang="zh-CN" altLang="en-US" sz="1400" dirty="0" smtClean="0"/>
                        <a:t>忌汉语拼音命名</a:t>
                      </a:r>
                      <a:endParaRPr lang="en-US" altLang="zh-CN" sz="1400" dirty="0" smtClean="0"/>
                    </a:p>
                    <a:p>
                      <a:pPr marL="228600" indent="-228600">
                        <a:lnSpc>
                          <a:spcPct val="120000"/>
                        </a:lnSpc>
                        <a:buAutoNum type="arabicPeriod"/>
                      </a:pPr>
                      <a:r>
                        <a:rPr lang="zh-CN" altLang="en-US" sz="1400" dirty="0" smtClean="0"/>
                        <a:t>忌仅靠大小写区分的相似标识符，如</a:t>
                      </a:r>
                      <a:r>
                        <a:rPr lang="en-US" altLang="zh-CN" sz="1400" dirty="0" smtClean="0"/>
                        <a:t>x</a:t>
                      </a:r>
                      <a:r>
                        <a:rPr lang="zh-CN" altLang="en-US" sz="1400" dirty="0" smtClean="0"/>
                        <a:t>，</a:t>
                      </a:r>
                      <a:r>
                        <a:rPr lang="en-US" altLang="zh-CN" sz="1400" dirty="0" smtClean="0"/>
                        <a:t>X</a:t>
                      </a:r>
                      <a:endParaRPr lang="en-US" altLang="zh-CN" sz="1400" dirty="0" smtClean="0"/>
                    </a:p>
                    <a:p>
                      <a:pPr marL="228600" indent="-228600">
                        <a:lnSpc>
                          <a:spcPct val="120000"/>
                        </a:lnSpc>
                        <a:buAutoNum type="arabicPeriod"/>
                      </a:pPr>
                      <a:r>
                        <a:rPr lang="zh-CN" altLang="en-US" sz="1400" dirty="0" smtClean="0"/>
                        <a:t>忌单个字母的命名，如</a:t>
                      </a:r>
                      <a:r>
                        <a:rPr lang="en-US" altLang="zh-CN" sz="1400" dirty="0" smtClean="0"/>
                        <a:t>a</a:t>
                      </a:r>
                      <a:r>
                        <a:rPr lang="zh-CN" altLang="en-US" sz="1400" dirty="0" smtClean="0"/>
                        <a:t>，</a:t>
                      </a:r>
                      <a:r>
                        <a:rPr lang="en-US" altLang="zh-CN" sz="1400" dirty="0" smtClean="0"/>
                        <a:t>b</a:t>
                      </a:r>
                      <a:r>
                        <a:rPr lang="zh-CN" altLang="en-US" sz="1400" dirty="0" smtClean="0"/>
                        <a:t>，</a:t>
                      </a:r>
                      <a:r>
                        <a:rPr lang="en-US" altLang="zh-CN" sz="1400" dirty="0" smtClean="0"/>
                        <a:t>c</a:t>
                      </a:r>
                      <a:r>
                        <a:rPr lang="zh-CN" altLang="en-US" sz="1400" dirty="0" smtClean="0"/>
                        <a:t>等</a:t>
                      </a:r>
                      <a:endParaRPr lang="en-US" altLang="zh-CN" sz="1400" dirty="0" smtClean="0"/>
                    </a:p>
                    <a:p>
                      <a:pPr marL="228600" indent="-228600">
                        <a:lnSpc>
                          <a:spcPct val="120000"/>
                        </a:lnSpc>
                        <a:buAutoNum type="arabicPeriod"/>
                      </a:pPr>
                      <a:r>
                        <a:rPr lang="zh-CN" altLang="en-US" sz="1400" dirty="0" smtClean="0"/>
                        <a:t>忌数字编号</a:t>
                      </a:r>
                      <a:r>
                        <a:rPr lang="en-US" altLang="zh-CN" sz="1400" dirty="0" smtClean="0"/>
                        <a:t>value1</a:t>
                      </a:r>
                      <a:r>
                        <a:rPr lang="zh-CN" altLang="en-US" sz="1400" dirty="0" smtClean="0"/>
                        <a:t>，</a:t>
                      </a:r>
                      <a:r>
                        <a:rPr lang="en-US" altLang="zh-CN" sz="1400" dirty="0" smtClean="0"/>
                        <a:t>value2</a:t>
                      </a:r>
                      <a:endParaRPr lang="en-US" altLang="zh-CN" sz="1400" dirty="0" smtClean="0"/>
                    </a:p>
                  </a:txBody>
                  <a:tcPr anchor="ctr"/>
                </a:tc>
              </a:tr>
            </a:tbl>
          </a:graphicData>
        </a:graphic>
      </p:graphicFrame>
      <p:sp>
        <p:nvSpPr>
          <p:cNvPr id="4" name="圆角矩形标注 3"/>
          <p:cNvSpPr/>
          <p:nvPr/>
        </p:nvSpPr>
        <p:spPr>
          <a:xfrm>
            <a:off x="6870071" y="4779186"/>
            <a:ext cx="936104" cy="432048"/>
          </a:xfrm>
          <a:prstGeom prst="wedgeRoundRectCallout">
            <a:avLst>
              <a:gd name="adj1" fmla="val 10598"/>
              <a:gd name="adj2" fmla="val 8037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600" dirty="0" smtClean="0"/>
              <a:t>大驼峰</a:t>
            </a:r>
            <a:endParaRPr lang="en-US" altLang="zh-CN" sz="1600" dirty="0" smtClean="0"/>
          </a:p>
          <a:p>
            <a:pPr algn="ctr"/>
            <a:r>
              <a:rPr lang="zh-CN" altLang="en-US" sz="1600" dirty="0" smtClean="0"/>
              <a:t>小驼峰</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第一章</a:t>
            </a:r>
            <a:r>
              <a:rPr lang="zh-CN" altLang="en-US" dirty="0" smtClean="0">
                <a:sym typeface="微软雅黑" panose="020B0503020204020204" pitchFamily="34" charset="-122"/>
              </a:rPr>
              <a:t> </a:t>
            </a:r>
            <a:r>
              <a:rPr lang="en-US" altLang="zh-CN" dirty="0" smtClean="0">
                <a:sym typeface="微软雅黑" panose="020B0503020204020204" pitchFamily="34" charset="-122"/>
              </a:rPr>
              <a:t>|</a:t>
            </a:r>
            <a:r>
              <a:rPr lang="zh-CN" altLang="en-US" dirty="0" smtClean="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第六</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代码编写规范</a:t>
            </a:r>
            <a:endParaRPr lang="zh-CN" altLang="en-US" dirty="0"/>
          </a:p>
        </p:txBody>
      </p:sp>
      <p:graphicFrame>
        <p:nvGraphicFramePr>
          <p:cNvPr id="3" name="表格 2"/>
          <p:cNvGraphicFramePr>
            <a:graphicFrameLocks noGrp="1"/>
          </p:cNvGraphicFramePr>
          <p:nvPr/>
        </p:nvGraphicFramePr>
        <p:xfrm>
          <a:off x="268151" y="1487794"/>
          <a:ext cx="11779694" cy="4144264"/>
        </p:xfrm>
        <a:graphic>
          <a:graphicData uri="http://schemas.openxmlformats.org/drawingml/2006/table">
            <a:tbl>
              <a:tblPr firstRow="1" bandRow="1">
                <a:tableStyleId>{F5AB1C69-6EDB-4FF4-983F-18BD219EF322}</a:tableStyleId>
              </a:tblPr>
              <a:tblGrid>
                <a:gridCol w="664983"/>
                <a:gridCol w="1004357"/>
                <a:gridCol w="3792682"/>
                <a:gridCol w="6317672"/>
              </a:tblGrid>
              <a:tr h="287651">
                <a:tc>
                  <a:txBody>
                    <a:bodyPr/>
                    <a:lstStyle/>
                    <a:p>
                      <a:pPr algn="ctr"/>
                      <a:r>
                        <a:rPr lang="zh-CN" altLang="en-US" sz="1400" dirty="0" smtClean="0"/>
                        <a:t>规则名称</a:t>
                      </a:r>
                      <a:endParaRPr lang="zh-CN" altLang="en-US" sz="1400" dirty="0"/>
                    </a:p>
                  </a:txBody>
                  <a:tcPr anchor="ctr"/>
                </a:tc>
                <a:tc>
                  <a:txBody>
                    <a:bodyPr/>
                    <a:lstStyle/>
                    <a:p>
                      <a:pPr algn="ctr"/>
                      <a:r>
                        <a:rPr lang="zh-CN" altLang="en-US" sz="1400" dirty="0" smtClean="0"/>
                        <a:t>规则分类</a:t>
                      </a:r>
                      <a:endParaRPr lang="zh-CN" altLang="en-US" sz="1400" dirty="0"/>
                    </a:p>
                  </a:txBody>
                  <a:tcPr anchor="ctr"/>
                </a:tc>
                <a:tc>
                  <a:txBody>
                    <a:bodyPr/>
                    <a:lstStyle/>
                    <a:p>
                      <a:pPr algn="ctr"/>
                      <a:r>
                        <a:rPr lang="zh-CN" altLang="en-US" sz="1400" dirty="0" smtClean="0"/>
                        <a:t>编写规范内容</a:t>
                      </a:r>
                      <a:endParaRPr lang="zh-CN" altLang="en-US" sz="1400" dirty="0"/>
                    </a:p>
                  </a:txBody>
                  <a:tcPr anchor="ctr"/>
                </a:tc>
                <a:tc>
                  <a:txBody>
                    <a:bodyPr/>
                    <a:lstStyle/>
                    <a:p>
                      <a:pPr algn="ctr"/>
                      <a:r>
                        <a:rPr lang="zh-CN" altLang="en-US" sz="1400" dirty="0" smtClean="0"/>
                        <a:t>示例规范</a:t>
                      </a:r>
                      <a:endParaRPr lang="zh-CN" altLang="en-US" sz="1400" dirty="0"/>
                    </a:p>
                  </a:txBody>
                  <a:tcPr anchor="ctr"/>
                </a:tc>
              </a:tr>
              <a:tr h="370840">
                <a:tc rowSpan="3">
                  <a:txBody>
                    <a:bodyPr/>
                    <a:lstStyle/>
                    <a:p>
                      <a:r>
                        <a:rPr lang="en-US" altLang="zh-CN" sz="1400" dirty="0" smtClean="0"/>
                        <a:t>(2)</a:t>
                      </a:r>
                      <a:endParaRPr lang="en-US" altLang="zh-CN" sz="1400" dirty="0" smtClean="0"/>
                    </a:p>
                    <a:p>
                      <a:endParaRPr lang="en-US" altLang="zh-CN" sz="1400" dirty="0" smtClean="0"/>
                    </a:p>
                    <a:p>
                      <a:r>
                        <a:rPr lang="zh-CN" altLang="en-US" sz="1400" dirty="0" smtClean="0"/>
                        <a:t>注释规则</a:t>
                      </a:r>
                      <a:endParaRPr lang="zh-CN" altLang="en-US" sz="1400" dirty="0"/>
                    </a:p>
                  </a:txBody>
                  <a:tcPr anchor="ctr"/>
                </a:tc>
                <a:tc>
                  <a:txBody>
                    <a:bodyPr/>
                    <a:lstStyle/>
                    <a:p>
                      <a:pPr>
                        <a:lnSpc>
                          <a:spcPct val="120000"/>
                        </a:lnSpc>
                      </a:pPr>
                      <a:r>
                        <a:rPr lang="zh-CN" altLang="en-US" sz="1400" dirty="0" smtClean="0"/>
                        <a:t>基本原则</a:t>
                      </a:r>
                      <a:endParaRPr lang="en-US" altLang="zh-CN" sz="1400" dirty="0" smtClean="0"/>
                    </a:p>
                  </a:txBody>
                  <a:tcPr anchor="ctr"/>
                </a:tc>
                <a:tc>
                  <a:txBody>
                    <a:bodyPr/>
                    <a:lstStyle/>
                    <a:p>
                      <a:pPr>
                        <a:lnSpc>
                          <a:spcPct val="120000"/>
                        </a:lnSpc>
                      </a:pPr>
                      <a:r>
                        <a:rPr lang="zh-CN" altLang="en-US" sz="1400" dirty="0" smtClean="0"/>
                        <a:t>注释的语言采用中文</a:t>
                      </a:r>
                      <a:endParaRPr lang="zh-CN" altLang="en-US" sz="1400" dirty="0"/>
                    </a:p>
                  </a:txBody>
                  <a:tcPr anchor="ctr"/>
                </a:tc>
                <a:tc>
                  <a:txBody>
                    <a:bodyPr/>
                    <a:lstStyle/>
                    <a:p>
                      <a:pPr marL="0" marR="0" lvl="0" indent="0" algn="l" defTabSz="815975" rtl="0" eaLnBrk="1" fontAlgn="auto" latinLnBrk="0" hangingPunct="1">
                        <a:lnSpc>
                          <a:spcPct val="120000"/>
                        </a:lnSpc>
                        <a:spcBef>
                          <a:spcPts val="0"/>
                        </a:spcBef>
                        <a:spcAft>
                          <a:spcPts val="0"/>
                        </a:spcAft>
                        <a:buClrTx/>
                        <a:buSzTx/>
                        <a:buFontTx/>
                        <a:buNone/>
                        <a:defRPr/>
                      </a:pPr>
                      <a:endParaRPr lang="zh-CN" altLang="en-US" sz="1400" dirty="0" smtClean="0"/>
                    </a:p>
                  </a:txBody>
                  <a:tcPr anchor="ctr"/>
                </a:tc>
              </a:tr>
              <a:tr h="939737">
                <a:tc vMerge="1">
                  <a:tcPr anchor="ctr"/>
                </a:tc>
                <a:tc>
                  <a:txBody>
                    <a:bodyPr/>
                    <a:lstStyle/>
                    <a:p>
                      <a:pPr>
                        <a:lnSpc>
                          <a:spcPct val="120000"/>
                        </a:lnSpc>
                      </a:pPr>
                      <a:r>
                        <a:rPr lang="en-US" altLang="zh-CN" sz="1400" dirty="0" smtClean="0"/>
                        <a:t>Routine</a:t>
                      </a:r>
                      <a:r>
                        <a:rPr lang="zh-CN" altLang="en-US" sz="1400" dirty="0" smtClean="0"/>
                        <a:t>、类注释</a:t>
                      </a:r>
                      <a:endParaRPr lang="zh-CN" altLang="en-US" sz="1400" dirty="0"/>
                    </a:p>
                  </a:txBody>
                  <a:tcPr anchor="ctr"/>
                </a:tc>
                <a:tc>
                  <a:txBody>
                    <a:bodyPr/>
                    <a:lstStyle/>
                    <a:p>
                      <a:pPr>
                        <a:lnSpc>
                          <a:spcPct val="120000"/>
                        </a:lnSpc>
                      </a:pPr>
                      <a:r>
                        <a:rPr lang="zh-CN" altLang="en-US" sz="1400" dirty="0" smtClean="0"/>
                        <a:t>文件注释放在每个代码文件的开头，用于说明本文件的功能、作者、修改历史等相关信息。</a:t>
                      </a:r>
                      <a:endParaRPr lang="zh-CN" altLang="en-US" sz="1400" dirty="0"/>
                    </a:p>
                  </a:txBody>
                  <a:tcPr anchor="ctr"/>
                </a:tc>
                <a:tc>
                  <a:txBody>
                    <a:bodyPr/>
                    <a:lstStyle/>
                    <a:p>
                      <a:pPr>
                        <a:lnSpc>
                          <a:spcPct val="120000"/>
                        </a:lnSpc>
                      </a:pPr>
                      <a:r>
                        <a:rPr lang="en-US" altLang="zh-CN" sz="1400" dirty="0" smtClean="0"/>
                        <a:t>///</a:t>
                      </a:r>
                      <a:r>
                        <a:rPr lang="zh-CN" altLang="en-US" sz="1400" dirty="0" smtClean="0"/>
                        <a:t>名称</a:t>
                      </a:r>
                      <a:r>
                        <a:rPr lang="en-US" altLang="zh-CN" sz="1400" dirty="0" smtClean="0"/>
                        <a:t>: </a:t>
                      </a:r>
                      <a:endParaRPr lang="en-US" altLang="zh-CN" sz="1400" dirty="0" smtClean="0"/>
                    </a:p>
                    <a:p>
                      <a:pPr>
                        <a:lnSpc>
                          <a:spcPct val="120000"/>
                        </a:lnSpc>
                      </a:pPr>
                      <a:r>
                        <a:rPr lang="en-US" altLang="zh-CN" sz="1400" dirty="0" smtClean="0"/>
                        <a:t>///</a:t>
                      </a:r>
                      <a:r>
                        <a:rPr lang="zh-CN" altLang="en-US" sz="1400" dirty="0" smtClean="0"/>
                        <a:t>描述</a:t>
                      </a:r>
                      <a:r>
                        <a:rPr lang="en-US" altLang="zh-CN" sz="1400" dirty="0" smtClean="0"/>
                        <a:t>: </a:t>
                      </a:r>
                      <a:endParaRPr lang="en-US" altLang="zh-CN" sz="1400" dirty="0" smtClean="0"/>
                    </a:p>
                    <a:p>
                      <a:pPr>
                        <a:lnSpc>
                          <a:spcPct val="120000"/>
                        </a:lnSpc>
                      </a:pPr>
                      <a:r>
                        <a:rPr lang="en-US" altLang="zh-CN" sz="1400" dirty="0" smtClean="0"/>
                        <a:t> ///</a:t>
                      </a:r>
                      <a:r>
                        <a:rPr lang="zh-CN" altLang="en-US" sz="1400" dirty="0" smtClean="0"/>
                        <a:t>编写者：</a:t>
                      </a:r>
                      <a:endParaRPr lang="zh-CN" altLang="en-US" sz="1400" dirty="0" smtClean="0"/>
                    </a:p>
                    <a:p>
                      <a:pPr>
                        <a:lnSpc>
                          <a:spcPct val="120000"/>
                        </a:lnSpc>
                      </a:pPr>
                      <a:r>
                        <a:rPr lang="zh-CN" altLang="en-US" sz="1400" dirty="0" smtClean="0"/>
                        <a:t> </a:t>
                      </a:r>
                      <a:r>
                        <a:rPr lang="en-US" altLang="zh-CN" sz="1400" dirty="0" smtClean="0"/>
                        <a:t>///</a:t>
                      </a:r>
                      <a:r>
                        <a:rPr lang="zh-CN" altLang="en-US" sz="1400" dirty="0" smtClean="0"/>
                        <a:t>编写日期</a:t>
                      </a:r>
                      <a:r>
                        <a:rPr lang="en-US" altLang="zh-CN" sz="1400" dirty="0" smtClean="0"/>
                        <a:t>: </a:t>
                      </a:r>
                      <a:endParaRPr lang="zh-CN" altLang="en-US" sz="1400" dirty="0"/>
                    </a:p>
                  </a:txBody>
                  <a:tcPr anchor="ctr"/>
                </a:tc>
              </a:tr>
              <a:tr h="2139696">
                <a:tc vMerge="1">
                  <a:tcPr anchor="ctr"/>
                </a:tc>
                <a:tc>
                  <a:txBody>
                    <a:bodyPr/>
                    <a:lstStyle/>
                    <a:p>
                      <a:pPr>
                        <a:lnSpc>
                          <a:spcPct val="120000"/>
                        </a:lnSpc>
                      </a:pPr>
                      <a:r>
                        <a:rPr lang="zh-CN" altLang="en-US" sz="1400" dirty="0" smtClean="0"/>
                        <a:t>函数、类方法注释</a:t>
                      </a:r>
                      <a:endParaRPr lang="zh-CN" altLang="en-US" sz="1400" dirty="0"/>
                    </a:p>
                  </a:txBody>
                  <a:tcPr anchor="ctr"/>
                </a:tc>
                <a:tc>
                  <a:txBody>
                    <a:bodyPr/>
                    <a:lstStyle/>
                    <a:p>
                      <a:pPr>
                        <a:lnSpc>
                          <a:spcPct val="120000"/>
                        </a:lnSpc>
                      </a:pPr>
                      <a:r>
                        <a:rPr lang="zh-CN" altLang="en-US" sz="1400" dirty="0" smtClean="0"/>
                        <a:t>函数注释放在每个函数或类方法声明的上方，不要放在函数体或类方法的内部。用于说明该函数或方法的功能、出入口参数、调用注意事项等。</a:t>
                      </a:r>
                      <a:endParaRPr lang="en-US" altLang="zh-CN" sz="1400" dirty="0" smtClean="0"/>
                    </a:p>
                    <a:p>
                      <a:pPr>
                        <a:lnSpc>
                          <a:spcPct val="120000"/>
                        </a:lnSpc>
                      </a:pPr>
                      <a:r>
                        <a:rPr lang="zh-CN" altLang="en-US" sz="1400" dirty="0" smtClean="0"/>
                        <a:t>注释以三条斜线（</a:t>
                      </a:r>
                      <a:r>
                        <a:rPr lang="en-US" altLang="zh-CN" sz="1400" dirty="0" smtClean="0"/>
                        <a:t>///</a:t>
                      </a:r>
                      <a:r>
                        <a:rPr lang="zh-CN" altLang="en-US" sz="1400" dirty="0" smtClean="0"/>
                        <a:t>）作为注释符</a:t>
                      </a:r>
                      <a:endParaRPr lang="zh-CN" altLang="en-US" sz="1400" dirty="0"/>
                    </a:p>
                  </a:txBody>
                  <a:tcPr anchor="ctr"/>
                </a:tc>
                <a:tc>
                  <a:txBody>
                    <a:bodyPr/>
                    <a:lstStyle/>
                    <a:p>
                      <a:pPr marL="0" indent="0">
                        <a:lnSpc>
                          <a:spcPct val="120000"/>
                        </a:lnSpc>
                        <a:buFont typeface="+mj-lt"/>
                        <a:buNone/>
                      </a:pPr>
                      <a:r>
                        <a:rPr lang="en-US" altLang="zh-CN" sz="1400" dirty="0" smtClean="0"/>
                        <a:t>///Creator</a:t>
                      </a:r>
                      <a:r>
                        <a:rPr lang="zh-CN" altLang="en-US" sz="1400" dirty="0" smtClean="0"/>
                        <a:t>：      作者</a:t>
                      </a:r>
                      <a:endParaRPr lang="zh-CN" altLang="en-US" sz="1400" dirty="0" smtClean="0"/>
                    </a:p>
                    <a:p>
                      <a:pPr marL="0" indent="0">
                        <a:lnSpc>
                          <a:spcPct val="120000"/>
                        </a:lnSpc>
                        <a:buFont typeface="+mj-lt"/>
                        <a:buNone/>
                      </a:pPr>
                      <a:r>
                        <a:rPr lang="en-US" altLang="zh-CN" sz="1400" dirty="0" smtClean="0"/>
                        <a:t>///</a:t>
                      </a:r>
                      <a:r>
                        <a:rPr lang="en-US" altLang="zh-CN" sz="1400" dirty="0" err="1" smtClean="0"/>
                        <a:t>CreatDate</a:t>
                      </a:r>
                      <a:r>
                        <a:rPr lang="zh-CN" altLang="en-US" sz="1400" dirty="0" smtClean="0"/>
                        <a:t>：    编写日期</a:t>
                      </a:r>
                      <a:endParaRPr lang="zh-CN" altLang="en-US" sz="1400" dirty="0" smtClean="0"/>
                    </a:p>
                    <a:p>
                      <a:pPr marL="0" indent="0">
                        <a:lnSpc>
                          <a:spcPct val="120000"/>
                        </a:lnSpc>
                        <a:buFont typeface="+mj-lt"/>
                        <a:buNone/>
                      </a:pPr>
                      <a:r>
                        <a:rPr lang="en-US" altLang="zh-CN" sz="1400" dirty="0" smtClean="0"/>
                        <a:t>///Description:</a:t>
                      </a:r>
                      <a:r>
                        <a:rPr lang="zh-CN" altLang="en-US" sz="1400" dirty="0" smtClean="0"/>
                        <a:t>：   函数功能、性能等的描述</a:t>
                      </a:r>
                      <a:endParaRPr lang="zh-CN" altLang="en-US" sz="1400" dirty="0" smtClean="0"/>
                    </a:p>
                    <a:p>
                      <a:pPr marL="0" indent="0">
                        <a:lnSpc>
                          <a:spcPct val="120000"/>
                        </a:lnSpc>
                        <a:buFont typeface="+mj-lt"/>
                        <a:buNone/>
                      </a:pPr>
                      <a:r>
                        <a:rPr lang="en-US" altLang="zh-CN" sz="1400" dirty="0" smtClean="0"/>
                        <a:t>///Table</a:t>
                      </a:r>
                      <a:r>
                        <a:rPr lang="zh-CN" altLang="en-US" sz="1400" dirty="0" smtClean="0"/>
                        <a:t>：           被访问的表（此项仅对于牵扯到数据库操作的程序</a:t>
                      </a:r>
                      <a:endParaRPr lang="zh-CN" altLang="en-US" sz="1400" dirty="0" smtClean="0"/>
                    </a:p>
                    <a:p>
                      <a:pPr marL="0" indent="0">
                        <a:lnSpc>
                          <a:spcPct val="120000"/>
                        </a:lnSpc>
                        <a:buFont typeface="+mj-lt"/>
                        <a:buNone/>
                      </a:pPr>
                      <a:r>
                        <a:rPr lang="en-US" altLang="zh-CN" sz="1400" dirty="0" smtClean="0"/>
                        <a:t>///Input</a:t>
                      </a:r>
                      <a:r>
                        <a:rPr lang="zh-CN" altLang="en-US" sz="1400" dirty="0" smtClean="0"/>
                        <a:t>：            输入参数说明，包括每个参数的作用、取值说明及参数间关系。</a:t>
                      </a:r>
                      <a:endParaRPr lang="zh-CN" altLang="en-US" sz="1400" dirty="0" smtClean="0"/>
                    </a:p>
                    <a:p>
                      <a:pPr marL="0" indent="0">
                        <a:lnSpc>
                          <a:spcPct val="120000"/>
                        </a:lnSpc>
                        <a:buFont typeface="+mj-lt"/>
                        <a:buNone/>
                      </a:pPr>
                      <a:r>
                        <a:rPr lang="en-US" altLang="zh-CN" sz="1400" dirty="0" smtClean="0"/>
                        <a:t>///Output</a:t>
                      </a:r>
                      <a:r>
                        <a:rPr lang="zh-CN" altLang="en-US" sz="1400" dirty="0" smtClean="0"/>
                        <a:t>：          对输出参数的说明</a:t>
                      </a:r>
                      <a:endParaRPr lang="zh-CN" altLang="en-US" sz="1400" dirty="0" smtClean="0"/>
                    </a:p>
                    <a:p>
                      <a:pPr marL="0" indent="0">
                        <a:lnSpc>
                          <a:spcPct val="120000"/>
                        </a:lnSpc>
                        <a:buFont typeface="+mj-lt"/>
                        <a:buNone/>
                      </a:pPr>
                      <a:r>
                        <a:rPr lang="en-US" altLang="zh-CN" sz="1400" dirty="0" smtClean="0"/>
                        <a:t>///Return</a:t>
                      </a:r>
                      <a:r>
                        <a:rPr lang="zh-CN" altLang="en-US" sz="1400" dirty="0" smtClean="0"/>
                        <a:t>：         函数返回值的说明</a:t>
                      </a:r>
                      <a:endParaRPr lang="zh-CN" altLang="en-US" sz="1400" dirty="0" smtClean="0"/>
                    </a:p>
                    <a:p>
                      <a:pPr marL="0" indent="0">
                        <a:lnSpc>
                          <a:spcPct val="120000"/>
                        </a:lnSpc>
                        <a:buFont typeface="+mj-lt"/>
                        <a:buNone/>
                      </a:pPr>
                      <a:r>
                        <a:rPr lang="en-US" altLang="zh-CN" sz="1400" dirty="0" smtClean="0"/>
                        <a:t>///Others</a:t>
                      </a:r>
                      <a:r>
                        <a:rPr lang="zh-CN" altLang="en-US" sz="1400" dirty="0" smtClean="0"/>
                        <a:t>：        其它说明</a:t>
                      </a:r>
                      <a:endParaRPr lang="zh-CN" altLang="en-US" sz="1400" dirty="0"/>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第一章</a:t>
            </a:r>
            <a:r>
              <a:rPr lang="zh-CN" altLang="en-US" dirty="0" smtClean="0">
                <a:sym typeface="微软雅黑" panose="020B0503020204020204" pitchFamily="34" charset="-122"/>
              </a:rPr>
              <a:t> </a:t>
            </a:r>
            <a:r>
              <a:rPr lang="en-US" altLang="zh-CN" dirty="0" smtClean="0">
                <a:sym typeface="微软雅黑" panose="020B0503020204020204" pitchFamily="34" charset="-122"/>
              </a:rPr>
              <a:t>|</a:t>
            </a:r>
            <a:r>
              <a:rPr lang="zh-CN" altLang="en-US" dirty="0" smtClean="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第六</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代码编写规范</a:t>
            </a:r>
            <a:endParaRPr lang="zh-CN" altLang="en-US" dirty="0"/>
          </a:p>
        </p:txBody>
      </p:sp>
      <p:graphicFrame>
        <p:nvGraphicFramePr>
          <p:cNvPr id="3" name="表格 2"/>
          <p:cNvGraphicFramePr>
            <a:graphicFrameLocks noGrp="1"/>
          </p:cNvGraphicFramePr>
          <p:nvPr/>
        </p:nvGraphicFramePr>
        <p:xfrm>
          <a:off x="149070" y="1518239"/>
          <a:ext cx="11758911" cy="4206240"/>
        </p:xfrm>
        <a:graphic>
          <a:graphicData uri="http://schemas.openxmlformats.org/drawingml/2006/table">
            <a:tbl>
              <a:tblPr firstRow="1" bandRow="1">
                <a:tableStyleId>{F5AB1C69-6EDB-4FF4-983F-18BD219EF322}</a:tableStyleId>
              </a:tblPr>
              <a:tblGrid>
                <a:gridCol w="663809"/>
                <a:gridCol w="1232789"/>
                <a:gridCol w="6638095"/>
                <a:gridCol w="3224218"/>
              </a:tblGrid>
              <a:tr h="287651">
                <a:tc>
                  <a:txBody>
                    <a:bodyPr/>
                    <a:lstStyle/>
                    <a:p>
                      <a:pPr algn="ctr"/>
                      <a:r>
                        <a:rPr lang="zh-CN" altLang="en-US" sz="1400" dirty="0" smtClean="0"/>
                        <a:t>规则名称</a:t>
                      </a:r>
                      <a:endParaRPr lang="zh-CN" altLang="en-US" sz="1400" dirty="0"/>
                    </a:p>
                  </a:txBody>
                  <a:tcPr anchor="ctr"/>
                </a:tc>
                <a:tc>
                  <a:txBody>
                    <a:bodyPr/>
                    <a:lstStyle/>
                    <a:p>
                      <a:pPr algn="ctr"/>
                      <a:r>
                        <a:rPr lang="zh-CN" altLang="en-US" sz="1400" dirty="0" smtClean="0"/>
                        <a:t>规则分类</a:t>
                      </a:r>
                      <a:endParaRPr lang="zh-CN" altLang="en-US" sz="1400" dirty="0"/>
                    </a:p>
                  </a:txBody>
                  <a:tcPr anchor="ctr"/>
                </a:tc>
                <a:tc>
                  <a:txBody>
                    <a:bodyPr/>
                    <a:lstStyle/>
                    <a:p>
                      <a:pPr algn="ctr"/>
                      <a:r>
                        <a:rPr lang="zh-CN" altLang="en-US" sz="1400" dirty="0" smtClean="0"/>
                        <a:t>编写规范内容</a:t>
                      </a:r>
                      <a:endParaRPr lang="zh-CN" altLang="en-US" sz="1400" dirty="0"/>
                    </a:p>
                  </a:txBody>
                  <a:tcPr anchor="ctr"/>
                </a:tc>
                <a:tc>
                  <a:txBody>
                    <a:bodyPr/>
                    <a:lstStyle/>
                    <a:p>
                      <a:pPr algn="ctr"/>
                      <a:r>
                        <a:rPr lang="zh-CN" altLang="en-US" sz="1400" dirty="0" smtClean="0"/>
                        <a:t>示例规范</a:t>
                      </a:r>
                      <a:endParaRPr lang="zh-CN" altLang="en-US" sz="1400" dirty="0"/>
                    </a:p>
                  </a:txBody>
                  <a:tcPr anchor="ctr"/>
                </a:tc>
              </a:tr>
              <a:tr h="1926938">
                <a:tc rowSpan="2">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dirty="0" smtClean="0"/>
                        <a:t>(2)</a:t>
                      </a:r>
                      <a:endParaRPr lang="en-US" altLang="zh-CN" sz="1400" dirty="0" smtClean="0"/>
                    </a:p>
                    <a:p>
                      <a:pPr marL="0" marR="0" lvl="0" indent="0" algn="l" defTabSz="815975" rtl="0" eaLnBrk="1" fontAlgn="auto" latinLnBrk="0" hangingPunct="1">
                        <a:lnSpc>
                          <a:spcPct val="100000"/>
                        </a:lnSpc>
                        <a:spcBef>
                          <a:spcPts val="0"/>
                        </a:spcBef>
                        <a:spcAft>
                          <a:spcPts val="0"/>
                        </a:spcAft>
                        <a:buClrTx/>
                        <a:buSzTx/>
                        <a:buFontTx/>
                        <a:buNone/>
                        <a:defRPr/>
                      </a:pPr>
                      <a:endParaRPr lang="en-US" altLang="zh-CN" sz="1400" dirty="0" smtClean="0"/>
                    </a:p>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注释规则</a:t>
                      </a:r>
                      <a:endParaRPr lang="zh-CN" altLang="en-US" sz="1400" dirty="0" smtClean="0"/>
                    </a:p>
                    <a:p>
                      <a:endParaRPr lang="zh-CN" altLang="en-US" sz="1400" dirty="0"/>
                    </a:p>
                  </a:txBody>
                  <a:tcPr anchor="ctr"/>
                </a:tc>
                <a:tc>
                  <a:txBody>
                    <a:bodyPr/>
                    <a:lstStyle/>
                    <a:p>
                      <a:pPr>
                        <a:lnSpc>
                          <a:spcPct val="120000"/>
                        </a:lnSpc>
                      </a:pPr>
                      <a:r>
                        <a:rPr lang="zh-CN" altLang="en-US" sz="1400" dirty="0" smtClean="0"/>
                        <a:t>代码注释</a:t>
                      </a:r>
                      <a:endParaRPr lang="zh-CN" altLang="en-US" sz="1400" dirty="0"/>
                    </a:p>
                  </a:txBody>
                  <a:tcPr anchor="ctr"/>
                </a:tc>
                <a:tc>
                  <a:txBody>
                    <a:bodyPr/>
                    <a:lstStyle/>
                    <a:p>
                      <a:pPr>
                        <a:lnSpc>
                          <a:spcPct val="120000"/>
                        </a:lnSpc>
                      </a:pPr>
                      <a:r>
                        <a:rPr lang="en-US" altLang="zh-CN" sz="1400" dirty="0" smtClean="0"/>
                        <a:t>1. </a:t>
                      </a:r>
                      <a:r>
                        <a:rPr lang="zh-CN" altLang="en-US" sz="1400" dirty="0" smtClean="0"/>
                        <a:t>不可过多地使用注释，不可喧宾夺主，防止眼花缭乱。</a:t>
                      </a:r>
                      <a:endParaRPr lang="zh-CN" altLang="en-US" sz="1400" dirty="0" smtClean="0"/>
                    </a:p>
                    <a:p>
                      <a:pPr>
                        <a:lnSpc>
                          <a:spcPct val="120000"/>
                        </a:lnSpc>
                      </a:pPr>
                      <a:r>
                        <a:rPr lang="en-US" altLang="zh-CN" sz="1400" dirty="0" smtClean="0"/>
                        <a:t>2. </a:t>
                      </a:r>
                      <a:r>
                        <a:rPr lang="zh-CN" altLang="en-US" sz="1400" dirty="0" smtClean="0"/>
                        <a:t>注释应准确易懂，防止注释有二义性。</a:t>
                      </a:r>
                      <a:endParaRPr lang="zh-CN" altLang="en-US" sz="1400" dirty="0" smtClean="0"/>
                    </a:p>
                    <a:p>
                      <a:pPr>
                        <a:lnSpc>
                          <a:spcPct val="120000"/>
                        </a:lnSpc>
                      </a:pPr>
                      <a:r>
                        <a:rPr lang="en-US" altLang="zh-CN" sz="1400" dirty="0" smtClean="0"/>
                        <a:t>3. </a:t>
                      </a:r>
                      <a:r>
                        <a:rPr lang="zh-CN" altLang="en-US" sz="1400" dirty="0" smtClean="0"/>
                        <a:t>注释以两条斜线（</a:t>
                      </a:r>
                      <a:r>
                        <a:rPr lang="en-US" altLang="zh-CN" sz="1400" dirty="0" smtClean="0"/>
                        <a:t>//</a:t>
                      </a:r>
                      <a:r>
                        <a:rPr lang="zh-CN" altLang="en-US" sz="1400" dirty="0" smtClean="0"/>
                        <a:t>）作为注释符。</a:t>
                      </a:r>
                      <a:endParaRPr lang="zh-CN" altLang="en-US" sz="1400" dirty="0" smtClean="0"/>
                    </a:p>
                    <a:p>
                      <a:pPr>
                        <a:lnSpc>
                          <a:spcPct val="120000"/>
                        </a:lnSpc>
                      </a:pPr>
                      <a:r>
                        <a:rPr lang="en-US" altLang="zh-CN" sz="1400" dirty="0" smtClean="0"/>
                        <a:t>4. </a:t>
                      </a:r>
                      <a:r>
                        <a:rPr lang="zh-CN" altLang="en-US" sz="1400" dirty="0" smtClean="0"/>
                        <a:t>边写代码边注释，修改代码同时修改相应的注释，以保证注释与代码的一致性。删除没用的注释。</a:t>
                      </a:r>
                      <a:endParaRPr lang="zh-CN" altLang="en-US" sz="1400" dirty="0" smtClean="0"/>
                    </a:p>
                    <a:p>
                      <a:pPr>
                        <a:lnSpc>
                          <a:spcPct val="120000"/>
                        </a:lnSpc>
                      </a:pPr>
                      <a:r>
                        <a:rPr lang="en-US" altLang="zh-CN" sz="1400" dirty="0" smtClean="0"/>
                        <a:t>5. </a:t>
                      </a:r>
                      <a:r>
                        <a:rPr lang="zh-CN" altLang="en-US" sz="1400" dirty="0" smtClean="0"/>
                        <a:t>注释的位置应与被描述的代码相邻，可以放在代码的上方或右方，不可放在下方。</a:t>
                      </a:r>
                      <a:endParaRPr lang="zh-CN" altLang="en-US" sz="1400" dirty="0" smtClean="0"/>
                    </a:p>
                    <a:p>
                      <a:pPr>
                        <a:lnSpc>
                          <a:spcPct val="120000"/>
                        </a:lnSpc>
                      </a:pPr>
                      <a:r>
                        <a:rPr lang="en-US" altLang="zh-CN" sz="1400" dirty="0" smtClean="0"/>
                        <a:t>6. </a:t>
                      </a:r>
                      <a:r>
                        <a:rPr lang="zh-CN" altLang="en-US" sz="1400" dirty="0" smtClean="0"/>
                        <a:t>程序调试和测试阶段，修改为较为稳定的代码或修改别人编写的代码，必须进行修改注释。在形成稳定版本时，需要将修改注释去除。</a:t>
                      </a:r>
                      <a:endParaRPr lang="zh-CN" altLang="en-US" sz="1400" dirty="0"/>
                    </a:p>
                  </a:txBody>
                  <a:tcPr anchor="ctr"/>
                </a:tc>
                <a:tc>
                  <a:txBody>
                    <a:bodyPr/>
                    <a:lstStyle/>
                    <a:p>
                      <a:pPr marL="228600" indent="-228600">
                        <a:lnSpc>
                          <a:spcPct val="120000"/>
                        </a:lnSpc>
                        <a:buAutoNum type="arabicPeriod"/>
                      </a:pPr>
                      <a:r>
                        <a:rPr lang="en-US" altLang="zh-CN" sz="1400" dirty="0" smtClean="0"/>
                        <a:t>code added line 1;	// +&lt;</a:t>
                      </a:r>
                      <a:r>
                        <a:rPr lang="zh-CN" altLang="en-US" sz="1400" dirty="0" smtClean="0"/>
                        <a:t>修改日期</a:t>
                      </a:r>
                      <a:r>
                        <a:rPr lang="en-US" altLang="zh-CN" sz="1400" dirty="0" smtClean="0"/>
                        <a:t>&gt; &lt;</a:t>
                      </a:r>
                      <a:r>
                        <a:rPr lang="zh-CN" altLang="en-US" sz="1400" dirty="0" smtClean="0"/>
                        <a:t>修改者</a:t>
                      </a:r>
                      <a:r>
                        <a:rPr lang="en-US" altLang="zh-CN" sz="1400" dirty="0" smtClean="0"/>
                        <a:t>&gt; &lt;</a:t>
                      </a:r>
                      <a:r>
                        <a:rPr lang="zh-CN" altLang="en-US" sz="1400" dirty="0" smtClean="0"/>
                        <a:t>修改原因</a:t>
                      </a:r>
                      <a:r>
                        <a:rPr lang="en-US" altLang="zh-CN" sz="1400" dirty="0" smtClean="0"/>
                        <a:t>&gt;</a:t>
                      </a:r>
                      <a:endParaRPr lang="en-US" altLang="zh-CN" sz="1400" dirty="0" smtClean="0"/>
                    </a:p>
                    <a:p>
                      <a:pPr marL="228600" indent="-228600">
                        <a:lnSpc>
                          <a:spcPct val="120000"/>
                        </a:lnSpc>
                        <a:buAutoNum type="arabicPeriod"/>
                      </a:pPr>
                      <a:r>
                        <a:rPr lang="en-US" altLang="zh-CN" sz="1400" dirty="0" smtClean="0"/>
                        <a:t>code added line 2;	// +</a:t>
                      </a:r>
                      <a:endParaRPr lang="en-US" altLang="zh-CN" sz="1400" dirty="0" smtClean="0"/>
                    </a:p>
                    <a:p>
                      <a:pPr marL="228600" indent="-228600">
                        <a:lnSpc>
                          <a:spcPct val="120000"/>
                        </a:lnSpc>
                        <a:buAutoNum type="arabicPeriod"/>
                      </a:pPr>
                      <a:r>
                        <a:rPr lang="en-US" altLang="zh-CN" sz="1400" dirty="0" smtClean="0"/>
                        <a:t>. . .</a:t>
                      </a:r>
                      <a:endParaRPr lang="en-US" altLang="zh-CN" sz="1400" dirty="0" smtClean="0"/>
                    </a:p>
                    <a:p>
                      <a:pPr marL="228600" indent="-228600">
                        <a:lnSpc>
                          <a:spcPct val="120000"/>
                        </a:lnSpc>
                        <a:buAutoNum type="arabicPeriod"/>
                      </a:pPr>
                      <a:r>
                        <a:rPr lang="en-US" altLang="zh-CN" sz="1400" dirty="0" smtClean="0"/>
                        <a:t>code added line n;	// +</a:t>
                      </a:r>
                      <a:endParaRPr lang="en-US" altLang="zh-CN" sz="1400" dirty="0" smtClean="0"/>
                    </a:p>
                  </a:txBody>
                  <a:tcPr anchor="ctr"/>
                </a:tc>
              </a:tr>
              <a:tr h="263028">
                <a:tc vMerge="1">
                  <a:tcPr anchor="ctr"/>
                </a:tc>
                <a:tc>
                  <a:txBody>
                    <a:bodyPr/>
                    <a:lstStyle/>
                    <a:p>
                      <a:pPr>
                        <a:lnSpc>
                          <a:spcPct val="120000"/>
                        </a:lnSpc>
                      </a:pPr>
                      <a:r>
                        <a:rPr lang="zh-CN" altLang="en-US" sz="1400" dirty="0" smtClean="0"/>
                        <a:t>组件</a:t>
                      </a:r>
                      <a:r>
                        <a:rPr lang="en-US" altLang="zh-CN" sz="1400" dirty="0" smtClean="0"/>
                        <a:t>Message</a:t>
                      </a:r>
                      <a:endParaRPr lang="zh-CN" altLang="en-US" sz="1400" dirty="0"/>
                    </a:p>
                  </a:txBody>
                  <a:tcPr anchor="ctr"/>
                </a:tc>
                <a:tc>
                  <a:txBody>
                    <a:bodyPr/>
                    <a:lstStyle/>
                    <a:p>
                      <a:pPr>
                        <a:lnSpc>
                          <a:spcPct val="120000"/>
                        </a:lnSpc>
                      </a:pPr>
                      <a:r>
                        <a:rPr lang="zh-CN" altLang="en-US" sz="1400" dirty="0" smtClean="0"/>
                        <a:t>参照变量命名规则，不能用数字或单个字母命名。</a:t>
                      </a:r>
                      <a:endParaRPr lang="zh-CN" altLang="en-US" sz="1400" dirty="0"/>
                    </a:p>
                  </a:txBody>
                  <a:tcPr anchor="ctr"/>
                </a:tc>
                <a:tc>
                  <a:txBody>
                    <a:bodyPr/>
                    <a:lstStyle/>
                    <a:p>
                      <a:pPr marL="228600" indent="-228600">
                        <a:lnSpc>
                          <a:spcPct val="120000"/>
                        </a:lnSpc>
                        <a:buAutoNum type="arabicPeriod"/>
                      </a:pPr>
                      <a:endParaRPr lang="en-US" altLang="zh-CN" sz="1400" dirty="0" smtClean="0"/>
                    </a:p>
                  </a:txBody>
                  <a:tcPr anchor="ctr"/>
                </a:tc>
              </a:tr>
              <a:tr h="263028">
                <a:tc gridSpan="2">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dirty="0" smtClean="0"/>
                        <a:t>(3)</a:t>
                      </a:r>
                      <a:r>
                        <a:rPr lang="zh-CN" altLang="en-US" sz="1400" kern="1200" dirty="0" smtClean="0"/>
                        <a:t>版式规则</a:t>
                      </a:r>
                      <a:endParaRPr lang="zh-CN" altLang="en-US" sz="1400" kern="1200" dirty="0">
                        <a:solidFill>
                          <a:schemeClr val="dk1"/>
                        </a:solidFill>
                        <a:latin typeface="+mn-lt"/>
                        <a:ea typeface="+mn-ea"/>
                        <a:cs typeface="+mn-cs"/>
                      </a:endParaRPr>
                    </a:p>
                  </a:txBody>
                  <a:tcPr anchor="ctr"/>
                </a:tc>
                <a:tc hMerge="1">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kern="1200" dirty="0" smtClean="0"/>
                        <a:t>1.  </a:t>
                      </a:r>
                      <a:r>
                        <a:rPr lang="zh-CN" altLang="en-US" sz="1400" kern="1200" dirty="0" smtClean="0"/>
                        <a:t>代码编写要整齐，</a:t>
                      </a:r>
                      <a:r>
                        <a:rPr lang="en-US" altLang="zh-CN" sz="1400" kern="1200" dirty="0" smtClean="0"/>
                        <a:t>for</a:t>
                      </a:r>
                      <a:r>
                        <a:rPr lang="zh-CN" altLang="en-US" sz="1400" kern="1200" dirty="0" smtClean="0"/>
                        <a:t>语句，</a:t>
                      </a:r>
                      <a:r>
                        <a:rPr lang="en-US" altLang="zh-CN" sz="1400" kern="1200" dirty="0" smtClean="0"/>
                        <a:t>if</a:t>
                      </a:r>
                      <a:r>
                        <a:rPr lang="zh-CN" altLang="en-US" sz="1400" kern="1200" dirty="0" smtClean="0"/>
                        <a:t>语句，以</a:t>
                      </a:r>
                      <a:r>
                        <a:rPr lang="en-US" altLang="zh-CN" sz="1400" kern="1200" dirty="0" smtClean="0"/>
                        <a:t>4</a:t>
                      </a:r>
                      <a:r>
                        <a:rPr lang="zh-CN" altLang="en-US" sz="1400" kern="1200" dirty="0" smtClean="0"/>
                        <a:t>个字符位作为缩进长度，（如果循环或</a:t>
                      </a:r>
                      <a:r>
                        <a:rPr lang="en-US" altLang="zh-CN" sz="1400" kern="1200" dirty="0" smtClean="0"/>
                        <a:t>if</a:t>
                      </a:r>
                      <a:r>
                        <a:rPr lang="zh-CN" altLang="en-US" sz="1400" kern="1200" dirty="0" smtClean="0"/>
                        <a:t>语句采用点的方式则不需要缩进）</a:t>
                      </a:r>
                      <a:endParaRPr lang="en-US" altLang="zh-CN" sz="1400" kern="1200" dirty="0" smtClean="0"/>
                    </a:p>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kern="1200" dirty="0" smtClean="0"/>
                        <a:t>2.  </a:t>
                      </a:r>
                      <a:r>
                        <a:rPr lang="en-US" altLang="zh-CN" sz="1400" kern="1200" dirty="0" err="1" smtClean="0"/>
                        <a:t>Classmethod</a:t>
                      </a:r>
                      <a:r>
                        <a:rPr lang="zh-CN" altLang="en-US" sz="1400" kern="1200" dirty="0" smtClean="0"/>
                        <a:t>，函数体以</a:t>
                      </a:r>
                      <a:r>
                        <a:rPr lang="en-US" altLang="zh-CN" sz="1400" kern="1200" dirty="0" smtClean="0"/>
                        <a:t>tab</a:t>
                      </a:r>
                      <a:r>
                        <a:rPr lang="zh-CN" altLang="en-US" sz="1400" kern="1200" dirty="0" smtClean="0"/>
                        <a:t>缩进</a:t>
                      </a:r>
                      <a:endParaRPr lang="zh-CN" altLang="en-US" sz="1400" kern="1200" dirty="0" smtClean="0">
                        <a:solidFill>
                          <a:schemeClr val="dk1"/>
                        </a:solidFill>
                        <a:latin typeface="+mn-lt"/>
                        <a:ea typeface="+mn-ea"/>
                        <a:cs typeface="+mn-cs"/>
                      </a:endParaRPr>
                    </a:p>
                  </a:txBody>
                  <a:tcPr anchor="ctr"/>
                </a:tc>
                <a:tc>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kern="1200" dirty="0" err="1" smtClean="0"/>
                        <a:t>ClassMethod</a:t>
                      </a:r>
                      <a:r>
                        <a:rPr lang="en-US" altLang="zh-CN" sz="1400" kern="1200" dirty="0" smtClean="0"/>
                        <a:t> Test()</a:t>
                      </a:r>
                      <a:endParaRPr lang="en-US" altLang="zh-CN" sz="1400" kern="1200" dirty="0" smtClean="0"/>
                    </a:p>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kern="1200" dirty="0" smtClean="0"/>
                        <a:t>{</a:t>
                      </a:r>
                      <a:endParaRPr lang="en-US" altLang="zh-CN" sz="1400" kern="1200" dirty="0" smtClean="0"/>
                    </a:p>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kern="1200" dirty="0" smtClean="0"/>
                        <a:t>    Q 0   //</a:t>
                      </a:r>
                      <a:r>
                        <a:rPr lang="zh-CN" altLang="en-US" sz="1400" kern="1200" dirty="0" smtClean="0"/>
                        <a:t>以</a:t>
                      </a:r>
                      <a:r>
                        <a:rPr lang="en-US" altLang="zh-CN" sz="1400" kern="1200" dirty="0" smtClean="0"/>
                        <a:t>tab</a:t>
                      </a:r>
                      <a:r>
                        <a:rPr lang="zh-CN" altLang="en-US" sz="1400" kern="1200" dirty="0" smtClean="0"/>
                        <a:t>缩进</a:t>
                      </a:r>
                      <a:endParaRPr lang="zh-CN" altLang="en-US" sz="1400" kern="1200" dirty="0" smtClean="0"/>
                    </a:p>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kern="1200" dirty="0" smtClean="0"/>
                        <a:t>}</a:t>
                      </a:r>
                      <a:endParaRPr lang="en-US" altLang="zh-CN" sz="1400" kern="1200" dirty="0" smtClean="0">
                        <a:solidFill>
                          <a:schemeClr val="dk1"/>
                        </a:solidFill>
                        <a:latin typeface="+mn-lt"/>
                        <a:ea typeface="+mn-ea"/>
                        <a:cs typeface="+mn-cs"/>
                      </a:endParaRPr>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ym typeface="+mn-ea"/>
              </a:rPr>
              <a:t>第一章</a:t>
            </a:r>
            <a:r>
              <a:rPr lang="zh-CN" altLang="en-US" dirty="0" smtClean="0">
                <a:sym typeface="微软雅黑" panose="020B0503020204020204" pitchFamily="34" charset="-122"/>
              </a:rPr>
              <a:t> </a:t>
            </a:r>
            <a:r>
              <a:rPr lang="en-US" altLang="zh-CN" dirty="0" smtClean="0">
                <a:sym typeface="微软雅黑" panose="020B0503020204020204" pitchFamily="34" charset="-122"/>
              </a:rPr>
              <a:t>|</a:t>
            </a:r>
            <a:r>
              <a:rPr lang="zh-CN" altLang="en-US" dirty="0" smtClean="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第六</a:t>
            </a:r>
            <a:r>
              <a:rPr lang="zh-CN" altLang="en-US" dirty="0">
                <a:sym typeface="微软雅黑" panose="020B0503020204020204" pitchFamily="34" charset="-122"/>
              </a:rPr>
              <a:t>节 </a:t>
            </a:r>
            <a:r>
              <a:rPr lang="en-US" altLang="zh-CN" dirty="0" err="1">
                <a:sym typeface="微软雅黑" panose="020B0503020204020204" pitchFamily="34" charset="-122"/>
              </a:rPr>
              <a:t>Caché</a:t>
            </a:r>
            <a:r>
              <a:rPr lang="zh-CN" altLang="en-US" dirty="0">
                <a:sym typeface="微软雅黑" panose="020B0503020204020204" pitchFamily="34" charset="-122"/>
              </a:rPr>
              <a:t>代码编写</a:t>
            </a:r>
            <a:r>
              <a:rPr lang="zh-CN" altLang="en-US" dirty="0" smtClean="0">
                <a:sym typeface="微软雅黑" panose="020B0503020204020204" pitchFamily="34" charset="-122"/>
              </a:rPr>
              <a:t>规范</a:t>
            </a:r>
            <a:endParaRPr lang="zh-CN" altLang="en-US" dirty="0"/>
          </a:p>
        </p:txBody>
      </p:sp>
      <p:graphicFrame>
        <p:nvGraphicFramePr>
          <p:cNvPr id="3" name="表格 2"/>
          <p:cNvGraphicFramePr>
            <a:graphicFrameLocks noGrp="1"/>
          </p:cNvGraphicFramePr>
          <p:nvPr>
            <p:custDataLst>
              <p:tags r:id="rId1"/>
            </p:custDataLst>
          </p:nvPr>
        </p:nvGraphicFramePr>
        <p:xfrm>
          <a:off x="397725" y="1251527"/>
          <a:ext cx="11437520" cy="5163312"/>
        </p:xfrm>
        <a:graphic>
          <a:graphicData uri="http://schemas.openxmlformats.org/drawingml/2006/table">
            <a:tbl>
              <a:tblPr firstRow="1" bandRow="1">
                <a:tableStyleId>{F5AB1C69-6EDB-4FF4-983F-18BD219EF322}</a:tableStyleId>
              </a:tblPr>
              <a:tblGrid>
                <a:gridCol w="645667"/>
                <a:gridCol w="922376"/>
                <a:gridCol w="9869477"/>
              </a:tblGrid>
              <a:tr h="174650">
                <a:tc>
                  <a:txBody>
                    <a:bodyPr/>
                    <a:lstStyle/>
                    <a:p>
                      <a:pPr algn="ctr"/>
                      <a:r>
                        <a:rPr lang="zh-CN" altLang="en-US" sz="1400" dirty="0" smtClean="0"/>
                        <a:t>规则名称</a:t>
                      </a:r>
                      <a:endParaRPr lang="zh-CN" altLang="en-US" sz="1400" dirty="0"/>
                    </a:p>
                  </a:txBody>
                  <a:tcPr anchor="ctr"/>
                </a:tc>
                <a:tc>
                  <a:txBody>
                    <a:bodyPr/>
                    <a:lstStyle/>
                    <a:p>
                      <a:pPr algn="ctr"/>
                      <a:r>
                        <a:rPr lang="zh-CN" altLang="en-US" sz="1400" dirty="0" smtClean="0"/>
                        <a:t>规则分类</a:t>
                      </a:r>
                      <a:endParaRPr lang="zh-CN" altLang="en-US" sz="1400" dirty="0"/>
                    </a:p>
                  </a:txBody>
                  <a:tcPr anchor="ctr"/>
                </a:tc>
                <a:tc>
                  <a:txBody>
                    <a:bodyPr/>
                    <a:lstStyle/>
                    <a:p>
                      <a:pPr algn="ctr"/>
                      <a:r>
                        <a:rPr lang="zh-CN" altLang="en-US" sz="1400" dirty="0" smtClean="0"/>
                        <a:t>编写规范内容</a:t>
                      </a:r>
                      <a:endParaRPr lang="zh-CN" altLang="en-US" sz="1400" dirty="0"/>
                    </a:p>
                  </a:txBody>
                  <a:tcPr anchor="ctr"/>
                </a:tc>
              </a:tr>
              <a:tr h="869578">
                <a:tc rowSpan="3">
                  <a:txBody>
                    <a:bodyPr/>
                    <a:lstStyle/>
                    <a:p>
                      <a:pPr marL="0" marR="0" lvl="0" indent="0" algn="l" defTabSz="815975" rtl="0" eaLnBrk="1" fontAlgn="auto" latinLnBrk="0" hangingPunct="1">
                        <a:lnSpc>
                          <a:spcPct val="100000"/>
                        </a:lnSpc>
                        <a:spcBef>
                          <a:spcPts val="0"/>
                        </a:spcBef>
                        <a:spcAft>
                          <a:spcPts val="0"/>
                        </a:spcAft>
                        <a:buClrTx/>
                        <a:buSzTx/>
                        <a:buFontTx/>
                        <a:buNone/>
                        <a:defRPr/>
                      </a:pPr>
                      <a:r>
                        <a:rPr lang="en-US" altLang="zh-CN" sz="1400" dirty="0" smtClean="0"/>
                        <a:t>(4)</a:t>
                      </a:r>
                      <a:endParaRPr lang="en-US" altLang="zh-CN" sz="1400" dirty="0" smtClean="0"/>
                    </a:p>
                    <a:p>
                      <a:pPr marL="0" marR="0" lvl="0" indent="0" algn="l" defTabSz="815975" rtl="0" eaLnBrk="1" fontAlgn="auto" latinLnBrk="0" hangingPunct="1">
                        <a:lnSpc>
                          <a:spcPct val="100000"/>
                        </a:lnSpc>
                        <a:spcBef>
                          <a:spcPts val="0"/>
                        </a:spcBef>
                        <a:spcAft>
                          <a:spcPts val="0"/>
                        </a:spcAft>
                        <a:buClrTx/>
                        <a:buSzTx/>
                        <a:buFontTx/>
                        <a:buNone/>
                        <a:defRPr/>
                      </a:pPr>
                      <a:endParaRPr lang="en-US" altLang="zh-CN" sz="1400" dirty="0" smtClean="0"/>
                    </a:p>
                    <a:p>
                      <a:pPr marL="0" marR="0" lvl="0" indent="0" algn="l" defTabSz="815975" rtl="0" eaLnBrk="1" fontAlgn="auto" latinLnBrk="0" hangingPunct="1">
                        <a:lnSpc>
                          <a:spcPct val="100000"/>
                        </a:lnSpc>
                        <a:spcBef>
                          <a:spcPts val="0"/>
                        </a:spcBef>
                        <a:spcAft>
                          <a:spcPts val="0"/>
                        </a:spcAft>
                        <a:buClrTx/>
                        <a:buSzTx/>
                        <a:buFontTx/>
                        <a:buNone/>
                        <a:defRPr/>
                      </a:pPr>
                      <a:r>
                        <a:rPr lang="zh-CN" altLang="en-US" sz="1400" dirty="0" smtClean="0"/>
                        <a:t>其他规范</a:t>
                      </a:r>
                      <a:endParaRPr lang="zh-CN" altLang="en-US" sz="1400" dirty="0"/>
                    </a:p>
                  </a:txBody>
                  <a:tcPr anchor="ctr"/>
                </a:tc>
                <a:tc>
                  <a:txBody>
                    <a:bodyPr/>
                    <a:lstStyle/>
                    <a:p>
                      <a:pPr>
                        <a:lnSpc>
                          <a:spcPct val="120000"/>
                        </a:lnSpc>
                      </a:pPr>
                      <a:r>
                        <a:rPr lang="zh-CN" altLang="en-US" sz="1400" dirty="0" smtClean="0"/>
                        <a:t>事务</a:t>
                      </a:r>
                      <a:endParaRPr lang="zh-CN" altLang="en-US" sz="1400" dirty="0"/>
                    </a:p>
                  </a:txBody>
                  <a:tcPr anchor="ctr"/>
                </a:tc>
                <a:tc>
                  <a:txBody>
                    <a:bodyPr/>
                    <a:lstStyle/>
                    <a:p>
                      <a:pPr>
                        <a:lnSpc>
                          <a:spcPct val="120000"/>
                        </a:lnSpc>
                      </a:pPr>
                      <a:r>
                        <a:rPr lang="en-US" altLang="zh-CN" sz="1400" dirty="0" smtClean="0"/>
                        <a:t>1. Cache</a:t>
                      </a:r>
                      <a:r>
                        <a:rPr lang="zh-CN" altLang="en-US" sz="1400" dirty="0" smtClean="0"/>
                        <a:t>允许事务的嵌套，事务回滚时一直回滚到最外层事务。</a:t>
                      </a:r>
                      <a:endParaRPr lang="zh-CN" altLang="en-US" sz="1400" dirty="0" smtClean="0"/>
                    </a:p>
                    <a:p>
                      <a:pPr>
                        <a:lnSpc>
                          <a:spcPct val="120000"/>
                        </a:lnSpc>
                      </a:pPr>
                      <a:r>
                        <a:rPr lang="en-US" altLang="zh-CN" sz="1400" dirty="0" smtClean="0"/>
                        <a:t>2. </a:t>
                      </a:r>
                      <a:r>
                        <a:rPr lang="zh-CN" altLang="en-US" sz="1400" dirty="0" smtClean="0"/>
                        <a:t>一个事务的起始与提交语句必须对应，在一个函数或类方法内定义一个完整事务，在这个事务内定义缺省的错误处理陷阱程序，错误处理陷阱程序要包含事务回滚命令。</a:t>
                      </a:r>
                      <a:endParaRPr lang="zh-CN" altLang="en-US" sz="1400" dirty="0" smtClean="0"/>
                    </a:p>
                    <a:p>
                      <a:pPr>
                        <a:lnSpc>
                          <a:spcPct val="120000"/>
                        </a:lnSpc>
                      </a:pPr>
                      <a:r>
                        <a:rPr lang="en-US" altLang="zh-CN" sz="1400" dirty="0" smtClean="0"/>
                        <a:t>3. </a:t>
                      </a:r>
                      <a:r>
                        <a:rPr lang="zh-CN" altLang="en-US" sz="1400" dirty="0" smtClean="0"/>
                        <a:t>不能把事务的起始语句定义在一个函数内，而提交语句在另一个函数内。</a:t>
                      </a:r>
                      <a:endParaRPr lang="zh-CN" altLang="en-US" sz="1400" dirty="0"/>
                    </a:p>
                  </a:txBody>
                  <a:tcPr anchor="ctr"/>
                </a:tc>
              </a:tr>
              <a:tr h="421959">
                <a:tc vMerge="1">
                  <a:tcPr anchor="ctr"/>
                </a:tc>
                <a:tc>
                  <a:txBody>
                    <a:bodyPr/>
                    <a:lstStyle/>
                    <a:p>
                      <a:pPr>
                        <a:lnSpc>
                          <a:spcPct val="120000"/>
                        </a:lnSpc>
                      </a:pPr>
                      <a:r>
                        <a:rPr lang="en-US" altLang="zh-CN" sz="1400" dirty="0" err="1" smtClean="0"/>
                        <a:t>GLobal</a:t>
                      </a:r>
                      <a:endParaRPr lang="zh-CN" altLang="en-US" sz="1400" dirty="0"/>
                    </a:p>
                  </a:txBody>
                  <a:tcPr anchor="ctr"/>
                </a:tc>
                <a:tc>
                  <a:txBody>
                    <a:bodyPr/>
                    <a:lstStyle/>
                    <a:p>
                      <a:pPr>
                        <a:lnSpc>
                          <a:spcPct val="120000"/>
                        </a:lnSpc>
                      </a:pPr>
                      <a:r>
                        <a:rPr lang="en-US" altLang="zh-CN" sz="1400" dirty="0" smtClean="0"/>
                        <a:t>1. Global</a:t>
                      </a:r>
                      <a:r>
                        <a:rPr lang="zh-CN" altLang="en-US" sz="1400" dirty="0" smtClean="0"/>
                        <a:t>名称全部大写。不要将</a:t>
                      </a:r>
                      <a:r>
                        <a:rPr lang="en-US" altLang="zh-CN" sz="1400" dirty="0" smtClean="0"/>
                        <a:t>Global</a:t>
                      </a:r>
                      <a:r>
                        <a:rPr lang="zh-CN" altLang="en-US" sz="1400" dirty="0" smtClean="0"/>
                        <a:t>名称开始部分和</a:t>
                      </a:r>
                      <a:r>
                        <a:rPr lang="en-US" altLang="zh-CN" sz="1400" dirty="0" err="1" smtClean="0"/>
                        <a:t>Medtrak</a:t>
                      </a:r>
                      <a:r>
                        <a:rPr lang="zh-CN" altLang="en-US" sz="1400" dirty="0" smtClean="0"/>
                        <a:t>的原有</a:t>
                      </a:r>
                      <a:r>
                        <a:rPr lang="en-US" altLang="zh-CN" sz="1400" dirty="0" smtClean="0"/>
                        <a:t>Global</a:t>
                      </a:r>
                      <a:r>
                        <a:rPr lang="zh-CN" altLang="en-US" sz="1400" dirty="0" smtClean="0"/>
                        <a:t>名称一致。</a:t>
                      </a:r>
                      <a:endParaRPr lang="zh-CN" altLang="en-US" sz="1400" dirty="0" smtClean="0"/>
                    </a:p>
                    <a:p>
                      <a:pPr>
                        <a:lnSpc>
                          <a:spcPct val="120000"/>
                        </a:lnSpc>
                      </a:pPr>
                      <a:r>
                        <a:rPr lang="en-US" altLang="zh-CN" sz="1400" dirty="0" smtClean="0"/>
                        <a:t>2. </a:t>
                      </a:r>
                      <a:r>
                        <a:rPr lang="zh-CN" altLang="en-US" sz="1400" dirty="0" smtClean="0"/>
                        <a:t>对于临时</a:t>
                      </a:r>
                      <a:r>
                        <a:rPr lang="en-US" altLang="zh-CN" sz="1400" dirty="0" smtClean="0"/>
                        <a:t>Global</a:t>
                      </a:r>
                      <a:r>
                        <a:rPr lang="zh-CN" altLang="en-US" sz="1400" dirty="0" smtClean="0"/>
                        <a:t>，名称为</a:t>
                      </a:r>
                      <a:r>
                        <a:rPr lang="en-US" altLang="zh-CN" sz="1400" dirty="0" smtClean="0"/>
                        <a:t>^TMP</a:t>
                      </a:r>
                      <a:r>
                        <a:rPr lang="zh-CN" altLang="en-US" sz="1400" dirty="0" smtClean="0"/>
                        <a:t>或</a:t>
                      </a:r>
                      <a:r>
                        <a:rPr lang="en-US" altLang="zh-CN" sz="1400" dirty="0" smtClean="0"/>
                        <a:t>^TEMP</a:t>
                      </a:r>
                      <a:r>
                        <a:rPr lang="zh-CN" altLang="en-US" sz="1400" dirty="0" smtClean="0"/>
                        <a:t>开头</a:t>
                      </a:r>
                      <a:r>
                        <a:rPr lang="en-US" altLang="zh-CN" sz="1400" dirty="0" smtClean="0"/>
                        <a:t>,</a:t>
                      </a:r>
                      <a:r>
                        <a:rPr lang="en-US" altLang="zh-CN" sz="1400" dirty="0" err="1" smtClean="0"/>
                        <a:t>CacheTemp</a:t>
                      </a:r>
                      <a:r>
                        <a:rPr lang="en-US" altLang="zh-CN" sz="1400" dirty="0" smtClean="0"/>
                        <a:t>*</a:t>
                      </a:r>
                      <a:r>
                        <a:rPr lang="zh-CN" altLang="en-US" sz="1400" dirty="0" smtClean="0"/>
                        <a:t>，不允许有其它的命名。</a:t>
                      </a:r>
                      <a:endParaRPr lang="zh-CN" altLang="en-US" sz="1400" dirty="0"/>
                    </a:p>
                  </a:txBody>
                  <a:tcPr anchor="ctr"/>
                </a:tc>
              </a:tr>
              <a:tr h="265176">
                <a:tc vMerge="1">
                  <a:tcPr/>
                </a:tc>
                <a:tc>
                  <a:txBody>
                    <a:bodyPr/>
                    <a:lstStyle/>
                    <a:p>
                      <a:pPr>
                        <a:lnSpc>
                          <a:spcPct val="120000"/>
                        </a:lnSpc>
                      </a:pPr>
                      <a:r>
                        <a:rPr lang="en-US" altLang="zh-CN" sz="1400" dirty="0" smtClean="0"/>
                        <a:t>NEW(variable) </a:t>
                      </a:r>
                      <a:endParaRPr lang="zh-CN" altLang="en-US" sz="1400" dirty="0"/>
                    </a:p>
                  </a:txBody>
                  <a:tcPr anchor="ctr"/>
                </a:tc>
                <a:tc>
                  <a:txBody>
                    <a:bodyPr/>
                    <a:lstStyle/>
                    <a:p>
                      <a:pPr>
                        <a:lnSpc>
                          <a:spcPct val="120000"/>
                        </a:lnSpc>
                      </a:pPr>
                      <a:r>
                        <a:rPr lang="zh-CN" altLang="en-US" sz="1400" dirty="0" smtClean="0"/>
                        <a:t>为了保证函数和类方法的独立性，要在</a:t>
                      </a:r>
                      <a:r>
                        <a:rPr lang="en-US" altLang="zh-CN" sz="1400" dirty="0" smtClean="0"/>
                        <a:t>M </a:t>
                      </a:r>
                      <a:r>
                        <a:rPr lang="zh-CN" altLang="en-US" sz="1400" dirty="0" smtClean="0"/>
                        <a:t>函数或类方法的起始语句使用 </a:t>
                      </a:r>
                      <a:r>
                        <a:rPr lang="en-US" altLang="zh-CN" sz="1400" dirty="0" smtClean="0"/>
                        <a:t>New (variable) </a:t>
                      </a:r>
                      <a:r>
                        <a:rPr lang="zh-CN" altLang="en-US" sz="1400" dirty="0" smtClean="0"/>
                        <a:t>语句隔离函数或类方法与当前进程的内存变量空间。在类方法中使用</a:t>
                      </a:r>
                      <a:r>
                        <a:rPr lang="en-US" altLang="zh-CN" sz="1400" dirty="0" smtClean="0"/>
                        <a:t>New (variable)</a:t>
                      </a:r>
                      <a:r>
                        <a:rPr lang="zh-CN" altLang="en-US" sz="1400" dirty="0" smtClean="0"/>
                        <a:t>时， 注意在类的定义中去掉</a:t>
                      </a:r>
                      <a:r>
                        <a:rPr lang="en-US" altLang="zh-CN" sz="1400" dirty="0" err="1" smtClean="0"/>
                        <a:t>ProcedureBlock</a:t>
                      </a:r>
                      <a:r>
                        <a:rPr lang="zh-CN" altLang="en-US" sz="1400" dirty="0" smtClean="0"/>
                        <a:t>属性。</a:t>
                      </a:r>
                      <a:endParaRPr lang="zh-CN" altLang="en-US" sz="1400" dirty="0"/>
                    </a:p>
                  </a:txBody>
                  <a:tcPr anchor="ctr"/>
                </a:tc>
              </a:tr>
              <a:tr h="0">
                <a:tc gridSpan="2">
                  <a:txBody>
                    <a:bodyPr/>
                    <a:lstStyle/>
                    <a:p>
                      <a:pPr marL="0" marR="0" lvl="0" indent="0" algn="l" defTabSz="815975" rtl="0" eaLnBrk="1" fontAlgn="auto" latinLnBrk="0" hangingPunct="1">
                        <a:lnSpc>
                          <a:spcPct val="120000"/>
                        </a:lnSpc>
                        <a:spcBef>
                          <a:spcPts val="0"/>
                        </a:spcBef>
                        <a:spcAft>
                          <a:spcPts val="0"/>
                        </a:spcAft>
                        <a:buClrTx/>
                        <a:buSzTx/>
                        <a:buFontTx/>
                        <a:buNone/>
                        <a:defRPr/>
                      </a:pPr>
                      <a:r>
                        <a:rPr lang="en-US" altLang="zh-CN" sz="1400" dirty="0" smtClean="0"/>
                        <a:t>(5)</a:t>
                      </a:r>
                      <a:r>
                        <a:rPr lang="zh-CN" altLang="en-US" sz="1400" kern="1200" dirty="0" smtClean="0"/>
                        <a:t>表的扩展</a:t>
                      </a:r>
                      <a:endParaRPr lang="zh-CN" altLang="en-US" sz="1400" kern="1200" dirty="0" smtClean="0">
                        <a:solidFill>
                          <a:schemeClr val="dk1"/>
                        </a:solidFill>
                        <a:latin typeface="+mn-lt"/>
                        <a:ea typeface="+mn-ea"/>
                        <a:cs typeface="+mn-cs"/>
                      </a:endParaRPr>
                    </a:p>
                  </a:txBody>
                  <a:tcPr anchor="ctr"/>
                </a:tc>
                <a:tc hMerge="1">
                  <a:tcPr anchor="ctr"/>
                </a:tc>
                <a:tc>
                  <a:txBody>
                    <a:bodyPr/>
                    <a:lstStyle/>
                    <a:p>
                      <a:pPr marL="0" marR="0" lvl="0" indent="0" algn="l" defTabSz="815975" rtl="0" eaLnBrk="1" fontAlgn="auto" latinLnBrk="0" hangingPunct="1">
                        <a:lnSpc>
                          <a:spcPct val="120000"/>
                        </a:lnSpc>
                        <a:spcBef>
                          <a:spcPts val="0"/>
                        </a:spcBef>
                        <a:spcAft>
                          <a:spcPts val="0"/>
                        </a:spcAft>
                        <a:buClrTx/>
                        <a:buSzTx/>
                        <a:buFontTx/>
                        <a:buNone/>
                        <a:defRPr/>
                      </a:pPr>
                      <a:r>
                        <a:rPr lang="zh-CN" altLang="zh-CN" sz="1400" kern="1200" dirty="0" smtClean="0"/>
                        <a:t>对</a:t>
                      </a:r>
                      <a:r>
                        <a:rPr lang="en-US" altLang="zh-CN" sz="1400" kern="1200" dirty="0" err="1" smtClean="0"/>
                        <a:t>TrakCare</a:t>
                      </a:r>
                      <a:r>
                        <a:rPr lang="zh-CN" altLang="zh-CN" sz="1400" kern="1200" dirty="0" smtClean="0"/>
                        <a:t>原有类或表的扩展，类名或表名在原来的名字前面加 </a:t>
                      </a:r>
                      <a:r>
                        <a:rPr lang="en-US" altLang="zh-CN" sz="1400" kern="1200" dirty="0" smtClean="0"/>
                        <a:t>”DHC”</a:t>
                      </a:r>
                      <a:r>
                        <a:rPr lang="zh-CN" altLang="zh-CN" sz="1400" kern="1200" dirty="0" smtClean="0"/>
                        <a:t>。</a:t>
                      </a:r>
                      <a:endParaRPr lang="zh-CN" altLang="en-US" sz="1400" kern="1200" dirty="0" smtClean="0">
                        <a:solidFill>
                          <a:schemeClr val="dk1"/>
                        </a:solidFill>
                        <a:latin typeface="+mn-lt"/>
                        <a:ea typeface="+mn-ea"/>
                        <a:cs typeface="+mn-cs"/>
                      </a:endParaRPr>
                    </a:p>
                  </a:txBody>
                  <a:tcPr anchor="ctr"/>
                </a:tc>
              </a:tr>
              <a:tr h="235647">
                <a:tc gridSpan="2">
                  <a:txBody>
                    <a:bodyPr/>
                    <a:lstStyle/>
                    <a:p>
                      <a:pPr marL="0" marR="0" lvl="0" indent="0" algn="l" defTabSz="815975" rtl="0" eaLnBrk="1" fontAlgn="auto" latinLnBrk="0" hangingPunct="1">
                        <a:lnSpc>
                          <a:spcPct val="120000"/>
                        </a:lnSpc>
                        <a:spcBef>
                          <a:spcPts val="0"/>
                        </a:spcBef>
                        <a:spcAft>
                          <a:spcPts val="0"/>
                        </a:spcAft>
                        <a:buClrTx/>
                        <a:buSzTx/>
                        <a:buFontTx/>
                        <a:buNone/>
                        <a:defRPr/>
                      </a:pPr>
                      <a:r>
                        <a:rPr lang="en-US" altLang="zh-CN" sz="1400" dirty="0" smtClean="0"/>
                        <a:t>(6)</a:t>
                      </a:r>
                      <a:r>
                        <a:rPr lang="zh-CN" altLang="en-US" sz="1400" kern="1200" dirty="0" smtClean="0"/>
                        <a:t>代码检查</a:t>
                      </a:r>
                      <a:endParaRPr lang="zh-CN" altLang="en-US" sz="1400" kern="1200" dirty="0" smtClean="0">
                        <a:solidFill>
                          <a:schemeClr val="dk1"/>
                        </a:solidFill>
                        <a:latin typeface="+mn-lt"/>
                        <a:ea typeface="+mn-ea"/>
                        <a:cs typeface="+mn-cs"/>
                      </a:endParaRPr>
                    </a:p>
                  </a:txBody>
                  <a:tcPr anchor="ctr"/>
                </a:tc>
                <a:tc hMerge="1">
                  <a:tcPr/>
                </a:tc>
                <a:tc>
                  <a:txBody>
                    <a:bodyPr/>
                    <a:lstStyle/>
                    <a:p>
                      <a:pPr marL="0" marR="0" lvl="0" indent="0" algn="l" defTabSz="815975" rtl="0" eaLnBrk="1" fontAlgn="auto" latinLnBrk="0" hangingPunct="1">
                        <a:lnSpc>
                          <a:spcPct val="120000"/>
                        </a:lnSpc>
                        <a:spcBef>
                          <a:spcPts val="0"/>
                        </a:spcBef>
                        <a:spcAft>
                          <a:spcPts val="0"/>
                        </a:spcAft>
                        <a:buClrTx/>
                        <a:buSzTx/>
                        <a:buFontTx/>
                        <a:buNone/>
                        <a:defRPr/>
                      </a:pPr>
                      <a:r>
                        <a:rPr lang="en-US" altLang="zh-CN" sz="1400" kern="1200" dirty="0" smtClean="0"/>
                        <a:t>1. </a:t>
                      </a:r>
                      <a:r>
                        <a:rPr lang="zh-CN" altLang="en-US" sz="1400" kern="1200" dirty="0" smtClean="0"/>
                        <a:t>代码走读</a:t>
                      </a:r>
                      <a:r>
                        <a:rPr lang="en-US" altLang="zh-CN" sz="1400" kern="1200" dirty="0" smtClean="0"/>
                        <a:t>:</a:t>
                      </a:r>
                      <a:r>
                        <a:rPr lang="zh-CN" altLang="en-US" sz="1400" kern="1200" dirty="0" smtClean="0"/>
                        <a:t>对程序的编程风格，如注释，命名等以及编程时易出错的内容进行检查，可通过开发人员自审，交叉审查方式进行。 </a:t>
                      </a:r>
                      <a:endParaRPr lang="zh-CN" altLang="en-US" sz="1400" kern="1200" dirty="0" smtClean="0"/>
                    </a:p>
                    <a:p>
                      <a:pPr marL="0" marR="0" lvl="0" indent="0" algn="l" defTabSz="815975" rtl="0" eaLnBrk="1" fontAlgn="auto" latinLnBrk="0" hangingPunct="1">
                        <a:lnSpc>
                          <a:spcPct val="120000"/>
                        </a:lnSpc>
                        <a:spcBef>
                          <a:spcPts val="0"/>
                        </a:spcBef>
                        <a:spcAft>
                          <a:spcPts val="0"/>
                        </a:spcAft>
                        <a:buClrTx/>
                        <a:buSzTx/>
                        <a:buFontTx/>
                        <a:buNone/>
                        <a:defRPr/>
                      </a:pPr>
                      <a:r>
                        <a:rPr lang="en-US" altLang="zh-CN" sz="1400" kern="1200" dirty="0" smtClean="0"/>
                        <a:t>2. </a:t>
                      </a:r>
                      <a:r>
                        <a:rPr lang="zh-CN" altLang="en-US" sz="1400" kern="1200" dirty="0" smtClean="0"/>
                        <a:t>代码审查：对程序实现的功能及程序的稳定性，安全性，可靠性等进行检查及评审，可通过自审，交叉审核或指定部门抽查等方式进行。</a:t>
                      </a:r>
                      <a:endParaRPr lang="zh-CN" altLang="en-US" sz="1400" kern="1200" dirty="0" smtClean="0">
                        <a:solidFill>
                          <a:schemeClr val="dk1"/>
                        </a:solidFill>
                        <a:latin typeface="+mn-lt"/>
                        <a:ea typeface="+mn-ea"/>
                        <a:cs typeface="+mn-cs"/>
                      </a:endParaRPr>
                    </a:p>
                  </a:txBody>
                  <a:tcPr anchor="ctr"/>
                </a:tc>
              </a:tr>
              <a:tr h="0">
                <a:tc gridSpan="2">
                  <a:txBody>
                    <a:bodyPr/>
                    <a:lstStyle/>
                    <a:p>
                      <a:pPr marL="0" marR="0" lvl="0" indent="0" algn="l" defTabSz="815975" rtl="0" eaLnBrk="1" fontAlgn="auto" latinLnBrk="0" hangingPunct="1">
                        <a:lnSpc>
                          <a:spcPct val="120000"/>
                        </a:lnSpc>
                        <a:spcBef>
                          <a:spcPts val="0"/>
                        </a:spcBef>
                        <a:spcAft>
                          <a:spcPts val="0"/>
                        </a:spcAft>
                        <a:buClrTx/>
                        <a:buSzTx/>
                        <a:buFontTx/>
                        <a:buNone/>
                        <a:defRPr/>
                      </a:pPr>
                      <a:r>
                        <a:rPr lang="en-US" altLang="zh-CN" sz="1400" dirty="0" smtClean="0"/>
                        <a:t>(7)</a:t>
                      </a:r>
                      <a:r>
                        <a:rPr lang="zh-CN" altLang="en-US" sz="1400" kern="1200" dirty="0" smtClean="0"/>
                        <a:t>代码优化</a:t>
                      </a:r>
                      <a:endParaRPr lang="zh-CN" altLang="en-US" sz="1400" kern="1200" dirty="0" smtClean="0">
                        <a:solidFill>
                          <a:schemeClr val="dk1"/>
                        </a:solidFill>
                        <a:latin typeface="+mn-lt"/>
                        <a:ea typeface="+mn-ea"/>
                        <a:cs typeface="+mn-cs"/>
                      </a:endParaRPr>
                    </a:p>
                  </a:txBody>
                  <a:tcPr anchor="ctr"/>
                </a:tc>
                <a:tc hMerge="1">
                  <a:tcPr/>
                </a:tc>
                <a:tc>
                  <a:txBody>
                    <a:bodyPr/>
                    <a:lstStyle/>
                    <a:p>
                      <a:pPr marL="0" marR="0" lvl="0" indent="0" algn="l" defTabSz="815975" rtl="0" eaLnBrk="1" fontAlgn="auto" latinLnBrk="0" hangingPunct="1">
                        <a:lnSpc>
                          <a:spcPct val="120000"/>
                        </a:lnSpc>
                        <a:spcBef>
                          <a:spcPts val="0"/>
                        </a:spcBef>
                        <a:spcAft>
                          <a:spcPts val="0"/>
                        </a:spcAft>
                        <a:buClrTx/>
                        <a:buSzTx/>
                        <a:buFontTx/>
                        <a:buNone/>
                        <a:defRPr/>
                      </a:pPr>
                      <a:r>
                        <a:rPr lang="zh-CN" altLang="en-US" sz="1400" kern="1200" dirty="0" smtClean="0"/>
                        <a:t>满足正确性，可靠性，健壮性，可读等质量因素的前提下，设法提高程序效率；以提高程序全局效率为主，提高局部效率为辅；在优化程序的效率时，应当先找出限制效率的瓶颈，不要在无关紧要之处优化；先优化数据结构和算法，再优化执行代码；如果原有的代码质量比较好，尽量复用，但是不要修补很差劲的代码，应当重新编写；</a:t>
                      </a:r>
                      <a:endParaRPr lang="zh-CN" altLang="en-US" sz="1400" kern="1200" dirty="0" smtClean="0">
                        <a:solidFill>
                          <a:schemeClr val="dk1"/>
                        </a:solidFill>
                        <a:latin typeface="+mn-lt"/>
                        <a:ea typeface="+mn-ea"/>
                        <a:cs typeface="+mn-cs"/>
                      </a:endParaRPr>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78542" y="225570"/>
            <a:ext cx="9332912" cy="527050"/>
          </a:xfrm>
        </p:spPr>
        <p:txBody>
          <a:bodyPr/>
          <a:lstStyle/>
          <a:p>
            <a:r>
              <a:rPr lang="zh-CN" altLang="en-US" dirty="0" smtClean="0">
                <a:sym typeface="+mn-ea"/>
              </a:rPr>
              <a:t>第一章</a:t>
            </a:r>
            <a:r>
              <a:rPr lang="zh-CN" altLang="en-US" dirty="0" smtClean="0">
                <a:sym typeface="微软雅黑" panose="020B0503020204020204" pitchFamily="34" charset="-122"/>
              </a:rPr>
              <a:t> </a:t>
            </a:r>
            <a:r>
              <a:rPr lang="en-US" altLang="zh-CN" dirty="0" smtClean="0">
                <a:sym typeface="微软雅黑" panose="020B0503020204020204" pitchFamily="34" charset="-122"/>
              </a:rPr>
              <a:t>|</a:t>
            </a:r>
            <a:r>
              <a:rPr lang="zh-CN" altLang="en-US" dirty="0" smtClean="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第七</a:t>
            </a:r>
            <a:r>
              <a:rPr lang="zh-CN" altLang="en-US" dirty="0">
                <a:sym typeface="微软雅黑" panose="020B0503020204020204" pitchFamily="34" charset="-122"/>
              </a:rPr>
              <a:t>节  </a:t>
            </a:r>
            <a:r>
              <a:rPr lang="en-US" altLang="zh-CN" dirty="0">
                <a:sym typeface="微软雅黑" panose="020B0503020204020204" pitchFamily="34" charset="-122"/>
              </a:rPr>
              <a:t>SQL</a:t>
            </a:r>
            <a:r>
              <a:rPr lang="zh-CN" altLang="en-US" dirty="0">
                <a:sym typeface="微软雅黑" panose="020B0503020204020204" pitchFamily="34" charset="-122"/>
              </a:rPr>
              <a:t>语法</a:t>
            </a:r>
            <a:r>
              <a:rPr lang="zh-CN" altLang="en-US" dirty="0" smtClean="0">
                <a:sym typeface="微软雅黑" panose="020B0503020204020204" pitchFamily="34" charset="-122"/>
              </a:rPr>
              <a:t>简介</a:t>
            </a:r>
            <a:endParaRPr lang="zh-CN" altLang="en-US" dirty="0">
              <a:sym typeface="微软雅黑" panose="020B0503020204020204" pitchFamily="34" charset="-122"/>
            </a:endParaRPr>
          </a:p>
        </p:txBody>
      </p:sp>
      <p:sp>
        <p:nvSpPr>
          <p:cNvPr id="3" name="文本框 2"/>
          <p:cNvSpPr txBox="1"/>
          <p:nvPr/>
        </p:nvSpPr>
        <p:spPr>
          <a:xfrm>
            <a:off x="3215153" y="829119"/>
            <a:ext cx="8879865" cy="5908040"/>
          </a:xfrm>
          <a:prstGeom prst="rect">
            <a:avLst/>
          </a:prstGeom>
        </p:spPr>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285750" indent="-285750">
              <a:buFont typeface="Wingdings" panose="05000000000000000000" pitchFamily="2" charset="2"/>
              <a:buChar char="u"/>
            </a:pPr>
            <a:r>
              <a:rPr lang="zh-CN" altLang="en-US" sz="1400" b="1" dirty="0">
                <a:solidFill>
                  <a:srgbClr val="E66666"/>
                </a:solidFill>
              </a:rPr>
              <a:t>数据表的建立和删除： </a:t>
            </a:r>
            <a:r>
              <a:rPr lang="en-US" altLang="zh-CN" sz="1400" b="1" dirty="0">
                <a:solidFill>
                  <a:srgbClr val="E66666"/>
                </a:solidFill>
              </a:rPr>
              <a:t>(</a:t>
            </a:r>
            <a:r>
              <a:rPr lang="zh-CN" altLang="en-US" sz="1400" b="1" dirty="0">
                <a:solidFill>
                  <a:srgbClr val="E66666"/>
                </a:solidFill>
              </a:rPr>
              <a:t>了解</a:t>
            </a:r>
            <a:r>
              <a:rPr lang="en-US" altLang="zh-CN" sz="1400" b="1" dirty="0">
                <a:solidFill>
                  <a:srgbClr val="E66666"/>
                </a:solidFill>
              </a:rPr>
              <a:t>)</a:t>
            </a:r>
            <a:endParaRPr lang="zh-CN" altLang="en-US" sz="1400" b="1" dirty="0">
              <a:solidFill>
                <a:srgbClr val="E66666"/>
              </a:solidFill>
            </a:endParaRPr>
          </a:p>
          <a:p>
            <a:pPr marL="360045"/>
            <a:r>
              <a:rPr lang="en-US" altLang="zh-CN" sz="1400" dirty="0"/>
              <a:t>CREATE TABLE </a:t>
            </a:r>
            <a:r>
              <a:rPr lang="zh-CN" altLang="en-US" sz="1400" dirty="0"/>
              <a:t>数据表名称</a:t>
            </a:r>
            <a:r>
              <a:rPr lang="en-US" altLang="zh-CN" sz="1400" dirty="0"/>
              <a:t>(</a:t>
            </a:r>
            <a:r>
              <a:rPr lang="zh-CN" altLang="en-US" sz="1400" dirty="0"/>
              <a:t>字段</a:t>
            </a:r>
            <a:r>
              <a:rPr lang="en-US" altLang="zh-CN" sz="1400" dirty="0"/>
              <a:t>1 </a:t>
            </a:r>
            <a:r>
              <a:rPr lang="zh-CN" altLang="en-US" sz="1400" dirty="0"/>
              <a:t>类型</a:t>
            </a:r>
            <a:r>
              <a:rPr lang="en-US" altLang="zh-CN" sz="1400" dirty="0"/>
              <a:t>1(</a:t>
            </a:r>
            <a:r>
              <a:rPr lang="zh-CN" altLang="en-US" sz="1400" dirty="0"/>
              <a:t>长度</a:t>
            </a:r>
            <a:r>
              <a:rPr lang="en-US" altLang="zh-CN" sz="1400" dirty="0"/>
              <a:t>),</a:t>
            </a:r>
            <a:r>
              <a:rPr lang="zh-CN" altLang="en-US" sz="1400" dirty="0"/>
              <a:t>字段</a:t>
            </a:r>
            <a:r>
              <a:rPr lang="en-US" altLang="zh-CN" sz="1400" dirty="0"/>
              <a:t>2 </a:t>
            </a:r>
            <a:r>
              <a:rPr lang="zh-CN" altLang="en-US" sz="1400" dirty="0"/>
              <a:t>类型</a:t>
            </a:r>
            <a:r>
              <a:rPr lang="en-US" altLang="zh-CN" sz="1400" dirty="0"/>
              <a:t>2(</a:t>
            </a:r>
            <a:r>
              <a:rPr lang="zh-CN" altLang="en-US" sz="1400" dirty="0"/>
              <a:t>长度</a:t>
            </a:r>
            <a:r>
              <a:rPr lang="en-US" altLang="zh-CN" sz="1400" dirty="0"/>
              <a:t>) …… ) </a:t>
            </a:r>
            <a:endParaRPr lang="en-US" altLang="zh-CN" sz="1400" dirty="0"/>
          </a:p>
          <a:p>
            <a:pPr marL="360045"/>
            <a:r>
              <a:rPr lang="en-US" altLang="zh-CN" sz="1400" dirty="0"/>
              <a:t>DROP TABLE </a:t>
            </a:r>
            <a:r>
              <a:rPr lang="zh-CN" altLang="en-US" sz="1400" dirty="0"/>
              <a:t>数据表名称 </a:t>
            </a:r>
            <a:r>
              <a:rPr lang="en-US" altLang="zh-CN" sz="1400" dirty="0"/>
              <a:t>(</a:t>
            </a:r>
            <a:r>
              <a:rPr lang="zh-CN" altLang="en-US" sz="1400" dirty="0"/>
              <a:t>永久性删除一个数据表</a:t>
            </a:r>
            <a:r>
              <a:rPr lang="en-US" altLang="zh-CN" sz="1400" dirty="0"/>
              <a:t>) </a:t>
            </a:r>
            <a:endParaRPr lang="en-US" altLang="zh-CN" sz="1400" dirty="0"/>
          </a:p>
          <a:p>
            <a:pPr marL="285750" indent="-285750">
              <a:buFont typeface="Wingdings" panose="05000000000000000000" pitchFamily="2" charset="2"/>
              <a:buChar char="u"/>
            </a:pPr>
            <a:r>
              <a:rPr lang="en-US" altLang="zh-CN" sz="1400" b="1" dirty="0">
                <a:solidFill>
                  <a:srgbClr val="E66666"/>
                </a:solidFill>
              </a:rPr>
              <a:t>SQL</a:t>
            </a:r>
            <a:r>
              <a:rPr lang="zh-CN" altLang="en-US" sz="1400" b="1" dirty="0">
                <a:solidFill>
                  <a:srgbClr val="E66666"/>
                </a:solidFill>
              </a:rPr>
              <a:t>插入数据语法：</a:t>
            </a:r>
            <a:endParaRPr lang="en-US" altLang="zh-CN" sz="1400" b="1" dirty="0">
              <a:solidFill>
                <a:srgbClr val="E66666"/>
              </a:solidFill>
            </a:endParaRPr>
          </a:p>
          <a:p>
            <a:pPr marL="360045"/>
            <a:r>
              <a:rPr lang="en-US" altLang="zh-CN" sz="1400" dirty="0" err="1"/>
              <a:t>sql</a:t>
            </a:r>
            <a:r>
              <a:rPr lang="en-US" altLang="zh-CN" sz="1400" dirty="0"/>
              <a:t>=“INSERT INTO </a:t>
            </a:r>
            <a:r>
              <a:rPr lang="zh-CN" altLang="en-US" sz="1400" dirty="0"/>
              <a:t>数据表 </a:t>
            </a:r>
            <a:r>
              <a:rPr lang="en-US" altLang="zh-CN" sz="1400" dirty="0"/>
              <a:t>(</a:t>
            </a:r>
            <a:r>
              <a:rPr lang="zh-CN" altLang="en-US" sz="1400" dirty="0"/>
              <a:t>字段</a:t>
            </a:r>
            <a:r>
              <a:rPr lang="en-US" altLang="zh-CN" sz="1400" dirty="0"/>
              <a:t>1,</a:t>
            </a:r>
            <a:r>
              <a:rPr lang="zh-CN" altLang="en-US" sz="1400" dirty="0"/>
              <a:t>字段</a:t>
            </a:r>
            <a:r>
              <a:rPr lang="en-US" altLang="zh-CN" sz="1400" dirty="0"/>
              <a:t>2,</a:t>
            </a:r>
            <a:r>
              <a:rPr lang="zh-CN" altLang="en-US" sz="1400" dirty="0"/>
              <a:t>字段</a:t>
            </a:r>
            <a:r>
              <a:rPr lang="en-US" altLang="zh-CN" sz="1400" dirty="0"/>
              <a:t>3 …) VALUES (</a:t>
            </a:r>
            <a:r>
              <a:rPr lang="zh-CN" altLang="en-US" sz="1400" dirty="0"/>
              <a:t>值</a:t>
            </a:r>
            <a:r>
              <a:rPr lang="en-US" altLang="zh-CN" sz="1400" dirty="0"/>
              <a:t>1,</a:t>
            </a:r>
            <a:r>
              <a:rPr lang="zh-CN" altLang="en-US" sz="1400" dirty="0"/>
              <a:t>值</a:t>
            </a:r>
            <a:r>
              <a:rPr lang="en-US" altLang="zh-CN" sz="1400" dirty="0"/>
              <a:t>2,</a:t>
            </a:r>
            <a:r>
              <a:rPr lang="zh-CN" altLang="en-US" sz="1400" dirty="0"/>
              <a:t>值</a:t>
            </a:r>
            <a:r>
              <a:rPr lang="en-US" altLang="zh-CN" sz="1400" dirty="0"/>
              <a:t>3 …)" </a:t>
            </a:r>
            <a:endParaRPr lang="en-US" altLang="zh-CN" sz="1400" dirty="0"/>
          </a:p>
          <a:p>
            <a:pPr marL="360045"/>
            <a:r>
              <a:rPr lang="en-US" altLang="zh-CN" sz="1400" dirty="0" err="1"/>
              <a:t>sql</a:t>
            </a:r>
            <a:r>
              <a:rPr lang="en-US" altLang="zh-CN" sz="1400" dirty="0"/>
              <a:t>=" INSERT INTO</a:t>
            </a:r>
            <a:r>
              <a:rPr lang="zh-CN" altLang="en-US" sz="1400" dirty="0"/>
              <a:t>目标数据表 </a:t>
            </a:r>
            <a:r>
              <a:rPr lang="en-US" altLang="zh-CN" sz="1400" dirty="0"/>
              <a:t>SELECT * FROM </a:t>
            </a:r>
            <a:r>
              <a:rPr lang="zh-CN" altLang="en-US" sz="1400" dirty="0"/>
              <a:t>源数据表</a:t>
            </a:r>
            <a:r>
              <a:rPr lang="en-US" altLang="zh-CN" sz="1400" dirty="0"/>
              <a:t>" (</a:t>
            </a:r>
            <a:r>
              <a:rPr lang="zh-CN" altLang="en-US" sz="1400" dirty="0"/>
              <a:t>把源数据表的记录添加到目标数据表</a:t>
            </a:r>
            <a:r>
              <a:rPr lang="en-US" altLang="zh-CN" sz="1400" dirty="0"/>
              <a:t>)</a:t>
            </a:r>
            <a:endParaRPr lang="en-US" altLang="zh-CN" sz="1400" dirty="0"/>
          </a:p>
          <a:p>
            <a:pPr marL="285750" indent="-285750">
              <a:buFont typeface="Wingdings" panose="05000000000000000000" pitchFamily="2" charset="2"/>
              <a:buChar char="u"/>
            </a:pPr>
            <a:r>
              <a:rPr lang="en-US" altLang="zh-CN" sz="1400" b="1" dirty="0">
                <a:solidFill>
                  <a:srgbClr val="E66666"/>
                </a:solidFill>
              </a:rPr>
              <a:t>SQL</a:t>
            </a:r>
            <a:r>
              <a:rPr lang="zh-CN" altLang="en-US" sz="1400" b="1" dirty="0">
                <a:solidFill>
                  <a:srgbClr val="E66666"/>
                </a:solidFill>
              </a:rPr>
              <a:t>查询数据语法：</a:t>
            </a:r>
            <a:endParaRPr lang="en-US" altLang="zh-CN" sz="1400" b="1" dirty="0">
              <a:solidFill>
                <a:srgbClr val="E66666"/>
              </a:solidFill>
            </a:endParaRPr>
          </a:p>
          <a:p>
            <a:pPr marL="360045"/>
            <a:r>
              <a:rPr lang="en-US" altLang="zh-CN" sz="1400" dirty="0" err="1"/>
              <a:t>sql</a:t>
            </a:r>
            <a:r>
              <a:rPr lang="en-US" altLang="zh-CN" sz="1400" dirty="0"/>
              <a:t>="SELECT * FROM </a:t>
            </a:r>
            <a:r>
              <a:rPr lang="zh-CN" altLang="en-US" sz="1400" dirty="0"/>
              <a:t>数据表 </a:t>
            </a:r>
            <a:r>
              <a:rPr lang="en-US" altLang="zh-CN" sz="1400" dirty="0"/>
              <a:t>WHERE </a:t>
            </a:r>
            <a:r>
              <a:rPr lang="zh-CN" altLang="en-US" sz="1400" dirty="0"/>
              <a:t>字段名</a:t>
            </a:r>
            <a:r>
              <a:rPr lang="en-US" altLang="zh-CN" sz="1400" dirty="0"/>
              <a:t>=</a:t>
            </a:r>
            <a:r>
              <a:rPr lang="zh-CN" altLang="en-US" sz="1400" dirty="0"/>
              <a:t>字段值 </a:t>
            </a:r>
            <a:r>
              <a:rPr lang="en-US" altLang="zh-CN" sz="1400" dirty="0"/>
              <a:t>ORDER BY  </a:t>
            </a:r>
            <a:r>
              <a:rPr lang="zh-CN" altLang="en-US" sz="1400" dirty="0"/>
              <a:t>字段名 </a:t>
            </a:r>
            <a:r>
              <a:rPr lang="en-US" altLang="zh-CN" sz="1400" dirty="0"/>
              <a:t>[DESC]" </a:t>
            </a:r>
            <a:endParaRPr lang="en-US" altLang="zh-CN" sz="1400" dirty="0"/>
          </a:p>
          <a:p>
            <a:pPr marL="360045"/>
            <a:r>
              <a:rPr lang="en-US" altLang="zh-CN" sz="1400" dirty="0" err="1"/>
              <a:t>sql</a:t>
            </a:r>
            <a:r>
              <a:rPr lang="en-US" altLang="zh-CN" sz="1400" dirty="0"/>
              <a:t>=" SELECT * FROM </a:t>
            </a:r>
            <a:r>
              <a:rPr lang="zh-CN" altLang="en-US" sz="1400" dirty="0"/>
              <a:t>数据表 </a:t>
            </a:r>
            <a:r>
              <a:rPr lang="en-US" altLang="zh-CN" sz="1400" dirty="0"/>
              <a:t>WHERE </a:t>
            </a:r>
            <a:r>
              <a:rPr lang="zh-CN" altLang="en-US" sz="1400" dirty="0"/>
              <a:t>字段名 </a:t>
            </a:r>
            <a:r>
              <a:rPr lang="en-US" altLang="zh-CN" sz="1400" dirty="0"/>
              <a:t>LIKE '%</a:t>
            </a:r>
            <a:r>
              <a:rPr lang="zh-CN" altLang="en-US" sz="1400" dirty="0"/>
              <a:t>字段值</a:t>
            </a:r>
            <a:r>
              <a:rPr lang="en-US" altLang="zh-CN" sz="1400" dirty="0"/>
              <a:t>%' ORDER BY </a:t>
            </a:r>
            <a:r>
              <a:rPr lang="zh-CN" altLang="en-US" sz="1400" dirty="0"/>
              <a:t>字段名 </a:t>
            </a:r>
            <a:r>
              <a:rPr lang="en-US" altLang="zh-CN" sz="1400" dirty="0"/>
              <a:t>[DESC]" </a:t>
            </a:r>
            <a:endParaRPr lang="en-US" altLang="zh-CN" sz="1400" dirty="0"/>
          </a:p>
          <a:p>
            <a:pPr marL="360045"/>
            <a:r>
              <a:rPr lang="en-US" altLang="zh-CN" sz="1400" dirty="0" err="1"/>
              <a:t>sql</a:t>
            </a:r>
            <a:r>
              <a:rPr lang="en-US" altLang="zh-CN" sz="1400" dirty="0"/>
              <a:t>="SELECT TOP 10 * FROM </a:t>
            </a:r>
            <a:r>
              <a:rPr lang="zh-CN" altLang="en-US" sz="1400" dirty="0"/>
              <a:t>数据表 </a:t>
            </a:r>
            <a:r>
              <a:rPr lang="en-US" altLang="zh-CN" sz="1400" dirty="0"/>
              <a:t>WHERE </a:t>
            </a:r>
            <a:r>
              <a:rPr lang="zh-CN" altLang="en-US" sz="1400" dirty="0"/>
              <a:t>字段名 </a:t>
            </a:r>
            <a:r>
              <a:rPr lang="en-US" altLang="zh-CN" sz="1400" dirty="0"/>
              <a:t>ORDER BY </a:t>
            </a:r>
            <a:r>
              <a:rPr lang="zh-CN" altLang="en-US" sz="1400" dirty="0"/>
              <a:t>字段名 </a:t>
            </a:r>
            <a:r>
              <a:rPr lang="en-US" altLang="zh-CN" sz="1400" dirty="0"/>
              <a:t>[DESC]" </a:t>
            </a:r>
            <a:endParaRPr lang="en-US" altLang="zh-CN" sz="1400" dirty="0"/>
          </a:p>
          <a:p>
            <a:pPr marL="360045"/>
            <a:r>
              <a:rPr lang="en-US" altLang="zh-CN" sz="1400" dirty="0" err="1"/>
              <a:t>sql</a:t>
            </a:r>
            <a:r>
              <a:rPr lang="en-US" altLang="zh-CN" sz="1400" dirty="0"/>
              <a:t>=" SELECT * FROM </a:t>
            </a:r>
            <a:r>
              <a:rPr lang="zh-CN" altLang="en-US" sz="1400" dirty="0"/>
              <a:t>数据表 </a:t>
            </a:r>
            <a:r>
              <a:rPr lang="en-US" altLang="zh-CN" sz="1400" dirty="0"/>
              <a:t>WHERE </a:t>
            </a:r>
            <a:r>
              <a:rPr lang="zh-CN" altLang="en-US" sz="1400" dirty="0"/>
              <a:t>字段名 </a:t>
            </a:r>
            <a:r>
              <a:rPr lang="en-US" altLang="zh-CN" sz="1400" dirty="0"/>
              <a:t>IN ('</a:t>
            </a:r>
            <a:r>
              <a:rPr lang="zh-CN" altLang="en-US" sz="1400" dirty="0"/>
              <a:t>值</a:t>
            </a:r>
            <a:r>
              <a:rPr lang="en-US" altLang="zh-CN" sz="1400" dirty="0"/>
              <a:t>1','</a:t>
            </a:r>
            <a:r>
              <a:rPr lang="zh-CN" altLang="en-US" sz="1400" dirty="0"/>
              <a:t>值</a:t>
            </a:r>
            <a:r>
              <a:rPr lang="en-US" altLang="zh-CN" sz="1400" dirty="0"/>
              <a:t>2','</a:t>
            </a:r>
            <a:r>
              <a:rPr lang="zh-CN" altLang="en-US" sz="1400" dirty="0"/>
              <a:t>值</a:t>
            </a:r>
            <a:r>
              <a:rPr lang="en-US" altLang="zh-CN" sz="1400" dirty="0"/>
              <a:t>3')" </a:t>
            </a:r>
            <a:endParaRPr lang="en-US" altLang="zh-CN" sz="1400" dirty="0"/>
          </a:p>
          <a:p>
            <a:pPr marL="360045"/>
            <a:r>
              <a:rPr lang="en-US" altLang="zh-CN" sz="1400" dirty="0" err="1"/>
              <a:t>sql</a:t>
            </a:r>
            <a:r>
              <a:rPr lang="en-US" altLang="zh-CN" sz="1400" dirty="0"/>
              <a:t>=" SELECT * FROM </a:t>
            </a:r>
            <a:r>
              <a:rPr lang="zh-CN" altLang="en-US" sz="1400" dirty="0"/>
              <a:t>数据表 </a:t>
            </a:r>
            <a:r>
              <a:rPr lang="en-US" altLang="zh-CN" sz="1400" dirty="0"/>
              <a:t>WHERE </a:t>
            </a:r>
            <a:r>
              <a:rPr lang="zh-CN" altLang="en-US" sz="1400" dirty="0"/>
              <a:t>字段名 </a:t>
            </a:r>
            <a:r>
              <a:rPr lang="en-US" altLang="zh-CN" sz="1400" dirty="0"/>
              <a:t>BETWEEN </a:t>
            </a:r>
            <a:r>
              <a:rPr lang="zh-CN" altLang="en-US" sz="1400" dirty="0"/>
              <a:t>值</a:t>
            </a:r>
            <a:r>
              <a:rPr lang="en-US" altLang="zh-CN" sz="1400" dirty="0"/>
              <a:t>1 AND </a:t>
            </a:r>
            <a:r>
              <a:rPr lang="zh-CN" altLang="en-US" sz="1400" dirty="0"/>
              <a:t>值</a:t>
            </a:r>
            <a:r>
              <a:rPr lang="en-US" altLang="zh-CN" sz="1400" dirty="0"/>
              <a:t>2" </a:t>
            </a:r>
            <a:endParaRPr lang="en-US" altLang="zh-CN" sz="1400" dirty="0"/>
          </a:p>
          <a:p>
            <a:pPr marL="285750" indent="-285750">
              <a:buFont typeface="Wingdings" panose="05000000000000000000" pitchFamily="2" charset="2"/>
              <a:buChar char="u"/>
            </a:pPr>
            <a:r>
              <a:rPr lang="en-US" altLang="zh-CN" sz="1400" b="1" dirty="0">
                <a:solidFill>
                  <a:srgbClr val="E66666"/>
                </a:solidFill>
              </a:rPr>
              <a:t>SQL</a:t>
            </a:r>
            <a:r>
              <a:rPr lang="zh-CN" altLang="en-US" sz="1400" b="1" dirty="0">
                <a:solidFill>
                  <a:srgbClr val="E66666"/>
                </a:solidFill>
              </a:rPr>
              <a:t>更新数据语法：</a:t>
            </a:r>
            <a:endParaRPr lang="en-US" altLang="zh-CN" sz="1400" b="1" dirty="0">
              <a:solidFill>
                <a:srgbClr val="E66666"/>
              </a:solidFill>
            </a:endParaRPr>
          </a:p>
          <a:p>
            <a:pPr marL="360045"/>
            <a:r>
              <a:rPr lang="en-US" altLang="zh-CN" sz="1400" dirty="0" err="1"/>
              <a:t>sql</a:t>
            </a:r>
            <a:r>
              <a:rPr lang="en-US" altLang="zh-CN" sz="1400" dirty="0"/>
              <a:t>=“UPDATE </a:t>
            </a:r>
            <a:r>
              <a:rPr lang="zh-CN" altLang="en-US" sz="1400" dirty="0"/>
              <a:t>数据表 </a:t>
            </a:r>
            <a:r>
              <a:rPr lang="en-US" altLang="zh-CN" sz="1400" dirty="0"/>
              <a:t>SET </a:t>
            </a:r>
            <a:r>
              <a:rPr lang="zh-CN" altLang="en-US" sz="1400" dirty="0"/>
              <a:t>字段名</a:t>
            </a:r>
            <a:r>
              <a:rPr lang="en-US" altLang="zh-CN" sz="1400" dirty="0"/>
              <a:t>=</a:t>
            </a:r>
            <a:r>
              <a:rPr lang="zh-CN" altLang="en-US" sz="1400" dirty="0"/>
              <a:t>字段值 </a:t>
            </a:r>
            <a:r>
              <a:rPr lang="en-US" altLang="zh-CN" sz="1400" dirty="0"/>
              <a:t>WHERE </a:t>
            </a:r>
            <a:r>
              <a:rPr lang="zh-CN" altLang="en-US" sz="1400" dirty="0"/>
              <a:t>条件表达式</a:t>
            </a:r>
            <a:r>
              <a:rPr lang="en-US" altLang="zh-CN" sz="1400" dirty="0"/>
              <a:t>" </a:t>
            </a:r>
            <a:endParaRPr lang="en-US" altLang="zh-CN" sz="1400" dirty="0"/>
          </a:p>
          <a:p>
            <a:pPr marL="360045"/>
            <a:r>
              <a:rPr lang="en-US" altLang="zh-CN" sz="1400" dirty="0" err="1"/>
              <a:t>sql</a:t>
            </a:r>
            <a:r>
              <a:rPr lang="en-US" altLang="zh-CN" sz="1400" dirty="0"/>
              <a:t>=" UPDATE </a:t>
            </a:r>
            <a:r>
              <a:rPr lang="zh-CN" altLang="en-US" sz="1400" dirty="0"/>
              <a:t>数据表 </a:t>
            </a:r>
            <a:r>
              <a:rPr lang="en-US" altLang="zh-CN" sz="1400" dirty="0"/>
              <a:t>SET </a:t>
            </a:r>
            <a:r>
              <a:rPr lang="zh-CN" altLang="en-US" sz="1400" dirty="0"/>
              <a:t>字段</a:t>
            </a:r>
            <a:r>
              <a:rPr lang="en-US" altLang="zh-CN" sz="1400" dirty="0"/>
              <a:t>1=</a:t>
            </a:r>
            <a:r>
              <a:rPr lang="zh-CN" altLang="en-US" sz="1400" dirty="0"/>
              <a:t>值</a:t>
            </a:r>
            <a:r>
              <a:rPr lang="en-US" altLang="zh-CN" sz="1400" dirty="0"/>
              <a:t>1,</a:t>
            </a:r>
            <a:r>
              <a:rPr lang="zh-CN" altLang="en-US" sz="1400" dirty="0"/>
              <a:t>字段</a:t>
            </a:r>
            <a:r>
              <a:rPr lang="en-US" altLang="zh-CN" sz="1400" dirty="0"/>
              <a:t>2=</a:t>
            </a:r>
            <a:r>
              <a:rPr lang="zh-CN" altLang="en-US" sz="1400" dirty="0"/>
              <a:t>值</a:t>
            </a:r>
            <a:r>
              <a:rPr lang="en-US" altLang="zh-CN" sz="1400" dirty="0"/>
              <a:t>2 …… </a:t>
            </a:r>
            <a:r>
              <a:rPr lang="zh-CN" altLang="en-US" sz="1400" dirty="0"/>
              <a:t>字段</a:t>
            </a:r>
            <a:r>
              <a:rPr lang="en-US" altLang="zh-CN" sz="1400" dirty="0"/>
              <a:t>n=</a:t>
            </a:r>
            <a:r>
              <a:rPr lang="zh-CN" altLang="en-US" sz="1400" dirty="0"/>
              <a:t>值</a:t>
            </a:r>
            <a:r>
              <a:rPr lang="en-US" altLang="zh-CN" sz="1400" dirty="0"/>
              <a:t>n WHERE </a:t>
            </a:r>
            <a:r>
              <a:rPr lang="zh-CN" altLang="en-US" sz="1400" dirty="0"/>
              <a:t>条件表达式</a:t>
            </a:r>
            <a:r>
              <a:rPr lang="en-US" altLang="zh-CN" sz="1400" dirty="0"/>
              <a:t>“</a:t>
            </a:r>
            <a:endParaRPr lang="en-US" altLang="zh-CN" sz="1400" dirty="0"/>
          </a:p>
          <a:p>
            <a:pPr marL="285750" indent="-285750">
              <a:buFont typeface="Wingdings" panose="05000000000000000000" pitchFamily="2" charset="2"/>
              <a:buChar char="u"/>
            </a:pPr>
            <a:r>
              <a:rPr lang="en-US" altLang="zh-CN" sz="1400" b="1" dirty="0">
                <a:solidFill>
                  <a:srgbClr val="E66666"/>
                </a:solidFill>
              </a:rPr>
              <a:t>SQL</a:t>
            </a:r>
            <a:r>
              <a:rPr lang="zh-CN" altLang="en-US" sz="1400" b="1" dirty="0">
                <a:solidFill>
                  <a:srgbClr val="E66666"/>
                </a:solidFill>
              </a:rPr>
              <a:t>删除数据语法（项目上慎重操作</a:t>
            </a:r>
            <a:r>
              <a:rPr lang="en-US" altLang="zh-CN" sz="1400" b="1" dirty="0">
                <a:solidFill>
                  <a:srgbClr val="E66666"/>
                </a:solidFill>
              </a:rPr>
              <a:t>!!!</a:t>
            </a:r>
            <a:r>
              <a:rPr lang="zh-CN" altLang="en-US" sz="1400" b="1" dirty="0">
                <a:solidFill>
                  <a:srgbClr val="E66666"/>
                </a:solidFill>
              </a:rPr>
              <a:t>）：</a:t>
            </a:r>
            <a:endParaRPr lang="en-US" altLang="zh-CN" sz="1400" b="1" dirty="0">
              <a:solidFill>
                <a:srgbClr val="E66666"/>
              </a:solidFill>
            </a:endParaRPr>
          </a:p>
          <a:p>
            <a:pPr marL="360045"/>
            <a:r>
              <a:rPr lang="en-US" altLang="zh-CN" sz="1400" dirty="0" err="1"/>
              <a:t>sql</a:t>
            </a:r>
            <a:r>
              <a:rPr lang="en-US" altLang="zh-CN" sz="1400" dirty="0"/>
              <a:t>=“DELETE FROM </a:t>
            </a:r>
            <a:r>
              <a:rPr lang="zh-CN" altLang="en-US" sz="1400" dirty="0"/>
              <a:t>数据表 </a:t>
            </a:r>
            <a:r>
              <a:rPr lang="en-US" altLang="zh-CN" sz="1400" dirty="0"/>
              <a:t>WHERE </a:t>
            </a:r>
            <a:r>
              <a:rPr lang="zh-CN" altLang="en-US" sz="1400" dirty="0"/>
              <a:t>条件表达式</a:t>
            </a:r>
            <a:r>
              <a:rPr lang="en-US" altLang="zh-CN" sz="1400" dirty="0"/>
              <a:t>" </a:t>
            </a:r>
            <a:endParaRPr lang="en-US" altLang="zh-CN" sz="1400" dirty="0"/>
          </a:p>
          <a:p>
            <a:pPr marL="360045"/>
            <a:r>
              <a:rPr lang="en-US" altLang="zh-CN" sz="1400" dirty="0" err="1"/>
              <a:t>sql</a:t>
            </a:r>
            <a:r>
              <a:rPr lang="en-US" altLang="zh-CN" sz="1400" dirty="0"/>
              <a:t>=" DELETE FROM </a:t>
            </a:r>
            <a:r>
              <a:rPr lang="zh-CN" altLang="en-US" sz="1400" dirty="0"/>
              <a:t>数据表</a:t>
            </a:r>
            <a:r>
              <a:rPr lang="en-US" altLang="zh-CN" sz="1400" dirty="0"/>
              <a:t>" (</a:t>
            </a:r>
            <a:r>
              <a:rPr lang="zh-CN" altLang="en-US" sz="1400" dirty="0"/>
              <a:t>将数据表所有记录删除</a:t>
            </a:r>
            <a:r>
              <a:rPr lang="en-US" altLang="zh-CN" sz="1400" dirty="0"/>
              <a:t>)   </a:t>
            </a:r>
            <a:endParaRPr lang="zh-CN" altLang="en-US" sz="1400" dirty="0"/>
          </a:p>
        </p:txBody>
      </p:sp>
      <p:sp>
        <p:nvSpPr>
          <p:cNvPr id="8" name="Rectangle 2"/>
          <p:cNvSpPr txBox="1">
            <a:spLocks noChangeArrowheads="1"/>
          </p:cNvSpPr>
          <p:nvPr/>
        </p:nvSpPr>
        <p:spPr>
          <a:xfrm>
            <a:off x="736656" y="829119"/>
            <a:ext cx="2723517" cy="461665"/>
          </a:xfrm>
          <a:prstGeom prst="rect">
            <a:avLst/>
          </a:prstGeom>
        </p:spPr>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285750" indent="-285750">
              <a:buFont typeface="Wingdings" panose="05000000000000000000" pitchFamily="2" charset="2"/>
              <a:buChar char="Ø"/>
            </a:pPr>
            <a:r>
              <a:rPr lang="en-US" altLang="zh-CN" dirty="0" smtClean="0"/>
              <a:t>1</a:t>
            </a:r>
            <a:r>
              <a:rPr lang="zh-CN" altLang="en-US" sz="1800" dirty="0" smtClean="0"/>
              <a:t>、建表及增删改查</a:t>
            </a:r>
            <a:endParaRPr lang="zh-CN" altLang="en-US" sz="1800" dirty="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78542" y="225570"/>
            <a:ext cx="9332912" cy="527050"/>
          </a:xfrm>
        </p:spPr>
        <p:txBody>
          <a:bodyPr/>
          <a:lstStyle/>
          <a:p>
            <a:r>
              <a:rPr lang="zh-CN" altLang="en-US" dirty="0" smtClean="0">
                <a:sym typeface="+mn-ea"/>
              </a:rPr>
              <a:t>第一章</a:t>
            </a:r>
            <a:r>
              <a:rPr lang="zh-CN" altLang="en-US" dirty="0" smtClean="0">
                <a:sym typeface="微软雅黑" panose="020B0503020204020204" pitchFamily="34" charset="-122"/>
              </a:rPr>
              <a:t> </a:t>
            </a:r>
            <a:r>
              <a:rPr lang="en-US" altLang="zh-CN" dirty="0" smtClean="0">
                <a:sym typeface="微软雅黑" panose="020B0503020204020204" pitchFamily="34" charset="-122"/>
              </a:rPr>
              <a:t>|</a:t>
            </a:r>
            <a:r>
              <a:rPr lang="zh-CN" altLang="en-US" dirty="0" smtClean="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第七</a:t>
            </a:r>
            <a:r>
              <a:rPr lang="zh-CN" altLang="en-US" dirty="0">
                <a:sym typeface="微软雅黑" panose="020B0503020204020204" pitchFamily="34" charset="-122"/>
              </a:rPr>
              <a:t>节  </a:t>
            </a:r>
            <a:r>
              <a:rPr lang="en-US" altLang="zh-CN" dirty="0">
                <a:sym typeface="微软雅黑" panose="020B0503020204020204" pitchFamily="34" charset="-122"/>
              </a:rPr>
              <a:t>SQL</a:t>
            </a:r>
            <a:r>
              <a:rPr lang="zh-CN" altLang="en-US" dirty="0">
                <a:sym typeface="微软雅黑" panose="020B0503020204020204" pitchFamily="34" charset="-122"/>
              </a:rPr>
              <a:t>语法</a:t>
            </a:r>
            <a:r>
              <a:rPr lang="zh-CN" altLang="en-US" dirty="0" smtClean="0">
                <a:sym typeface="微软雅黑" panose="020B0503020204020204" pitchFamily="34" charset="-122"/>
              </a:rPr>
              <a:t>简介</a:t>
            </a:r>
            <a:endParaRPr lang="zh-CN" altLang="en-US" dirty="0">
              <a:sym typeface="微软雅黑" panose="020B0503020204020204" pitchFamily="34" charset="-122"/>
            </a:endParaRPr>
          </a:p>
        </p:txBody>
      </p:sp>
      <p:sp>
        <p:nvSpPr>
          <p:cNvPr id="7" name="文本框 6"/>
          <p:cNvSpPr txBox="1"/>
          <p:nvPr/>
        </p:nvSpPr>
        <p:spPr>
          <a:xfrm>
            <a:off x="1648052" y="1568215"/>
            <a:ext cx="9802730" cy="4523105"/>
          </a:xfrm>
          <a:prstGeom prst="rect">
            <a:avLst/>
          </a:prstGeom>
        </p:spPr>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285750" indent="-285750">
              <a:buFont typeface="Wingdings" panose="05000000000000000000" pitchFamily="2" charset="2"/>
              <a:buChar char="u"/>
            </a:pPr>
            <a:r>
              <a:rPr lang="en-US" altLang="zh-CN" dirty="0"/>
              <a:t>SQL</a:t>
            </a:r>
            <a:r>
              <a:rPr lang="zh-CN" altLang="en-US" dirty="0"/>
              <a:t>数据统计函数：</a:t>
            </a:r>
            <a:endParaRPr lang="en-US" altLang="zh-CN" dirty="0"/>
          </a:p>
          <a:p>
            <a:pPr marL="360045"/>
            <a:r>
              <a:rPr lang="en-US" altLang="zh-CN" dirty="0"/>
              <a:t>AVG(</a:t>
            </a:r>
            <a:r>
              <a:rPr lang="zh-CN" altLang="en-US" dirty="0"/>
              <a:t>字段名</a:t>
            </a:r>
            <a:r>
              <a:rPr lang="en-US" altLang="zh-CN" dirty="0"/>
              <a:t>) </a:t>
            </a:r>
            <a:r>
              <a:rPr lang="zh-CN" altLang="en-US" dirty="0"/>
              <a:t>得出一个表格栏平均值 </a:t>
            </a:r>
            <a:endParaRPr lang="zh-CN" altLang="en-US" dirty="0"/>
          </a:p>
          <a:p>
            <a:pPr marL="360045"/>
            <a:r>
              <a:rPr lang="en-US" altLang="zh-CN" dirty="0"/>
              <a:t>COUNT(*|</a:t>
            </a:r>
            <a:r>
              <a:rPr lang="zh-CN" altLang="en-US" dirty="0"/>
              <a:t>字段名</a:t>
            </a:r>
            <a:r>
              <a:rPr lang="en-US" altLang="zh-CN" dirty="0"/>
              <a:t>) </a:t>
            </a:r>
            <a:r>
              <a:rPr lang="zh-CN" altLang="en-US" dirty="0"/>
              <a:t>对数据行数的统计或对某一栏有值的数据行数统计 </a:t>
            </a:r>
            <a:endParaRPr lang="zh-CN" altLang="en-US" dirty="0"/>
          </a:p>
          <a:p>
            <a:pPr marL="360045"/>
            <a:r>
              <a:rPr lang="en-US" altLang="zh-CN" dirty="0"/>
              <a:t>MAX(</a:t>
            </a:r>
            <a:r>
              <a:rPr lang="zh-CN" altLang="en-US" dirty="0"/>
              <a:t>字段名</a:t>
            </a:r>
            <a:r>
              <a:rPr lang="en-US" altLang="zh-CN" dirty="0"/>
              <a:t>) </a:t>
            </a:r>
            <a:r>
              <a:rPr lang="zh-CN" altLang="en-US" dirty="0"/>
              <a:t>取得一个表格栏最大的值 </a:t>
            </a:r>
            <a:endParaRPr lang="zh-CN" altLang="en-US" dirty="0"/>
          </a:p>
          <a:p>
            <a:pPr marL="360045"/>
            <a:r>
              <a:rPr lang="en-US" altLang="zh-CN" dirty="0"/>
              <a:t>MIN(</a:t>
            </a:r>
            <a:r>
              <a:rPr lang="zh-CN" altLang="en-US" dirty="0"/>
              <a:t>字段名</a:t>
            </a:r>
            <a:r>
              <a:rPr lang="en-US" altLang="zh-CN" dirty="0"/>
              <a:t>) </a:t>
            </a:r>
            <a:r>
              <a:rPr lang="zh-CN" altLang="en-US" dirty="0"/>
              <a:t>取得一个表格栏最小的值 </a:t>
            </a:r>
            <a:endParaRPr lang="zh-CN" altLang="en-US" dirty="0"/>
          </a:p>
          <a:p>
            <a:pPr marL="360045"/>
            <a:r>
              <a:rPr lang="en-US" altLang="zh-CN" dirty="0"/>
              <a:t>SUM(</a:t>
            </a:r>
            <a:r>
              <a:rPr lang="zh-CN" altLang="en-US" dirty="0"/>
              <a:t>字段名</a:t>
            </a:r>
            <a:r>
              <a:rPr lang="en-US" altLang="zh-CN" dirty="0"/>
              <a:t>) </a:t>
            </a:r>
            <a:r>
              <a:rPr lang="zh-CN" altLang="en-US" dirty="0"/>
              <a:t>把数据栏的值相加 </a:t>
            </a:r>
            <a:endParaRPr lang="en-US" altLang="zh-CN" dirty="0"/>
          </a:p>
          <a:p>
            <a:pPr marL="285750" indent="-285750">
              <a:buFont typeface="Wingdings" panose="05000000000000000000" pitchFamily="2" charset="2"/>
              <a:buChar char="u"/>
            </a:pPr>
            <a:r>
              <a:rPr lang="zh-CN" altLang="en-US" dirty="0"/>
              <a:t>查找表中重复数据：</a:t>
            </a:r>
            <a:endParaRPr lang="en-US" altLang="zh-CN" dirty="0"/>
          </a:p>
          <a:p>
            <a:pPr marL="360045"/>
            <a:r>
              <a:rPr lang="zh-CN" altLang="en-US" dirty="0"/>
              <a:t>示例：表名</a:t>
            </a:r>
            <a:r>
              <a:rPr lang="en-US" altLang="zh-CN" dirty="0"/>
              <a:t>test</a:t>
            </a:r>
            <a:r>
              <a:rPr lang="zh-CN" altLang="en-US" dirty="0"/>
              <a:t>，字段名：</a:t>
            </a:r>
            <a:r>
              <a:rPr lang="en-US" altLang="zh-CN" dirty="0"/>
              <a:t>id</a:t>
            </a:r>
            <a:r>
              <a:rPr lang="zh-CN" altLang="en-US" dirty="0"/>
              <a:t>，</a:t>
            </a:r>
            <a:r>
              <a:rPr lang="en-US" altLang="zh-CN" dirty="0"/>
              <a:t>name</a:t>
            </a:r>
            <a:r>
              <a:rPr lang="zh-CN" altLang="en-US" dirty="0"/>
              <a:t>，</a:t>
            </a:r>
            <a:r>
              <a:rPr lang="en-US" altLang="zh-CN" dirty="0"/>
              <a:t>value</a:t>
            </a:r>
            <a:endParaRPr lang="en-US" altLang="zh-CN" dirty="0"/>
          </a:p>
          <a:p>
            <a:pPr marL="360045"/>
            <a:r>
              <a:rPr lang="zh-CN" altLang="en-US" dirty="0"/>
              <a:t>问题：如何用一句</a:t>
            </a:r>
            <a:r>
              <a:rPr lang="en-US" altLang="zh-CN" dirty="0" err="1"/>
              <a:t>sql</a:t>
            </a:r>
            <a:r>
              <a:rPr lang="zh-CN" altLang="en-US" dirty="0"/>
              <a:t>找出 </a:t>
            </a:r>
            <a:r>
              <a:rPr lang="en-US" altLang="zh-CN" dirty="0"/>
              <a:t>id</a:t>
            </a:r>
            <a:r>
              <a:rPr lang="zh-CN" altLang="en-US" dirty="0"/>
              <a:t>和</a:t>
            </a:r>
            <a:r>
              <a:rPr lang="en-US" altLang="zh-CN" dirty="0"/>
              <a:t>name</a:t>
            </a:r>
            <a:r>
              <a:rPr lang="zh-CN" altLang="en-US" dirty="0"/>
              <a:t>完全相同的数据</a:t>
            </a:r>
            <a:endParaRPr lang="en-US" altLang="zh-CN" dirty="0"/>
          </a:p>
          <a:p>
            <a:pPr marL="360045"/>
            <a:r>
              <a:rPr lang="zh-CN" altLang="en-US" dirty="0"/>
              <a:t>方法：</a:t>
            </a:r>
            <a:r>
              <a:rPr lang="en-US" altLang="zh-CN" dirty="0"/>
              <a:t>SELECT  </a:t>
            </a:r>
            <a:r>
              <a:rPr lang="en-US" altLang="zh-CN" dirty="0">
                <a:sym typeface="+mn-ea"/>
              </a:rPr>
              <a:t>DISTINCT  DHC_Code </a:t>
            </a:r>
            <a:r>
              <a:rPr lang="en-US" altLang="zh-CN" dirty="0"/>
              <a:t> FROM DHC_Student  </a:t>
            </a:r>
            <a:endParaRPr lang="en-US" altLang="zh-CN" dirty="0"/>
          </a:p>
          <a:p>
            <a:pPr marL="285750" indent="-285750">
              <a:buFont typeface="Wingdings" panose="05000000000000000000" pitchFamily="2" charset="2"/>
              <a:buChar char="u"/>
            </a:pPr>
            <a:r>
              <a:rPr lang="zh-CN" altLang="en-US" dirty="0"/>
              <a:t>引用</a:t>
            </a:r>
            <a:r>
              <a:rPr lang="en-US" altLang="zh-CN" dirty="0"/>
              <a:t>SQL</a:t>
            </a:r>
            <a:r>
              <a:rPr lang="zh-CN" altLang="en-US" dirty="0"/>
              <a:t>方法：</a:t>
            </a:r>
            <a:endParaRPr lang="en-US" altLang="zh-CN" dirty="0"/>
          </a:p>
          <a:p>
            <a:pPr marL="360045"/>
            <a:r>
              <a:rPr lang="en-US" altLang="zh-CN" dirty="0" err="1"/>
              <a:t>sql</a:t>
            </a:r>
            <a:r>
              <a:rPr lang="en-US" altLang="zh-CN" dirty="0"/>
              <a:t>=“SELECT sum(</a:t>
            </a:r>
            <a:r>
              <a:rPr lang="zh-CN" altLang="en-US" dirty="0"/>
              <a:t>字段名</a:t>
            </a:r>
            <a:r>
              <a:rPr lang="en-US" altLang="zh-CN" dirty="0"/>
              <a:t>) AS </a:t>
            </a:r>
            <a:r>
              <a:rPr lang="zh-CN" altLang="en-US" dirty="0"/>
              <a:t>别名 </a:t>
            </a:r>
            <a:r>
              <a:rPr lang="en-US" altLang="zh-CN" dirty="0"/>
              <a:t>FROM </a:t>
            </a:r>
            <a:r>
              <a:rPr lang="zh-CN" altLang="en-US" dirty="0"/>
              <a:t>数据表 </a:t>
            </a:r>
            <a:r>
              <a:rPr lang="en-US" altLang="zh-CN" dirty="0"/>
              <a:t>WHERE </a:t>
            </a:r>
            <a:r>
              <a:rPr lang="zh-CN" altLang="en-US" dirty="0"/>
              <a:t>条件表达式</a:t>
            </a:r>
            <a:r>
              <a:rPr lang="en-US" altLang="zh-CN" dirty="0"/>
              <a:t>" </a:t>
            </a:r>
            <a:endParaRPr lang="en-US" altLang="zh-CN" dirty="0"/>
          </a:p>
        </p:txBody>
      </p:sp>
      <p:sp>
        <p:nvSpPr>
          <p:cNvPr id="9" name="Rectangle 2"/>
          <p:cNvSpPr txBox="1">
            <a:spLocks noChangeArrowheads="1"/>
          </p:cNvSpPr>
          <p:nvPr/>
        </p:nvSpPr>
        <p:spPr>
          <a:xfrm>
            <a:off x="923925" y="933450"/>
            <a:ext cx="3237865" cy="506730"/>
          </a:xfrm>
          <a:prstGeom prst="rect">
            <a:avLst/>
          </a:prstGeom>
        </p:spPr>
        <p:txBody>
          <a:bodyPr wrap="square">
            <a:spAutoFit/>
          </a:bodyPr>
          <a:lstStyle>
            <a:defPPr>
              <a:defRPr lang="zh-CN"/>
            </a:defPPr>
            <a:lvl1pPr>
              <a:lnSpc>
                <a:spcPct val="150000"/>
              </a:lnSpc>
              <a:defRPr sz="1600">
                <a:solidFill>
                  <a:schemeClr val="accent1">
                    <a:lumMod val="50000"/>
                  </a:schemeClr>
                </a:solidFill>
                <a:latin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285750" indent="-285750">
              <a:buFont typeface="Wingdings" panose="05000000000000000000" pitchFamily="2" charset="2"/>
              <a:buChar char="Ø"/>
            </a:pPr>
            <a:r>
              <a:rPr lang="en-US" altLang="zh-CN" sz="1800" dirty="0" smtClean="0"/>
              <a:t>2</a:t>
            </a:r>
            <a:r>
              <a:rPr lang="zh-CN" altLang="en-US" sz="1800" dirty="0" smtClean="0"/>
              <a:t>、常见</a:t>
            </a:r>
            <a:r>
              <a:rPr lang="en-US" altLang="zh-CN" sz="1800" dirty="0" smtClean="0"/>
              <a:t>SQL</a:t>
            </a:r>
            <a:r>
              <a:rPr lang="zh-CN" altLang="en-US" sz="1800" dirty="0" smtClean="0"/>
              <a:t>函数</a:t>
            </a:r>
            <a:r>
              <a:rPr lang="en-US" altLang="zh-CN" sz="1800" dirty="0" smtClean="0"/>
              <a:t>(</a:t>
            </a:r>
            <a:r>
              <a:rPr lang="zh-CN" altLang="en-US" sz="1800" dirty="0" smtClean="0"/>
              <a:t>自学了解</a:t>
            </a:r>
            <a:r>
              <a:rPr lang="en-US" altLang="zh-CN" sz="1800" dirty="0" smtClean="0"/>
              <a:t>)</a:t>
            </a:r>
            <a:endParaRPr lang="en-US" altLang="zh-CN" sz="1800" dirty="0" smtClean="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78542" y="225570"/>
            <a:ext cx="9332912" cy="527050"/>
          </a:xfrm>
        </p:spPr>
        <p:txBody>
          <a:bodyPr/>
          <a:lstStyle/>
          <a:p>
            <a:r>
              <a:rPr lang="zh-CN" altLang="en-US" dirty="0" smtClean="0">
                <a:sym typeface="+mn-ea"/>
              </a:rPr>
              <a:t>第一章</a:t>
            </a:r>
            <a:r>
              <a:rPr lang="zh-CN" altLang="en-US" dirty="0" smtClean="0">
                <a:sym typeface="微软雅黑" panose="020B0503020204020204" pitchFamily="34" charset="-122"/>
              </a:rPr>
              <a:t> </a:t>
            </a:r>
            <a:r>
              <a:rPr lang="en-US" altLang="zh-CN" dirty="0" smtClean="0">
                <a:sym typeface="微软雅黑" panose="020B0503020204020204" pitchFamily="34" charset="-122"/>
              </a:rPr>
              <a:t>|</a:t>
            </a:r>
            <a:r>
              <a:rPr lang="zh-CN" altLang="en-US" dirty="0" smtClean="0">
                <a:sym typeface="微软雅黑" panose="020B0503020204020204" pitchFamily="34" charset="-122"/>
              </a:rPr>
              <a:t> </a:t>
            </a:r>
            <a:r>
              <a:rPr lang="en-US" altLang="x-none" dirty="0" smtClean="0">
                <a:sym typeface="微软雅黑" panose="020B0503020204020204" pitchFamily="34" charset="-122"/>
              </a:rPr>
              <a:t>|  </a:t>
            </a:r>
            <a:r>
              <a:rPr lang="zh-CN" altLang="en-US" dirty="0" smtClean="0">
                <a:sym typeface="微软雅黑" panose="020B0503020204020204" pitchFamily="34" charset="-122"/>
              </a:rPr>
              <a:t>作业</a:t>
            </a:r>
            <a:endParaRPr lang="zh-CN" altLang="en-US" dirty="0">
              <a:sym typeface="微软雅黑" panose="020B0503020204020204" pitchFamily="34" charset="-122"/>
            </a:endParaRPr>
          </a:p>
        </p:txBody>
      </p:sp>
      <p:graphicFrame>
        <p:nvGraphicFramePr>
          <p:cNvPr id="13" name="表格 12"/>
          <p:cNvGraphicFramePr>
            <a:graphicFrameLocks noGrp="1"/>
          </p:cNvGraphicFramePr>
          <p:nvPr>
            <p:custDataLst>
              <p:tags r:id="rId1"/>
            </p:custDataLst>
          </p:nvPr>
        </p:nvGraphicFramePr>
        <p:xfrm>
          <a:off x="2488976" y="1965541"/>
          <a:ext cx="6717976" cy="891540"/>
        </p:xfrm>
        <a:graphic>
          <a:graphicData uri="http://schemas.openxmlformats.org/drawingml/2006/table">
            <a:tbl>
              <a:tblPr>
                <a:tableStyleId>{BC89EF96-8CEA-46FF-86C4-4CE0E7609802}</a:tableStyleId>
              </a:tblPr>
              <a:tblGrid>
                <a:gridCol w="1747899"/>
                <a:gridCol w="1408937"/>
                <a:gridCol w="1600879"/>
                <a:gridCol w="1960261"/>
              </a:tblGrid>
              <a:tr h="0">
                <a:tc>
                  <a:txBody>
                    <a:bodyPr/>
                    <a:lstStyle/>
                    <a:p>
                      <a:pPr algn="l" fontAlgn="ctr"/>
                      <a:r>
                        <a:rPr lang="zh-CN" altLang="en-US" sz="1400" u="none" strike="noStrike" dirty="0">
                          <a:effectLst/>
                        </a:rPr>
                        <a:t>　</a:t>
                      </a:r>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en-US" sz="1400" u="none" strike="noStrike" dirty="0" err="1">
                          <a:effectLst/>
                        </a:rPr>
                        <a:t>ARCBG_Code</a:t>
                      </a:r>
                      <a:endParaRPr 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en-US" sz="1400" u="none" strike="noStrike">
                          <a:effectLst/>
                        </a:rPr>
                        <a:t>ARCBG_Abbrev</a:t>
                      </a:r>
                      <a:endParaRPr lang="en-US" sz="14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en-US" sz="1400" u="none" strike="noStrike">
                          <a:effectLst/>
                        </a:rPr>
                        <a:t>ARCBG_Desc</a:t>
                      </a:r>
                      <a:endParaRPr lang="en-US" sz="14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222885">
                <a:tc>
                  <a:txBody>
                    <a:bodyPr/>
                    <a:lstStyle/>
                    <a:p>
                      <a:pPr algn="l" fontAlgn="ctr"/>
                      <a:endParaRPr 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en-US" sz="14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en-US" sz="14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endParaRPr lang="en-US" sz="14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222885">
                <a:tc>
                  <a:txBody>
                    <a:bodyPr/>
                    <a:lstStyle/>
                    <a:p>
                      <a:pPr algn="l" fontAlgn="ctr"/>
                      <a:r>
                        <a:rPr lang="zh-CN" altLang="en-US" sz="1400" b="0" i="0" u="none" strike="noStrike" dirty="0" smtClean="0">
                          <a:effectLst/>
                        </a:rPr>
                        <a:t>CacheTT 开发工具</a:t>
                      </a:r>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en-US" sz="1400" u="none" strike="noStrike">
                          <a:effectLst/>
                        </a:rPr>
                        <a:t>Wxtest</a:t>
                      </a:r>
                      <a:endParaRPr lang="en-US" sz="14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微信</a:t>
                      </a:r>
                      <a:r>
                        <a:rPr lang="en-US" sz="1400" u="none" strike="noStrike">
                          <a:effectLst/>
                        </a:rPr>
                        <a:t>test</a:t>
                      </a:r>
                      <a:endParaRPr lang="en-US" sz="14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微信支付</a:t>
                      </a:r>
                      <a:r>
                        <a:rPr lang="en-US" sz="1400" u="none" strike="noStrike">
                          <a:effectLst/>
                        </a:rPr>
                        <a:t>test</a:t>
                      </a:r>
                      <a:endParaRPr lang="en-US" sz="14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r>
              <a:tr h="222885">
                <a:tc>
                  <a:txBody>
                    <a:bodyPr/>
                    <a:lstStyle/>
                    <a:p>
                      <a:pPr algn="l" fontAlgn="ctr"/>
                      <a:r>
                        <a:rPr lang="zh-CN" altLang="en-US" sz="1400" u="none" strike="noStrike" dirty="0" smtClean="0">
                          <a:effectLst/>
                        </a:rPr>
                        <a:t>软件</a:t>
                      </a:r>
                      <a:r>
                        <a:rPr lang="en-US" sz="1400" u="none" strike="noStrike" dirty="0" smtClean="0">
                          <a:effectLst/>
                        </a:rPr>
                        <a:t>SQL-DBX</a:t>
                      </a:r>
                      <a:endParaRPr 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en-US" sz="1400" u="none" strike="noStrike">
                          <a:effectLst/>
                        </a:rPr>
                        <a:t>ZFBtest1</a:t>
                      </a:r>
                      <a:endParaRPr lang="en-US" sz="14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支付宝</a:t>
                      </a:r>
                      <a:r>
                        <a:rPr lang="en-US" sz="1400" u="none" strike="noStrike">
                          <a:effectLst/>
                        </a:rPr>
                        <a:t>test1</a:t>
                      </a:r>
                      <a:endParaRPr lang="en-US" sz="14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dirty="0">
                          <a:effectLst/>
                        </a:rPr>
                        <a:t>支付宝支付</a:t>
                      </a:r>
                      <a:r>
                        <a:rPr lang="en-US" sz="1400" u="none" strike="noStrike" dirty="0">
                          <a:effectLst/>
                        </a:rPr>
                        <a:t>test1</a:t>
                      </a:r>
                      <a:endParaRPr 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r>
            </a:tbl>
          </a:graphicData>
        </a:graphic>
      </p:graphicFrame>
      <p:grpSp>
        <p:nvGrpSpPr>
          <p:cNvPr id="14" name="组合 13"/>
          <p:cNvGrpSpPr/>
          <p:nvPr/>
        </p:nvGrpSpPr>
        <p:grpSpPr>
          <a:xfrm>
            <a:off x="278542" y="951951"/>
            <a:ext cx="11537511" cy="1309549"/>
            <a:chOff x="376972" y="4936104"/>
            <a:chExt cx="12037087" cy="1309549"/>
          </a:xfrm>
        </p:grpSpPr>
        <p:sp>
          <p:nvSpPr>
            <p:cNvPr id="15" name="矩形 57"/>
            <p:cNvSpPr>
              <a:spLocks noChangeArrowheads="1"/>
            </p:cNvSpPr>
            <p:nvPr/>
          </p:nvSpPr>
          <p:spPr bwMode="auto">
            <a:xfrm>
              <a:off x="750141" y="5514768"/>
              <a:ext cx="11663918"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smtClean="0">
                  <a:solidFill>
                    <a:schemeClr val="accent1">
                      <a:lumMod val="50000"/>
                    </a:schemeClr>
                  </a:solidFill>
                </a:rPr>
                <a:t>使用 </a:t>
              </a:r>
              <a:r>
                <a:rPr lang="zh-CN" altLang="en-US" sz="1600" dirty="0">
                  <a:solidFill>
                    <a:schemeClr val="accent1">
                      <a:lumMod val="50000"/>
                    </a:schemeClr>
                  </a:solidFill>
                </a:rPr>
                <a:t>开发工具管理中</a:t>
              </a:r>
              <a:r>
                <a:rPr lang="en-US" altLang="zh-CN" sz="1600" dirty="0">
                  <a:solidFill>
                    <a:schemeClr val="accent1">
                      <a:lumMod val="50000"/>
                    </a:schemeClr>
                  </a:solidFill>
                </a:rPr>
                <a:t>SQL</a:t>
              </a:r>
              <a:r>
                <a:rPr lang="zh-CN" altLang="en-US" sz="1600" dirty="0">
                  <a:solidFill>
                    <a:schemeClr val="accent1">
                      <a:lumMod val="50000"/>
                    </a:schemeClr>
                  </a:solidFill>
                </a:rPr>
                <a:t>查询、软件工具</a:t>
              </a:r>
              <a:r>
                <a:rPr lang="en-US" altLang="zh-CN" sz="1600" dirty="0">
                  <a:solidFill>
                    <a:schemeClr val="accent1">
                      <a:lumMod val="50000"/>
                    </a:schemeClr>
                  </a:solidFill>
                </a:rPr>
                <a:t>SQL-DBX)</a:t>
              </a:r>
              <a:r>
                <a:rPr lang="zh-CN" altLang="en-US" sz="1600" dirty="0">
                  <a:solidFill>
                    <a:schemeClr val="accent1">
                      <a:lumMod val="50000"/>
                    </a:schemeClr>
                  </a:solidFill>
                </a:rPr>
                <a:t>分别对数据库表</a:t>
              </a:r>
              <a:r>
                <a:rPr lang="en-US" altLang="zh-CN" sz="1600" dirty="0">
                  <a:solidFill>
                    <a:schemeClr val="accent1">
                      <a:lumMod val="50000"/>
                    </a:schemeClr>
                  </a:solidFill>
                </a:rPr>
                <a:t>(</a:t>
              </a:r>
              <a:r>
                <a:rPr lang="en-US" altLang="zh-CN" sz="1600" dirty="0" err="1">
                  <a:solidFill>
                    <a:schemeClr val="accent1">
                      <a:lumMod val="50000"/>
                    </a:schemeClr>
                  </a:solidFill>
                </a:rPr>
                <a:t>ARC_BillGrp</a:t>
              </a:r>
              <a:r>
                <a:rPr lang="en-US" altLang="zh-CN" sz="1600" dirty="0">
                  <a:solidFill>
                    <a:schemeClr val="accent1">
                      <a:lumMod val="50000"/>
                    </a:schemeClr>
                  </a:solidFill>
                </a:rPr>
                <a:t>)</a:t>
              </a:r>
              <a:r>
                <a:rPr lang="zh-CN" altLang="en-US" sz="1600" dirty="0">
                  <a:solidFill>
                    <a:schemeClr val="accent1">
                      <a:lumMod val="50000"/>
                    </a:schemeClr>
                  </a:solidFill>
                </a:rPr>
                <a:t>插入如下数据：</a:t>
              </a:r>
              <a:endParaRPr lang="en-US" altLang="zh-CN" sz="1600" dirty="0">
                <a:solidFill>
                  <a:schemeClr val="accent1">
                    <a:lumMod val="50000"/>
                  </a:schemeClr>
                </a:solidFill>
              </a:endParaRPr>
            </a:p>
            <a:p>
              <a:pPr>
                <a:lnSpc>
                  <a:spcPct val="130000"/>
                </a:lnSpc>
              </a:pPr>
              <a:endParaRPr lang="zh-CN" altLang="en-US" sz="1600" dirty="0">
                <a:solidFill>
                  <a:schemeClr val="accent1">
                    <a:lumMod val="50000"/>
                  </a:schemeClr>
                </a:solidFill>
              </a:endParaRPr>
            </a:p>
          </p:txBody>
        </p:sp>
        <p:cxnSp>
          <p:nvCxnSpPr>
            <p:cNvPr id="16" name="直接连接符 15"/>
            <p:cNvCxnSpPr/>
            <p:nvPr/>
          </p:nvCxnSpPr>
          <p:spPr>
            <a:xfrm>
              <a:off x="750141" y="5345491"/>
              <a:ext cx="3561148"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376972" y="4936104"/>
              <a:ext cx="4204392" cy="461665"/>
              <a:chOff x="376972" y="4936104"/>
              <a:chExt cx="4204392" cy="461665"/>
            </a:xfrm>
          </p:grpSpPr>
          <p:sp>
            <p:nvSpPr>
              <p:cNvPr id="18" name="文本框 17"/>
              <p:cNvSpPr txBox="1"/>
              <p:nvPr/>
            </p:nvSpPr>
            <p:spPr>
              <a:xfrm>
                <a:off x="411705" y="4936104"/>
                <a:ext cx="4169659" cy="461665"/>
              </a:xfrm>
              <a:prstGeom prst="rect">
                <a:avLst/>
              </a:prstGeom>
              <a:noFill/>
            </p:spPr>
            <p:txBody>
              <a:bodyPr wrap="square" rtlCol="0">
                <a:spAutoFit/>
              </a:bodyPr>
              <a:lstStyle/>
              <a:p>
                <a:r>
                  <a:rPr lang="zh-CN" altLang="en-US" sz="2400" dirty="0" smtClean="0">
                    <a:solidFill>
                      <a:schemeClr val="tx1">
                        <a:lumMod val="65000"/>
                        <a:lumOff val="35000"/>
                      </a:schemeClr>
                    </a:solidFill>
                  </a:rPr>
                  <a:t>    练习 </a:t>
                </a:r>
                <a:r>
                  <a:rPr lang="en-US" altLang="zh-CN" sz="2400" dirty="0">
                    <a:solidFill>
                      <a:schemeClr val="tx1">
                        <a:lumMod val="65000"/>
                        <a:lumOff val="35000"/>
                      </a:schemeClr>
                    </a:solidFill>
                  </a:rPr>
                  <a:t>6</a:t>
                </a:r>
                <a:r>
                  <a:rPr lang="en-US" altLang="zh-CN" sz="2400" dirty="0" smtClean="0">
                    <a:solidFill>
                      <a:schemeClr val="tx1">
                        <a:lumMod val="65000"/>
                        <a:lumOff val="35000"/>
                      </a:schemeClr>
                    </a:solidFill>
                  </a:rPr>
                  <a:t> </a:t>
                </a:r>
                <a:endParaRPr lang="zh-CN" altLang="en-US" sz="2400" dirty="0">
                  <a:solidFill>
                    <a:schemeClr val="tx1">
                      <a:lumMod val="65000"/>
                      <a:lumOff val="35000"/>
                    </a:schemeClr>
                  </a:solidFill>
                </a:endParaRPr>
              </a:p>
            </p:txBody>
          </p:sp>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6972" y="5007841"/>
                <a:ext cx="373169" cy="371255"/>
              </a:xfrm>
              <a:prstGeom prst="rect">
                <a:avLst/>
              </a:prstGeom>
            </p:spPr>
          </p:pic>
        </p:grpSp>
      </p:grpSp>
      <p:grpSp>
        <p:nvGrpSpPr>
          <p:cNvPr id="20" name="组合 19"/>
          <p:cNvGrpSpPr/>
          <p:nvPr/>
        </p:nvGrpSpPr>
        <p:grpSpPr>
          <a:xfrm>
            <a:off x="311833" y="2992226"/>
            <a:ext cx="11537511" cy="2147114"/>
            <a:chOff x="376972" y="4936104"/>
            <a:chExt cx="12037087" cy="2147114"/>
          </a:xfrm>
        </p:grpSpPr>
        <p:sp>
          <p:nvSpPr>
            <p:cNvPr id="21" name="矩形 57"/>
            <p:cNvSpPr>
              <a:spLocks noChangeArrowheads="1"/>
            </p:cNvSpPr>
            <p:nvPr/>
          </p:nvSpPr>
          <p:spPr bwMode="auto">
            <a:xfrm>
              <a:off x="750141" y="5514768"/>
              <a:ext cx="11663918"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pPr>
              <a:r>
                <a:rPr lang="zh-CN" altLang="en-US" sz="1600" dirty="0" smtClean="0">
                  <a:solidFill>
                    <a:schemeClr val="accent1">
                      <a:lumMod val="50000"/>
                    </a:schemeClr>
                  </a:solidFill>
                </a:rPr>
                <a:t>题目</a:t>
              </a:r>
              <a:r>
                <a:rPr lang="zh-CN" altLang="en-US" sz="1600" dirty="0">
                  <a:solidFill>
                    <a:schemeClr val="accent1">
                      <a:lumMod val="50000"/>
                    </a:schemeClr>
                  </a:solidFill>
                </a:rPr>
                <a:t>：获取指定</a:t>
              </a:r>
              <a:r>
                <a:rPr lang="en-US" altLang="zh-CN" sz="1600" dirty="0" err="1">
                  <a:solidFill>
                    <a:schemeClr val="accent1">
                      <a:lumMod val="50000"/>
                    </a:schemeClr>
                  </a:solidFill>
                </a:rPr>
                <a:t>rowid</a:t>
              </a:r>
              <a:r>
                <a:rPr lang="zh-CN" altLang="en-US" sz="1600" dirty="0">
                  <a:solidFill>
                    <a:schemeClr val="accent1">
                      <a:lumMod val="50000"/>
                    </a:schemeClr>
                  </a:solidFill>
                </a:rPr>
                <a:t>的就诊</a:t>
              </a:r>
              <a:r>
                <a:rPr lang="en-US" altLang="zh-CN" sz="1600" dirty="0">
                  <a:solidFill>
                    <a:schemeClr val="accent1">
                      <a:lumMod val="50000"/>
                    </a:schemeClr>
                  </a:solidFill>
                </a:rPr>
                <a:t>(</a:t>
              </a:r>
              <a:r>
                <a:rPr lang="en-US" altLang="zh-CN" sz="1600" dirty="0" err="1">
                  <a:solidFill>
                    <a:schemeClr val="accent1">
                      <a:lumMod val="50000"/>
                    </a:schemeClr>
                  </a:solidFill>
                </a:rPr>
                <a:t>PA_Adm</a:t>
              </a:r>
              <a:r>
                <a:rPr lang="en-US" altLang="zh-CN" sz="1600" dirty="0">
                  <a:solidFill>
                    <a:schemeClr val="accent1">
                      <a:lumMod val="50000"/>
                    </a:schemeClr>
                  </a:solidFill>
                </a:rPr>
                <a:t>)</a:t>
              </a:r>
              <a:r>
                <a:rPr lang="zh-CN" altLang="en-US" sz="1600" dirty="0">
                  <a:solidFill>
                    <a:schemeClr val="accent1">
                      <a:lumMod val="50000"/>
                    </a:schemeClr>
                  </a:solidFill>
                </a:rPr>
                <a:t>的病人</a:t>
              </a:r>
              <a:r>
                <a:rPr lang="en-US" altLang="zh-CN" sz="1600" dirty="0">
                  <a:solidFill>
                    <a:schemeClr val="accent1">
                      <a:lumMod val="50000"/>
                    </a:schemeClr>
                  </a:solidFill>
                </a:rPr>
                <a:t>(</a:t>
              </a:r>
              <a:r>
                <a:rPr lang="en-US" altLang="zh-CN" sz="1600" dirty="0" err="1">
                  <a:solidFill>
                    <a:schemeClr val="accent1">
                      <a:lumMod val="50000"/>
                    </a:schemeClr>
                  </a:solidFill>
                </a:rPr>
                <a:t>PA_PatMas</a:t>
              </a:r>
              <a:r>
                <a:rPr lang="en-US" altLang="zh-CN" sz="1600" dirty="0">
                  <a:solidFill>
                    <a:schemeClr val="accent1">
                      <a:lumMod val="50000"/>
                    </a:schemeClr>
                  </a:solidFill>
                </a:rPr>
                <a:t>)</a:t>
              </a:r>
              <a:r>
                <a:rPr lang="zh-CN" altLang="en-US" sz="1600" dirty="0">
                  <a:solidFill>
                    <a:schemeClr val="accent1">
                      <a:lumMod val="50000"/>
                    </a:schemeClr>
                  </a:solidFill>
                </a:rPr>
                <a:t>的性别描述</a:t>
              </a:r>
              <a:r>
                <a:rPr lang="en-US" altLang="zh-CN" sz="1600" dirty="0">
                  <a:solidFill>
                    <a:schemeClr val="accent1">
                      <a:lumMod val="50000"/>
                    </a:schemeClr>
                  </a:solidFill>
                </a:rPr>
                <a:t>.</a:t>
              </a:r>
              <a:br>
                <a:rPr lang="en-US" altLang="zh-CN" sz="1600" dirty="0">
                  <a:solidFill>
                    <a:schemeClr val="accent1">
                      <a:lumMod val="50000"/>
                    </a:schemeClr>
                  </a:solidFill>
                </a:rPr>
              </a:br>
              <a:r>
                <a:rPr lang="en-US" altLang="zh-CN" sz="1600" dirty="0">
                  <a:solidFill>
                    <a:schemeClr val="accent1">
                      <a:lumMod val="50000"/>
                    </a:schemeClr>
                  </a:solidFill>
                </a:rPr>
                <a:t>	</a:t>
              </a:r>
              <a:r>
                <a:rPr lang="en-US" altLang="zh-CN" sz="1600" dirty="0" err="1">
                  <a:solidFill>
                    <a:schemeClr val="accent1">
                      <a:lumMod val="50000"/>
                    </a:schemeClr>
                  </a:solidFill>
                </a:rPr>
                <a:t>ClassMethod</a:t>
              </a:r>
              <a:r>
                <a:rPr lang="en-US" altLang="zh-CN" sz="1600" dirty="0">
                  <a:solidFill>
                    <a:schemeClr val="accent1">
                      <a:lumMod val="50000"/>
                    </a:schemeClr>
                  </a:solidFill>
                </a:rPr>
                <a:t> </a:t>
              </a:r>
              <a:r>
                <a:rPr lang="en-US" altLang="zh-CN" sz="1600" dirty="0" err="1">
                  <a:solidFill>
                    <a:schemeClr val="accent1">
                      <a:lumMod val="50000"/>
                    </a:schemeClr>
                  </a:solidFill>
                </a:rPr>
                <a:t>GetPAAdmSexDesc</a:t>
              </a:r>
              <a:r>
                <a:rPr lang="en-US" altLang="zh-CN" sz="1600" dirty="0">
                  <a:solidFill>
                    <a:schemeClr val="accent1">
                      <a:lumMod val="50000"/>
                    </a:schemeClr>
                  </a:solidFill>
                </a:rPr>
                <a:t>(</a:t>
              </a:r>
              <a:r>
                <a:rPr lang="en-US" altLang="zh-CN" sz="1600" dirty="0" err="1">
                  <a:solidFill>
                    <a:schemeClr val="accent1">
                      <a:lumMod val="50000"/>
                    </a:schemeClr>
                  </a:solidFill>
                </a:rPr>
                <a:t>AdmRowId</a:t>
              </a:r>
              <a:r>
                <a:rPr lang="en-US" altLang="zh-CN" sz="1600" dirty="0">
                  <a:solidFill>
                    <a:schemeClr val="accent1">
                      <a:lumMod val="50000"/>
                    </a:schemeClr>
                  </a:solidFill>
                </a:rPr>
                <a:t>){</a:t>
              </a:r>
              <a:br>
                <a:rPr lang="en-US" altLang="zh-CN" sz="1600" dirty="0">
                  <a:solidFill>
                    <a:schemeClr val="accent1">
                      <a:lumMod val="50000"/>
                    </a:schemeClr>
                  </a:solidFill>
                </a:rPr>
              </a:br>
              <a:r>
                <a:rPr lang="en-US" altLang="zh-CN" sz="1600" dirty="0">
                  <a:solidFill>
                    <a:schemeClr val="accent1">
                      <a:lumMod val="50000"/>
                    </a:schemeClr>
                  </a:solidFill>
                </a:rPr>
                <a:t>		</a:t>
              </a:r>
              <a:r>
                <a:rPr lang="en-US" altLang="zh-CN" sz="1600" dirty="0" smtClean="0">
                  <a:solidFill>
                    <a:schemeClr val="accent1">
                      <a:lumMod val="50000"/>
                    </a:schemeClr>
                  </a:solidFill>
                </a:rPr>
                <a:t>//</a:t>
              </a:r>
              <a:br>
                <a:rPr lang="en-US" altLang="zh-CN" sz="1600" dirty="0">
                  <a:solidFill>
                    <a:schemeClr val="accent1">
                      <a:lumMod val="50000"/>
                    </a:schemeClr>
                  </a:solidFill>
                </a:rPr>
              </a:br>
              <a:r>
                <a:rPr lang="en-US" altLang="zh-CN" sz="1600" dirty="0">
                  <a:solidFill>
                    <a:schemeClr val="accent1">
                      <a:lumMod val="50000"/>
                    </a:schemeClr>
                  </a:solidFill>
                </a:rPr>
                <a:t>		w </a:t>
              </a:r>
              <a:r>
                <a:rPr lang="en-US" altLang="zh-CN" sz="1600" dirty="0" err="1">
                  <a:solidFill>
                    <a:schemeClr val="accent1">
                      <a:lumMod val="50000"/>
                    </a:schemeClr>
                  </a:solidFill>
                </a:rPr>
                <a:t>SexDesc</a:t>
              </a:r>
              <a:r>
                <a:rPr lang="en-US" altLang="zh-CN" sz="1600" dirty="0">
                  <a:solidFill>
                    <a:schemeClr val="accent1">
                      <a:lumMod val="50000"/>
                    </a:schemeClr>
                  </a:solidFill>
                </a:rPr>
                <a:t>,!</a:t>
              </a:r>
              <a:br>
                <a:rPr lang="en-US" altLang="zh-CN" sz="1600" dirty="0">
                  <a:solidFill>
                    <a:schemeClr val="accent1">
                      <a:lumMod val="50000"/>
                    </a:schemeClr>
                  </a:solidFill>
                </a:rPr>
              </a:br>
              <a:r>
                <a:rPr lang="en-US" altLang="zh-CN" sz="1600" dirty="0">
                  <a:solidFill>
                    <a:schemeClr val="accent1">
                      <a:lumMod val="50000"/>
                    </a:schemeClr>
                  </a:solidFill>
                </a:rPr>
                <a:t>	}</a:t>
              </a:r>
              <a:endParaRPr lang="en-US" altLang="zh-CN" sz="1600" dirty="0">
                <a:solidFill>
                  <a:schemeClr val="accent1">
                    <a:lumMod val="50000"/>
                  </a:schemeClr>
                </a:solidFill>
              </a:endParaRPr>
            </a:p>
            <a:p>
              <a:pPr>
                <a:lnSpc>
                  <a:spcPct val="100000"/>
                </a:lnSpc>
              </a:pPr>
              <a:r>
                <a:rPr lang="zh-CN" altLang="en-US" sz="1600" dirty="0">
                  <a:solidFill>
                    <a:schemeClr val="accent1">
                      <a:lumMod val="50000"/>
                    </a:schemeClr>
                  </a:solidFill>
                </a:rPr>
                <a:t>提交方法：</a:t>
              </a:r>
              <a:r>
                <a:rPr lang="en-US" altLang="zh-CN" sz="1600" dirty="0">
                  <a:solidFill>
                    <a:schemeClr val="accent1">
                      <a:lumMod val="50000"/>
                    </a:schemeClr>
                  </a:solidFill>
                </a:rPr>
                <a:t>QQ</a:t>
              </a:r>
              <a:r>
                <a:rPr lang="zh-CN" altLang="en-US" sz="1600" dirty="0">
                  <a:solidFill>
                    <a:schemeClr val="accent1">
                      <a:lumMod val="50000"/>
                    </a:schemeClr>
                  </a:solidFill>
                </a:rPr>
                <a:t>提交给老师一张截图即可，在截图上需体现程序代码、输出等信息，并在程序中注释上自己的姓名</a:t>
              </a:r>
              <a:r>
                <a:rPr lang="zh-CN" altLang="en-US" sz="1600" dirty="0" smtClean="0">
                  <a:solidFill>
                    <a:schemeClr val="accent1">
                      <a:lumMod val="50000"/>
                    </a:schemeClr>
                  </a:solidFill>
                </a:rPr>
                <a:t>。</a:t>
              </a:r>
              <a:endParaRPr lang="en-US" altLang="zh-CN" sz="1600" dirty="0">
                <a:solidFill>
                  <a:schemeClr val="accent1">
                    <a:lumMod val="50000"/>
                  </a:schemeClr>
                </a:solidFill>
              </a:endParaRPr>
            </a:p>
          </p:txBody>
        </p:sp>
        <p:cxnSp>
          <p:nvCxnSpPr>
            <p:cNvPr id="22" name="直接连接符 21"/>
            <p:cNvCxnSpPr/>
            <p:nvPr/>
          </p:nvCxnSpPr>
          <p:spPr>
            <a:xfrm>
              <a:off x="750141" y="5345491"/>
              <a:ext cx="3561148"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376972" y="4936104"/>
              <a:ext cx="4204392" cy="461665"/>
              <a:chOff x="376972" y="4936104"/>
              <a:chExt cx="4204392" cy="461665"/>
            </a:xfrm>
          </p:grpSpPr>
          <p:sp>
            <p:nvSpPr>
              <p:cNvPr id="24" name="文本框 23"/>
              <p:cNvSpPr txBox="1"/>
              <p:nvPr/>
            </p:nvSpPr>
            <p:spPr>
              <a:xfrm>
                <a:off x="411705" y="4936104"/>
                <a:ext cx="4169659" cy="461665"/>
              </a:xfrm>
              <a:prstGeom prst="rect">
                <a:avLst/>
              </a:prstGeom>
              <a:noFill/>
            </p:spPr>
            <p:txBody>
              <a:bodyPr wrap="square" rtlCol="0">
                <a:spAutoFit/>
              </a:bodyPr>
              <a:lstStyle/>
              <a:p>
                <a:r>
                  <a:rPr lang="zh-CN" altLang="en-US" sz="2400" dirty="0" smtClean="0">
                    <a:solidFill>
                      <a:schemeClr val="tx1">
                        <a:lumMod val="65000"/>
                        <a:lumOff val="35000"/>
                      </a:schemeClr>
                    </a:solidFill>
                  </a:rPr>
                  <a:t>    作业 </a:t>
                </a:r>
                <a:r>
                  <a:rPr lang="en-US" altLang="zh-CN" sz="2400" dirty="0" smtClean="0">
                    <a:solidFill>
                      <a:schemeClr val="tx1">
                        <a:lumMod val="65000"/>
                        <a:lumOff val="35000"/>
                      </a:schemeClr>
                    </a:solidFill>
                  </a:rPr>
                  <a:t>1</a:t>
                </a:r>
                <a:endParaRPr lang="zh-CN" altLang="en-US" sz="2400" dirty="0">
                  <a:solidFill>
                    <a:schemeClr val="tx1">
                      <a:lumMod val="65000"/>
                      <a:lumOff val="35000"/>
                    </a:schemeClr>
                  </a:solidFill>
                </a:endParaRPr>
              </a:p>
            </p:txBody>
          </p:sp>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6972" y="5007841"/>
                <a:ext cx="373169" cy="371255"/>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2915816" y="2950923"/>
            <a:ext cx="1656185" cy="1224136"/>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4" name="椭圆 3"/>
          <p:cNvSpPr/>
          <p:nvPr/>
        </p:nvSpPr>
        <p:spPr>
          <a:xfrm>
            <a:off x="4139952" y="2662891"/>
            <a:ext cx="1584176" cy="1143988"/>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2000" dirty="0" smtClean="0"/>
              <a:t>下午</a:t>
            </a:r>
            <a:endParaRPr lang="en-US" altLang="zh-CN" sz="2000" dirty="0" smtClean="0"/>
          </a:p>
          <a:p>
            <a:pPr algn="ctr"/>
            <a:r>
              <a:rPr lang="zh-CN" altLang="en-US" sz="2000" dirty="0" smtClean="0"/>
              <a:t>放学</a:t>
            </a:r>
            <a:endParaRPr lang="zh-CN" altLang="en-US" sz="2000" dirty="0"/>
          </a:p>
        </p:txBody>
      </p:sp>
      <p:sp>
        <p:nvSpPr>
          <p:cNvPr id="5" name="椭圆 4"/>
          <p:cNvSpPr/>
          <p:nvPr/>
        </p:nvSpPr>
        <p:spPr>
          <a:xfrm>
            <a:off x="7321109" y="2114359"/>
            <a:ext cx="360041" cy="288032"/>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6" name="椭圆 5"/>
          <p:cNvSpPr/>
          <p:nvPr/>
        </p:nvSpPr>
        <p:spPr>
          <a:xfrm>
            <a:off x="7969181" y="1970343"/>
            <a:ext cx="168019" cy="166172"/>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7" name="文本框 6"/>
          <p:cNvSpPr txBox="1"/>
          <p:nvPr/>
        </p:nvSpPr>
        <p:spPr>
          <a:xfrm>
            <a:off x="3097150" y="3079248"/>
            <a:ext cx="1293516" cy="1015663"/>
          </a:xfrm>
          <a:prstGeom prst="rect">
            <a:avLst/>
          </a:prstGeom>
          <a:noFill/>
        </p:spPr>
        <p:txBody>
          <a:bodyPr wrap="square" rtlCol="0">
            <a:spAutoFit/>
          </a:bodyPr>
          <a:lstStyle/>
          <a:p>
            <a:pPr algn="ctr"/>
            <a:r>
              <a:rPr lang="zh-CN" altLang="en-US" sz="2000" b="1" dirty="0" smtClean="0">
                <a:solidFill>
                  <a:srgbClr val="FF0000"/>
                </a:solidFill>
              </a:rPr>
              <a:t>下午</a:t>
            </a:r>
            <a:endParaRPr lang="en-US" altLang="zh-CN" sz="2000" b="1" dirty="0" smtClean="0">
              <a:solidFill>
                <a:srgbClr val="FF0000"/>
              </a:solidFill>
            </a:endParaRPr>
          </a:p>
          <a:p>
            <a:pPr algn="ctr"/>
            <a:r>
              <a:rPr lang="zh-CN" altLang="en-US" sz="2000" dirty="0" smtClean="0">
                <a:solidFill>
                  <a:schemeClr val="lt1"/>
                </a:solidFill>
              </a:rPr>
              <a:t>第二节课</a:t>
            </a:r>
            <a:endParaRPr lang="en-US" altLang="zh-CN" sz="2000" dirty="0" smtClean="0">
              <a:solidFill>
                <a:schemeClr val="lt1"/>
              </a:solidFill>
            </a:endParaRPr>
          </a:p>
          <a:p>
            <a:pPr algn="ctr"/>
            <a:r>
              <a:rPr lang="zh-CN" altLang="en-US" sz="2000" b="1" dirty="0" smtClean="0">
                <a:solidFill>
                  <a:schemeClr val="accent1">
                    <a:lumMod val="75000"/>
                  </a:schemeClr>
                </a:solidFill>
              </a:rPr>
              <a:t>完</a:t>
            </a:r>
            <a:endParaRPr lang="en-US" altLang="zh-CN" sz="2000" b="1" dirty="0">
              <a:solidFill>
                <a:schemeClr val="accent1">
                  <a:lumMod val="75000"/>
                </a:schemeClr>
              </a:solidFill>
            </a:endParaRPr>
          </a:p>
        </p:txBody>
      </p:sp>
      <p:sp>
        <p:nvSpPr>
          <p:cNvPr id="8" name="椭圆 7"/>
          <p:cNvSpPr/>
          <p:nvPr/>
        </p:nvSpPr>
        <p:spPr>
          <a:xfrm>
            <a:off x="5404811" y="2359474"/>
            <a:ext cx="1584176" cy="1143988"/>
          </a:xfrm>
          <a:prstGeom prst="ellipse">
            <a:avLst/>
          </a:prstGeom>
          <a:solidFill>
            <a:srgbClr val="00B0F0"/>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2000" dirty="0" smtClean="0"/>
              <a:t>晚上</a:t>
            </a:r>
            <a:endParaRPr lang="en-US" altLang="zh-CN" sz="2000" dirty="0" smtClean="0"/>
          </a:p>
          <a:p>
            <a:pPr algn="ctr"/>
            <a:r>
              <a:rPr lang="zh-CN" altLang="en-US" sz="2000" dirty="0" smtClean="0"/>
              <a:t>做作业</a:t>
            </a:r>
            <a:endParaRPr lang="en-US" altLang="zh-CN" sz="2000" dirty="0" smtClean="0"/>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椭圆 2"/>
          <p:cNvSpPr/>
          <p:nvPr/>
        </p:nvSpPr>
        <p:spPr>
          <a:xfrm>
            <a:off x="5214670" y="1132948"/>
            <a:ext cx="1800200" cy="1800200"/>
          </a:xfrm>
          <a:prstGeom prst="ellipse">
            <a:avLst/>
          </a:prstGeom>
          <a:blipFill dpi="0" rotWithShape="1">
            <a:blip r:embed="rId2"/>
            <a:srcRect/>
            <a:stretch>
              <a:fillRect/>
            </a:stretch>
          </a:blip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p:cNvSpPr>
            <a:spLocks noGrp="1"/>
          </p:cNvSpPr>
          <p:nvPr>
            <p:ph type="ctrTitle"/>
          </p:nvPr>
        </p:nvSpPr>
        <p:spPr>
          <a:xfrm>
            <a:off x="2218252" y="2970214"/>
            <a:ext cx="7793037" cy="1459866"/>
          </a:xfrm>
        </p:spPr>
        <p:txBody>
          <a:bodyPr rtlCol="0">
            <a:noAutofit/>
          </a:bodyPr>
          <a:lstStyle/>
          <a:p>
            <a:pPr defTabSz="815975" eaLnBrk="1" fontAlgn="auto" hangingPunct="1">
              <a:spcBef>
                <a:spcPts val="600"/>
              </a:spcBef>
              <a:spcAft>
                <a:spcPts val="0"/>
              </a:spcAft>
              <a:defRPr/>
            </a:pPr>
            <a:r>
              <a:rPr lang="en-US" altLang="zh-CN" sz="3600" kern="20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cs typeface="Arial" panose="020B0604020202020204" pitchFamily="34" charset="0"/>
              </a:rPr>
              <a:t>Thanks For Watching!</a:t>
            </a:r>
            <a:endParaRPr lang="zh-CN" altLang="en-US" sz="3200" kern="20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8727843" y="5365773"/>
            <a:ext cx="2011680" cy="1076325"/>
          </a:xfrm>
          <a:prstGeom prst="rect">
            <a:avLst/>
          </a:prstGeom>
          <a:noFill/>
        </p:spPr>
        <p:txBody>
          <a:bodyPr wrap="none">
            <a:spAutoFit/>
          </a:bodyPr>
          <a:lstStyle/>
          <a:p>
            <a:pPr>
              <a:defRPr/>
            </a:pPr>
            <a:r>
              <a:rPr lang="en-US" altLang="zh-CN" sz="1600" dirty="0" err="1">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Contect</a:t>
            </a:r>
            <a:r>
              <a:rPr lang="en-US" altLang="zh-CN"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 with me</a:t>
            </a:r>
            <a:r>
              <a:rPr lang="zh-CN" altLang="en-US"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a:t>
            </a:r>
            <a:endParaRPr lang="en-US" altLang="zh-CN"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endParaRPr>
          </a:p>
          <a:p>
            <a:pPr>
              <a:defRPr/>
            </a:pPr>
            <a:endParaRPr lang="en-US" altLang="zh-CN"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endParaRPr>
          </a:p>
          <a:p>
            <a:pPr>
              <a:defRPr/>
            </a:pPr>
            <a:r>
              <a:rPr lang="en-US" altLang="zh-CN"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E-mail</a:t>
            </a:r>
            <a:r>
              <a:rPr lang="zh-CN" altLang="en-US" sz="1600" dirty="0" smtClean="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a:t>
            </a:r>
            <a:endParaRPr lang="en-US" altLang="zh-CN"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endParaRPr>
          </a:p>
          <a:p>
            <a:pPr>
              <a:defRPr/>
            </a:pPr>
            <a:r>
              <a:rPr lang="en-US" altLang="zh-CN"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Date  </a:t>
            </a:r>
            <a:r>
              <a:rPr lang="zh-CN" altLang="en-US"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a:t>
            </a:r>
            <a:r>
              <a:rPr lang="en-US" altLang="zh-CN" sz="1600" dirty="0" smtClean="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2019-07-22</a:t>
            </a:r>
            <a:endParaRPr lang="zh-CN" altLang="en-US" sz="1600" dirty="0">
              <a:solidFill>
                <a:schemeClr val="bg1"/>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14:conveyor dir="l"/>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TABLE_BEAUTIFY" val="smartTable{0120e8a2-b3c4-4774-9b93-3d2bfc8a8156}"/>
</p:tagLst>
</file>

<file path=ppt/tags/tag2.xml><?xml version="1.0" encoding="utf-8"?>
<p:tagLst xmlns:p="http://schemas.openxmlformats.org/presentationml/2006/main">
  <p:tag name="KSO_WM_UNIT_TABLE_BEAUTIFY" val="smartTable{f71b6947-26b9-42e5-ac4a-36e4073c04d3}"/>
</p:tagLst>
</file>

<file path=ppt/tags/tag3.xml><?xml version="1.0" encoding="utf-8"?>
<p:tagLst xmlns:p="http://schemas.openxmlformats.org/presentationml/2006/main">
  <p:tag name="KSO_WM_UNIT_TABLE_BEAUTIFY" val="smartTable{6792a548-bbbe-4224-b232-c1913a916340}"/>
</p:tagLst>
</file>

<file path=ppt/tags/tag4.xml><?xml version="1.0" encoding="utf-8"?>
<p:tagLst xmlns:p="http://schemas.openxmlformats.org/presentationml/2006/main">
  <p:tag name="KSO_WM_UNIT_PLACING_PICTURE_USER_VIEWPORT" val="{&quot;height&quot;:5324,&quot;width&quot;:15780}"/>
</p:tagLst>
</file>

<file path=ppt/tags/tag5.xml><?xml version="1.0" encoding="utf-8"?>
<p:tagLst xmlns:p="http://schemas.openxmlformats.org/presentationml/2006/main">
  <p:tag name="KSO_WM_UNIT_TABLE_BEAUTIFY" val="smartTable{68c678c5-fcaf-400f-9618-a9f77e7b7d62}"/>
</p:tagLst>
</file>

<file path=ppt/tags/tag6.xml><?xml version="1.0" encoding="utf-8"?>
<p:tagLst xmlns:p="http://schemas.openxmlformats.org/presentationml/2006/main">
  <p:tag name="KSO_WM_UNIT_TABLE_BEAUTIFY" val="smartTable{e00146cc-eee7-4690-9b6e-e02f8072b8d3}"/>
</p:tagLst>
</file>

<file path=ppt/tags/tag7.xml><?xml version="1.0" encoding="utf-8"?>
<p:tagLst xmlns:p="http://schemas.openxmlformats.org/presentationml/2006/main">
  <p:tag name="KSO_WM_UNIT_TABLE_BEAUTIFY" val="smartTable{a23c9f98-e265-480c-8df7-82ea3b2fe1e3}"/>
</p:tagLst>
</file>

<file path=ppt/tags/tag8.xml><?xml version="1.0" encoding="utf-8"?>
<p:tagLst xmlns:p="http://schemas.openxmlformats.org/presentationml/2006/main">
  <p:tag name="COMMONDATA" val="eyJoZGlkIjoiNmQ1ZjIxMDI3ZTJlNWI5NDAwMGRiNTllM2YwODlkMm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15093</Words>
  <Application>WPS 演示</Application>
  <PresentationFormat>宽屏</PresentationFormat>
  <Paragraphs>1443</Paragraphs>
  <Slides>48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48</vt:i4>
      </vt:variant>
    </vt:vector>
  </HeadingPairs>
  <TitlesOfParts>
    <vt:vector size="61" baseType="lpstr">
      <vt:lpstr>Arial</vt:lpstr>
      <vt:lpstr>宋体</vt:lpstr>
      <vt:lpstr>Wingdings</vt:lpstr>
      <vt:lpstr>微软雅黑</vt:lpstr>
      <vt:lpstr>微软雅黑 Light</vt:lpstr>
      <vt:lpstr>Calibri</vt:lpstr>
      <vt:lpstr>Arial Unicode MS</vt:lpstr>
      <vt:lpstr>华文细黑</vt:lpstr>
      <vt:lpstr>Calibri</vt:lpstr>
      <vt:lpstr>Times New Roman</vt:lpstr>
      <vt:lpstr>Arial Black</vt:lpstr>
      <vt:lpstr>黑体</vt:lpstr>
      <vt:lpstr>Office 主题</vt:lpstr>
      <vt:lpstr>新员工入职培训   IRIS数据平台开发技术培训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For Watching!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曹倩</dc:creator>
  <cp:lastModifiedBy>tiger</cp:lastModifiedBy>
  <cp:revision>726</cp:revision>
  <dcterms:created xsi:type="dcterms:W3CDTF">2017-01-15T02:29:00Z</dcterms:created>
  <dcterms:modified xsi:type="dcterms:W3CDTF">2023-09-10T14:15:01Z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2052-12.1.0.15374</vt:lpwstr>
  </property>
  <property fmtid="{D5CDD505-2E9C-101B-9397-08002B2CF9AE}" pid="3" name="ICV">
    <vt:lpwstr>4913E4A4D9F444889F874855F162377C_13</vt:lpwstr>
  </property>
</Properties>
</file>